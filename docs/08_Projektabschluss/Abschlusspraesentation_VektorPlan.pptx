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Guten Tag zusammen und herzlich willkommen zu unserer Projektpräsentation!</a:t>
            </a:r>
          </a:p>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Hier sehen Sie unsere Agenda für die heutigen 10 Minuten:</a:t>
            </a:r>
          </a:p>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Schauen wir auf die Ausgangssituation: Unser Kunde, die VektorPlan GmbH, modernisiert zwei Großraumbüros und richtet eine Plotterstation ein.</a:t>
            </a:r>
          </a:p>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ein solches Projekt in Time und in Budget bleibt, haben wir die Rollen nach individuellen Stärken aufgeteilt:</a:t>
            </a:r>
          </a:p>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Hallo zusammen, hier sehen Sie unseren Projektstrukturplan nach DIN 69901.</a:t>
            </a:r>
          </a:p>
          <a:p/>
          <a:p>
            <a:r>
              <a:t>Als 'Plan der Pläne' gliedert er unser Projekt in fünf logische Säulen: Hardware, Software, Netzwerk/Server, Qualitätsmanagement und Rollout/Projektleitung. Insgesamt haben wir 28 konkrete Arbeitspakete definiert. Jeder Bereich hat einen festen Verantwortlichen. Das verhindert Kompetenzgerangel und stellt sicher, dass kein Detail – wie die Patchkabel oder die BSI-Löschung des Altdruckers – vergessen wird.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Mathias Vonau (Technischer Planer)</a:t>
            </a:r>
          </a:p>
          <a:p/>
          <a:p>
            <a:r>
              <a:t>Auf dieser Folie sehen Sie unseren Netzplan nach DIN 69900.</a:t>
            </a:r>
          </a:p>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Vielen Dank Mathias! Schauen wir uns die Hardware-Anforderungen im Detail an.</a:t>
            </a:r>
          </a:p>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die konkreten Markenprodukte, die wir im IT-Fachhandel recherchiert haben:</a:t>
            </a:r>
          </a:p>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Um Bauchgefühl auszuschließen, haben wir zwei gewichtete Nutzwertanalysen durchgeführt:</a:t>
            </a:r>
          </a:p>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Marian Bolecke (Beschaffung &amp; Kalkulation)</a:t>
            </a:r>
          </a:p>
          <a:p/>
          <a:p>
            <a:r>
              <a:t>Hier sehen Sie unsere kaufmännische Vorwärtskalkulation nach klassischem IHK-Schema:</a:t>
            </a:r>
          </a:p>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Siyar (Berechnungen &amp; Dokumentation)</a:t>
            </a:r>
          </a:p>
          <a:p/>
          <a:p>
            <a:r>
              <a:t>Hallo zusammen! Der Kunde hat uns im Vorfeld um zwei konkrete Berechnungen für seine Budgetplanung gebeten:</a:t>
            </a:r>
          </a:p>
          <a:p/>
          <a:p>
            <a:r>
              <a:t>Erstens der Speicherplatz auf dem Fileserver: Bei 16 Plätzen fallen täglich 350 MiB CAD-Daten an. Für ein Quartal mit 65 Arbeitstagen ergibt das 364.000 MiB. Geteilt durch den IEC-Binärfaktor 1.024 sind das 355,47 GiB. Aufgerundet auf volle GiB und mit dem geforderten Sicherheitszuschlag von 25% muss der Server für genau 445 GiB ausgelegt werden.</a:t>
            </a:r>
          </a:p>
          <a:p/>
          <a:p>
            <a:r>
              <a:t>Zweitens die Energiekosten: Die 12 Standard-PCs ziehen je 140 W, die 4 CAD-Rechner je 320 W. Zusammen sind das 2.960 W. Bei 220 Arbeitstagen à 8,5 Stunden Laufzeit verbrauchen alle 16 Plätze jährlich 5.535,2 kWh. Bei einem Strompreis von 0,32 € pro kWh entstehen Stromkosten von exakt 1.771,26 € im Jahr. Marco übernimmt nun die Qualitätssicherung!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Danke Siyar! Als Qualitätsmanager trage ich die Verantwortung für Wareneingang und Compliance.</a:t>
            </a:r>
          </a:p>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Marco Schmidt (Qualitätsmanagement &amp; Logistik)</a:t>
            </a:r>
          </a:p>
          <a:p/>
          <a:p>
            <a:r>
              <a:t>Hier sehen Sie die 4 Phasen unseres Rollouts:</a:t>
            </a:r>
          </a:p>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Kommen wir zum Projektergebnis im Soll-Ist-Vergleich:</a:t>
            </a:r>
          </a:p>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Was sind unsere Lessons Learned aus diesem Projekt?</a:t>
            </a:r>
          </a:p>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SPRECHER: Jan Kluth (Projektleiter)</a:t>
            </a:r>
          </a:p>
          <a:p/>
          <a:p>
            <a:r>
              <a:t>Damit sind wir am Ende unserer Präsentation angelangt.</a:t>
            </a:r>
          </a:p>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371600"/>
            <a:ext cx="10058400" cy="2743200"/>
          </a:xfrm>
          <a:prstGeom prst="rect">
            <a:avLst/>
          </a:prstGeom>
          <a:noFill/>
        </p:spPr>
        <p:txBody>
          <a:bodyPr wrap="square">
            <a:spAutoFit/>
          </a:bodyPr>
          <a:lstStyle/>
          <a:p>
            <a:pPr>
              <a:defRPr sz="1400" b="1">
                <a:solidFill>
                  <a:srgbClr val="B4C6E7"/>
                </a:solidFill>
                <a:latin typeface="Calibri"/>
              </a:defRPr>
            </a:pPr>
            <a:r>
              <a:t>Handlungsaufgabe: IT-Systemhaus</a:t>
            </a:r>
          </a:p>
          <a:p>
            <a:pPr>
              <a:defRPr sz="3600" b="1">
                <a:solidFill>
                  <a:srgbClr val="FFFFFF"/>
                </a:solidFill>
                <a:latin typeface="Calibri"/>
              </a:defRPr>
            </a:pPr>
            <a:r>
              <a:t>Ausstattung eines Planungs- &amp;</a:t>
            </a:r>
            <a:br/>
            <a:r>
              <a:t>Konstruktionsbüros</a:t>
            </a:r>
          </a:p>
          <a:p>
            <a:pPr>
              <a:defRPr sz="1400">
                <a:solidFill>
                  <a:srgbClr val="DEEBF7"/>
                </a:solidFill>
                <a:latin typeface="Calibri"/>
              </a:defRPr>
            </a:pPr>
            <a: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2F5597"/>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4526280"/>
            <a:ext cx="9601200" cy="1188720"/>
          </a:xfrm>
          <a:prstGeom prst="rect">
            <a:avLst/>
          </a:prstGeom>
          <a:noFill/>
        </p:spPr>
        <p:txBody>
          <a:bodyPr wrap="none">
            <a:spAutoFit/>
          </a:bodyPr>
          <a:lstStyle/>
          <a:p>
            <a:pPr>
              <a:defRPr sz="1150" b="1">
                <a:solidFill>
                  <a:srgbClr val="DEEBF7"/>
                </a:solidFill>
                <a:latin typeface="Calibri"/>
              </a:defRPr>
            </a:pPr>
            <a:r>
              <a:t>Projektteam NextLevel IT Solutions:</a:t>
            </a:r>
          </a:p>
          <a:p>
            <a:pPr>
              <a:defRPr sz="1200">
                <a:solidFill>
                  <a:srgbClr val="FFFFFF"/>
                </a:solidFill>
                <a:latin typeface="Calibri"/>
              </a:defRPr>
            </a:pPr>
            <a:r>
              <a:t>Jan Kluth (Projektleiter)  •  Mathias Vonau (Techn. Planer)  •  Marian Bolecke (Beschaffung &amp; Kalkulation)</a:t>
            </a:r>
            <a:br/>
            <a:r>
              <a:t>Marco Schmidt (Qualitätsmanagement &amp; Logistik)  •  Siyar (Berechnungen &amp; Dokumentation)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PROJEKTÜBERSICHT</a:t>
            </a:r>
          </a:p>
          <a:p>
            <a:pPr>
              <a:defRPr sz="2000" b="1">
                <a:solidFill>
                  <a:srgbClr val="FFFFFF"/>
                </a:solidFill>
                <a:latin typeface="Calibri"/>
              </a:defRPr>
            </a:pPr>
            <a:r>
              <a:t>Agenda unseres Projektablaufs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316736"/>
            <a:ext cx="5029200" cy="594360"/>
          </a:xfrm>
          <a:prstGeom prst="rect">
            <a:avLst/>
          </a:prstGeom>
          <a:noFill/>
        </p:spPr>
        <p:txBody>
          <a:bodyPr wrap="square">
            <a:spAutoFit/>
          </a:bodyPr>
          <a:lstStyle/>
          <a:p>
            <a:pPr>
              <a:defRPr sz="1100" b="1">
                <a:solidFill>
                  <a:srgbClr val="1F497D"/>
                </a:solidFill>
                <a:latin typeface="Calibri"/>
              </a:defRPr>
            </a:pPr>
            <a:r>
              <a:t>1. Projektauftrag &amp; Kundenbedarf</a:t>
            </a:r>
          </a:p>
          <a:p>
            <a:pPr>
              <a:defRPr sz="950">
                <a:solidFill>
                  <a:srgbClr val="595959"/>
                </a:solidFill>
                <a:latin typeface="Calibri"/>
              </a:defRPr>
            </a:pPr>
            <a: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29967"/>
            <a:ext cx="5029200" cy="594360"/>
          </a:xfrm>
          <a:prstGeom prst="rect">
            <a:avLst/>
          </a:prstGeom>
          <a:noFill/>
        </p:spPr>
        <p:txBody>
          <a:bodyPr wrap="square">
            <a:spAutoFit/>
          </a:bodyPr>
          <a:lstStyle/>
          <a:p>
            <a:pPr>
              <a:defRPr sz="1100" b="1">
                <a:solidFill>
                  <a:srgbClr val="1F497D"/>
                </a:solidFill>
                <a:latin typeface="Calibri"/>
              </a:defRPr>
            </a:pPr>
            <a:r>
              <a:t>2. Team &amp; Rollenverteilung</a:t>
            </a:r>
          </a:p>
          <a:p>
            <a:pPr>
              <a:defRPr sz="950">
                <a:solidFill>
                  <a:srgbClr val="595959"/>
                </a:solidFill>
                <a:latin typeface="Calibri"/>
              </a:defRPr>
            </a:pPr>
            <a: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743200"/>
            <a:ext cx="5029200" cy="594360"/>
          </a:xfrm>
          <a:prstGeom prst="rect">
            <a:avLst/>
          </a:prstGeom>
          <a:noFill/>
        </p:spPr>
        <p:txBody>
          <a:bodyPr wrap="square">
            <a:spAutoFit/>
          </a:bodyPr>
          <a:lstStyle/>
          <a:p>
            <a:pPr>
              <a:defRPr sz="1100" b="1">
                <a:solidFill>
                  <a:srgbClr val="1F497D"/>
                </a:solidFill>
                <a:latin typeface="Calibri"/>
              </a:defRPr>
            </a:pPr>
            <a:r>
              <a:t>3. Projektstrukturplan (PSP)</a:t>
            </a:r>
          </a:p>
          <a:p>
            <a:pPr>
              <a:defRPr sz="950">
                <a:solidFill>
                  <a:srgbClr val="595959"/>
                </a:solidFill>
                <a:latin typeface="Calibri"/>
              </a:defRPr>
            </a:pPr>
            <a: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456432"/>
            <a:ext cx="5029200" cy="594360"/>
          </a:xfrm>
          <a:prstGeom prst="rect">
            <a:avLst/>
          </a:prstGeom>
          <a:noFill/>
        </p:spPr>
        <p:txBody>
          <a:bodyPr wrap="square">
            <a:spAutoFit/>
          </a:bodyPr>
          <a:lstStyle/>
          <a:p>
            <a:pPr>
              <a:defRPr sz="1100" b="1">
                <a:solidFill>
                  <a:srgbClr val="1F497D"/>
                </a:solidFill>
                <a:latin typeface="Calibri"/>
              </a:defRPr>
            </a:pPr>
            <a:r>
              <a:t>4. Netzplan &amp; Kritischer Pfad</a:t>
            </a:r>
          </a:p>
          <a:p>
            <a:pPr>
              <a:defRPr sz="950">
                <a:solidFill>
                  <a:srgbClr val="595959"/>
                </a:solidFill>
                <a:latin typeface="Calibri"/>
              </a:defRPr>
            </a:pPr>
            <a: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169663"/>
            <a:ext cx="5029200" cy="594360"/>
          </a:xfrm>
          <a:prstGeom prst="rect">
            <a:avLst/>
          </a:prstGeom>
          <a:noFill/>
        </p:spPr>
        <p:txBody>
          <a:bodyPr wrap="square">
            <a:spAutoFit/>
          </a:bodyPr>
          <a:lstStyle/>
          <a:p>
            <a:pPr>
              <a:defRPr sz="1100" b="1">
                <a:solidFill>
                  <a:srgbClr val="1F497D"/>
                </a:solidFill>
                <a:latin typeface="Calibri"/>
              </a:defRPr>
            </a:pPr>
            <a:r>
              <a:t>5. Hardware- &amp; Software-Spezifikationen</a:t>
            </a:r>
          </a:p>
          <a:p>
            <a:pPr>
              <a:defRPr sz="950">
                <a:solidFill>
                  <a:srgbClr val="595959"/>
                </a:solidFill>
                <a:latin typeface="Calibri"/>
              </a:defRPr>
            </a:pPr>
            <a: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882896"/>
            <a:ext cx="5029200" cy="594360"/>
          </a:xfrm>
          <a:prstGeom prst="rect">
            <a:avLst/>
          </a:prstGeom>
          <a:noFill/>
        </p:spPr>
        <p:txBody>
          <a:bodyPr wrap="square">
            <a:spAutoFit/>
          </a:bodyPr>
          <a:lstStyle/>
          <a:p>
            <a:pPr>
              <a:defRPr sz="1100" b="1">
                <a:solidFill>
                  <a:srgbClr val="1F497D"/>
                </a:solidFill>
                <a:latin typeface="Calibri"/>
              </a:defRPr>
            </a:pPr>
            <a:r>
              <a:t>6. Marktrecherche &amp; Produktauswahl</a:t>
            </a:r>
          </a:p>
          <a:p>
            <a:pPr>
              <a:defRPr sz="950">
                <a:solidFill>
                  <a:srgbClr val="595959"/>
                </a:solidFill>
                <a:latin typeface="Calibri"/>
              </a:defRPr>
            </a:pPr>
            <a: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596128"/>
            <a:ext cx="5029200" cy="594360"/>
          </a:xfrm>
          <a:prstGeom prst="rect">
            <a:avLst/>
          </a:prstGeom>
          <a:noFill/>
        </p:spPr>
        <p:txBody>
          <a:bodyPr wrap="square">
            <a:spAutoFit/>
          </a:bodyPr>
          <a:lstStyle/>
          <a:p>
            <a:pPr>
              <a:defRPr sz="1100" b="1">
                <a:solidFill>
                  <a:srgbClr val="1F497D"/>
                </a:solidFill>
                <a:latin typeface="Calibri"/>
              </a:defRPr>
            </a:pPr>
            <a:r>
              <a:t>7. Nutzwertanalysen (Workstation &amp; Monitor)</a:t>
            </a:r>
          </a:p>
          <a:p>
            <a:pPr>
              <a:defRPr sz="950">
                <a:solidFill>
                  <a:srgbClr val="595959"/>
                </a:solidFill>
                <a:latin typeface="Calibri"/>
              </a:defRPr>
            </a:pPr>
            <a: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316736"/>
            <a:ext cx="5029200" cy="594360"/>
          </a:xfrm>
          <a:prstGeom prst="rect">
            <a:avLst/>
          </a:prstGeom>
          <a:noFill/>
        </p:spPr>
        <p:txBody>
          <a:bodyPr wrap="square">
            <a:spAutoFit/>
          </a:bodyPr>
          <a:lstStyle/>
          <a:p>
            <a:pPr>
              <a:defRPr sz="1100" b="1">
                <a:solidFill>
                  <a:srgbClr val="1F497D"/>
                </a:solidFill>
                <a:latin typeface="Calibri"/>
              </a:defRPr>
            </a:pPr>
            <a:r>
              <a:t>8. Preiskalkulation &amp; Kaufmännisches Angebot</a:t>
            </a:r>
          </a:p>
          <a:p>
            <a:pPr>
              <a:defRPr sz="950">
                <a:solidFill>
                  <a:srgbClr val="595959"/>
                </a:solidFill>
                <a:latin typeface="Calibri"/>
              </a:defRPr>
            </a:pPr>
            <a: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2029967"/>
            <a:ext cx="5029200" cy="594360"/>
          </a:xfrm>
          <a:prstGeom prst="rect">
            <a:avLst/>
          </a:prstGeom>
          <a:noFill/>
        </p:spPr>
        <p:txBody>
          <a:bodyPr wrap="square">
            <a:spAutoFit/>
          </a:bodyPr>
          <a:lstStyle/>
          <a:p>
            <a:pPr>
              <a:defRPr sz="1100" b="1">
                <a:solidFill>
                  <a:srgbClr val="1F497D"/>
                </a:solidFill>
                <a:latin typeface="Calibri"/>
              </a:defRPr>
            </a:pPr>
            <a:r>
              <a:t>9. Kundenberechnungen (Aufgabe B)</a:t>
            </a:r>
          </a:p>
          <a:p>
            <a:pPr>
              <a:defRPr sz="950">
                <a:solidFill>
                  <a:srgbClr val="595959"/>
                </a:solidFill>
                <a:latin typeface="Calibri"/>
              </a:defRPr>
            </a:pPr>
            <a: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2743200"/>
            <a:ext cx="5029200" cy="594360"/>
          </a:xfrm>
          <a:prstGeom prst="rect">
            <a:avLst/>
          </a:prstGeom>
          <a:noFill/>
        </p:spPr>
        <p:txBody>
          <a:bodyPr wrap="square">
            <a:spAutoFit/>
          </a:bodyPr>
          <a:lstStyle/>
          <a:p>
            <a:pPr>
              <a:defRPr sz="1100" b="1">
                <a:solidFill>
                  <a:srgbClr val="1F497D"/>
                </a:solidFill>
                <a:latin typeface="Calibri"/>
              </a:defRPr>
            </a:pPr>
            <a:r>
              <a:t>10. Wareneingangsprüfung &amp; Mängelrüge</a:t>
            </a:r>
          </a:p>
          <a:p>
            <a:pPr>
              <a:defRPr sz="950">
                <a:solidFill>
                  <a:srgbClr val="595959"/>
                </a:solidFill>
                <a:latin typeface="Calibri"/>
              </a:defRPr>
            </a:pPr>
            <a: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3456432"/>
            <a:ext cx="5029200" cy="594360"/>
          </a:xfrm>
          <a:prstGeom prst="rect">
            <a:avLst/>
          </a:prstGeom>
          <a:noFill/>
        </p:spPr>
        <p:txBody>
          <a:bodyPr wrap="square">
            <a:spAutoFit/>
          </a:bodyPr>
          <a:lstStyle/>
          <a:p>
            <a:pPr>
              <a:defRPr sz="1100" b="1">
                <a:solidFill>
                  <a:srgbClr val="1F497D"/>
                </a:solidFill>
                <a:latin typeface="Calibri"/>
              </a:defRPr>
            </a:pPr>
            <a:r>
              <a:t>11. Umweltgerechte Altdrucker-Entsorgung</a:t>
            </a:r>
          </a:p>
          <a:p>
            <a:pPr>
              <a:defRPr sz="950">
                <a:solidFill>
                  <a:srgbClr val="595959"/>
                </a:solidFill>
                <a:latin typeface="Calibri"/>
              </a:defRPr>
            </a:pPr>
            <a: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4169663"/>
            <a:ext cx="5029200" cy="594360"/>
          </a:xfrm>
          <a:prstGeom prst="rect">
            <a:avLst/>
          </a:prstGeom>
          <a:noFill/>
        </p:spPr>
        <p:txBody>
          <a:bodyPr wrap="square">
            <a:spAutoFit/>
          </a:bodyPr>
          <a:lstStyle/>
          <a:p>
            <a:pPr>
              <a:defRPr sz="1100" b="1">
                <a:solidFill>
                  <a:srgbClr val="1F497D"/>
                </a:solidFill>
                <a:latin typeface="Calibri"/>
              </a:defRPr>
            </a:pPr>
            <a:r>
              <a:t>12. Rollout, Montage &amp; Abnahme vor Ort</a:t>
            </a:r>
          </a:p>
          <a:p>
            <a:pPr>
              <a:defRPr sz="950">
                <a:solidFill>
                  <a:srgbClr val="595959"/>
                </a:solidFill>
                <a:latin typeface="Calibri"/>
              </a:defRPr>
            </a:pPr>
            <a: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4882896"/>
            <a:ext cx="5029200" cy="594360"/>
          </a:xfrm>
          <a:prstGeom prst="rect">
            <a:avLst/>
          </a:prstGeom>
          <a:noFill/>
        </p:spPr>
        <p:txBody>
          <a:bodyPr wrap="square">
            <a:spAutoFit/>
          </a:bodyPr>
          <a:lstStyle/>
          <a:p>
            <a:pPr>
              <a:defRPr sz="1100" b="1">
                <a:solidFill>
                  <a:srgbClr val="1F497D"/>
                </a:solidFill>
                <a:latin typeface="Calibri"/>
              </a:defRPr>
            </a:pPr>
            <a:r>
              <a:t>13. Projektergebnis: Soll-Ist-Vergleich</a:t>
            </a:r>
          </a:p>
          <a:p>
            <a:pPr>
              <a:defRPr sz="950">
                <a:solidFill>
                  <a:srgbClr val="595959"/>
                </a:solidFill>
                <a:latin typeface="Calibri"/>
              </a:defRPr>
            </a:pPr>
            <a: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DEEBF7"/>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5596128"/>
            <a:ext cx="5029200" cy="594360"/>
          </a:xfrm>
          <a:prstGeom prst="rect">
            <a:avLst/>
          </a:prstGeom>
          <a:noFill/>
        </p:spPr>
        <p:txBody>
          <a:bodyPr wrap="square">
            <a:spAutoFit/>
          </a:bodyPr>
          <a:lstStyle/>
          <a:p>
            <a:pPr>
              <a:defRPr sz="1100" b="1">
                <a:solidFill>
                  <a:srgbClr val="1F497D"/>
                </a:solidFill>
                <a:latin typeface="Calibri"/>
              </a:defRPr>
            </a:pPr>
            <a:r>
              <a:t>14. Lessons Learned &amp; Fazit</a:t>
            </a:r>
          </a:p>
          <a:p>
            <a:pPr>
              <a:defRPr sz="950">
                <a:solidFill>
                  <a:srgbClr val="595959"/>
                </a:solidFill>
                <a:latin typeface="Calibri"/>
              </a:defRPr>
            </a:pPr>
            <a: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PROJEKTAUFTRAG</a:t>
            </a:r>
          </a:p>
          <a:p>
            <a:pPr>
              <a:defRPr sz="2000" b="1">
                <a:solidFill>
                  <a:srgbClr val="FFFFFF"/>
                </a:solidFill>
                <a:latin typeface="Calibri"/>
              </a:defRPr>
            </a:pPr>
            <a:r>
              <a:t>Ausgangssituation der VektorPlan GmbH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4846320" cy="4480560"/>
          </a:xfrm>
          <a:prstGeom prst="rect">
            <a:avLst/>
          </a:prstGeom>
          <a:noFill/>
        </p:spPr>
        <p:txBody>
          <a:bodyPr wrap="square">
            <a:spAutoFit/>
          </a:bodyPr>
          <a:lstStyle/>
          <a:p>
            <a:pPr>
              <a:defRPr sz="1300" b="1">
                <a:solidFill>
                  <a:srgbClr val="1F497D"/>
                </a:solidFill>
                <a:latin typeface="Calibri"/>
              </a:defRPr>
            </a:pPr>
            <a:r>
              <a:t>Die Ausgangslage beim Kunden:</a:t>
            </a:r>
          </a:p>
          <a:p>
            <a:pPr>
              <a:spcAft>
                <a:spcPts val="800"/>
              </a:spcAft>
              <a:defRPr sz="1050">
                <a:solidFill>
                  <a:srgbClr val="262626"/>
                </a:solidFill>
                <a:latin typeface="Calibri"/>
              </a:defRPr>
            </a:pPr>
            <a:r>
              <a:t>• Kunde: VektorPlan GmbH ist eine wachsende Architektur- und Ingenieurgesellschaft.</a:t>
            </a:r>
          </a:p>
          <a:p>
            <a:pPr>
              <a:spcAft>
                <a:spcPts val="800"/>
              </a:spcAft>
              <a:defRPr sz="1050">
                <a:solidFill>
                  <a:srgbClr val="262626"/>
                </a:solidFill>
                <a:latin typeface="Calibri"/>
              </a:defRPr>
            </a:pPr>
            <a:r>
              <a:t>• Anlass: Die Büroräume werden modernisiert. Es entstehen zwei neue Großraumbüros sowie eine zentrale Plotter- und Scanstation.</a:t>
            </a:r>
          </a:p>
          <a:p>
            <a:pPr>
              <a:spcAft>
                <a:spcPts val="800"/>
              </a:spcAft>
              <a:defRPr sz="1050">
                <a:solidFill>
                  <a:srgbClr val="262626"/>
                </a:solidFill>
                <a:latin typeface="Calibri"/>
              </a:defRPr>
            </a:pPr>
            <a:r>
              <a:t>• Problem der alten IT: Veraltete Hardware führte zu langen Ladezeiten bei großen CAD-Modellen und häufigen Systemabstürzen.</a:t>
            </a:r>
          </a:p>
          <a:p>
            <a:pPr>
              <a:spcAft>
                <a:spcPts val="800"/>
              </a:spcAft>
              <a:defRPr sz="1050">
                <a:solidFill>
                  <a:srgbClr val="262626"/>
                </a:solidFill>
                <a:latin typeface="Calibri"/>
              </a:defRPr>
            </a:pPr>
            <a: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FFFFF"/>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54480"/>
            <a:ext cx="4846320" cy="4480560"/>
          </a:xfrm>
          <a:prstGeom prst="rect">
            <a:avLst/>
          </a:prstGeom>
          <a:noFill/>
        </p:spPr>
        <p:txBody>
          <a:bodyPr wrap="square">
            <a:spAutoFit/>
          </a:bodyPr>
          <a:lstStyle/>
          <a:p>
            <a:pPr>
              <a:defRPr sz="1300" b="1">
                <a:solidFill>
                  <a:srgbClr val="1F497D"/>
                </a:solidFill>
                <a:latin typeface="Calibri"/>
              </a:defRPr>
            </a:pPr>
            <a:r>
              <a:t>Der Auftrag an NextLevel IT Solutions:</a:t>
            </a:r>
          </a:p>
          <a:p>
            <a:pPr>
              <a:spcAft>
                <a:spcPts val="600"/>
              </a:spcAft>
              <a:defRPr sz="1050">
                <a:solidFill>
                  <a:srgbClr val="262626"/>
                </a:solidFill>
                <a:latin typeface="Calibri"/>
              </a:defRPr>
            </a:pPr>
            <a:r>
              <a:t>✔ 12 Standard-Büroarbeitsplätze für Bauleitung, Ausschreibung und Office.</a:t>
            </a:r>
          </a:p>
          <a:p>
            <a:pPr>
              <a:spcAft>
                <a:spcPts val="600"/>
              </a:spcAft>
              <a:defRPr sz="1050">
                <a:solidFill>
                  <a:srgbClr val="262626"/>
                </a:solidFill>
                <a:latin typeface="Calibri"/>
              </a:defRPr>
            </a:pPr>
            <a:r>
              <a:t>✔ 4 High-End CAD-Workstations mit Profi-Grafikkarten für 3D-BIM &amp; Rendering.</a:t>
            </a:r>
          </a:p>
          <a:p>
            <a:pPr>
              <a:spcAft>
                <a:spcPts val="600"/>
              </a:spcAft>
              <a:defRPr sz="1050">
                <a:solidFill>
                  <a:srgbClr val="262626"/>
                </a:solidFill>
                <a:latin typeface="Calibri"/>
              </a:defRPr>
            </a:pPr>
            <a:r>
              <a:t>✔ 32 ergonomische 27'' WQHD-Monitore (höhenverstellbar, Pivot-Funktion).</a:t>
            </a:r>
          </a:p>
          <a:p>
            <a:pPr>
              <a:spcAft>
                <a:spcPts val="600"/>
              </a:spcAft>
              <a:defRPr sz="1050">
                <a:solidFill>
                  <a:srgbClr val="262626"/>
                </a:solidFill>
                <a:latin typeface="Calibri"/>
              </a:defRPr>
            </a:pPr>
            <a:r>
              <a:t>✔ 16 kabellose Tastatur-Maus-Sets (mit verschlüsselter Funkübertragung).</a:t>
            </a:r>
          </a:p>
          <a:p>
            <a:pPr>
              <a:spcAft>
                <a:spcPts val="600"/>
              </a:spcAft>
              <a:defRPr sz="1050">
                <a:solidFill>
                  <a:srgbClr val="262626"/>
                </a:solidFill>
                <a:latin typeface="Calibri"/>
              </a:defRPr>
            </a:pPr>
            <a:r>
              <a:t>✔ 16 externe SSDs (1TB) zur schnellen lokalen Zwischensicherung.</a:t>
            </a:r>
          </a:p>
          <a:p>
            <a:pPr>
              <a:spcAft>
                <a:spcPts val="600"/>
              </a:spcAft>
              <a:defRPr sz="1050">
                <a:solidFill>
                  <a:srgbClr val="262626"/>
                </a:solidFill>
                <a:latin typeface="Calibri"/>
              </a:defRPr>
            </a:pPr>
            <a:r>
              <a:t>✔ 1 zentraler Farblaser-Multifunktionsdrucker für Pläne bis Format DIN A3.</a:t>
            </a:r>
          </a:p>
          <a:p>
            <a:pPr>
              <a:spcAft>
                <a:spcPts val="600"/>
              </a:spcAft>
              <a:defRPr sz="1050">
                <a:solidFill>
                  <a:srgbClr val="262626"/>
                </a:solidFill>
                <a:latin typeface="Calibri"/>
              </a:defRPr>
            </a:pPr>
            <a:r>
              <a:t>✔ Fachgerechte Entsorgung des alten Schwarzweiß-Druckers gem. ElektroG.</a:t>
            </a:r>
          </a:p>
          <a:p>
            <a:pPr>
              <a:spcAft>
                <a:spcPts val="600"/>
              </a:spcAft>
              <a:defRPr sz="1050">
                <a:solidFill>
                  <a:srgbClr val="262626"/>
                </a:solidFill>
                <a:latin typeface="Calibri"/>
              </a:defRPr>
            </a:pPr>
            <a:r>
              <a:t>✔ Komplettservice: Beratung, Einkauf, Vorinstallation, Aufbau &amp; Abnahme.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ORGANISATION</a:t>
            </a:r>
          </a:p>
          <a:p>
            <a:pPr>
              <a:defRPr sz="2000" b="1">
                <a:solidFill>
                  <a:srgbClr val="FFFFFF"/>
                </a:solidFill>
                <a:latin typeface="Calibri"/>
              </a:defRPr>
            </a:pPr>
            <a:r>
              <a:t>Unser Team und die Aufgabenverteilung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2057400" cy="82296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057400" cy="411480"/>
          </a:xfrm>
          <a:prstGeom prst="rect">
            <a:avLst/>
          </a:prstGeom>
          <a:noFill/>
        </p:spPr>
        <p:txBody>
          <a:bodyPr wrap="none">
            <a:spAutoFit/>
          </a:bodyPr>
          <a:lstStyle/>
          <a:p>
            <a:pPr algn="ctr">
              <a:defRPr sz="1200" b="1">
                <a:solidFill>
                  <a:srgbClr val="FFFFFF"/>
                </a:solidFill>
                <a:latin typeface="Calibri"/>
              </a:defRPr>
            </a:pPr>
            <a:r>
              <a:t>Jan Kluth</a:t>
            </a:r>
          </a:p>
        </p:txBody>
      </p:sp>
      <p:sp>
        <p:nvSpPr>
          <p:cNvPr id="8" name="TextBox 7"/>
          <p:cNvSpPr txBox="1"/>
          <p:nvPr/>
        </p:nvSpPr>
        <p:spPr>
          <a:xfrm>
            <a:off x="731520" y="1810512"/>
            <a:ext cx="2057400" cy="320040"/>
          </a:xfrm>
          <a:prstGeom prst="rect">
            <a:avLst/>
          </a:prstGeom>
          <a:noFill/>
        </p:spPr>
        <p:txBody>
          <a:bodyPr wrap="none">
            <a:spAutoFit/>
          </a:bodyPr>
          <a:lstStyle/>
          <a:p>
            <a:pPr algn="ctr">
              <a:defRPr sz="950" b="1">
                <a:solidFill>
                  <a:srgbClr val="B4C6E7"/>
                </a:solidFill>
                <a:latin typeface="Calibri"/>
              </a:defRPr>
            </a:pPr>
            <a:r>
              <a:t>Projektleiter</a:t>
            </a:r>
          </a:p>
        </p:txBody>
      </p:sp>
      <p:sp>
        <p:nvSpPr>
          <p:cNvPr id="9" name="TextBox 8"/>
          <p:cNvSpPr txBox="1"/>
          <p:nvPr/>
        </p:nvSpPr>
        <p:spPr>
          <a:xfrm>
            <a:off x="841248"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Gesamtkoordination &amp; Leitung</a:t>
            </a:r>
          </a:p>
          <a:p>
            <a:pPr>
              <a:spcAft>
                <a:spcPts val="600"/>
              </a:spcAft>
              <a:defRPr sz="950">
                <a:solidFill>
                  <a:srgbClr val="262626"/>
                </a:solidFill>
                <a:latin typeface="Calibri"/>
              </a:defRPr>
            </a:pPr>
            <a:r>
              <a:t>• Termin- &amp; Ablaufüberwachung</a:t>
            </a:r>
          </a:p>
          <a:p>
            <a:pPr>
              <a:spcAft>
                <a:spcPts val="600"/>
              </a:spcAft>
              <a:defRPr sz="950">
                <a:solidFill>
                  <a:srgbClr val="262626"/>
                </a:solidFill>
                <a:latin typeface="Calibri"/>
              </a:defRPr>
            </a:pPr>
            <a:r>
              <a:t>• Risikoanalyse &amp; Abnahme</a:t>
            </a:r>
          </a:p>
          <a:p>
            <a:pPr>
              <a:spcAft>
                <a:spcPts val="600"/>
              </a:spcAft>
              <a:defRPr sz="950">
                <a:solidFill>
                  <a:srgbClr val="262626"/>
                </a:solidFill>
                <a:latin typeface="Calibri"/>
              </a:defRPr>
            </a:pPr>
            <a:r>
              <a:t>• Abschlusspräsentation</a:t>
            </a:r>
          </a:p>
        </p:txBody>
      </p:sp>
      <p:sp>
        <p:nvSpPr>
          <p:cNvPr id="10" name="Rounded Rectangle 9"/>
          <p:cNvSpPr/>
          <p:nvPr/>
        </p:nvSpPr>
        <p:spPr>
          <a:xfrm>
            <a:off x="2907791"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907791"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07791" y="1444752"/>
            <a:ext cx="2057400" cy="411480"/>
          </a:xfrm>
          <a:prstGeom prst="rect">
            <a:avLst/>
          </a:prstGeom>
          <a:noFill/>
        </p:spPr>
        <p:txBody>
          <a:bodyPr wrap="none">
            <a:spAutoFit/>
          </a:bodyPr>
          <a:lstStyle/>
          <a:p>
            <a:pPr algn="ctr">
              <a:defRPr sz="1200" b="1">
                <a:solidFill>
                  <a:srgbClr val="1F497D"/>
                </a:solidFill>
                <a:latin typeface="Calibri"/>
              </a:defRPr>
            </a:pPr>
            <a:r>
              <a:t>Mathias Vonau</a:t>
            </a:r>
          </a:p>
        </p:txBody>
      </p:sp>
      <p:sp>
        <p:nvSpPr>
          <p:cNvPr id="13" name="TextBox 12"/>
          <p:cNvSpPr txBox="1"/>
          <p:nvPr/>
        </p:nvSpPr>
        <p:spPr>
          <a:xfrm>
            <a:off x="2907791" y="1810512"/>
            <a:ext cx="2057400" cy="320040"/>
          </a:xfrm>
          <a:prstGeom prst="rect">
            <a:avLst/>
          </a:prstGeom>
          <a:noFill/>
        </p:spPr>
        <p:txBody>
          <a:bodyPr wrap="none">
            <a:spAutoFit/>
          </a:bodyPr>
          <a:lstStyle/>
          <a:p>
            <a:pPr algn="ctr">
              <a:defRPr sz="950" b="1">
                <a:solidFill>
                  <a:srgbClr val="2F5597"/>
                </a:solidFill>
                <a:latin typeface="Calibri"/>
              </a:defRPr>
            </a:pPr>
            <a:r>
              <a:t>Technischer Planer</a:t>
            </a:r>
          </a:p>
        </p:txBody>
      </p:sp>
      <p:sp>
        <p:nvSpPr>
          <p:cNvPr id="14" name="TextBox 13"/>
          <p:cNvSpPr txBox="1"/>
          <p:nvPr/>
        </p:nvSpPr>
        <p:spPr>
          <a:xfrm>
            <a:off x="3017519"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Anforderungsanalyse &amp; Lastenheft</a:t>
            </a:r>
          </a:p>
          <a:p>
            <a:pPr>
              <a:spcAft>
                <a:spcPts val="600"/>
              </a:spcAft>
              <a:defRPr sz="950">
                <a:solidFill>
                  <a:srgbClr val="262626"/>
                </a:solidFill>
                <a:latin typeface="Calibri"/>
              </a:defRPr>
            </a:pPr>
            <a:r>
              <a:t>• Hardware-Spezifikationen</a:t>
            </a:r>
          </a:p>
          <a:p>
            <a:pPr>
              <a:spcAft>
                <a:spcPts val="600"/>
              </a:spcAft>
              <a:defRPr sz="950">
                <a:solidFill>
                  <a:srgbClr val="262626"/>
                </a:solidFill>
                <a:latin typeface="Calibri"/>
              </a:defRPr>
            </a:pPr>
            <a:r>
              <a:t>• Vorinstallation (Staging)</a:t>
            </a:r>
          </a:p>
          <a:p>
            <a:pPr>
              <a:spcAft>
                <a:spcPts val="600"/>
              </a:spcAft>
              <a:defRPr sz="950">
                <a:solidFill>
                  <a:srgbClr val="262626"/>
                </a:solidFill>
                <a:latin typeface="Calibri"/>
              </a:defRPr>
            </a:pPr>
            <a:r>
              <a:t>• Ergonomie-Montage vor Ort</a:t>
            </a:r>
          </a:p>
        </p:txBody>
      </p:sp>
      <p:sp>
        <p:nvSpPr>
          <p:cNvPr id="15" name="Rounded Rectangle 14"/>
          <p:cNvSpPr/>
          <p:nvPr/>
        </p:nvSpPr>
        <p:spPr>
          <a:xfrm>
            <a:off x="5084064"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84064"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84064" y="1444752"/>
            <a:ext cx="2057400" cy="411480"/>
          </a:xfrm>
          <a:prstGeom prst="rect">
            <a:avLst/>
          </a:prstGeom>
          <a:noFill/>
        </p:spPr>
        <p:txBody>
          <a:bodyPr wrap="none">
            <a:spAutoFit/>
          </a:bodyPr>
          <a:lstStyle/>
          <a:p>
            <a:pPr algn="ctr">
              <a:defRPr sz="1200" b="1">
                <a:solidFill>
                  <a:srgbClr val="1F497D"/>
                </a:solidFill>
                <a:latin typeface="Calibri"/>
              </a:defRPr>
            </a:pPr>
            <a:r>
              <a:t>Marian Bolecke</a:t>
            </a:r>
          </a:p>
        </p:txBody>
      </p:sp>
      <p:sp>
        <p:nvSpPr>
          <p:cNvPr id="18" name="TextBox 17"/>
          <p:cNvSpPr txBox="1"/>
          <p:nvPr/>
        </p:nvSpPr>
        <p:spPr>
          <a:xfrm>
            <a:off x="5084064" y="1810512"/>
            <a:ext cx="2057400" cy="320040"/>
          </a:xfrm>
          <a:prstGeom prst="rect">
            <a:avLst/>
          </a:prstGeom>
          <a:noFill/>
        </p:spPr>
        <p:txBody>
          <a:bodyPr wrap="none">
            <a:spAutoFit/>
          </a:bodyPr>
          <a:lstStyle/>
          <a:p>
            <a:pPr algn="ctr">
              <a:defRPr sz="950" b="1">
                <a:solidFill>
                  <a:srgbClr val="2F5597"/>
                </a:solidFill>
                <a:latin typeface="Calibri"/>
              </a:defRPr>
            </a:pPr>
            <a:r>
              <a:t>Beschaffung &amp; Kalkulation</a:t>
            </a:r>
          </a:p>
        </p:txBody>
      </p:sp>
      <p:sp>
        <p:nvSpPr>
          <p:cNvPr id="19" name="TextBox 18"/>
          <p:cNvSpPr txBox="1"/>
          <p:nvPr/>
        </p:nvSpPr>
        <p:spPr>
          <a:xfrm>
            <a:off x="5193792"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Reale Marktrecherche</a:t>
            </a:r>
          </a:p>
          <a:p>
            <a:pPr>
              <a:spcAft>
                <a:spcPts val="600"/>
              </a:spcAft>
              <a:defRPr sz="950">
                <a:solidFill>
                  <a:srgbClr val="262626"/>
                </a:solidFill>
                <a:latin typeface="Calibri"/>
              </a:defRPr>
            </a:pPr>
            <a:r>
              <a:t>• Nutzwertanalysen (PCs / TFTs)</a:t>
            </a:r>
          </a:p>
          <a:p>
            <a:pPr>
              <a:spcAft>
                <a:spcPts val="600"/>
              </a:spcAft>
              <a:defRPr sz="950">
                <a:solidFill>
                  <a:srgbClr val="262626"/>
                </a:solidFill>
                <a:latin typeface="Calibri"/>
              </a:defRPr>
            </a:pPr>
            <a:r>
              <a:t>• Vorwärtskalkulation</a:t>
            </a:r>
          </a:p>
          <a:p>
            <a:pPr>
              <a:spcAft>
                <a:spcPts val="600"/>
              </a:spcAft>
              <a:defRPr sz="950">
                <a:solidFill>
                  <a:srgbClr val="262626"/>
                </a:solidFill>
                <a:latin typeface="Calibri"/>
              </a:defRPr>
            </a:pPr>
            <a:r>
              <a:t>• Angebotserstellung DIN 5008</a:t>
            </a:r>
          </a:p>
        </p:txBody>
      </p:sp>
      <p:sp>
        <p:nvSpPr>
          <p:cNvPr id="20" name="Rounded Rectangle 19"/>
          <p:cNvSpPr/>
          <p:nvPr/>
        </p:nvSpPr>
        <p:spPr>
          <a:xfrm>
            <a:off x="7260336"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260336"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60336" y="1444752"/>
            <a:ext cx="2057400" cy="411480"/>
          </a:xfrm>
          <a:prstGeom prst="rect">
            <a:avLst/>
          </a:prstGeom>
          <a:noFill/>
        </p:spPr>
        <p:txBody>
          <a:bodyPr wrap="none">
            <a:spAutoFit/>
          </a:bodyPr>
          <a:lstStyle/>
          <a:p>
            <a:pPr algn="ctr">
              <a:defRPr sz="1200" b="1">
                <a:solidFill>
                  <a:srgbClr val="1F497D"/>
                </a:solidFill>
                <a:latin typeface="Calibri"/>
              </a:defRPr>
            </a:pPr>
            <a:r>
              <a:t>Marco Schmidt</a:t>
            </a:r>
          </a:p>
        </p:txBody>
      </p:sp>
      <p:sp>
        <p:nvSpPr>
          <p:cNvPr id="23" name="TextBox 22"/>
          <p:cNvSpPr txBox="1"/>
          <p:nvPr/>
        </p:nvSpPr>
        <p:spPr>
          <a:xfrm>
            <a:off x="7260336" y="1810512"/>
            <a:ext cx="2057400" cy="320040"/>
          </a:xfrm>
          <a:prstGeom prst="rect">
            <a:avLst/>
          </a:prstGeom>
          <a:noFill/>
        </p:spPr>
        <p:txBody>
          <a:bodyPr wrap="none">
            <a:spAutoFit/>
          </a:bodyPr>
          <a:lstStyle/>
          <a:p>
            <a:pPr algn="ctr">
              <a:defRPr sz="950" b="1">
                <a:solidFill>
                  <a:srgbClr val="2F5597"/>
                </a:solidFill>
                <a:latin typeface="Calibri"/>
              </a:defRPr>
            </a:pPr>
            <a:r>
              <a:t>Qualitätsmanagement</a:t>
            </a:r>
          </a:p>
        </p:txBody>
      </p:sp>
      <p:sp>
        <p:nvSpPr>
          <p:cNvPr id="24" name="TextBox 23"/>
          <p:cNvSpPr txBox="1"/>
          <p:nvPr/>
        </p:nvSpPr>
        <p:spPr>
          <a:xfrm>
            <a:off x="7370064"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Wareneingangsprüfung (§ 377 HGB)</a:t>
            </a:r>
          </a:p>
          <a:p>
            <a:pPr>
              <a:spcAft>
                <a:spcPts val="600"/>
              </a:spcAft>
              <a:defRPr sz="950">
                <a:solidFill>
                  <a:srgbClr val="262626"/>
                </a:solidFill>
                <a:latin typeface="Calibri"/>
              </a:defRPr>
            </a:pPr>
            <a:r>
              <a:t>• Kaufmännische Mängelrüge</a:t>
            </a:r>
          </a:p>
          <a:p>
            <a:pPr>
              <a:spcAft>
                <a:spcPts val="600"/>
              </a:spcAft>
              <a:defRPr sz="950">
                <a:solidFill>
                  <a:srgbClr val="262626"/>
                </a:solidFill>
                <a:latin typeface="Calibri"/>
              </a:defRPr>
            </a:pPr>
            <a:r>
              <a:t>• Entsorgungskonzept ElektroG</a:t>
            </a:r>
          </a:p>
          <a:p>
            <a:pPr>
              <a:spcAft>
                <a:spcPts val="600"/>
              </a:spcAft>
              <a:defRPr sz="950">
                <a:solidFill>
                  <a:srgbClr val="262626"/>
                </a:solidFill>
                <a:latin typeface="Calibri"/>
              </a:defRPr>
            </a:pPr>
            <a:r>
              <a:t>• Datenschutz &amp; BSI-Löschung</a:t>
            </a:r>
          </a:p>
        </p:txBody>
      </p:sp>
      <p:sp>
        <p:nvSpPr>
          <p:cNvPr id="25" name="Rounded Rectangle 24"/>
          <p:cNvSpPr/>
          <p:nvPr/>
        </p:nvSpPr>
        <p:spPr>
          <a:xfrm>
            <a:off x="9436608" y="1371600"/>
            <a:ext cx="20574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436608" y="1371600"/>
            <a:ext cx="2057400" cy="822960"/>
          </a:xfrm>
          <a:prstGeom prst="rect">
            <a:avLst/>
          </a:prstGeom>
          <a:solidFill>
            <a:srgbClr val="DEEB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36608" y="1444752"/>
            <a:ext cx="2057400" cy="411480"/>
          </a:xfrm>
          <a:prstGeom prst="rect">
            <a:avLst/>
          </a:prstGeom>
          <a:noFill/>
        </p:spPr>
        <p:txBody>
          <a:bodyPr wrap="none">
            <a:spAutoFit/>
          </a:bodyPr>
          <a:lstStyle/>
          <a:p>
            <a:pPr algn="ctr">
              <a:defRPr sz="1200" b="1">
                <a:solidFill>
                  <a:srgbClr val="1F497D"/>
                </a:solidFill>
                <a:latin typeface="Calibri"/>
              </a:defRPr>
            </a:pPr>
            <a:r>
              <a:t>Siyar</a:t>
            </a:r>
          </a:p>
        </p:txBody>
      </p:sp>
      <p:sp>
        <p:nvSpPr>
          <p:cNvPr id="28" name="TextBox 27"/>
          <p:cNvSpPr txBox="1"/>
          <p:nvPr/>
        </p:nvSpPr>
        <p:spPr>
          <a:xfrm>
            <a:off x="9436608" y="1810512"/>
            <a:ext cx="2057400" cy="320040"/>
          </a:xfrm>
          <a:prstGeom prst="rect">
            <a:avLst/>
          </a:prstGeom>
          <a:noFill/>
        </p:spPr>
        <p:txBody>
          <a:bodyPr wrap="none">
            <a:spAutoFit/>
          </a:bodyPr>
          <a:lstStyle/>
          <a:p>
            <a:pPr algn="ctr">
              <a:defRPr sz="950" b="1">
                <a:solidFill>
                  <a:srgbClr val="2F5597"/>
                </a:solidFill>
                <a:latin typeface="Calibri"/>
              </a:defRPr>
            </a:pPr>
            <a:r>
              <a:t>Berechnung &amp; Doku</a:t>
            </a:r>
          </a:p>
        </p:txBody>
      </p:sp>
      <p:sp>
        <p:nvSpPr>
          <p:cNvPr id="29" name="TextBox 28"/>
          <p:cNvSpPr txBox="1"/>
          <p:nvPr/>
        </p:nvSpPr>
        <p:spPr>
          <a:xfrm>
            <a:off x="9546336" y="2331720"/>
            <a:ext cx="1837944" cy="3749039"/>
          </a:xfrm>
          <a:prstGeom prst="rect">
            <a:avLst/>
          </a:prstGeom>
          <a:noFill/>
        </p:spPr>
        <p:txBody>
          <a:bodyPr wrap="square">
            <a:spAutoFit/>
          </a:bodyPr>
          <a:lstStyle/>
          <a:p>
            <a:pPr>
              <a:spcAft>
                <a:spcPts val="600"/>
              </a:spcAft>
              <a:defRPr sz="950">
                <a:solidFill>
                  <a:srgbClr val="262626"/>
                </a:solidFill>
                <a:latin typeface="Calibri"/>
              </a:defRPr>
            </a:pPr>
            <a:r>
              <a:t>• Server-Speicherbedarf (445 GiB)</a:t>
            </a:r>
          </a:p>
          <a:p>
            <a:pPr>
              <a:spcAft>
                <a:spcPts val="600"/>
              </a:spcAft>
              <a:defRPr sz="950">
                <a:solidFill>
                  <a:srgbClr val="262626"/>
                </a:solidFill>
                <a:latin typeface="Calibri"/>
              </a:defRPr>
            </a:pPr>
            <a:r>
              <a:t>• Energiekosten-Kalkulation</a:t>
            </a:r>
          </a:p>
          <a:p>
            <a:pPr>
              <a:spcAft>
                <a:spcPts val="600"/>
              </a:spcAft>
              <a:defRPr sz="950">
                <a:solidFill>
                  <a:srgbClr val="262626"/>
                </a:solidFill>
                <a:latin typeface="Calibri"/>
              </a:defRPr>
            </a:pPr>
            <a:r>
              <a:t>• Checklisten &amp; Protokolle</a:t>
            </a:r>
          </a:p>
          <a:p>
            <a:pPr>
              <a:spcAft>
                <a:spcPts val="600"/>
              </a:spcAft>
              <a:defRPr sz="950">
                <a:solidFill>
                  <a:srgbClr val="262626"/>
                </a:solidFill>
                <a:latin typeface="Calibri"/>
              </a:defRPr>
            </a:pPr>
            <a:r>
              <a:t>• Qualitätssicherung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PROJEKTORGANISATION</a:t>
            </a:r>
          </a:p>
          <a:p>
            <a:pPr>
              <a:defRPr sz="2000" b="1">
                <a:solidFill>
                  <a:srgbClr val="FFFFFF"/>
                </a:solidFill>
                <a:latin typeface="Calibri"/>
              </a:defRPr>
            </a:pPr>
            <a:r>
              <a:t>Projektstrukturplan nach DIN 69901</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5 von 16</a:t>
            </a:r>
          </a:p>
        </p:txBody>
      </p:sp>
      <p:sp>
        <p:nvSpPr>
          <p:cNvPr id="5" name="Rounded Rectangle 4"/>
          <p:cNvSpPr/>
          <p:nvPr/>
        </p:nvSpPr>
        <p:spPr>
          <a:xfrm>
            <a:off x="3352190" y="1280160"/>
            <a:ext cx="5486400" cy="685800"/>
          </a:xfrm>
          <a:prstGeom prst="roundRect">
            <a:avLst/>
          </a:prstGeom>
          <a:solidFill>
            <a:srgbClr val="1F497D"/>
          </a:solidFill>
          <a:ln w="1905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1.0 IT-Ausstattung Planungs- und Konstruktionsbüro</a:t>
            </a:r>
          </a:p>
          <a:p>
            <a:pPr algn="ctr">
              <a:defRPr sz="1000">
                <a:solidFill>
                  <a:srgbClr val="DEEBF7"/>
                </a:solidFill>
                <a:latin typeface="Calibri"/>
              </a:defRPr>
            </a:pPr>
            <a:r>
              <a:t>Projektleiter: Jan Kluth  |  NextLevel IT Solutions GmbH</a:t>
            </a:r>
          </a:p>
        </p:txBody>
      </p:sp>
      <p:sp>
        <p:nvSpPr>
          <p:cNvPr id="6" name="Rounded Rectangle 5"/>
          <p:cNvSpPr/>
          <p:nvPr/>
        </p:nvSpPr>
        <p:spPr>
          <a:xfrm>
            <a:off x="731520"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40280"/>
            <a:ext cx="2057400" cy="365760"/>
          </a:xfrm>
          <a:prstGeom prst="rect">
            <a:avLst/>
          </a:prstGeom>
          <a:noFill/>
        </p:spPr>
        <p:txBody>
          <a:bodyPr wrap="none">
            <a:spAutoFit/>
          </a:bodyPr>
          <a:lstStyle/>
          <a:p>
            <a:pPr algn="ctr">
              <a:defRPr sz="1100" b="1">
                <a:solidFill>
                  <a:srgbClr val="FFFFFF"/>
                </a:solidFill>
                <a:latin typeface="Calibri"/>
              </a:defRPr>
            </a:pPr>
            <a:r>
              <a:t>1.1 Hardware</a:t>
            </a:r>
          </a:p>
        </p:txBody>
      </p:sp>
      <p:sp>
        <p:nvSpPr>
          <p:cNvPr id="9" name="TextBox 8"/>
          <p:cNvSpPr txBox="1"/>
          <p:nvPr/>
        </p:nvSpPr>
        <p:spPr>
          <a:xfrm>
            <a:off x="731520" y="2542032"/>
            <a:ext cx="2057400" cy="274320"/>
          </a:xfrm>
          <a:prstGeom prst="rect">
            <a:avLst/>
          </a:prstGeom>
          <a:noFill/>
        </p:spPr>
        <p:txBody>
          <a:bodyPr wrap="none">
            <a:spAutoFit/>
          </a:bodyPr>
          <a:lstStyle/>
          <a:p>
            <a:pPr algn="ctr">
              <a:defRPr sz="950">
                <a:solidFill>
                  <a:srgbClr val="DEEBF7"/>
                </a:solidFill>
                <a:latin typeface="Calibri"/>
              </a:defRPr>
            </a:pPr>
            <a:r>
              <a:t>Leitung: Marian Bolecke</a:t>
            </a:r>
          </a:p>
        </p:txBody>
      </p:sp>
      <p:sp>
        <p:nvSpPr>
          <p:cNvPr id="10" name="TextBox 9"/>
          <p:cNvSpPr txBox="1"/>
          <p:nvPr/>
        </p:nvSpPr>
        <p:spPr>
          <a:xfrm>
            <a:off x="822960"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1.1.1 12x Standard-PCs</a:t>
            </a:r>
          </a:p>
          <a:p>
            <a:pPr>
              <a:spcAft>
                <a:spcPts val="400"/>
              </a:spcAft>
              <a:defRPr sz="950">
                <a:solidFill>
                  <a:srgbClr val="262626"/>
                </a:solidFill>
                <a:latin typeface="Calibri"/>
              </a:defRPr>
            </a:pPr>
            <a:r>
              <a:t>• 1.1.2 4x CAD-Workstations</a:t>
            </a:r>
          </a:p>
          <a:p>
            <a:pPr>
              <a:spcAft>
                <a:spcPts val="400"/>
              </a:spcAft>
              <a:defRPr sz="950">
                <a:solidFill>
                  <a:srgbClr val="262626"/>
                </a:solidFill>
                <a:latin typeface="Calibri"/>
              </a:defRPr>
            </a:pPr>
            <a:r>
              <a:t>• 1.1.3 32x Monitore (WQHD)</a:t>
            </a:r>
          </a:p>
          <a:p>
            <a:pPr>
              <a:spcAft>
                <a:spcPts val="400"/>
              </a:spcAft>
              <a:defRPr sz="950">
                <a:solidFill>
                  <a:srgbClr val="262626"/>
                </a:solidFill>
                <a:latin typeface="Calibri"/>
              </a:defRPr>
            </a:pPr>
            <a:r>
              <a:t>• 1.1.4 16x Funk-Eingabesets</a:t>
            </a:r>
          </a:p>
          <a:p>
            <a:pPr>
              <a:spcAft>
                <a:spcPts val="400"/>
              </a:spcAft>
              <a:defRPr sz="950">
                <a:solidFill>
                  <a:srgbClr val="262626"/>
                </a:solidFill>
                <a:latin typeface="Calibri"/>
              </a:defRPr>
            </a:pPr>
            <a:r>
              <a:t>• 1.1.5 16x Externe 1TB SSDs</a:t>
            </a:r>
          </a:p>
          <a:p>
            <a:pPr>
              <a:spcAft>
                <a:spcPts val="400"/>
              </a:spcAft>
              <a:defRPr sz="950">
                <a:solidFill>
                  <a:srgbClr val="262626"/>
                </a:solidFill>
                <a:latin typeface="Calibri"/>
              </a:defRPr>
            </a:pPr>
            <a:r>
              <a:t>• 1.1.6 1x Farblaser-MFP A3</a:t>
            </a:r>
          </a:p>
        </p:txBody>
      </p:sp>
      <p:sp>
        <p:nvSpPr>
          <p:cNvPr id="11" name="Rounded Rectangle 10"/>
          <p:cNvSpPr/>
          <p:nvPr/>
        </p:nvSpPr>
        <p:spPr>
          <a:xfrm>
            <a:off x="2907791"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907791"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07791" y="2240280"/>
            <a:ext cx="2057400" cy="365760"/>
          </a:xfrm>
          <a:prstGeom prst="rect">
            <a:avLst/>
          </a:prstGeom>
          <a:noFill/>
        </p:spPr>
        <p:txBody>
          <a:bodyPr wrap="none">
            <a:spAutoFit/>
          </a:bodyPr>
          <a:lstStyle/>
          <a:p>
            <a:pPr algn="ctr">
              <a:defRPr sz="1100" b="1">
                <a:solidFill>
                  <a:srgbClr val="FFFFFF"/>
                </a:solidFill>
                <a:latin typeface="Calibri"/>
              </a:defRPr>
            </a:pPr>
            <a:r>
              <a:t>1.2 Software</a:t>
            </a:r>
          </a:p>
        </p:txBody>
      </p:sp>
      <p:sp>
        <p:nvSpPr>
          <p:cNvPr id="14" name="TextBox 13"/>
          <p:cNvSpPr txBox="1"/>
          <p:nvPr/>
        </p:nvSpPr>
        <p:spPr>
          <a:xfrm>
            <a:off x="2907791" y="2542032"/>
            <a:ext cx="2057400" cy="274320"/>
          </a:xfrm>
          <a:prstGeom prst="rect">
            <a:avLst/>
          </a:prstGeom>
          <a:noFill/>
        </p:spPr>
        <p:txBody>
          <a:bodyPr wrap="none">
            <a:spAutoFit/>
          </a:bodyPr>
          <a:lstStyle/>
          <a:p>
            <a:pPr algn="ctr">
              <a:defRPr sz="950">
                <a:solidFill>
                  <a:srgbClr val="DEEBF7"/>
                </a:solidFill>
                <a:latin typeface="Calibri"/>
              </a:defRPr>
            </a:pPr>
            <a:r>
              <a:t>Leitung: Mathias Vonau</a:t>
            </a:r>
          </a:p>
        </p:txBody>
      </p:sp>
      <p:sp>
        <p:nvSpPr>
          <p:cNvPr id="15" name="TextBox 14"/>
          <p:cNvSpPr txBox="1"/>
          <p:nvPr/>
        </p:nvSpPr>
        <p:spPr>
          <a:xfrm>
            <a:off x="2999231"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1.2.1 16x Windows 11 Pro</a:t>
            </a:r>
          </a:p>
          <a:p>
            <a:pPr>
              <a:spcAft>
                <a:spcPts val="400"/>
              </a:spcAft>
              <a:defRPr sz="950">
                <a:solidFill>
                  <a:srgbClr val="262626"/>
                </a:solidFill>
                <a:latin typeface="Calibri"/>
              </a:defRPr>
            </a:pPr>
            <a:r>
              <a:t>• 1.2.2 16x M365 Business</a:t>
            </a:r>
          </a:p>
          <a:p>
            <a:pPr>
              <a:spcAft>
                <a:spcPts val="400"/>
              </a:spcAft>
              <a:defRPr sz="950">
                <a:solidFill>
                  <a:srgbClr val="262626"/>
                </a:solidFill>
                <a:latin typeface="Calibri"/>
              </a:defRPr>
            </a:pPr>
            <a:r>
              <a:t>• 1.2.3 16x Adobe Acrobat Pro</a:t>
            </a:r>
          </a:p>
          <a:p>
            <a:pPr>
              <a:spcAft>
                <a:spcPts val="400"/>
              </a:spcAft>
              <a:defRPr sz="950">
                <a:solidFill>
                  <a:srgbClr val="262626"/>
                </a:solidFill>
                <a:latin typeface="Calibri"/>
              </a:defRPr>
            </a:pPr>
            <a:r>
              <a:t>• 1.2.4 16x ESET PROTECT</a:t>
            </a:r>
          </a:p>
          <a:p>
            <a:pPr>
              <a:spcAft>
                <a:spcPts val="400"/>
              </a:spcAft>
              <a:defRPr sz="950">
                <a:solidFill>
                  <a:srgbClr val="262626"/>
                </a:solidFill>
                <a:latin typeface="Calibri"/>
              </a:defRPr>
            </a:pPr>
            <a:r>
              <a:t>• 1.2.5 Staging-Images</a:t>
            </a:r>
          </a:p>
          <a:p>
            <a:pPr>
              <a:spcAft>
                <a:spcPts val="400"/>
              </a:spcAft>
              <a:defRPr sz="950">
                <a:solidFill>
                  <a:srgbClr val="262626"/>
                </a:solidFill>
                <a:latin typeface="Calibri"/>
              </a:defRPr>
            </a:pPr>
            <a:r>
              <a:t>• 1.2.6 Lizenzdokumentation</a:t>
            </a:r>
          </a:p>
        </p:txBody>
      </p:sp>
      <p:sp>
        <p:nvSpPr>
          <p:cNvPr id="16" name="Rounded Rectangle 15"/>
          <p:cNvSpPr/>
          <p:nvPr/>
        </p:nvSpPr>
        <p:spPr>
          <a:xfrm>
            <a:off x="5084064"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84064"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84064" y="2240280"/>
            <a:ext cx="2057400" cy="365760"/>
          </a:xfrm>
          <a:prstGeom prst="rect">
            <a:avLst/>
          </a:prstGeom>
          <a:noFill/>
        </p:spPr>
        <p:txBody>
          <a:bodyPr wrap="none">
            <a:spAutoFit/>
          </a:bodyPr>
          <a:lstStyle/>
          <a:p>
            <a:pPr algn="ctr">
              <a:defRPr sz="1100" b="1">
                <a:solidFill>
                  <a:srgbClr val="FFFFFF"/>
                </a:solidFill>
                <a:latin typeface="Calibri"/>
              </a:defRPr>
            </a:pPr>
            <a:r>
              <a:t>1.3 Netzwerk/Server</a:t>
            </a:r>
          </a:p>
        </p:txBody>
      </p:sp>
      <p:sp>
        <p:nvSpPr>
          <p:cNvPr id="19" name="TextBox 18"/>
          <p:cNvSpPr txBox="1"/>
          <p:nvPr/>
        </p:nvSpPr>
        <p:spPr>
          <a:xfrm>
            <a:off x="5084064" y="2542032"/>
            <a:ext cx="2057400" cy="274320"/>
          </a:xfrm>
          <a:prstGeom prst="rect">
            <a:avLst/>
          </a:prstGeom>
          <a:noFill/>
        </p:spPr>
        <p:txBody>
          <a:bodyPr wrap="none">
            <a:spAutoFit/>
          </a:bodyPr>
          <a:lstStyle/>
          <a:p>
            <a:pPr algn="ctr">
              <a:defRPr sz="950">
                <a:solidFill>
                  <a:srgbClr val="DEEBF7"/>
                </a:solidFill>
                <a:latin typeface="Calibri"/>
              </a:defRPr>
            </a:pPr>
            <a:r>
              <a:t>Leitung: Siyar</a:t>
            </a:r>
          </a:p>
        </p:txBody>
      </p:sp>
      <p:sp>
        <p:nvSpPr>
          <p:cNvPr id="20" name="TextBox 19"/>
          <p:cNvSpPr txBox="1"/>
          <p:nvPr/>
        </p:nvSpPr>
        <p:spPr>
          <a:xfrm>
            <a:off x="5175504"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1.3.1 16x Cat.6A Patchkabel</a:t>
            </a:r>
          </a:p>
          <a:p>
            <a:pPr>
              <a:spcAft>
                <a:spcPts val="400"/>
              </a:spcAft>
              <a:defRPr sz="950">
                <a:solidFill>
                  <a:srgbClr val="262626"/>
                </a:solidFill>
                <a:latin typeface="Calibri"/>
              </a:defRPr>
            </a:pPr>
            <a:r>
              <a:t>• 1.3.2 Serverbedarf (445 GiB)</a:t>
            </a:r>
          </a:p>
          <a:p>
            <a:pPr>
              <a:spcAft>
                <a:spcPts val="400"/>
              </a:spcAft>
              <a:defRPr sz="950">
                <a:solidFill>
                  <a:srgbClr val="262626"/>
                </a:solidFill>
                <a:latin typeface="Calibri"/>
              </a:defRPr>
            </a:pPr>
            <a:r>
              <a:t>• 1.3.3 Stromkosten (1.771 €)</a:t>
            </a:r>
          </a:p>
          <a:p>
            <a:pPr>
              <a:spcAft>
                <a:spcPts val="400"/>
              </a:spcAft>
              <a:defRPr sz="950">
                <a:solidFill>
                  <a:srgbClr val="262626"/>
                </a:solidFill>
                <a:latin typeface="Calibri"/>
              </a:defRPr>
            </a:pPr>
            <a:r>
              <a:t>• 1.3.4 Switchport-Planung</a:t>
            </a:r>
          </a:p>
          <a:p>
            <a:pPr>
              <a:spcAft>
                <a:spcPts val="400"/>
              </a:spcAft>
              <a:defRPr sz="950">
                <a:solidFill>
                  <a:srgbClr val="262626"/>
                </a:solidFill>
                <a:latin typeface="Calibri"/>
              </a:defRPr>
            </a:pPr>
            <a:r>
              <a:t>• 1.3.5 Server-Sync Test</a:t>
            </a:r>
          </a:p>
          <a:p>
            <a:pPr>
              <a:spcAft>
                <a:spcPts val="400"/>
              </a:spcAft>
              <a:defRPr sz="950">
                <a:solidFill>
                  <a:srgbClr val="262626"/>
                </a:solidFill>
                <a:latin typeface="Calibri"/>
              </a:defRPr>
            </a:pPr>
            <a:r>
              <a:t>• 1.3.6 Netzlaufwerke Setup</a:t>
            </a:r>
          </a:p>
        </p:txBody>
      </p:sp>
      <p:sp>
        <p:nvSpPr>
          <p:cNvPr id="21" name="Rounded Rectangle 20"/>
          <p:cNvSpPr/>
          <p:nvPr/>
        </p:nvSpPr>
        <p:spPr>
          <a:xfrm>
            <a:off x="7260336"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60336"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0336" y="2240280"/>
            <a:ext cx="2057400" cy="365760"/>
          </a:xfrm>
          <a:prstGeom prst="rect">
            <a:avLst/>
          </a:prstGeom>
          <a:noFill/>
        </p:spPr>
        <p:txBody>
          <a:bodyPr wrap="none">
            <a:spAutoFit/>
          </a:bodyPr>
          <a:lstStyle/>
          <a:p>
            <a:pPr algn="ctr">
              <a:defRPr sz="1100" b="1">
                <a:solidFill>
                  <a:srgbClr val="FFFFFF"/>
                </a:solidFill>
                <a:latin typeface="Calibri"/>
              </a:defRPr>
            </a:pPr>
            <a:r>
              <a:t>1.4 QM &amp; Logistik</a:t>
            </a:r>
          </a:p>
        </p:txBody>
      </p:sp>
      <p:sp>
        <p:nvSpPr>
          <p:cNvPr id="24" name="TextBox 23"/>
          <p:cNvSpPr txBox="1"/>
          <p:nvPr/>
        </p:nvSpPr>
        <p:spPr>
          <a:xfrm>
            <a:off x="7260336" y="2542032"/>
            <a:ext cx="2057400" cy="274320"/>
          </a:xfrm>
          <a:prstGeom prst="rect">
            <a:avLst/>
          </a:prstGeom>
          <a:noFill/>
        </p:spPr>
        <p:txBody>
          <a:bodyPr wrap="none">
            <a:spAutoFit/>
          </a:bodyPr>
          <a:lstStyle/>
          <a:p>
            <a:pPr algn="ctr">
              <a:defRPr sz="950">
                <a:solidFill>
                  <a:srgbClr val="DEEBF7"/>
                </a:solidFill>
                <a:latin typeface="Calibri"/>
              </a:defRPr>
            </a:pPr>
            <a:r>
              <a:t>Leitung: Marco Schmidt</a:t>
            </a:r>
          </a:p>
        </p:txBody>
      </p:sp>
      <p:sp>
        <p:nvSpPr>
          <p:cNvPr id="25" name="TextBox 24"/>
          <p:cNvSpPr txBox="1"/>
          <p:nvPr/>
        </p:nvSpPr>
        <p:spPr>
          <a:xfrm>
            <a:off x="7351776"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1.4.1 Wareneingang § 377</a:t>
            </a:r>
          </a:p>
          <a:p>
            <a:pPr>
              <a:spcAft>
                <a:spcPts val="400"/>
              </a:spcAft>
              <a:defRPr sz="950">
                <a:solidFill>
                  <a:srgbClr val="262626"/>
                </a:solidFill>
                <a:latin typeface="Calibri"/>
              </a:defRPr>
            </a:pPr>
            <a:r>
              <a:t>• 1.4.2 Mängelrüge Schreiben</a:t>
            </a:r>
          </a:p>
          <a:p>
            <a:pPr>
              <a:spcAft>
                <a:spcPts val="400"/>
              </a:spcAft>
              <a:defRPr sz="950">
                <a:solidFill>
                  <a:srgbClr val="262626"/>
                </a:solidFill>
                <a:latin typeface="Calibri"/>
              </a:defRPr>
            </a:pPr>
            <a:r>
              <a:t>• 1.4.3 Altdrucker-Entsorgung</a:t>
            </a:r>
          </a:p>
          <a:p>
            <a:pPr>
              <a:spcAft>
                <a:spcPts val="400"/>
              </a:spcAft>
              <a:defRPr sz="950">
                <a:solidFill>
                  <a:srgbClr val="262626"/>
                </a:solidFill>
                <a:latin typeface="Calibri"/>
              </a:defRPr>
            </a:pPr>
            <a:r>
              <a:t>• 1.4.4 Datenschutz &amp; BSI</a:t>
            </a:r>
          </a:p>
          <a:p>
            <a:pPr>
              <a:spcAft>
                <a:spcPts val="400"/>
              </a:spcAft>
              <a:defRPr sz="950">
                <a:solidFill>
                  <a:srgbClr val="262626"/>
                </a:solidFill>
                <a:latin typeface="Calibri"/>
              </a:defRPr>
            </a:pPr>
            <a:r>
              <a:t>• 1.4.5 Entsorgungsnachweis</a:t>
            </a:r>
          </a:p>
          <a:p>
            <a:pPr>
              <a:spcAft>
                <a:spcPts val="400"/>
              </a:spcAft>
              <a:defRPr sz="950">
                <a:solidFill>
                  <a:srgbClr val="262626"/>
                </a:solidFill>
                <a:latin typeface="Calibri"/>
              </a:defRPr>
            </a:pPr>
            <a:r>
              <a:t>• 1.4.6 RMA-Austausch</a:t>
            </a:r>
          </a:p>
        </p:txBody>
      </p:sp>
      <p:sp>
        <p:nvSpPr>
          <p:cNvPr id="26" name="Rounded Rectangle 25"/>
          <p:cNvSpPr/>
          <p:nvPr/>
        </p:nvSpPr>
        <p:spPr>
          <a:xfrm>
            <a:off x="9436608" y="2194560"/>
            <a:ext cx="2057400" cy="4114800"/>
          </a:xfrm>
          <a:prstGeom prst="roundRect">
            <a:avLst/>
          </a:prstGeom>
          <a:solidFill>
            <a:srgbClr val="FFFFFF"/>
          </a:solidFill>
          <a:ln w="127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436608" y="2194560"/>
            <a:ext cx="2057400" cy="68580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436608" y="2240280"/>
            <a:ext cx="2057400" cy="365760"/>
          </a:xfrm>
          <a:prstGeom prst="rect">
            <a:avLst/>
          </a:prstGeom>
          <a:noFill/>
        </p:spPr>
        <p:txBody>
          <a:bodyPr wrap="none">
            <a:spAutoFit/>
          </a:bodyPr>
          <a:lstStyle/>
          <a:p>
            <a:pPr algn="ctr">
              <a:defRPr sz="1100" b="1">
                <a:solidFill>
                  <a:srgbClr val="FFFFFF"/>
                </a:solidFill>
                <a:latin typeface="Calibri"/>
              </a:defRPr>
            </a:pPr>
            <a:r>
              <a:t>1.5 Rollout &amp; PM</a:t>
            </a:r>
          </a:p>
        </p:txBody>
      </p:sp>
      <p:sp>
        <p:nvSpPr>
          <p:cNvPr id="29" name="TextBox 28"/>
          <p:cNvSpPr txBox="1"/>
          <p:nvPr/>
        </p:nvSpPr>
        <p:spPr>
          <a:xfrm>
            <a:off x="9436608" y="2542032"/>
            <a:ext cx="2057400" cy="274320"/>
          </a:xfrm>
          <a:prstGeom prst="rect">
            <a:avLst/>
          </a:prstGeom>
          <a:noFill/>
        </p:spPr>
        <p:txBody>
          <a:bodyPr wrap="none">
            <a:spAutoFit/>
          </a:bodyPr>
          <a:lstStyle/>
          <a:p>
            <a:pPr algn="ctr">
              <a:defRPr sz="950">
                <a:solidFill>
                  <a:srgbClr val="DEEBF7"/>
                </a:solidFill>
                <a:latin typeface="Calibri"/>
              </a:defRPr>
            </a:pPr>
            <a:r>
              <a:t>Leitung: Jan Kluth</a:t>
            </a:r>
          </a:p>
        </p:txBody>
      </p:sp>
      <p:sp>
        <p:nvSpPr>
          <p:cNvPr id="30" name="TextBox 29"/>
          <p:cNvSpPr txBox="1"/>
          <p:nvPr/>
        </p:nvSpPr>
        <p:spPr>
          <a:xfrm>
            <a:off x="9528048" y="2971800"/>
            <a:ext cx="1874520" cy="3200400"/>
          </a:xfrm>
          <a:prstGeom prst="rect">
            <a:avLst/>
          </a:prstGeom>
          <a:noFill/>
        </p:spPr>
        <p:txBody>
          <a:bodyPr wrap="square">
            <a:spAutoFit/>
          </a:bodyPr>
          <a:lstStyle/>
          <a:p>
            <a:pPr>
              <a:spcAft>
                <a:spcPts val="400"/>
              </a:spcAft>
              <a:defRPr sz="950">
                <a:solidFill>
                  <a:srgbClr val="262626"/>
                </a:solidFill>
                <a:latin typeface="Calibri"/>
              </a:defRPr>
            </a:pPr>
            <a:r>
              <a:t>• 1.5.1 Staging im IT-Labor</a:t>
            </a:r>
          </a:p>
          <a:p>
            <a:pPr>
              <a:spcAft>
                <a:spcPts val="400"/>
              </a:spcAft>
              <a:defRPr sz="950">
                <a:solidFill>
                  <a:srgbClr val="262626"/>
                </a:solidFill>
                <a:latin typeface="Calibri"/>
              </a:defRPr>
            </a:pPr>
            <a:r>
              <a:t>• 1.5.2 Vor-Ort-Montage</a:t>
            </a:r>
          </a:p>
          <a:p>
            <a:pPr>
              <a:spcAft>
                <a:spcPts val="400"/>
              </a:spcAft>
              <a:defRPr sz="950">
                <a:solidFill>
                  <a:srgbClr val="262626"/>
                </a:solidFill>
                <a:latin typeface="Calibri"/>
              </a:defRPr>
            </a:pPr>
            <a:r>
              <a:t>• 1.5.3 End-to-End Tests</a:t>
            </a:r>
          </a:p>
          <a:p>
            <a:pPr>
              <a:spcAft>
                <a:spcPts val="400"/>
              </a:spcAft>
              <a:defRPr sz="950">
                <a:solidFill>
                  <a:srgbClr val="262626"/>
                </a:solidFill>
                <a:latin typeface="Calibri"/>
              </a:defRPr>
            </a:pPr>
            <a:r>
              <a:t>• 1.5.4 Abnahmeprotokoll</a:t>
            </a:r>
          </a:p>
          <a:p>
            <a:pPr>
              <a:spcAft>
                <a:spcPts val="400"/>
              </a:spcAft>
              <a:defRPr sz="950">
                <a:solidFill>
                  <a:srgbClr val="262626"/>
                </a:solidFill>
                <a:latin typeface="Calibri"/>
              </a:defRPr>
            </a:pPr>
            <a:r>
              <a:t>• 1.5.5 Zeit-/Kostenkontrolle</a:t>
            </a:r>
          </a:p>
          <a:p>
            <a:pPr>
              <a:spcAft>
                <a:spcPts val="400"/>
              </a:spcAft>
              <a:defRPr sz="950">
                <a:solidFill>
                  <a:srgbClr val="262626"/>
                </a:solidFill>
                <a:latin typeface="Calibri"/>
              </a:defRPr>
            </a:pPr>
            <a:r>
              <a:t>• 1.5.6 Lessons Learned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ABLAUFPLANUNG</a:t>
            </a:r>
          </a:p>
          <a:p>
            <a:pPr>
              <a:defRPr sz="2000" b="1">
                <a:solidFill>
                  <a:srgbClr val="FFFFFF"/>
                </a:solidFill>
                <a:latin typeface="Calibri"/>
              </a:defRPr>
            </a:pPr>
            <a:r>
              <a:t>Netzplan und Kritischer Pfad nach DIN 69900</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6 von 16</a:t>
            </a:r>
          </a:p>
        </p:txBody>
      </p:sp>
      <p:pic>
        <p:nvPicPr>
          <p:cNvPr id="5" name="Picture 4" descr="Netzplan.png"/>
          <p:cNvPicPr>
            <a:picLocks noChangeAspect="1"/>
          </p:cNvPicPr>
          <p:nvPr/>
        </p:nvPicPr>
        <p:blipFill>
          <a:blip r:embed="rId3"/>
          <a:stretch>
            <a:fillRect/>
          </a:stretch>
        </p:blipFill>
        <p:spPr>
          <a:xfrm>
            <a:off x="1615287" y="1234440"/>
            <a:ext cx="8961120" cy="4572000"/>
          </a:xfrm>
          <a:prstGeom prst="rect">
            <a:avLst/>
          </a:prstGeom>
        </p:spPr>
      </p:pic>
      <p:sp>
        <p:nvSpPr>
          <p:cNvPr id="6" name="TextBox 5"/>
          <p:cNvSpPr txBox="1"/>
          <p:nvPr/>
        </p:nvSpPr>
        <p:spPr>
          <a:xfrm>
            <a:off x="731520" y="5897880"/>
            <a:ext cx="10728655" cy="411480"/>
          </a:xfrm>
          <a:prstGeom prst="rect">
            <a:avLst/>
          </a:prstGeom>
          <a:noFill/>
        </p:spPr>
        <p:txBody>
          <a:bodyPr wrap="square">
            <a:spAutoFit/>
          </a:bodyPr>
          <a:lstStyle/>
          <a:p>
            <a:pPr algn="ctr">
              <a:defRPr sz="1100" b="1">
                <a:solidFill>
                  <a:srgbClr val="9C0006"/>
                </a:solidFill>
                <a:latin typeface="Calibri"/>
              </a:defRPr>
            </a:pPr>
            <a:r>
              <a:t>KRITISCHER PFAD (ROT): V1 ➔ V2 ➔ V3 ➔ V4 ➔ V5 ➔ V6 ➔ V7 ➔ V8 ➔ V9 ➔ V11 ➔ V12 ➔ V13 ➔ V14  |  DAUER: 46 TAGE  |  PUFFER V10: 1 TAG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SPEZIFIKATIONEN</a:t>
            </a:r>
          </a:p>
          <a:p>
            <a:pPr>
              <a:defRPr sz="2000" b="1">
                <a:solidFill>
                  <a:srgbClr val="FFFFFF"/>
                </a:solidFill>
                <a:latin typeface="Calibri"/>
              </a:defRPr>
            </a:pPr>
            <a:r>
              <a:t>Anforderungsprofil: Arbeitsplatztypen im 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474720" cy="7772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3474720" cy="365760"/>
          </a:xfrm>
          <a:prstGeom prst="rect">
            <a:avLst/>
          </a:prstGeom>
          <a:noFill/>
        </p:spPr>
        <p:txBody>
          <a:bodyPr wrap="none">
            <a:spAutoFit/>
          </a:bodyPr>
          <a:lstStyle/>
          <a:p>
            <a:pPr algn="ctr">
              <a:defRPr sz="1200" b="1">
                <a:solidFill>
                  <a:srgbClr val="FFFFFF"/>
                </a:solidFill>
                <a:latin typeface="Calibri"/>
              </a:defRPr>
            </a:pPr>
            <a:r>
              <a:t>12x Standard-Büro-PCs</a:t>
            </a:r>
          </a:p>
        </p:txBody>
      </p:sp>
      <p:sp>
        <p:nvSpPr>
          <p:cNvPr id="8" name="TextBox 7"/>
          <p:cNvSpPr txBox="1"/>
          <p:nvPr/>
        </p:nvSpPr>
        <p:spPr>
          <a:xfrm>
            <a:off x="731520" y="1783080"/>
            <a:ext cx="3474720" cy="274320"/>
          </a:xfrm>
          <a:prstGeom prst="rect">
            <a:avLst/>
          </a:prstGeom>
          <a:noFill/>
        </p:spPr>
        <p:txBody>
          <a:bodyPr wrap="none">
            <a:spAutoFit/>
          </a:bodyPr>
          <a:lstStyle/>
          <a:p>
            <a:pPr algn="ctr">
              <a:defRPr sz="900">
                <a:solidFill>
                  <a:srgbClr val="DEEBF7"/>
                </a:solidFill>
                <a:latin typeface="Calibri"/>
              </a:defRPr>
            </a:pPr>
            <a:r>
              <a:t>Bauleitung, Ausschreibung &amp; Office</a:t>
            </a:r>
          </a:p>
        </p:txBody>
      </p:sp>
      <p:sp>
        <p:nvSpPr>
          <p:cNvPr id="9" name="TextBox 8"/>
          <p:cNvSpPr txBox="1"/>
          <p:nvPr/>
        </p:nvSpPr>
        <p:spPr>
          <a:xfrm>
            <a:off x="868680"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i5-13400 (10 Kerne, bis 4.6 GHz)</a:t>
            </a:r>
          </a:p>
          <a:p>
            <a:pPr>
              <a:spcAft>
                <a:spcPts val="600"/>
              </a:spcAft>
              <a:defRPr sz="950" b="1">
                <a:solidFill>
                  <a:srgbClr val="1F497D"/>
                </a:solidFill>
                <a:latin typeface="Calibri"/>
              </a:defRPr>
            </a:pPr>
            <a:r>
              <a:t>Arbeitsspeicher: </a:t>
            </a:r>
            <a:r>
              <a:rPr b="0">
                <a:solidFill>
                  <a:srgbClr val="262626"/>
                </a:solidFill>
              </a:rPr>
              <a:t>16 GB DDR5 RAM (Erweiterbar bis 64 GB)</a:t>
            </a:r>
          </a:p>
          <a:p>
            <a:pPr>
              <a:spcAft>
                <a:spcPts val="600"/>
              </a:spcAft>
              <a:defRPr sz="950" b="1">
                <a:solidFill>
                  <a:srgbClr val="1F497D"/>
                </a:solidFill>
                <a:latin typeface="Calibri"/>
              </a:defRPr>
            </a:pPr>
            <a:r>
              <a:t>Grafikeinheit: </a:t>
            </a:r>
            <a:r>
              <a:rPr b="0">
                <a:solidFill>
                  <a:srgbClr val="262626"/>
                </a:solidFill>
              </a:rPr>
              <a:t>Integrierte Intel UHD Graphics 730</a:t>
            </a:r>
          </a:p>
          <a:p>
            <a:pPr>
              <a:spcAft>
                <a:spcPts val="600"/>
              </a:spcAft>
              <a:defRPr sz="950" b="1">
                <a:solidFill>
                  <a:srgbClr val="1F497D"/>
                </a:solidFill>
                <a:latin typeface="Calibri"/>
              </a:defRPr>
            </a:pPr>
            <a:r>
              <a:t>Festplatte: </a:t>
            </a:r>
            <a:r>
              <a:rPr b="0">
                <a:solidFill>
                  <a:srgbClr val="262626"/>
                </a:solidFill>
              </a:rPr>
              <a:t>512 GB M.2 NVMe PCIe 4.0 SSD</a:t>
            </a:r>
          </a:p>
          <a:p>
            <a:pPr>
              <a:spcAft>
                <a:spcPts val="600"/>
              </a:spcAft>
              <a:defRPr sz="950" b="1">
                <a:solidFill>
                  <a:srgbClr val="1F497D"/>
                </a:solidFill>
                <a:latin typeface="Calibri"/>
              </a:defRPr>
            </a:pPr>
            <a:r>
              <a:t>Gehäuse / Lautstärke: </a:t>
            </a:r>
            <a:r>
              <a:rPr b="0">
                <a:solidFill>
                  <a:srgbClr val="262626"/>
                </a:solidFill>
              </a:rPr>
              <a:t>Small Form Factor (SFF), leise Lüfter (&lt;28 dB)</a:t>
            </a:r>
          </a:p>
          <a:p>
            <a:pPr>
              <a:spcAft>
                <a:spcPts val="600"/>
              </a:spcAft>
              <a:defRPr sz="950" b="1">
                <a:solidFill>
                  <a:srgbClr val="1F497D"/>
                </a:solidFill>
                <a:latin typeface="Calibri"/>
              </a:defRPr>
            </a:pPr>
            <a:r>
              <a:t>Peripherie: </a:t>
            </a:r>
            <a:r>
              <a:rPr b="0">
                <a:solidFill>
                  <a:srgbClr val="262626"/>
                </a:solidFill>
              </a:rPr>
              <a:t>Logitech MK650 Funkset (AES) + 1TB SSD</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70832" y="1371600"/>
            <a:ext cx="3474720" cy="777240"/>
          </a:xfrm>
          <a:prstGeom prst="rect">
            <a:avLst/>
          </a:prstGeom>
          <a:solidFill>
            <a:srgbClr val="2F55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0832" y="1444752"/>
            <a:ext cx="3474720" cy="365760"/>
          </a:xfrm>
          <a:prstGeom prst="rect">
            <a:avLst/>
          </a:prstGeom>
          <a:noFill/>
        </p:spPr>
        <p:txBody>
          <a:bodyPr wrap="none">
            <a:spAutoFit/>
          </a:bodyPr>
          <a:lstStyle/>
          <a:p>
            <a:pPr algn="ctr">
              <a:defRPr sz="1200" b="1">
                <a:solidFill>
                  <a:srgbClr val="FFFFFF"/>
                </a:solidFill>
                <a:latin typeface="Calibri"/>
              </a:defRPr>
            </a:pPr>
            <a:r>
              <a:t>4x CAD/BIM-Workstations</a:t>
            </a:r>
          </a:p>
        </p:txBody>
      </p:sp>
      <p:sp>
        <p:nvSpPr>
          <p:cNvPr id="13" name="TextBox 12"/>
          <p:cNvSpPr txBox="1"/>
          <p:nvPr/>
        </p:nvSpPr>
        <p:spPr>
          <a:xfrm>
            <a:off x="4370832" y="1783080"/>
            <a:ext cx="3474720" cy="274320"/>
          </a:xfrm>
          <a:prstGeom prst="rect">
            <a:avLst/>
          </a:prstGeom>
          <a:noFill/>
        </p:spPr>
        <p:txBody>
          <a:bodyPr wrap="none">
            <a:spAutoFit/>
          </a:bodyPr>
          <a:lstStyle/>
          <a:p>
            <a:pPr algn="ctr">
              <a:defRPr sz="900">
                <a:solidFill>
                  <a:srgbClr val="DEEBF7"/>
                </a:solidFill>
                <a:latin typeface="Calibri"/>
              </a:defRPr>
            </a:pPr>
            <a:r>
              <a:t>3D-Konstruktion, Revit &amp; Rendering</a:t>
            </a:r>
          </a:p>
        </p:txBody>
      </p:sp>
      <p:sp>
        <p:nvSpPr>
          <p:cNvPr id="14" name="TextBox 13"/>
          <p:cNvSpPr txBox="1"/>
          <p:nvPr/>
        </p:nvSpPr>
        <p:spPr>
          <a:xfrm>
            <a:off x="4507992"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Prozessor: </a:t>
            </a:r>
            <a:r>
              <a:rPr b="0">
                <a:solidFill>
                  <a:srgbClr val="262626"/>
                </a:solidFill>
              </a:rPr>
              <a:t>Intel Core i7-13700 (16 Kerne, bis 5.2 GHz)</a:t>
            </a:r>
          </a:p>
          <a:p>
            <a:pPr>
              <a:spcAft>
                <a:spcPts val="600"/>
              </a:spcAft>
              <a:defRPr sz="950" b="1">
                <a:solidFill>
                  <a:srgbClr val="1F497D"/>
                </a:solidFill>
                <a:latin typeface="Calibri"/>
              </a:defRPr>
            </a:pPr>
            <a:r>
              <a:t>Arbeitsspeicher: </a:t>
            </a:r>
            <a:r>
              <a:rPr b="0">
                <a:solidFill>
                  <a:srgbClr val="262626"/>
                </a:solidFill>
              </a:rPr>
              <a:t>64 GB DDR5 RAM (Erweiterbar bis 128 GB)</a:t>
            </a:r>
          </a:p>
          <a:p>
            <a:pPr>
              <a:spcAft>
                <a:spcPts val="600"/>
              </a:spcAft>
              <a:defRPr sz="950" b="1">
                <a:solidFill>
                  <a:srgbClr val="1F497D"/>
                </a:solidFill>
                <a:latin typeface="Calibri"/>
              </a:defRPr>
            </a:pPr>
            <a:r>
              <a:t>Grafikkarte: </a:t>
            </a:r>
            <a:r>
              <a:rPr b="0">
                <a:solidFill>
                  <a:srgbClr val="262626"/>
                </a:solidFill>
              </a:rPr>
              <a:t>NVIDIA RTX 4000 Ada Gen (20 GB GDDR6 ECC)</a:t>
            </a:r>
          </a:p>
          <a:p>
            <a:pPr>
              <a:spcAft>
                <a:spcPts val="600"/>
              </a:spcAft>
              <a:defRPr sz="950" b="1">
                <a:solidFill>
                  <a:srgbClr val="1F497D"/>
                </a:solidFill>
                <a:latin typeface="Calibri"/>
              </a:defRPr>
            </a:pPr>
            <a:r>
              <a:t>Festplatte: </a:t>
            </a:r>
            <a:r>
              <a:rPr b="0">
                <a:solidFill>
                  <a:srgbClr val="262626"/>
                </a:solidFill>
              </a:rPr>
              <a:t>1 TB M.2 NVMe PCIe 4.0 SSD (sehr hohe IOPS)</a:t>
            </a:r>
          </a:p>
          <a:p>
            <a:pPr>
              <a:spcAft>
                <a:spcPts val="600"/>
              </a:spcAft>
              <a:defRPr sz="950" b="1">
                <a:solidFill>
                  <a:srgbClr val="1F497D"/>
                </a:solidFill>
                <a:latin typeface="Calibri"/>
              </a:defRPr>
            </a:pPr>
            <a:r>
              <a:t>Kühlung / Gehäuse: </a:t>
            </a:r>
            <a:r>
              <a:rPr b="0">
                <a:solidFill>
                  <a:srgbClr val="262626"/>
                </a:solidFill>
              </a:rPr>
              <a:t>Tower-Gehäuse mit leiser Hochleistungskühlung</a:t>
            </a:r>
          </a:p>
          <a:p>
            <a:pPr>
              <a:spcAft>
                <a:spcPts val="600"/>
              </a:spcAft>
              <a:defRPr sz="950" b="1">
                <a:solidFill>
                  <a:srgbClr val="1F497D"/>
                </a:solidFill>
                <a:latin typeface="Calibri"/>
              </a:defRPr>
            </a:pPr>
            <a:r>
              <a:t>Zertifizierung: </a:t>
            </a:r>
            <a:r>
              <a:rPr b="0">
                <a:solidFill>
                  <a:srgbClr val="262626"/>
                </a:solidFill>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0144" y="1444752"/>
            <a:ext cx="3474720" cy="365760"/>
          </a:xfrm>
          <a:prstGeom prst="rect">
            <a:avLst/>
          </a:prstGeom>
          <a:noFill/>
        </p:spPr>
        <p:txBody>
          <a:bodyPr wrap="none">
            <a:spAutoFit/>
          </a:bodyPr>
          <a:lstStyle/>
          <a:p>
            <a:pPr algn="ctr">
              <a:defRPr sz="1200" b="1">
                <a:solidFill>
                  <a:srgbClr val="FFFFFF"/>
                </a:solidFill>
                <a:latin typeface="Calibri"/>
              </a:defRPr>
            </a:pPr>
            <a:r>
              <a:t>Monitore &amp; Drucker</a:t>
            </a:r>
          </a:p>
        </p:txBody>
      </p:sp>
      <p:sp>
        <p:nvSpPr>
          <p:cNvPr id="18" name="TextBox 17"/>
          <p:cNvSpPr txBox="1"/>
          <p:nvPr/>
        </p:nvSpPr>
        <p:spPr>
          <a:xfrm>
            <a:off x="8010144" y="1783080"/>
            <a:ext cx="3474720" cy="274320"/>
          </a:xfrm>
          <a:prstGeom prst="rect">
            <a:avLst/>
          </a:prstGeom>
          <a:noFill/>
        </p:spPr>
        <p:txBody>
          <a:bodyPr wrap="none">
            <a:spAutoFit/>
          </a:bodyPr>
          <a:lstStyle/>
          <a:p>
            <a:pPr algn="ctr">
              <a:defRPr sz="900">
                <a:solidFill>
                  <a:srgbClr val="DEEBF7"/>
                </a:solidFill>
                <a:latin typeface="Calibri"/>
              </a:defRPr>
            </a:pPr>
            <a:r>
              <a:t>Ergonomie &amp; Büroinfrastruktur</a:t>
            </a:r>
          </a:p>
        </p:txBody>
      </p:sp>
      <p:sp>
        <p:nvSpPr>
          <p:cNvPr id="19" name="TextBox 18"/>
          <p:cNvSpPr txBox="1"/>
          <p:nvPr/>
        </p:nvSpPr>
        <p:spPr>
          <a:xfrm>
            <a:off x="8147304" y="2286000"/>
            <a:ext cx="3200400" cy="3749039"/>
          </a:xfrm>
          <a:prstGeom prst="rect">
            <a:avLst/>
          </a:prstGeom>
          <a:noFill/>
        </p:spPr>
        <p:txBody>
          <a:bodyPr wrap="square">
            <a:spAutoFit/>
          </a:bodyPr>
          <a:lstStyle/>
          <a:p>
            <a:pPr>
              <a:spcAft>
                <a:spcPts val="600"/>
              </a:spcAft>
              <a:defRPr sz="950" b="1">
                <a:solidFill>
                  <a:srgbClr val="1F497D"/>
                </a:solidFill>
                <a:latin typeface="Calibri"/>
              </a:defRPr>
            </a:pPr>
            <a:r>
              <a:t>32x Bildschirme: </a:t>
            </a:r>
            <a:r>
              <a:rPr b="0">
                <a:solidFill>
                  <a:srgbClr val="262626"/>
                </a:solidFill>
              </a:rPr>
              <a:t>27'' WQHD (2560x1440), IPS Black Panel</a:t>
            </a:r>
          </a:p>
          <a:p>
            <a:pPr>
              <a:spcAft>
                <a:spcPts val="600"/>
              </a:spcAft>
              <a:defRPr sz="950" b="1">
                <a:solidFill>
                  <a:srgbClr val="1F497D"/>
                </a:solidFill>
                <a:latin typeface="Calibri"/>
              </a:defRPr>
            </a:pPr>
            <a:r>
              <a:t>Ergonomie: </a:t>
            </a:r>
            <a:r>
              <a:rPr b="0">
                <a:solidFill>
                  <a:srgbClr val="262626"/>
                </a:solidFill>
              </a:rPr>
              <a:t>Höhenverstellbar (150 mm), Pivot 90°, Swivel, Tilt</a:t>
            </a:r>
          </a:p>
          <a:p>
            <a:pPr>
              <a:spcAft>
                <a:spcPts val="600"/>
              </a:spcAft>
              <a:defRPr sz="950" b="1">
                <a:solidFill>
                  <a:srgbClr val="1F497D"/>
                </a:solidFill>
                <a:latin typeface="Calibri"/>
              </a:defRPr>
            </a:pPr>
            <a:r>
              <a:t>Augenschonung: </a:t>
            </a:r>
            <a:r>
              <a:rPr b="0">
                <a:solidFill>
                  <a:srgbClr val="262626"/>
                </a:solidFill>
              </a:rPr>
              <a:t>Hardware-Blaulichtfilter (ComfortView Plus)</a:t>
            </a:r>
          </a:p>
          <a:p>
            <a:pPr>
              <a:spcAft>
                <a:spcPts val="600"/>
              </a:spcAft>
              <a:defRPr sz="950" b="1">
                <a:solidFill>
                  <a:srgbClr val="1F497D"/>
                </a:solidFill>
                <a:latin typeface="Calibri"/>
              </a:defRPr>
            </a:pPr>
            <a:r>
              <a:t>1x zentrales MFP: </a:t>
            </a:r>
            <a:r>
              <a:rPr b="0">
                <a:solidFill>
                  <a:srgbClr val="262626"/>
                </a:solidFill>
              </a:rPr>
              <a:t>Lexmark CX930dse Farb-Multifunktionsdrucker</a:t>
            </a:r>
          </a:p>
          <a:p>
            <a:pPr>
              <a:spcAft>
                <a:spcPts val="600"/>
              </a:spcAft>
              <a:defRPr sz="950" b="1">
                <a:solidFill>
                  <a:srgbClr val="1F497D"/>
                </a:solidFill>
                <a:latin typeface="Calibri"/>
              </a:defRPr>
            </a:pPr>
            <a:r>
              <a:t>Druckleistung: </a:t>
            </a:r>
            <a:r>
              <a:rPr b="0">
                <a:solidFill>
                  <a:srgbClr val="262626"/>
                </a:solidFill>
              </a:rPr>
              <a:t>DIN A3/A4 Farblaser, 33 Seiten/Min., Duplex-Scan</a:t>
            </a:r>
          </a:p>
          <a:p>
            <a:pPr>
              <a:spcAft>
                <a:spcPts val="600"/>
              </a:spcAft>
              <a:defRPr sz="950" b="1">
                <a:solidFill>
                  <a:srgbClr val="1F497D"/>
                </a:solidFill>
                <a:latin typeface="Calibri"/>
              </a:defRPr>
            </a:pPr>
            <a:r>
              <a:t>Netzwerkanbindung: </a:t>
            </a:r>
            <a:r>
              <a:rPr b="0">
                <a:solidFill>
                  <a:srgbClr val="262626"/>
                </a:solidFill>
              </a:rPr>
              <a:t>Gigabit-LAN Cat.6A S/FTP halogenfrei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HARDWARE-AUSWAHL</a:t>
            </a:r>
          </a:p>
          <a:p>
            <a:pPr>
              <a:defRPr sz="2000" b="1">
                <a:solidFill>
                  <a:srgbClr val="FFFFFF"/>
                </a:solidFill>
                <a:latin typeface="Calibri"/>
              </a:defRPr>
            </a:pPr>
            <a:r>
              <a:t>Ausgewählte Marken-Hardware aus dem Fachhandel</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6908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690,00 € Netto</a:t>
            </a:r>
          </a:p>
        </p:txBody>
      </p:sp>
      <p:sp>
        <p:nvSpPr>
          <p:cNvPr id="7" name="TextBox 6"/>
          <p:cNvSpPr txBox="1"/>
          <p:nvPr/>
        </p:nvSpPr>
        <p:spPr>
          <a:xfrm>
            <a:off x="914400" y="1481328"/>
            <a:ext cx="3108960" cy="685800"/>
          </a:xfrm>
          <a:prstGeom prst="rect">
            <a:avLst/>
          </a:prstGeom>
          <a:noFill/>
        </p:spPr>
        <p:txBody>
          <a:bodyPr wrap="none">
            <a:spAutoFit/>
          </a:bodyPr>
          <a:lstStyle/>
          <a:p>
            <a:pPr>
              <a:defRPr sz="950" b="1">
                <a:solidFill>
                  <a:srgbClr val="2F5597"/>
                </a:solidFill>
                <a:latin typeface="Calibri"/>
              </a:defRPr>
            </a:pPr>
            <a:r>
              <a:t>STANDARD-PC (12 STÜCK)</a:t>
            </a:r>
          </a:p>
          <a:p>
            <a:pPr>
              <a:defRPr sz="1200" b="1">
                <a:solidFill>
                  <a:srgbClr val="1F497D"/>
                </a:solidFill>
                <a:latin typeface="Calibri"/>
              </a:defRPr>
            </a:pPr>
            <a:r>
              <a:t>Lenovo ThinkCentre M70s Gen 4</a:t>
            </a:r>
          </a:p>
        </p:txBody>
      </p:sp>
      <p:sp>
        <p:nvSpPr>
          <p:cNvPr id="8" name="TextBox 7"/>
          <p:cNvSpPr txBox="1"/>
          <p:nvPr/>
        </p:nvSpPr>
        <p:spPr>
          <a:xfrm>
            <a:off x="91440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i5-13400 Prozessor, 16 GB DDR5 RAM, 512 GB NVMe</a:t>
            </a:r>
          </a:p>
          <a:p>
            <a:pPr>
              <a:spcAft>
                <a:spcPts val="200"/>
              </a:spcAft>
              <a:defRPr sz="950">
                <a:solidFill>
                  <a:srgbClr val="262626"/>
                </a:solidFill>
                <a:latin typeface="Calibri"/>
              </a:defRPr>
            </a:pPr>
            <a:r>
              <a:t>• Kompakter Small Form Factor (SFF), leise Lüfterkurve</a:t>
            </a:r>
          </a:p>
          <a:p>
            <a:pPr>
              <a:spcAft>
                <a:spcPts val="200"/>
              </a:spcAft>
              <a:defRPr sz="950">
                <a:solidFill>
                  <a:srgbClr val="262626"/>
                </a:solidFill>
                <a:latin typeface="Calibri"/>
              </a:defRPr>
            </a:pPr>
            <a:r>
              <a:t>• Zuverlässige Plattform für Bauleiter und Ausschreibungen</a:t>
            </a:r>
          </a:p>
          <a:p>
            <a:pPr>
              <a:spcAft>
                <a:spcPts val="200"/>
              </a:spcAft>
              <a:defRPr sz="950">
                <a:solidFill>
                  <a:srgbClr val="262626"/>
                </a:solidFill>
                <a:latin typeface="Calibri"/>
              </a:defRPr>
            </a:pPr>
            <a:r>
              <a:t>• 3 Jahre Vor-Ort-Herstellergarantie inklusive</a:t>
            </a:r>
          </a:p>
        </p:txBody>
      </p:sp>
      <p:sp>
        <p:nvSpPr>
          <p:cNvPr id="9" name="Rounded Rectangle 8"/>
          <p:cNvSpPr/>
          <p:nvPr/>
        </p:nvSpPr>
        <p:spPr>
          <a:xfrm>
            <a:off x="6172200" y="137160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509760" y="150876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3.200,00 € Netto</a:t>
            </a:r>
          </a:p>
        </p:txBody>
      </p:sp>
      <p:sp>
        <p:nvSpPr>
          <p:cNvPr id="11" name="TextBox 10"/>
          <p:cNvSpPr txBox="1"/>
          <p:nvPr/>
        </p:nvSpPr>
        <p:spPr>
          <a:xfrm>
            <a:off x="6355080" y="1481328"/>
            <a:ext cx="3108960" cy="685800"/>
          </a:xfrm>
          <a:prstGeom prst="rect">
            <a:avLst/>
          </a:prstGeom>
          <a:noFill/>
        </p:spPr>
        <p:txBody>
          <a:bodyPr wrap="none">
            <a:spAutoFit/>
          </a:bodyPr>
          <a:lstStyle/>
          <a:p>
            <a:pPr>
              <a:defRPr sz="950" b="1">
                <a:solidFill>
                  <a:srgbClr val="2F5597"/>
                </a:solidFill>
                <a:latin typeface="Calibri"/>
              </a:defRPr>
            </a:pPr>
            <a:r>
              <a:t>CAD-WORKSTATION (4 STÜCK)</a:t>
            </a:r>
          </a:p>
          <a:p>
            <a:pPr>
              <a:defRPr sz="1200" b="1">
                <a:solidFill>
                  <a:srgbClr val="1F497D"/>
                </a:solidFill>
                <a:latin typeface="Calibri"/>
              </a:defRPr>
            </a:pPr>
            <a:r>
              <a:t>Lenovo ThinkStation P3 Tower</a:t>
            </a:r>
          </a:p>
        </p:txBody>
      </p:sp>
      <p:sp>
        <p:nvSpPr>
          <p:cNvPr id="12" name="TextBox 11"/>
          <p:cNvSpPr txBox="1"/>
          <p:nvPr/>
        </p:nvSpPr>
        <p:spPr>
          <a:xfrm>
            <a:off x="6355080" y="2194560"/>
            <a:ext cx="4892040" cy="1325880"/>
          </a:xfrm>
          <a:prstGeom prst="rect">
            <a:avLst/>
          </a:prstGeom>
          <a:noFill/>
        </p:spPr>
        <p:txBody>
          <a:bodyPr wrap="square">
            <a:spAutoFit/>
          </a:bodyPr>
          <a:lstStyle/>
          <a:p>
            <a:pPr>
              <a:spcAft>
                <a:spcPts val="200"/>
              </a:spcAft>
              <a:defRPr sz="950">
                <a:solidFill>
                  <a:srgbClr val="262626"/>
                </a:solidFill>
                <a:latin typeface="Calibri"/>
              </a:defRPr>
            </a:pPr>
            <a:r>
              <a:t>• Intel Core i7-13700, 64 GB DDR5 RAM, 1 TB High-Speed NVMe</a:t>
            </a:r>
          </a:p>
          <a:p>
            <a:pPr>
              <a:spcAft>
                <a:spcPts val="200"/>
              </a:spcAft>
              <a:defRPr sz="950">
                <a:solidFill>
                  <a:srgbClr val="262626"/>
                </a:solidFill>
                <a:latin typeface="Calibri"/>
              </a:defRPr>
            </a:pPr>
            <a:r>
              <a:t>• NVIDIA RTX 4000 Ada Generation (20 GB VRAM ECC)</a:t>
            </a:r>
          </a:p>
          <a:p>
            <a:pPr>
              <a:spcAft>
                <a:spcPts val="200"/>
              </a:spcAft>
              <a:defRPr sz="950">
                <a:solidFill>
                  <a:srgbClr val="262626"/>
                </a:solidFill>
                <a:latin typeface="Calibri"/>
              </a:defRPr>
            </a:pPr>
            <a:r>
              <a:t>• Zertifiziert für Revit, AutoCAD, Archicad und BIM-Viewer</a:t>
            </a:r>
          </a:p>
          <a:p>
            <a:pPr>
              <a:spcAft>
                <a:spcPts val="200"/>
              </a:spcAft>
              <a:defRPr sz="950">
                <a:solidFill>
                  <a:srgbClr val="262626"/>
                </a:solidFill>
                <a:latin typeface="Calibri"/>
              </a:defRPr>
            </a:pPr>
            <a: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06908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310,00 € Netto</a:t>
            </a:r>
          </a:p>
        </p:txBody>
      </p:sp>
      <p:sp>
        <p:nvSpPr>
          <p:cNvPr id="15" name="TextBox 14"/>
          <p:cNvSpPr txBox="1"/>
          <p:nvPr/>
        </p:nvSpPr>
        <p:spPr>
          <a:xfrm>
            <a:off x="914400" y="3950208"/>
            <a:ext cx="3108960" cy="685800"/>
          </a:xfrm>
          <a:prstGeom prst="rect">
            <a:avLst/>
          </a:prstGeom>
          <a:noFill/>
        </p:spPr>
        <p:txBody>
          <a:bodyPr wrap="none">
            <a:spAutoFit/>
          </a:bodyPr>
          <a:lstStyle/>
          <a:p>
            <a:pPr>
              <a:defRPr sz="950" b="1">
                <a:solidFill>
                  <a:srgbClr val="2F5597"/>
                </a:solidFill>
                <a:latin typeface="Calibri"/>
              </a:defRPr>
            </a:pPr>
            <a:r>
              <a:t>ERGONOMIE-BILDSCHIRM (32 STÜCK)</a:t>
            </a:r>
          </a:p>
          <a:p>
            <a:pPr>
              <a:defRPr sz="1200" b="1">
                <a:solidFill>
                  <a:srgbClr val="1F497D"/>
                </a:solidFill>
                <a:latin typeface="Calibri"/>
              </a:defRPr>
            </a:pPr>
            <a:r>
              <a:t>Dell UltraSharp U2724D (27'')</a:t>
            </a:r>
          </a:p>
        </p:txBody>
      </p:sp>
      <p:sp>
        <p:nvSpPr>
          <p:cNvPr id="16" name="TextBox 15"/>
          <p:cNvSpPr txBox="1"/>
          <p:nvPr/>
        </p:nvSpPr>
        <p:spPr>
          <a:xfrm>
            <a:off x="91440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27 Zoll WQHD (2560x1440) mit IPS-Black-Panel (2000:1 Kontrast)</a:t>
            </a:r>
          </a:p>
          <a:p>
            <a:pPr>
              <a:spcAft>
                <a:spcPts val="200"/>
              </a:spcAft>
              <a:defRPr sz="950">
                <a:solidFill>
                  <a:srgbClr val="262626"/>
                </a:solidFill>
                <a:latin typeface="Calibri"/>
              </a:defRPr>
            </a:pPr>
            <a:r>
              <a:t>• 120 Hz Bildwiederholrate &amp; ComfortView Plus Hardware-Blaulichtfilter</a:t>
            </a:r>
          </a:p>
          <a:p>
            <a:pPr>
              <a:spcAft>
                <a:spcPts val="200"/>
              </a:spcAft>
              <a:defRPr sz="950">
                <a:solidFill>
                  <a:srgbClr val="262626"/>
                </a:solidFill>
                <a:latin typeface="Calibri"/>
              </a:defRPr>
            </a:pPr>
            <a:r>
              <a:t>• Volle Ergonomie: Höhenverstellbar, Pivot (90° drehbar), Swivel &amp; Tilt</a:t>
            </a:r>
          </a:p>
          <a:p>
            <a:pPr>
              <a:spcAft>
                <a:spcPts val="200"/>
              </a:spcAft>
              <a:defRPr sz="950">
                <a:solidFill>
                  <a:srgbClr val="262626"/>
                </a:solidFill>
                <a:latin typeface="Calibri"/>
              </a:defRPr>
            </a:pPr>
            <a: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509760" y="3977640"/>
            <a:ext cx="1737360" cy="365760"/>
          </a:xfrm>
          <a:prstGeom prst="round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t>2.200,00 € Netto</a:t>
            </a:r>
          </a:p>
        </p:txBody>
      </p:sp>
      <p:sp>
        <p:nvSpPr>
          <p:cNvPr id="19" name="TextBox 18"/>
          <p:cNvSpPr txBox="1"/>
          <p:nvPr/>
        </p:nvSpPr>
        <p:spPr>
          <a:xfrm>
            <a:off x="6355080" y="3950208"/>
            <a:ext cx="3108960" cy="685800"/>
          </a:xfrm>
          <a:prstGeom prst="rect">
            <a:avLst/>
          </a:prstGeom>
          <a:noFill/>
        </p:spPr>
        <p:txBody>
          <a:bodyPr wrap="none">
            <a:spAutoFit/>
          </a:bodyPr>
          <a:lstStyle/>
          <a:p>
            <a:pPr>
              <a:defRPr sz="950" b="1">
                <a:solidFill>
                  <a:srgbClr val="2F5597"/>
                </a:solidFill>
                <a:latin typeface="Calibri"/>
              </a:defRPr>
            </a:pPr>
            <a:r>
              <a:t>ZENTRALER FARB-DRUCKER (1 STÜCK)</a:t>
            </a:r>
          </a:p>
          <a:p>
            <a:pPr>
              <a:defRPr sz="1200" b="1">
                <a:solidFill>
                  <a:srgbClr val="1F497D"/>
                </a:solidFill>
                <a:latin typeface="Calibri"/>
              </a:defRPr>
            </a:pPr>
            <a:r>
              <a:t>Lexmark CX930dse A3/A4 MFP</a:t>
            </a:r>
          </a:p>
        </p:txBody>
      </p:sp>
      <p:sp>
        <p:nvSpPr>
          <p:cNvPr id="20" name="TextBox 19"/>
          <p:cNvSpPr txBox="1"/>
          <p:nvPr/>
        </p:nvSpPr>
        <p:spPr>
          <a:xfrm>
            <a:off x="6355080" y="4663440"/>
            <a:ext cx="4892040" cy="1325880"/>
          </a:xfrm>
          <a:prstGeom prst="rect">
            <a:avLst/>
          </a:prstGeom>
          <a:noFill/>
        </p:spPr>
        <p:txBody>
          <a:bodyPr wrap="square">
            <a:spAutoFit/>
          </a:bodyPr>
          <a:lstStyle/>
          <a:p>
            <a:pPr>
              <a:spcAft>
                <a:spcPts val="200"/>
              </a:spcAft>
              <a:defRPr sz="950">
                <a:solidFill>
                  <a:srgbClr val="262626"/>
                </a:solidFill>
                <a:latin typeface="Calibri"/>
              </a:defRPr>
            </a:pPr>
            <a:r>
              <a:t>• DIN A3 und DIN A4 Farblaser für großformatige Baupläne</a:t>
            </a:r>
          </a:p>
          <a:p>
            <a:pPr>
              <a:spcAft>
                <a:spcPts val="200"/>
              </a:spcAft>
              <a:defRPr sz="950">
                <a:solidFill>
                  <a:srgbClr val="262626"/>
                </a:solidFill>
                <a:latin typeface="Calibri"/>
              </a:defRPr>
            </a:pPr>
            <a:r>
              <a:t>• Druck- und Kopiergeschwindigkeit bis zu 33 Seiten pro Minute</a:t>
            </a:r>
          </a:p>
          <a:p>
            <a:pPr>
              <a:spcAft>
                <a:spcPts val="200"/>
              </a:spcAft>
              <a:defRPr sz="950">
                <a:solidFill>
                  <a:srgbClr val="262626"/>
                </a:solidFill>
                <a:latin typeface="Calibri"/>
              </a:defRPr>
            </a:pPr>
            <a:r>
              <a:t>• Automatischer Duplex-Scan und hohe Papierkassetten-Kapazität</a:t>
            </a:r>
          </a:p>
          <a:p>
            <a:pPr>
              <a:spcAft>
                <a:spcPts val="200"/>
              </a:spcAft>
              <a:defRPr sz="950">
                <a:solidFill>
                  <a:srgbClr val="262626"/>
                </a:solidFill>
                <a:latin typeface="Calibri"/>
              </a:defRPr>
            </a:pPr>
            <a:r>
              <a:t>• Vollständig gigabit-netzwerkfähig mit PostScript-Unterstützung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ENTSCHEIDUNGSMATRIX</a:t>
            </a:r>
          </a:p>
          <a:p>
            <a:pPr>
              <a:defRPr sz="2000" b="1">
                <a:solidFill>
                  <a:srgbClr val="FFFFFF"/>
                </a:solidFill>
                <a:latin typeface="Calibri"/>
              </a:defRPr>
            </a:pPr>
            <a:r>
              <a:t>Nutzwertanalysen: Objektiver Produktvergleich</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CAD-Workstations</a:t>
            </a:r>
          </a:p>
        </p:txBody>
      </p:sp>
      <p:sp>
        <p:nvSpPr>
          <p:cNvPr id="7" name="TextBox 6"/>
          <p:cNvSpPr txBox="1"/>
          <p:nvPr/>
        </p:nvSpPr>
        <p:spPr>
          <a:xfrm>
            <a:off x="9144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Lenovo ThinkStation P3 ➔ 8,70 Punkte</a:t>
            </a:r>
          </a:p>
          <a:p>
            <a:pPr>
              <a:defRPr b="0" sz="1050">
                <a:solidFill>
                  <a:srgbClr val="595959"/>
                </a:solidFill>
              </a:defRPr>
            </a:pPr>
            <a:r>
              <a:t>• 2. Platz: Dell Precision 3660 ➔ 7,80 Punkte</a:t>
            </a:r>
          </a:p>
          <a:p>
            <a:pPr>
              <a:defRPr b="0" sz="1050">
                <a:solidFill>
                  <a:srgbClr val="595959"/>
                </a:solidFill>
              </a:defRPr>
            </a:pPr>
            <a:r>
              <a:t>• 3. Platz: HP Z2 Tower G9 ➔ 6,80 Punkte</a:t>
            </a:r>
          </a:p>
          <a:p>
            <a:br/>
            <a:pPr>
              <a:defRPr b="1" sz="1050">
                <a:solidFill>
                  <a:srgbClr val="1F497D"/>
                </a:solidFill>
              </a:defRPr>
            </a:pPr>
            <a:r>
              <a:t>Gewichtete Kriterien:</a:t>
            </a:r>
          </a:p>
          <a:p>
            <a:pPr>
              <a:defRPr sz="950">
                <a:solidFill>
                  <a:srgbClr val="595959"/>
                </a:solidFill>
              </a:defRPr>
            </a:pPr>
            <a:r>
              <a:t>• 3D/BIM-Performance (40%) • Arbeitsspeicher &amp; Ausbau (15%)</a:t>
            </a:r>
            <a:br/>
            <a:r>
              <a:t>• Preis-Leistungs-Verhältnis (15%) • Garantie/Service (15%)</a:t>
            </a:r>
            <a:br/>
            <a:r>
              <a:t>• Lautstärke/Kühlung (10%) • Lieferzeit (5%)</a:t>
            </a:r>
          </a:p>
          <a:p>
            <a:br/>
            <a:pPr>
              <a:defRPr b="1" sz="1050">
                <a:solidFill>
                  <a:srgbClr val="1F497D"/>
                </a:solidFill>
              </a:defRPr>
            </a:pPr>
            <a:r>
              <a:t>Begründung des Siegers:</a:t>
            </a:r>
          </a:p>
          <a:p>
            <a:pPr>
              <a:defRPr sz="950">
                <a:solidFill>
                  <a:srgbClr val="262626"/>
                </a:solidFill>
              </a:defRPr>
            </a:pPr>
            <a: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Nutzwertanalyse: 27'' WQHD-Monitore</a:t>
            </a:r>
          </a:p>
        </p:txBody>
      </p:sp>
      <p:sp>
        <p:nvSpPr>
          <p:cNvPr id="10" name="TextBox 9"/>
          <p:cNvSpPr txBox="1"/>
          <p:nvPr/>
        </p:nvSpPr>
        <p:spPr>
          <a:xfrm>
            <a:off x="6400800" y="2011680"/>
            <a:ext cx="4892040" cy="4023360"/>
          </a:xfrm>
          <a:prstGeom prst="rect">
            <a:avLst/>
          </a:prstGeom>
          <a:noFill/>
        </p:spPr>
        <p:txBody>
          <a:bodyPr wrap="square">
            <a:spAutoFit/>
          </a:bodyPr>
          <a:lstStyle/>
          <a:p>
            <a:pPr>
              <a:defRPr b="1" sz="1100">
                <a:solidFill>
                  <a:srgbClr val="1F497D"/>
                </a:solidFill>
              </a:defRPr>
            </a:pPr>
            <a:r>
              <a:t>Bewertete Modelle &amp; Punktwerte:</a:t>
            </a:r>
          </a:p>
          <a:p>
            <a:pPr>
              <a:defRPr b="1" sz="1050">
                <a:solidFill>
                  <a:srgbClr val="385723"/>
                </a:solidFill>
              </a:defRPr>
            </a:pPr>
            <a:r>
              <a:t>• 1. Platz (Sieger): Dell UltraSharp U2724D ➔ 9,10 Punkte</a:t>
            </a:r>
          </a:p>
          <a:p>
            <a:pPr>
              <a:defRPr b="0" sz="1050">
                <a:solidFill>
                  <a:srgbClr val="595959"/>
                </a:solidFill>
              </a:defRPr>
            </a:pPr>
            <a:r>
              <a:t>• 2. Platz: Lenovo ThinkVision P27h-30 ➔ 8,30 Punkte</a:t>
            </a:r>
          </a:p>
          <a:p>
            <a:pPr>
              <a:defRPr b="0" sz="1050">
                <a:solidFill>
                  <a:srgbClr val="595959"/>
                </a:solidFill>
              </a:defRPr>
            </a:pPr>
            <a:r>
              <a:t>• 3. Platz: EIZO FlexScan EV2781 ➔ 8,15 Punkte</a:t>
            </a:r>
          </a:p>
          <a:p>
            <a:br/>
            <a:pPr>
              <a:defRPr b="1" sz="1050">
                <a:solidFill>
                  <a:srgbClr val="1F497D"/>
                </a:solidFill>
              </a:defRPr>
            </a:pPr>
            <a:r>
              <a:t>Gewichtete Kriterien:</a:t>
            </a:r>
          </a:p>
          <a:p>
            <a:pPr>
              <a:defRPr sz="950">
                <a:solidFill>
                  <a:srgbClr val="595959"/>
                </a:solidFill>
              </a:defRPr>
            </a:pPr>
            <a:r>
              <a:t>• Ergonomie (Höhe, Pivot, Tilt) (25%) • Bildqualität (IPS Black) (25%)</a:t>
            </a:r>
            <a:br/>
            <a:r>
              <a:t>• Preis / Menge (32 Stück) (25%) • Augenschonung/Filter (15%)</a:t>
            </a:r>
            <a:br/>
            <a:r>
              <a:t>• Garantie (5%) • Anschlüsse (5%)</a:t>
            </a:r>
          </a:p>
          <a:p>
            <a:br/>
            <a:pPr>
              <a:defRPr b="1" sz="1050">
                <a:solidFill>
                  <a:srgbClr val="1F497D"/>
                </a:solidFill>
              </a:defRPr>
            </a:pPr>
            <a:r>
              <a:t>Begründung des Siegers:</a:t>
            </a:r>
          </a:p>
          <a:p>
            <a:pPr>
              <a:defRPr sz="950">
                <a:solidFill>
                  <a:srgbClr val="262626"/>
                </a:solidFill>
              </a:defRPr>
            </a:pPr>
            <a: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KALKULATION</a:t>
            </a:r>
          </a:p>
          <a:p>
            <a:pPr>
              <a:defRPr sz="2000" b="1">
                <a:solidFill>
                  <a:srgbClr val="FFFFFF"/>
                </a:solidFill>
                <a:latin typeface="Calibri"/>
              </a:defRPr>
            </a:pPr>
            <a:r>
              <a:t>Kaufmännische Preiskalkulation &amp; Angebot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10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4892040" cy="4480560"/>
          </a:xfrm>
          <a:prstGeom prst="rect">
            <a:avLst/>
          </a:prstGeom>
          <a:noFill/>
        </p:spPr>
        <p:txBody>
          <a:bodyPr wrap="square">
            <a:spAutoFit/>
          </a:bodyPr>
          <a:lstStyle/>
          <a:p>
            <a:pPr>
              <a:defRPr b="1" sz="1200">
                <a:solidFill>
                  <a:srgbClr val="1F497D"/>
                </a:solidFill>
              </a:defRPr>
            </a:pPr>
            <a:r>
              <a:t>Kaufmännisches Kalkulationsschema:</a:t>
            </a:r>
          </a:p>
          <a:p>
            <a:pPr>
              <a:spcAft>
                <a:spcPts val="400"/>
              </a:spcAft>
              <a:defRPr sz="1000">
                <a:solidFill>
                  <a:srgbClr val="262626"/>
                </a:solidFill>
              </a:defRPr>
            </a:pPr>
            <a:r>
              <a:t>Bezugspreis (Einkauf Fachhandel netto)</a:t>
            </a:r>
            <a:br/>
            <a:r>
              <a:t>   ➔ Ausgangsbasis</a:t>
            </a:r>
          </a:p>
          <a:p>
            <a:pPr>
              <a:spcAft>
                <a:spcPts val="400"/>
              </a:spcAft>
              <a:defRPr sz="1000">
                <a:solidFill>
                  <a:srgbClr val="262626"/>
                </a:solidFill>
              </a:defRPr>
            </a:pPr>
            <a:r>
              <a:t>+ Handlungskostenzuschlag (25,0 %)</a:t>
            </a:r>
            <a:br/>
            <a:r>
              <a:t>   ➔ = Selbstkostenpreis</a:t>
            </a:r>
          </a:p>
          <a:p>
            <a:pPr>
              <a:spcAft>
                <a:spcPts val="400"/>
              </a:spcAft>
              <a:defRPr sz="1000">
                <a:solidFill>
                  <a:srgbClr val="262626"/>
                </a:solidFill>
              </a:defRPr>
            </a:pPr>
            <a:r>
              <a:t>+ Gewinnzuschlag (12,0 %)</a:t>
            </a:r>
            <a:br/>
            <a:r>
              <a:t>   ➔ = Barverkaufspreis</a:t>
            </a:r>
          </a:p>
          <a:p>
            <a:pPr>
              <a:spcAft>
                <a:spcPts val="400"/>
              </a:spcAft>
              <a:defRPr sz="1000">
                <a:solidFill>
                  <a:srgbClr val="262626"/>
                </a:solidFill>
              </a:defRPr>
            </a:pPr>
            <a:r>
              <a:t>+ Kundenskonto (3,0 % im Hundert)</a:t>
            </a:r>
            <a:br/>
            <a:r>
              <a:t>   ➔ = Zielverkaufspreis</a:t>
            </a:r>
          </a:p>
          <a:p>
            <a:pPr>
              <a:spcAft>
                <a:spcPts val="400"/>
              </a:spcAft>
              <a:defRPr sz="1000">
                <a:solidFill>
                  <a:srgbClr val="262626"/>
                </a:solidFill>
              </a:defRPr>
            </a:pPr>
            <a:r>
              <a:t>+ Kundenrabatt (0,0 % für Neukunde)</a:t>
            </a:r>
            <a:br/>
            <a:r>
              <a:t>   ➔ = Listenverkaufspreis netto</a:t>
            </a:r>
          </a:p>
          <a:p>
            <a:pPr>
              <a:spcAft>
                <a:spcPts val="400"/>
              </a:spcAft>
              <a:defRPr sz="1000">
                <a:solidFill>
                  <a:srgbClr val="262626"/>
                </a:solidFill>
              </a:defRPr>
            </a:pPr>
            <a:r>
              <a:t>+ Gesetzliche Umsatzsteuer (19,0 %)</a:t>
            </a:r>
            <a:br/>
            <a:r>
              <a:t>   ➔ = Gesamtangebot brutto</a:t>
            </a:r>
          </a:p>
        </p:txBody>
      </p:sp>
      <p:sp>
        <p:nvSpPr>
          <p:cNvPr id="7" name="Rounded Rectangle 6"/>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54480"/>
            <a:ext cx="4892040" cy="4480560"/>
          </a:xfrm>
          <a:prstGeom prst="rect">
            <a:avLst/>
          </a:prstGeom>
          <a:noFill/>
        </p:spPr>
        <p:txBody>
          <a:bodyPr wrap="square">
            <a:spAutoFit/>
          </a:bodyPr>
          <a:lstStyle/>
          <a:p>
            <a:pPr>
              <a:defRPr b="1" sz="1200">
                <a:solidFill>
                  <a:srgbClr val="1F497D"/>
                </a:solidFill>
              </a:defRPr>
            </a:pPr>
            <a:r>
              <a:t>Angebotsübersicht (Nr. NL-2026-VP-001):</a:t>
            </a:r>
          </a:p>
          <a:p>
            <a:pPr>
              <a:defRPr sz="950">
                <a:latin typeface="Consolas"/>
              </a:defRPr>
            </a:pPr>
            <a:r>
              <a:t>1. Hardware (16 PCs, 32 Monitore, MFP, SSDs)    51.108,12 €</a:t>
            </a:r>
          </a:p>
          <a:p>
            <a:pPr>
              <a:defRPr sz="950">
                <a:latin typeface="Consolas"/>
              </a:defRPr>
            </a:pPr>
            <a:r>
              <a:t>2. Software &amp; Lizenzen (1. Jahr: M365, Adobe, ESET)    10.021,20 €</a:t>
            </a:r>
          </a:p>
          <a:p>
            <a:pPr>
              <a:defRPr sz="950">
                <a:latin typeface="Consolas"/>
              </a:defRPr>
            </a:pPr>
            <a:r>
              <a:t>3. Dienstleistungen (Staging, Montage, Abnahme)     6.050,00 €</a:t>
            </a:r>
          </a:p>
          <a:p>
            <a:pPr>
              <a:defRPr sz="950">
                <a:latin typeface="Consolas"/>
              </a:defRPr>
            </a:pPr>
            <a:r>
              <a:t>─────────────────────────────────────────────    ───────────</a:t>
            </a:r>
          </a:p>
          <a:p>
            <a:pPr>
              <a:defRPr sz="1050" b="1">
                <a:solidFill>
                  <a:srgbClr val="1F497D"/>
                </a:solidFill>
                <a:latin typeface="Consolas"/>
              </a:defRPr>
            </a:pPr>
            <a:r>
              <a:t>Gesamtbetrag Netto:                       67.179,32 €</a:t>
            </a:r>
          </a:p>
          <a:p>
            <a:pPr>
              <a:defRPr sz="950">
                <a:latin typeface="Consolas"/>
              </a:defRPr>
            </a:pPr>
            <a:r>
              <a:t>+ 19% Umsatzsteuer:                       12.764,07 €</a:t>
            </a:r>
          </a:p>
          <a:p>
            <a:pPr>
              <a:defRPr sz="1050" b="1">
                <a:solidFill>
                  <a:srgbClr val="1F497D"/>
                </a:solidFill>
                <a:latin typeface="Consolas"/>
              </a:defRPr>
            </a:pPr>
            <a:r>
              <a:t>Gesamtbetrag Brutto:                      79.943,39 €</a:t>
            </a:r>
          </a:p>
          <a:p>
            <a:br/>
            <a:pPr>
              <a:defRPr sz="950">
                <a:solidFill>
                  <a:srgbClr val="595959"/>
                </a:solidFill>
                <a:latin typeface="Calibri"/>
              </a:defRPr>
            </a:pPr>
            <a:r>
              <a:t>Zahlungs- &amp; Lieferkonditionen:</a:t>
            </a:r>
            <a:br/>
            <a:r>
              <a:t>• 14 Tage mit 3% Skonto (Ersparnis: 2.015,38 €), 30 Tage rein netto</a:t>
            </a:r>
            <a:br/>
            <a:r>
              <a:t>• Gewährleistung: 36 Monate Vor-Ort-Herstellerservice auf Neugeräte</a:t>
            </a:r>
            <a:br/>
            <a:r>
              <a:t>• Alternative: IT-Leasing ab ca. 1.580 € monatlich (OPEX-Vorteil)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KUNDENBERECHNUNGEN</a:t>
            </a:r>
          </a:p>
          <a:p>
            <a:pPr>
              <a:defRPr sz="2000" b="1">
                <a:solidFill>
                  <a:srgbClr val="FFFFFF"/>
                </a:solidFill>
                <a:latin typeface="Calibri"/>
              </a:defRPr>
            </a:pPr>
            <a:r>
              <a:t>Spezifische Berechnungen für den Kunden (Aufgabe B)</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11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97280" y="1645920"/>
            <a:ext cx="4526280" cy="1005840"/>
          </a:xfrm>
          <a:prstGeom prst="roundRect">
            <a:avLst/>
          </a:prstGeom>
          <a:solidFill>
            <a:srgbClr val="DEEBF7"/>
          </a:solidFill>
          <a:ln>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1F497D"/>
                </a:solidFill>
                <a:latin typeface="Calibri"/>
              </a:defRPr>
            </a:pPr>
            <a:r>
              <a:t>445 GiB</a:t>
            </a:r>
          </a:p>
          <a:p>
            <a:pPr algn="ctr">
              <a:defRPr sz="1050">
                <a:solidFill>
                  <a:srgbClr val="262626"/>
                </a:solidFill>
              </a:defRPr>
            </a:pPr>
            <a:r>
              <a:t>Benötigter Fileserver-Speicherplatz für 1 Quartal</a:t>
            </a:r>
          </a:p>
        </p:txBody>
      </p:sp>
      <p:sp>
        <p:nvSpPr>
          <p:cNvPr id="7" name="TextBox 6"/>
          <p:cNvSpPr txBox="1"/>
          <p:nvPr/>
        </p:nvSpPr>
        <p:spPr>
          <a:xfrm>
            <a:off x="10058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16 Arbeitsplätze × 350 MiB/Tag = 5.600 MiB tägliche Daten</a:t>
            </a:r>
          </a:p>
          <a:p>
            <a:pPr>
              <a:spcAft>
                <a:spcPts val="300"/>
              </a:spcAft>
              <a:defRPr sz="950">
                <a:solidFill>
                  <a:srgbClr val="262626"/>
                </a:solidFill>
              </a:defRPr>
            </a:pPr>
            <a:r>
              <a:t>• 5.600 MiB × 65 Arbeitstage = 364.000 MiB Daten pro Quartal</a:t>
            </a:r>
          </a:p>
          <a:p>
            <a:pPr>
              <a:spcAft>
                <a:spcPts val="300"/>
              </a:spcAft>
              <a:defRPr sz="950">
                <a:solidFill>
                  <a:srgbClr val="262626"/>
                </a:solidFill>
              </a:defRPr>
            </a:pPr>
            <a:r>
              <a:t>• Umrechnung in GiB (Binärfaktor 1.024):</a:t>
            </a:r>
          </a:p>
          <a:p>
            <a:pPr>
              <a:spcAft>
                <a:spcPts val="300"/>
              </a:spcAft>
              <a:defRPr sz="950">
                <a:solidFill>
                  <a:srgbClr val="262626"/>
                </a:solidFill>
              </a:defRPr>
            </a:pPr>
            <a:r>
              <a:t>•   364.000 MiB ÷ 1.024 = 355,47 GiB</a:t>
            </a:r>
          </a:p>
          <a:p>
            <a:pPr>
              <a:spcAft>
                <a:spcPts val="300"/>
              </a:spcAft>
              <a:defRPr sz="950">
                <a:solidFill>
                  <a:srgbClr val="262626"/>
                </a:solidFill>
              </a:defRPr>
            </a:pPr>
            <a:r>
              <a:t>• Aufrunden auf volle GiB: 356 GiB netto</a:t>
            </a:r>
          </a:p>
          <a:p>
            <a:pPr>
              <a:spcAft>
                <a:spcPts val="300"/>
              </a:spcAft>
              <a:defRPr sz="950">
                <a:solidFill>
                  <a:srgbClr val="262626"/>
                </a:solidFill>
              </a:defRPr>
            </a:pPr>
            <a:r>
              <a:t>• + 25 % Sicherheits- und Pufferzuschlag:</a:t>
            </a:r>
          </a:p>
          <a:p>
            <a:pPr>
              <a:spcAft>
                <a:spcPts val="300"/>
              </a:spcAft>
              <a:defRPr sz="950">
                <a:solidFill>
                  <a:srgbClr val="262626"/>
                </a:solidFill>
              </a:defRPr>
            </a:pPr>
            <a:r>
              <a:t>•   356 GiB × 1,25 = 445 GiB Gesamtkapazität</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0" y="1645920"/>
            <a:ext cx="4526280" cy="1005840"/>
          </a:xfrm>
          <a:prstGeom prst="roundRect">
            <a:avLst/>
          </a:prstGeom>
          <a:solidFill>
            <a:srgbClr val="FCE4D6"/>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200" b="1">
                <a:solidFill>
                  <a:srgbClr val="C55A11"/>
                </a:solidFill>
                <a:latin typeface="Calibri"/>
              </a:defRPr>
            </a:pPr>
            <a:r>
              <a:t>1.771,26 €</a:t>
            </a:r>
          </a:p>
          <a:p>
            <a:pPr algn="ctr">
              <a:defRPr sz="1050">
                <a:solidFill>
                  <a:srgbClr val="262626"/>
                </a:solidFill>
              </a:defRPr>
            </a:pPr>
            <a:r>
              <a:t>Jährliche Stromkosten für alle 16 Arbeitsplätze</a:t>
            </a:r>
          </a:p>
        </p:txBody>
      </p:sp>
      <p:sp>
        <p:nvSpPr>
          <p:cNvPr id="10" name="TextBox 9"/>
          <p:cNvSpPr txBox="1"/>
          <p:nvPr/>
        </p:nvSpPr>
        <p:spPr>
          <a:xfrm>
            <a:off x="6492240" y="2834640"/>
            <a:ext cx="4663440" cy="3200400"/>
          </a:xfrm>
          <a:prstGeom prst="rect">
            <a:avLst/>
          </a:prstGeom>
          <a:noFill/>
        </p:spPr>
        <p:txBody>
          <a:bodyPr wrap="square">
            <a:spAutoFit/>
          </a:bodyPr>
          <a:lstStyle/>
          <a:p>
            <a:pPr>
              <a:defRPr b="1" sz="1100">
                <a:solidFill>
                  <a:srgbClr val="1F497D"/>
                </a:solidFill>
              </a:defRPr>
            </a:pPr>
            <a:r>
              <a:t>Rechnenweg Schritt für Schritt:</a:t>
            </a:r>
          </a:p>
          <a:p>
            <a:pPr>
              <a:spcAft>
                <a:spcPts val="300"/>
              </a:spcAft>
              <a:defRPr sz="950">
                <a:solidFill>
                  <a:srgbClr val="262626"/>
                </a:solidFill>
              </a:defRPr>
            </a:pPr>
            <a:r>
              <a:t>• 12 Standard-PCs à 140 W = 1.680 W</a:t>
            </a:r>
          </a:p>
          <a:p>
            <a:pPr>
              <a:spcAft>
                <a:spcPts val="300"/>
              </a:spcAft>
              <a:defRPr sz="950">
                <a:solidFill>
                  <a:srgbClr val="262626"/>
                </a:solidFill>
              </a:defRPr>
            </a:pPr>
            <a:r>
              <a:t>• 4 CAD-Workstations à 320 W = 1.280 W</a:t>
            </a:r>
          </a:p>
          <a:p>
            <a:pPr>
              <a:spcAft>
                <a:spcPts val="300"/>
              </a:spcAft>
              <a:defRPr sz="950">
                <a:solidFill>
                  <a:srgbClr val="262626"/>
                </a:solidFill>
              </a:defRPr>
            </a:pPr>
            <a:r>
              <a:t>• Gesamtleistung: 1.680 W + 1.280 W = 2.960 W (2,96 kW)</a:t>
            </a:r>
          </a:p>
          <a:p>
            <a:pPr>
              <a:spcAft>
                <a:spcPts val="300"/>
              </a:spcAft>
              <a:defRPr sz="950">
                <a:solidFill>
                  <a:srgbClr val="262626"/>
                </a:solidFill>
              </a:defRPr>
            </a:pPr>
            <a:r>
              <a:t>• Jahresbetriebszeit: 220 Tage × 8,5 h/Tag = 1.870 Stunden</a:t>
            </a:r>
          </a:p>
          <a:p>
            <a:pPr>
              <a:spcAft>
                <a:spcPts val="300"/>
              </a:spcAft>
              <a:defRPr sz="950">
                <a:solidFill>
                  <a:srgbClr val="262626"/>
                </a:solidFill>
              </a:defRPr>
            </a:pPr>
            <a:r>
              <a:t>• Jahresstromverbrauch:</a:t>
            </a:r>
          </a:p>
          <a:p>
            <a:pPr>
              <a:spcAft>
                <a:spcPts val="300"/>
              </a:spcAft>
              <a:defRPr sz="950">
                <a:solidFill>
                  <a:srgbClr val="262626"/>
                </a:solidFill>
              </a:defRPr>
            </a:pPr>
            <a:r>
              <a:t>•   2,96 kW × 1.870 h = 5.535,2 kWh</a:t>
            </a:r>
          </a:p>
          <a:p>
            <a:pPr>
              <a:spcAft>
                <a:spcPts val="300"/>
              </a:spcAft>
              <a:defRPr sz="950">
                <a:solidFill>
                  <a:srgbClr val="262626"/>
                </a:solidFill>
              </a:defRPr>
            </a:pPr>
            <a:r>
              <a:t>• Stromkosten bei 0,32 €/kWh:</a:t>
            </a:r>
          </a:p>
          <a:p>
            <a:pPr>
              <a:spcAft>
                <a:spcPts val="300"/>
              </a:spcAft>
              <a:defRPr sz="950">
                <a:solidFill>
                  <a:srgbClr val="262626"/>
                </a:solidFill>
              </a:defRPr>
            </a:pPr>
            <a:r>
              <a:t>•   5.535,2 kWh × 0,32 € = 1.771,26 € pro Jahr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QUALITÄT &amp; UMWELT</a:t>
            </a:r>
          </a:p>
          <a:p>
            <a:pPr>
              <a:defRPr sz="2000" b="1">
                <a:solidFill>
                  <a:srgbClr val="FFFFFF"/>
                </a:solidFill>
                <a:latin typeface="Calibri"/>
              </a:defRPr>
            </a:pPr>
            <a:r>
              <a:t>Qualitätssicherung: Wareneingang und Entsorgung</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3474720" cy="64008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81328"/>
            <a:ext cx="3474720" cy="411480"/>
          </a:xfrm>
          <a:prstGeom prst="rect">
            <a:avLst/>
          </a:prstGeom>
          <a:noFill/>
        </p:spPr>
        <p:txBody>
          <a:bodyPr wrap="none">
            <a:spAutoFit/>
          </a:bodyPr>
          <a:lstStyle/>
          <a:p>
            <a:pPr algn="ctr">
              <a:defRPr sz="1200" b="1">
                <a:solidFill>
                  <a:srgbClr val="FFFFFF"/>
                </a:solidFill>
                <a:latin typeface="Calibri"/>
              </a:defRPr>
            </a:pPr>
            <a:r>
              <a:t>Wareneingang § 377 HGB</a:t>
            </a:r>
          </a:p>
        </p:txBody>
      </p:sp>
      <p:sp>
        <p:nvSpPr>
          <p:cNvPr id="8" name="TextBox 7"/>
          <p:cNvSpPr txBox="1"/>
          <p:nvPr/>
        </p:nvSpPr>
        <p:spPr>
          <a:xfrm>
            <a:off x="868680"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Unverzügliche Prüfung: </a:t>
            </a:r>
            <a:r>
              <a:rPr b="0">
                <a:solidFill>
                  <a:srgbClr val="262626"/>
                </a:solidFill>
              </a:rPr>
              <a:t>Im kaufmännischen Geschäftsverkehr muss gelieferte Ware unverzüglich geprüft werden.</a:t>
            </a:r>
          </a:p>
          <a:p>
            <a:pPr>
              <a:spcAft>
                <a:spcPts val="800"/>
              </a:spcAft>
              <a:defRPr sz="1000" b="1">
                <a:solidFill>
                  <a:srgbClr val="1F497D"/>
                </a:solidFill>
                <a:latin typeface="Calibri"/>
              </a:defRPr>
            </a:pPr>
            <a:r>
              <a:t>Offene Mängel: </a:t>
            </a:r>
            <a:r>
              <a:rPr b="0">
                <a:solidFill>
                  <a:srgbClr val="262626"/>
                </a:solidFill>
              </a:rPr>
              <a:t>Sichtbare Schäden (z.B. beschädigter Karton) müssen sofort auf dem Frachtbrief vermerkt und gerügt werden.</a:t>
            </a:r>
          </a:p>
          <a:p>
            <a:pPr>
              <a:spcAft>
                <a:spcPts val="800"/>
              </a:spcAft>
              <a:defRPr sz="1000" b="1">
                <a:solidFill>
                  <a:srgbClr val="1F497D"/>
                </a:solidFill>
                <a:latin typeface="Calibri"/>
              </a:defRPr>
            </a:pPr>
            <a:r>
              <a:t>Verdeckte Mängel: </a:t>
            </a:r>
            <a:r>
              <a:rPr b="0">
                <a:solidFill>
                  <a:srgbClr val="262626"/>
                </a:solidFill>
              </a:rPr>
              <a:t>Schäden im Inneren müssen unverzüglich nach Entdeckung angezeigt werden.</a:t>
            </a:r>
          </a:p>
          <a:p>
            <a:pPr>
              <a:spcAft>
                <a:spcPts val="800"/>
              </a:spcAft>
              <a:defRPr sz="1000" b="1">
                <a:solidFill>
                  <a:srgbClr val="1F497D"/>
                </a:solidFill>
                <a:latin typeface="Calibri"/>
              </a:defRPr>
            </a:pPr>
            <a:r>
              <a:t>Rechtsfolge: </a:t>
            </a:r>
            <a:r>
              <a:rPr b="0">
                <a:solidFill>
                  <a:srgbClr val="262626"/>
                </a:solidFill>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2" y="1481328"/>
            <a:ext cx="3474720" cy="411480"/>
          </a:xfrm>
          <a:prstGeom prst="rect">
            <a:avLst/>
          </a:prstGeom>
          <a:noFill/>
        </p:spPr>
        <p:txBody>
          <a:bodyPr wrap="none">
            <a:spAutoFit/>
          </a:bodyPr>
          <a:lstStyle/>
          <a:p>
            <a:pPr algn="ctr">
              <a:defRPr sz="1200" b="1">
                <a:solidFill>
                  <a:srgbClr val="FFFFFF"/>
                </a:solidFill>
                <a:latin typeface="Calibri"/>
              </a:defRPr>
            </a:pPr>
            <a:r>
              <a:t>Praxisfall: Mängelrüge</a:t>
            </a:r>
          </a:p>
        </p:txBody>
      </p:sp>
      <p:sp>
        <p:nvSpPr>
          <p:cNvPr id="12" name="TextBox 11"/>
          <p:cNvSpPr txBox="1"/>
          <p:nvPr/>
        </p:nvSpPr>
        <p:spPr>
          <a:xfrm>
            <a:off x="4507992"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Mangel 1: </a:t>
            </a:r>
            <a:r>
              <a:rPr b="0">
                <a:solidFill>
                  <a:srgbClr val="262626"/>
                </a:solidFill>
              </a:rPr>
              <a:t>Gehäuseschaden an einer Lenovo ThinkStation P3 (Transportschaden/Delle).</a:t>
            </a:r>
          </a:p>
          <a:p>
            <a:pPr>
              <a:spcAft>
                <a:spcPts val="800"/>
              </a:spcAft>
              <a:defRPr sz="1000" b="1">
                <a:solidFill>
                  <a:srgbClr val="1F497D"/>
                </a:solidFill>
                <a:latin typeface="Calibri"/>
              </a:defRPr>
            </a:pPr>
            <a:r>
              <a:t>Mangel 2: </a:t>
            </a:r>
            <a:r>
              <a:rPr b="0">
                <a:solidFill>
                  <a:srgbClr val="262626"/>
                </a:solidFill>
              </a:rPr>
              <a:t>Fehllieferung eines Monitors (Full-HD statt bestelltem WQHD-Display).</a:t>
            </a:r>
          </a:p>
          <a:p>
            <a:pPr>
              <a:spcAft>
                <a:spcPts val="800"/>
              </a:spcAft>
              <a:defRPr sz="1000" b="1">
                <a:solidFill>
                  <a:srgbClr val="1F497D"/>
                </a:solidFill>
                <a:latin typeface="Calibri"/>
              </a:defRPr>
            </a:pPr>
            <a:r>
              <a:t>Schriftliche Rüge: </a:t>
            </a:r>
            <a:r>
              <a:rPr b="0">
                <a:solidFill>
                  <a:srgbClr val="262626"/>
                </a:solidFill>
              </a:rPr>
              <a:t>Kaufmännisches Rüge-Schreiben nach DIN 5008 an den Distributor.</a:t>
            </a:r>
          </a:p>
          <a:p>
            <a:pPr>
              <a:spcAft>
                <a:spcPts val="800"/>
              </a:spcAft>
              <a:defRPr sz="1000" b="1">
                <a:solidFill>
                  <a:srgbClr val="1F497D"/>
                </a:solidFill>
                <a:latin typeface="Calibri"/>
              </a:defRPr>
            </a:pPr>
            <a:r>
              <a:t>Fristsetzung: </a:t>
            </a:r>
            <a:r>
              <a:rPr b="0">
                <a:solidFill>
                  <a:srgbClr val="262626"/>
                </a:solidFill>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10144" y="1481328"/>
            <a:ext cx="3474720" cy="411480"/>
          </a:xfrm>
          <a:prstGeom prst="rect">
            <a:avLst/>
          </a:prstGeom>
          <a:noFill/>
        </p:spPr>
        <p:txBody>
          <a:bodyPr wrap="none">
            <a:spAutoFit/>
          </a:bodyPr>
          <a:lstStyle/>
          <a:p>
            <a:pPr algn="ctr">
              <a:defRPr sz="1200" b="1">
                <a:solidFill>
                  <a:srgbClr val="FFFFFF"/>
                </a:solidFill>
                <a:latin typeface="Calibri"/>
              </a:defRPr>
            </a:pPr>
            <a:r>
              <a:t>Altdrucker-Entsorgung</a:t>
            </a:r>
          </a:p>
        </p:txBody>
      </p:sp>
      <p:sp>
        <p:nvSpPr>
          <p:cNvPr id="16" name="TextBox 15"/>
          <p:cNvSpPr txBox="1"/>
          <p:nvPr/>
        </p:nvSpPr>
        <p:spPr>
          <a:xfrm>
            <a:off x="8147304" y="2148840"/>
            <a:ext cx="3200400" cy="3931920"/>
          </a:xfrm>
          <a:prstGeom prst="rect">
            <a:avLst/>
          </a:prstGeom>
          <a:noFill/>
        </p:spPr>
        <p:txBody>
          <a:bodyPr wrap="square">
            <a:spAutoFit/>
          </a:bodyPr>
          <a:lstStyle/>
          <a:p>
            <a:pPr>
              <a:spcAft>
                <a:spcPts val="800"/>
              </a:spcAft>
              <a:defRPr sz="1000" b="1">
                <a:solidFill>
                  <a:srgbClr val="1F497D"/>
                </a:solidFill>
                <a:latin typeface="Calibri"/>
              </a:defRPr>
            </a:pPr>
            <a:r>
              <a:t>ElektroG / WEEE: </a:t>
            </a:r>
            <a:r>
              <a:rPr b="0">
                <a:solidFill>
                  <a:srgbClr val="262626"/>
                </a:solidFill>
              </a:rPr>
              <a:t>Fachgerechte Entsorgung als B2B-Altgerät bei einem zertifizierten Entsorgungsfachbetrieb.</a:t>
            </a:r>
          </a:p>
          <a:p>
            <a:pPr>
              <a:spcAft>
                <a:spcPts val="800"/>
              </a:spcAft>
              <a:defRPr sz="1000" b="1">
                <a:solidFill>
                  <a:srgbClr val="1F497D"/>
                </a:solidFill>
                <a:latin typeface="Calibri"/>
              </a:defRPr>
            </a:pPr>
            <a:r>
              <a:t>Toner-Kassetten: </a:t>
            </a:r>
            <a:r>
              <a:rPr b="0">
                <a:solidFill>
                  <a:srgbClr val="262626"/>
                </a:solidFill>
              </a:rPr>
              <a:t>Resttoner und Kassetten separat über geschlossene Recyclingprogramme entsorgen.</a:t>
            </a:r>
          </a:p>
          <a:p>
            <a:pPr>
              <a:spcAft>
                <a:spcPts val="800"/>
              </a:spcAft>
              <a:defRPr sz="1000" b="1">
                <a:solidFill>
                  <a:srgbClr val="1F497D"/>
                </a:solidFill>
                <a:latin typeface="Calibri"/>
              </a:defRPr>
            </a:pPr>
            <a:r>
              <a:t>Feinstaubschutz: </a:t>
            </a:r>
            <a:r>
              <a:rPr b="0">
                <a:solidFill>
                  <a:srgbClr val="262626"/>
                </a:solidFill>
              </a:rPr>
              <a:t>Sicherheitshandschuhe und Maske beim Ausbau verwenden.</a:t>
            </a:r>
          </a:p>
          <a:p>
            <a:pPr>
              <a:spcAft>
                <a:spcPts val="800"/>
              </a:spcAft>
              <a:defRPr sz="1000" b="1">
                <a:solidFill>
                  <a:srgbClr val="1F497D"/>
                </a:solidFill>
                <a:latin typeface="Calibri"/>
              </a:defRPr>
            </a:pPr>
            <a:r>
              <a:t>Datenlöschung (BSI): </a:t>
            </a:r>
            <a:r>
              <a:rPr b="0">
                <a:solidFill>
                  <a:srgbClr val="262626"/>
                </a:solidFill>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ROLLOUT</a:t>
            </a:r>
          </a:p>
          <a:p>
            <a:pPr>
              <a:defRPr sz="2000" b="1">
                <a:solidFill>
                  <a:srgbClr val="FFFFFF"/>
                </a:solidFill>
                <a:latin typeface="Calibri"/>
              </a:defRPr>
            </a:pPr>
            <a:r>
              <a:t>Rollout-Phasen und Übergabe vor Ort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600200"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01</a:t>
            </a:r>
          </a:p>
        </p:txBody>
      </p:sp>
      <p:sp>
        <p:nvSpPr>
          <p:cNvPr id="7" name="TextBox 6"/>
          <p:cNvSpPr txBox="1"/>
          <p:nvPr/>
        </p:nvSpPr>
        <p:spPr>
          <a:xfrm>
            <a:off x="822960" y="2468880"/>
            <a:ext cx="2377440" cy="640080"/>
          </a:xfrm>
          <a:prstGeom prst="rect">
            <a:avLst/>
          </a:prstGeom>
          <a:noFill/>
        </p:spPr>
        <p:txBody>
          <a:bodyPr wrap="none">
            <a:spAutoFit/>
          </a:bodyPr>
          <a:lstStyle/>
          <a:p>
            <a:pPr algn="ctr">
              <a:defRPr sz="1150" b="1">
                <a:solidFill>
                  <a:srgbClr val="1F497D"/>
                </a:solidFill>
                <a:latin typeface="Calibri"/>
              </a:defRPr>
            </a:pPr>
            <a:r>
              <a:t>Phase 1: Vorinstallation</a:t>
            </a:r>
          </a:p>
          <a:p>
            <a:pPr algn="ctr">
              <a:defRPr sz="950">
                <a:solidFill>
                  <a:srgbClr val="595959"/>
                </a:solidFill>
              </a:defRPr>
            </a:pPr>
            <a:r>
              <a:t>Im Systemhaus-Labor</a:t>
            </a:r>
          </a:p>
        </p:txBody>
      </p:sp>
      <p:sp>
        <p:nvSpPr>
          <p:cNvPr id="8" name="TextBox 7"/>
          <p:cNvSpPr txBox="1"/>
          <p:nvPr/>
        </p:nvSpPr>
        <p:spPr>
          <a:xfrm>
            <a:off x="868680"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Betriebssystem-Betankung über Standard-Image</a:t>
            </a:r>
          </a:p>
          <a:p>
            <a:pPr>
              <a:spcAft>
                <a:spcPts val="600"/>
              </a:spcAft>
              <a:defRPr sz="950">
                <a:solidFill>
                  <a:srgbClr val="262626"/>
                </a:solidFill>
                <a:latin typeface="Calibri"/>
              </a:defRPr>
            </a:pPr>
            <a:r>
              <a:t>• Installation M365, Adobe Acrobat &amp; ESET EDR</a:t>
            </a:r>
          </a:p>
          <a:p>
            <a:pPr>
              <a:spcAft>
                <a:spcPts val="600"/>
              </a:spcAft>
              <a:defRPr sz="950">
                <a:solidFill>
                  <a:srgbClr val="262626"/>
                </a:solidFill>
                <a:latin typeface="Calibri"/>
              </a:defRPr>
            </a:pPr>
            <a:r>
              <a:t>• Einspielen aller Windows- &amp; Treiber-Updates</a:t>
            </a:r>
          </a:p>
          <a:p>
            <a:pPr>
              <a:spcAft>
                <a:spcPts val="600"/>
              </a:spcAft>
              <a:defRPr sz="950">
                <a:solidFill>
                  <a:srgbClr val="262626"/>
                </a:solidFill>
                <a:latin typeface="Calibri"/>
              </a:defRPr>
            </a:pPr>
            <a:r>
              <a:t>• 24h-Dauertest der CAD-Workstations</a:t>
            </a:r>
          </a:p>
        </p:txBody>
      </p:sp>
      <p:sp>
        <p:nvSpPr>
          <p:cNvPr id="9" name="Rounded Rectangle 8"/>
          <p:cNvSpPr/>
          <p:nvPr/>
        </p:nvSpPr>
        <p:spPr>
          <a:xfrm>
            <a:off x="3456432"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25112"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02</a:t>
            </a:r>
          </a:p>
        </p:txBody>
      </p:sp>
      <p:sp>
        <p:nvSpPr>
          <p:cNvPr id="11" name="TextBox 10"/>
          <p:cNvSpPr txBox="1"/>
          <p:nvPr/>
        </p:nvSpPr>
        <p:spPr>
          <a:xfrm>
            <a:off x="3547872" y="2468880"/>
            <a:ext cx="2377440" cy="640080"/>
          </a:xfrm>
          <a:prstGeom prst="rect">
            <a:avLst/>
          </a:prstGeom>
          <a:noFill/>
        </p:spPr>
        <p:txBody>
          <a:bodyPr wrap="none">
            <a:spAutoFit/>
          </a:bodyPr>
          <a:lstStyle/>
          <a:p>
            <a:pPr algn="ctr">
              <a:defRPr sz="1150" b="1">
                <a:solidFill>
                  <a:srgbClr val="1F497D"/>
                </a:solidFill>
                <a:latin typeface="Calibri"/>
              </a:defRPr>
            </a:pPr>
            <a:r>
              <a:t>Phase 2: Logistik</a:t>
            </a:r>
          </a:p>
          <a:p>
            <a:pPr algn="ctr">
              <a:defRPr sz="950">
                <a:solidFill>
                  <a:srgbClr val="595959"/>
                </a:solidFill>
              </a:defRPr>
            </a:pPr>
            <a:r>
              <a:t>Sicherer Transport</a:t>
            </a:r>
          </a:p>
        </p:txBody>
      </p:sp>
      <p:sp>
        <p:nvSpPr>
          <p:cNvPr id="12" name="TextBox 11"/>
          <p:cNvSpPr txBox="1"/>
          <p:nvPr/>
        </p:nvSpPr>
        <p:spPr>
          <a:xfrm>
            <a:off x="3593592"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ESD- und stoßsichere Verpackung</a:t>
            </a:r>
          </a:p>
          <a:p>
            <a:pPr>
              <a:spcAft>
                <a:spcPts val="600"/>
              </a:spcAft>
              <a:defRPr sz="950">
                <a:solidFill>
                  <a:srgbClr val="262626"/>
                </a:solidFill>
                <a:latin typeface="Calibri"/>
              </a:defRPr>
            </a:pPr>
            <a:r>
              <a:t>• Terminierte Anlieferung bei VektorPlan</a:t>
            </a:r>
          </a:p>
          <a:p>
            <a:pPr>
              <a:spcAft>
                <a:spcPts val="600"/>
              </a:spcAft>
              <a:defRPr sz="950">
                <a:solidFill>
                  <a:srgbClr val="262626"/>
                </a:solidFill>
                <a:latin typeface="Calibri"/>
              </a:defRPr>
            </a:pPr>
            <a:r>
              <a:t>• Verteilung auf die 2 Großraumbüros</a:t>
            </a:r>
          </a:p>
          <a:p>
            <a:pPr>
              <a:spcAft>
                <a:spcPts val="600"/>
              </a:spcAft>
              <a:defRPr sz="950">
                <a:solidFill>
                  <a:srgbClr val="262626"/>
                </a:solidFill>
                <a:latin typeface="Calibri"/>
              </a:defRPr>
            </a:pPr>
            <a:r>
              <a:t>• Umweltgerechte Entsorgung von Kartonagen</a:t>
            </a:r>
          </a:p>
        </p:txBody>
      </p:sp>
      <p:sp>
        <p:nvSpPr>
          <p:cNvPr id="13" name="Rounded Rectangle 12"/>
          <p:cNvSpPr/>
          <p:nvPr/>
        </p:nvSpPr>
        <p:spPr>
          <a:xfrm>
            <a:off x="6181344"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50024"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03</a:t>
            </a:r>
          </a:p>
        </p:txBody>
      </p:sp>
      <p:sp>
        <p:nvSpPr>
          <p:cNvPr id="15" name="TextBox 14"/>
          <p:cNvSpPr txBox="1"/>
          <p:nvPr/>
        </p:nvSpPr>
        <p:spPr>
          <a:xfrm>
            <a:off x="6272784" y="2468880"/>
            <a:ext cx="2377440" cy="640080"/>
          </a:xfrm>
          <a:prstGeom prst="rect">
            <a:avLst/>
          </a:prstGeom>
          <a:noFill/>
        </p:spPr>
        <p:txBody>
          <a:bodyPr wrap="none">
            <a:spAutoFit/>
          </a:bodyPr>
          <a:lstStyle/>
          <a:p>
            <a:pPr algn="ctr">
              <a:defRPr sz="1150" b="1">
                <a:solidFill>
                  <a:srgbClr val="1F497D"/>
                </a:solidFill>
                <a:latin typeface="Calibri"/>
              </a:defRPr>
            </a:pPr>
            <a:r>
              <a:t>Phase 3: Montage</a:t>
            </a:r>
          </a:p>
          <a:p>
            <a:pPr algn="ctr">
              <a:defRPr sz="950">
                <a:solidFill>
                  <a:srgbClr val="595959"/>
                </a:solidFill>
              </a:defRPr>
            </a:pPr>
            <a:r>
              <a:t>ArbStättV-Ergonomie</a:t>
            </a:r>
          </a:p>
        </p:txBody>
      </p:sp>
      <p:sp>
        <p:nvSpPr>
          <p:cNvPr id="16" name="TextBox 15"/>
          <p:cNvSpPr txBox="1"/>
          <p:nvPr/>
        </p:nvSpPr>
        <p:spPr>
          <a:xfrm>
            <a:off x="6318504"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Aufbau der 32 höhenverstellbaren Monitore</a:t>
            </a:r>
          </a:p>
          <a:p>
            <a:pPr>
              <a:spcAft>
                <a:spcPts val="600"/>
              </a:spcAft>
              <a:defRPr sz="950">
                <a:solidFill>
                  <a:srgbClr val="262626"/>
                </a:solidFill>
                <a:latin typeface="Calibri"/>
              </a:defRPr>
            </a:pPr>
            <a:r>
              <a:t>• Ausrichtung: Oberkante auf Augenhöhe (50-70 cm)</a:t>
            </a:r>
          </a:p>
          <a:p>
            <a:pPr>
              <a:spcAft>
                <a:spcPts val="600"/>
              </a:spcAft>
              <a:defRPr sz="950">
                <a:solidFill>
                  <a:srgbClr val="262626"/>
                </a:solidFill>
                <a:latin typeface="Calibri"/>
              </a:defRPr>
            </a:pPr>
            <a:r>
              <a:t>• Saubere Bündelung aller Kabel unter Tischen</a:t>
            </a:r>
          </a:p>
          <a:p>
            <a:pPr>
              <a:spcAft>
                <a:spcPts val="600"/>
              </a:spcAft>
              <a:defRPr sz="950">
                <a:solidFill>
                  <a:srgbClr val="262626"/>
                </a:solidFill>
                <a:latin typeface="Calibri"/>
              </a:defRPr>
            </a:pPr>
            <a:r>
              <a:t>• Patchkabel an Switchports anschließen</a:t>
            </a:r>
          </a:p>
        </p:txBody>
      </p:sp>
      <p:sp>
        <p:nvSpPr>
          <p:cNvPr id="17" name="Rounded Rectangle 16"/>
          <p:cNvSpPr/>
          <p:nvPr/>
        </p:nvSpPr>
        <p:spPr>
          <a:xfrm>
            <a:off x="8906256" y="1371600"/>
            <a:ext cx="25603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774936" y="1554480"/>
            <a:ext cx="822960" cy="822960"/>
          </a:xfrm>
          <a:prstGeom prst="ellipse">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t>04</a:t>
            </a:r>
          </a:p>
        </p:txBody>
      </p:sp>
      <p:sp>
        <p:nvSpPr>
          <p:cNvPr id="19" name="TextBox 18"/>
          <p:cNvSpPr txBox="1"/>
          <p:nvPr/>
        </p:nvSpPr>
        <p:spPr>
          <a:xfrm>
            <a:off x="8997696" y="2468880"/>
            <a:ext cx="2377440" cy="640080"/>
          </a:xfrm>
          <a:prstGeom prst="rect">
            <a:avLst/>
          </a:prstGeom>
          <a:noFill/>
        </p:spPr>
        <p:txBody>
          <a:bodyPr wrap="none">
            <a:spAutoFit/>
          </a:bodyPr>
          <a:lstStyle/>
          <a:p>
            <a:pPr algn="ctr">
              <a:defRPr sz="1150" b="1">
                <a:solidFill>
                  <a:srgbClr val="1F497D"/>
                </a:solidFill>
                <a:latin typeface="Calibri"/>
              </a:defRPr>
            </a:pPr>
            <a:r>
              <a:t>Phase 4: Abnahme</a:t>
            </a:r>
          </a:p>
          <a:p>
            <a:pPr algn="ctr">
              <a:defRPr sz="950">
                <a:solidFill>
                  <a:srgbClr val="595959"/>
                </a:solidFill>
              </a:defRPr>
            </a:pPr>
            <a:r>
              <a:t>Funktion &amp; Unterschrift</a:t>
            </a:r>
          </a:p>
        </p:txBody>
      </p:sp>
      <p:sp>
        <p:nvSpPr>
          <p:cNvPr id="20" name="TextBox 19"/>
          <p:cNvSpPr txBox="1"/>
          <p:nvPr/>
        </p:nvSpPr>
        <p:spPr>
          <a:xfrm>
            <a:off x="9043416" y="3200400"/>
            <a:ext cx="2286000" cy="2834640"/>
          </a:xfrm>
          <a:prstGeom prst="rect">
            <a:avLst/>
          </a:prstGeom>
          <a:noFill/>
        </p:spPr>
        <p:txBody>
          <a:bodyPr wrap="square">
            <a:spAutoFit/>
          </a:bodyPr>
          <a:lstStyle/>
          <a:p>
            <a:pPr>
              <a:spcAft>
                <a:spcPts val="600"/>
              </a:spcAft>
              <a:defRPr sz="950">
                <a:solidFill>
                  <a:srgbClr val="262626"/>
                </a:solidFill>
                <a:latin typeface="Calibri"/>
              </a:defRPr>
            </a:pPr>
            <a:r>
              <a:t>• Prüfung Netzwerkzugriff &amp; Server-Freigaben</a:t>
            </a:r>
          </a:p>
          <a:p>
            <a:pPr>
              <a:spcAft>
                <a:spcPts val="600"/>
              </a:spcAft>
              <a:defRPr sz="950">
                <a:solidFill>
                  <a:srgbClr val="262626"/>
                </a:solidFill>
                <a:latin typeface="Calibri"/>
              </a:defRPr>
            </a:pPr>
            <a:r>
              <a:t>• CAD-Testrendering &amp; A3-Druckertest</a:t>
            </a:r>
          </a:p>
          <a:p>
            <a:pPr>
              <a:spcAft>
                <a:spcPts val="600"/>
              </a:spcAft>
              <a:defRPr sz="950">
                <a:solidFill>
                  <a:srgbClr val="262626"/>
                </a:solidFill>
                <a:latin typeface="Calibri"/>
              </a:defRPr>
            </a:pPr>
            <a:r>
              <a:t>• Gemeinsame Begehung mit Kundenleitung</a:t>
            </a:r>
          </a:p>
          <a:p>
            <a:pPr>
              <a:spcAft>
                <a:spcPts val="600"/>
              </a:spcAft>
              <a:defRPr sz="950">
                <a:solidFill>
                  <a:srgbClr val="262626"/>
                </a:solidFill>
                <a:latin typeface="Calibri"/>
              </a:defRPr>
            </a:pPr>
            <a:r>
              <a:t>• Vorbehaltlose Unterzeichnung des Protokolls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PROJEKTERGEBNIS</a:t>
            </a:r>
          </a:p>
          <a:p>
            <a:pPr>
              <a:defRPr sz="2000" b="1">
                <a:solidFill>
                  <a:srgbClr val="FFFFFF"/>
                </a:solidFill>
                <a:latin typeface="Calibri"/>
              </a:defRPr>
            </a:pPr>
            <a:r>
              <a:t>Soll-Ist-Vergleich: Termin, Kosten und Qualität</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4400" y="1554480"/>
            <a:ext cx="3108960" cy="1097280"/>
          </a:xfrm>
          <a:prstGeom prst="roundRect">
            <a:avLst/>
          </a:prstGeom>
          <a:solidFill>
            <a:srgbClr val="DEEBF7"/>
          </a:solidFill>
          <a:ln w="19050">
            <a:solidFill>
              <a:srgbClr val="3857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600200"/>
            <a:ext cx="3108960" cy="1005840"/>
          </a:xfrm>
          <a:prstGeom prst="rect">
            <a:avLst/>
          </a:prstGeom>
          <a:noFill/>
        </p:spPr>
        <p:txBody>
          <a:bodyPr wrap="none">
            <a:spAutoFit/>
          </a:bodyPr>
          <a:lstStyle/>
          <a:p>
            <a:pPr algn="ctr">
              <a:defRPr sz="2400" b="1">
                <a:solidFill>
                  <a:srgbClr val="385723"/>
                </a:solidFill>
                <a:latin typeface="Calibri"/>
              </a:defRPr>
            </a:pPr>
            <a:r>
              <a:t>46 / 48 Tage</a:t>
            </a:r>
          </a:p>
          <a:p>
            <a:pPr algn="ctr">
              <a:defRPr sz="1000" b="1">
                <a:solidFill>
                  <a:srgbClr val="1F497D"/>
                </a:solidFill>
                <a:latin typeface="Calibri"/>
              </a:defRPr>
            </a:pPr>
            <a:r>
              <a:t>- 2 Tage Vorsprung</a:t>
            </a:r>
          </a:p>
        </p:txBody>
      </p:sp>
      <p:sp>
        <p:nvSpPr>
          <p:cNvPr id="8" name="TextBox 7"/>
          <p:cNvSpPr txBox="1"/>
          <p:nvPr/>
        </p:nvSpPr>
        <p:spPr>
          <a:xfrm>
            <a:off x="914400" y="2743200"/>
            <a:ext cx="3108960" cy="365760"/>
          </a:xfrm>
          <a:prstGeom prst="rect">
            <a:avLst/>
          </a:prstGeom>
          <a:noFill/>
        </p:spPr>
        <p:txBody>
          <a:bodyPr wrap="none">
            <a:spAutoFit/>
          </a:bodyPr>
          <a:lstStyle/>
          <a:p>
            <a:pPr>
              <a:defRPr sz="1200" b="1">
                <a:solidFill>
                  <a:srgbClr val="1F497D"/>
                </a:solidFill>
                <a:latin typeface="Calibri"/>
              </a:defRPr>
            </a:pPr>
            <a:r>
              <a:t>Zeitplanung (Termintreue)</a:t>
            </a:r>
          </a:p>
        </p:txBody>
      </p:sp>
      <p:sp>
        <p:nvSpPr>
          <p:cNvPr id="9" name="TextBox 8"/>
          <p:cNvSpPr txBox="1"/>
          <p:nvPr/>
        </p:nvSpPr>
        <p:spPr>
          <a:xfrm>
            <a:off x="914400"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Geplante Projektdauer: </a:t>
            </a:r>
            <a:r>
              <a:rPr b="0">
                <a:solidFill>
                  <a:srgbClr val="262626"/>
                </a:solidFill>
              </a:rPr>
              <a:t>48 Arbeitstage laut Meilensteinplan</a:t>
            </a:r>
          </a:p>
          <a:p>
            <a:pPr>
              <a:spcAft>
                <a:spcPts val="600"/>
              </a:spcAft>
              <a:defRPr sz="950" b="1">
                <a:solidFill>
                  <a:srgbClr val="1F497D"/>
                </a:solidFill>
                <a:latin typeface="Calibri"/>
              </a:defRPr>
            </a:pPr>
            <a:r>
              <a:t>Tatsächliche Dauer: </a:t>
            </a:r>
            <a:r>
              <a:rPr b="0">
                <a:solidFill>
                  <a:srgbClr val="262626"/>
                </a:solidFill>
              </a:rPr>
              <a:t>Erfolgreicher Abschluss in 46 Arbeitstagen</a:t>
            </a:r>
          </a:p>
          <a:p>
            <a:pPr>
              <a:spcAft>
                <a:spcPts val="600"/>
              </a:spcAft>
              <a:defRPr sz="950" b="1">
                <a:solidFill>
                  <a:srgbClr val="1F497D"/>
                </a:solidFill>
                <a:latin typeface="Calibri"/>
              </a:defRPr>
            </a:pPr>
            <a:r>
              <a:t>Erfolgsfaktor: </a:t>
            </a:r>
            <a:r>
              <a:rPr b="0">
                <a:solidFill>
                  <a:srgbClr val="262626"/>
                </a:solidFill>
              </a:rPr>
              <a:t>Vorab-Staging im Labor sparte Montagezeit</a:t>
            </a:r>
          </a:p>
          <a:p>
            <a:pPr>
              <a:spcAft>
                <a:spcPts val="600"/>
              </a:spcAft>
              <a:defRPr sz="950" b="1">
                <a:solidFill>
                  <a:srgbClr val="1F497D"/>
                </a:solidFill>
                <a:latin typeface="Calibri"/>
              </a:defRPr>
            </a:pPr>
            <a:r>
              <a:t>Ergebnis: </a:t>
            </a:r>
            <a:r>
              <a:rPr b="0">
                <a:solidFill>
                  <a:srgbClr val="262626"/>
                </a:solidFill>
              </a:rPr>
              <a:t>Alle Meilensteine wurden pünktlich erreicht</a:t>
            </a:r>
          </a:p>
        </p:txBody>
      </p:sp>
      <p:sp>
        <p:nvSpPr>
          <p:cNvPr id="10" name="Rounded Rectangle 9"/>
          <p:cNvSpPr/>
          <p:nvPr/>
        </p:nvSpPr>
        <p:spPr>
          <a:xfrm>
            <a:off x="4370832"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53712" y="1554480"/>
            <a:ext cx="3108960" cy="1097280"/>
          </a:xfrm>
          <a:prstGeom prst="roundRect">
            <a:avLst/>
          </a:prstGeom>
          <a:solidFill>
            <a:srgbClr val="DEEBF7"/>
          </a:solidFill>
          <a:ln w="19050">
            <a:solidFill>
              <a:srgbClr val="1F497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3712" y="1600200"/>
            <a:ext cx="3108960" cy="1005840"/>
          </a:xfrm>
          <a:prstGeom prst="rect">
            <a:avLst/>
          </a:prstGeom>
          <a:noFill/>
        </p:spPr>
        <p:txBody>
          <a:bodyPr wrap="none">
            <a:spAutoFit/>
          </a:bodyPr>
          <a:lstStyle/>
          <a:p>
            <a:pPr algn="ctr">
              <a:defRPr sz="2400" b="1">
                <a:solidFill>
                  <a:srgbClr val="1F497D"/>
                </a:solidFill>
                <a:latin typeface="Calibri"/>
              </a:defRPr>
            </a:pPr>
            <a:r>
              <a:t>67.179 €</a:t>
            </a:r>
          </a:p>
          <a:p>
            <a:pPr algn="ctr">
              <a:defRPr sz="1000" b="1">
                <a:solidFill>
                  <a:srgbClr val="1F497D"/>
                </a:solidFill>
                <a:latin typeface="Calibri"/>
              </a:defRPr>
            </a:pPr>
            <a:r>
              <a:t>Im Budgetrahmen</a:t>
            </a:r>
          </a:p>
        </p:txBody>
      </p:sp>
      <p:sp>
        <p:nvSpPr>
          <p:cNvPr id="13" name="TextBox 12"/>
          <p:cNvSpPr txBox="1"/>
          <p:nvPr/>
        </p:nvSpPr>
        <p:spPr>
          <a:xfrm>
            <a:off x="4553712" y="2743200"/>
            <a:ext cx="3108960" cy="365760"/>
          </a:xfrm>
          <a:prstGeom prst="rect">
            <a:avLst/>
          </a:prstGeom>
          <a:noFill/>
        </p:spPr>
        <p:txBody>
          <a:bodyPr wrap="none">
            <a:spAutoFit/>
          </a:bodyPr>
          <a:lstStyle/>
          <a:p>
            <a:pPr>
              <a:defRPr sz="1200" b="1">
                <a:solidFill>
                  <a:srgbClr val="1F497D"/>
                </a:solidFill>
                <a:latin typeface="Calibri"/>
              </a:defRPr>
            </a:pPr>
            <a:r>
              <a:t>Kostenbudget (Finanzen)</a:t>
            </a:r>
          </a:p>
        </p:txBody>
      </p:sp>
      <p:sp>
        <p:nvSpPr>
          <p:cNvPr id="14" name="TextBox 13"/>
          <p:cNvSpPr txBox="1"/>
          <p:nvPr/>
        </p:nvSpPr>
        <p:spPr>
          <a:xfrm>
            <a:off x="4553712"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Kundenbudget (Obergrenze): </a:t>
            </a:r>
            <a:r>
              <a:rPr b="0">
                <a:solidFill>
                  <a:srgbClr val="262626"/>
                </a:solidFill>
              </a:rPr>
              <a:t>Maximal 70.000,00 € Netto</a:t>
            </a:r>
          </a:p>
          <a:p>
            <a:pPr>
              <a:spcAft>
                <a:spcPts val="600"/>
              </a:spcAft>
              <a:defRPr sz="950" b="1">
                <a:solidFill>
                  <a:srgbClr val="1F497D"/>
                </a:solidFill>
                <a:latin typeface="Calibri"/>
              </a:defRPr>
            </a:pPr>
            <a:r>
              <a:t>Tatsächliche Angebotssumme: </a:t>
            </a:r>
            <a:r>
              <a:rPr b="0">
                <a:solidFill>
                  <a:srgbClr val="262626"/>
                </a:solidFill>
              </a:rPr>
              <a:t>67.179,32 € Netto (inkl. Services)</a:t>
            </a:r>
          </a:p>
          <a:p>
            <a:pPr>
              <a:spcAft>
                <a:spcPts val="600"/>
              </a:spcAft>
              <a:defRPr sz="950" b="1">
                <a:solidFill>
                  <a:srgbClr val="1F497D"/>
                </a:solidFill>
                <a:latin typeface="Calibri"/>
              </a:defRPr>
            </a:pPr>
            <a:r>
              <a:t>Kostenvorteil für Kunden: </a:t>
            </a:r>
            <a:r>
              <a:rPr b="0">
                <a:solidFill>
                  <a:srgbClr val="262626"/>
                </a:solidFill>
              </a:rPr>
              <a:t>Ca. 2.820 € Ersparnis gegenüber Limit</a:t>
            </a:r>
          </a:p>
          <a:p>
            <a:pPr>
              <a:spcAft>
                <a:spcPts val="600"/>
              </a:spcAft>
              <a:defRPr sz="950" b="1">
                <a:solidFill>
                  <a:srgbClr val="1F497D"/>
                </a:solidFill>
                <a:latin typeface="Calibri"/>
              </a:defRPr>
            </a:pPr>
            <a:r>
              <a:t>Transparenz: </a:t>
            </a:r>
            <a:r>
              <a:rPr b="0">
                <a:solidFill>
                  <a:srgbClr val="262626"/>
                </a:solidFill>
              </a:rPr>
              <a:t>Vollständige Vorwärtskalkulation vorgelegt</a:t>
            </a:r>
          </a:p>
        </p:txBody>
      </p:sp>
      <p:sp>
        <p:nvSpPr>
          <p:cNvPr id="15" name="Rounded Rectangle 14"/>
          <p:cNvSpPr/>
          <p:nvPr/>
        </p:nvSpPr>
        <p:spPr>
          <a:xfrm>
            <a:off x="8010144" y="1371600"/>
            <a:ext cx="347472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193024" y="1554480"/>
            <a:ext cx="3108960" cy="1097280"/>
          </a:xfrm>
          <a:prstGeom prst="roundRect">
            <a:avLst/>
          </a:prstGeom>
          <a:solidFill>
            <a:srgbClr val="DEEBF7"/>
          </a:solidFill>
          <a:ln w="19050">
            <a:solidFill>
              <a:srgbClr val="2F559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1600200"/>
            <a:ext cx="3108960" cy="1005840"/>
          </a:xfrm>
          <a:prstGeom prst="rect">
            <a:avLst/>
          </a:prstGeom>
          <a:noFill/>
        </p:spPr>
        <p:txBody>
          <a:bodyPr wrap="none">
            <a:spAutoFit/>
          </a:bodyPr>
          <a:lstStyle/>
          <a:p>
            <a:pPr algn="ctr">
              <a:defRPr sz="2400" b="1">
                <a:solidFill>
                  <a:srgbClr val="2F5597"/>
                </a:solidFill>
                <a:latin typeface="Calibri"/>
              </a:defRPr>
            </a:pPr>
            <a:r>
              <a:t>100%</a:t>
            </a:r>
          </a:p>
          <a:p>
            <a:pPr algn="ctr">
              <a:defRPr sz="1000" b="1">
                <a:solidFill>
                  <a:srgbClr val="1F497D"/>
                </a:solidFill>
                <a:latin typeface="Calibri"/>
              </a:defRPr>
            </a:pPr>
            <a:r>
              <a:t>Vorbehaltlos abgenommen</a:t>
            </a:r>
          </a:p>
        </p:txBody>
      </p:sp>
      <p:sp>
        <p:nvSpPr>
          <p:cNvPr id="18" name="TextBox 17"/>
          <p:cNvSpPr txBox="1"/>
          <p:nvPr/>
        </p:nvSpPr>
        <p:spPr>
          <a:xfrm>
            <a:off x="8193024" y="2743200"/>
            <a:ext cx="3108960" cy="365760"/>
          </a:xfrm>
          <a:prstGeom prst="rect">
            <a:avLst/>
          </a:prstGeom>
          <a:noFill/>
        </p:spPr>
        <p:txBody>
          <a:bodyPr wrap="none">
            <a:spAutoFit/>
          </a:bodyPr>
          <a:lstStyle/>
          <a:p>
            <a:pPr>
              <a:defRPr sz="1200" b="1">
                <a:solidFill>
                  <a:srgbClr val="1F497D"/>
                </a:solidFill>
                <a:latin typeface="Calibri"/>
              </a:defRPr>
            </a:pPr>
            <a:r>
              <a:t>Qualität &amp; Kundenzufriedenheit</a:t>
            </a:r>
          </a:p>
        </p:txBody>
      </p:sp>
      <p:sp>
        <p:nvSpPr>
          <p:cNvPr id="19" name="TextBox 18"/>
          <p:cNvSpPr txBox="1"/>
          <p:nvPr/>
        </p:nvSpPr>
        <p:spPr>
          <a:xfrm>
            <a:off x="8193024" y="3154680"/>
            <a:ext cx="3108960" cy="2926080"/>
          </a:xfrm>
          <a:prstGeom prst="rect">
            <a:avLst/>
          </a:prstGeom>
          <a:noFill/>
        </p:spPr>
        <p:txBody>
          <a:bodyPr wrap="square">
            <a:spAutoFit/>
          </a:bodyPr>
          <a:lstStyle/>
          <a:p>
            <a:pPr>
              <a:spcAft>
                <a:spcPts val="600"/>
              </a:spcAft>
              <a:defRPr sz="950" b="1">
                <a:solidFill>
                  <a:srgbClr val="1F497D"/>
                </a:solidFill>
                <a:latin typeface="Calibri"/>
              </a:defRPr>
            </a:pPr>
            <a:r>
              <a:t>Lieferumfang: </a:t>
            </a:r>
            <a:r>
              <a:rPr b="0">
                <a:solidFill>
                  <a:srgbClr val="262626"/>
                </a:solidFill>
              </a:rPr>
              <a:t>16 von 16 Arbeitsplätzen voll funktionsfähig</a:t>
            </a:r>
          </a:p>
          <a:p>
            <a:pPr>
              <a:spcAft>
                <a:spcPts val="600"/>
              </a:spcAft>
              <a:defRPr sz="950" b="1">
                <a:solidFill>
                  <a:srgbClr val="1F497D"/>
                </a:solidFill>
                <a:latin typeface="Calibri"/>
              </a:defRPr>
            </a:pPr>
            <a:r>
              <a:t>Mängelmanagement: </a:t>
            </a:r>
            <a:r>
              <a:rPr b="0">
                <a:solidFill>
                  <a:srgbClr val="262626"/>
                </a:solidFill>
              </a:rPr>
              <a:t>Transportschäden fristgerecht getauscht</a:t>
            </a:r>
          </a:p>
          <a:p>
            <a:pPr>
              <a:spcAft>
                <a:spcPts val="600"/>
              </a:spcAft>
              <a:defRPr sz="950" b="1">
                <a:solidFill>
                  <a:srgbClr val="1F497D"/>
                </a:solidFill>
                <a:latin typeface="Calibri"/>
              </a:defRPr>
            </a:pPr>
            <a:r>
              <a:t>Ergonomie: </a:t>
            </a:r>
            <a:r>
              <a:rPr b="0">
                <a:solidFill>
                  <a:srgbClr val="262626"/>
                </a:solidFill>
              </a:rPr>
              <a:t>ArbStättV-konforme Arbeitsplatzgestaltung</a:t>
            </a:r>
          </a:p>
          <a:p>
            <a:pPr>
              <a:spcAft>
                <a:spcPts val="600"/>
              </a:spcAft>
              <a:defRPr sz="950" b="1">
                <a:solidFill>
                  <a:srgbClr val="1F497D"/>
                </a:solidFill>
                <a:latin typeface="Calibri"/>
              </a:defRPr>
            </a:pPr>
            <a:r>
              <a:t>Abnahmeprotokoll: </a:t>
            </a:r>
            <a:r>
              <a:rPr b="0">
                <a:solidFill>
                  <a:srgbClr val="262626"/>
                </a:solidFill>
              </a:rPr>
              <a:t>Durch VektorPlan GmbH ohne Mängel rügellos gezeichnet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777240"/>
          </a:xfrm>
          <a:prstGeom prst="rect">
            <a:avLst/>
          </a:prstGeom>
          <a:noFill/>
        </p:spPr>
        <p:txBody>
          <a:bodyPr wrap="none">
            <a:spAutoFit/>
          </a:bodyPr>
          <a:lstStyle/>
          <a:p>
            <a:pPr>
              <a:defRPr sz="1000" b="1">
                <a:solidFill>
                  <a:srgbClr val="B4C6E7"/>
                </a:solidFill>
                <a:latin typeface="Calibri"/>
              </a:defRPr>
            </a:pPr>
            <a:r>
              <a:t>REFLEXION</a:t>
            </a:r>
          </a:p>
          <a:p>
            <a:pPr>
              <a:defRPr sz="2000" b="1">
                <a:solidFill>
                  <a:srgbClr val="FFFFFF"/>
                </a:solidFill>
                <a:latin typeface="Calibri"/>
              </a:defRPr>
            </a:pPr>
            <a:r>
              <a:t>Lessons Learned &amp; Fazit unseres Teams</a:t>
            </a:r>
          </a:p>
        </p:txBody>
      </p:sp>
      <p:sp>
        <p:nvSpPr>
          <p:cNvPr id="4" name="TextBox 3"/>
          <p:cNvSpPr txBox="1"/>
          <p:nvPr/>
        </p:nvSpPr>
        <p:spPr>
          <a:xfrm>
            <a:off x="731520" y="6446520"/>
            <a:ext cx="10698480" cy="320040"/>
          </a:xfrm>
          <a:prstGeom prst="rect">
            <a:avLst/>
          </a:prstGeom>
          <a:noFill/>
        </p:spPr>
        <p:txBody>
          <a:bodyPr wrap="none">
            <a:spAutoFit/>
          </a:bodyPr>
          <a:lstStyle/>
          <a:p>
            <a:pPr>
              <a:defRPr sz="950">
                <a:solidFill>
                  <a:srgbClr val="595959"/>
                </a:solidFill>
                <a:latin typeface="Calibri"/>
              </a:defRPr>
            </a:pPr>
            <a: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lief besonders gut im Projekt?</a:t>
            </a:r>
          </a:p>
        </p:txBody>
      </p:sp>
      <p:sp>
        <p:nvSpPr>
          <p:cNvPr id="7" name="TextBox 6"/>
          <p:cNvSpPr txBox="1"/>
          <p:nvPr/>
        </p:nvSpPr>
        <p:spPr>
          <a:xfrm>
            <a:off x="960120" y="2103120"/>
            <a:ext cx="4800600" cy="3840480"/>
          </a:xfrm>
          <a:prstGeom prst="rect">
            <a:avLst/>
          </a:prstGeom>
          <a:noFill/>
        </p:spPr>
        <p:txBody>
          <a:bodyPr wrap="square" lIns="0" rIns="0" tIns="0" bIns="0">
            <a:spAutoFit/>
          </a:bodyPr>
          <a:lstStyle/>
          <a:p>
            <a:pPr>
              <a:spcAft>
                <a:spcPts val="1000"/>
              </a:spcAft>
              <a:defRPr sz="1050" b="1">
                <a:solidFill>
                  <a:srgbClr val="385723"/>
                </a:solidFill>
                <a:latin typeface="Calibri"/>
              </a:defRPr>
            </a:pPr>
            <a:r>
              <a:t>✔ Nutzwertanalyse als Entscheidungshilfe: </a:t>
            </a:r>
            <a:r>
              <a:rPr b="0">
                <a:solidFill>
                  <a:srgbClr val="262626"/>
                </a:solidFill>
              </a:rPr>
              <a:t>Die mathematische Bewertung sicherte die optimale CAD-Grafikkarte (RTX 4000 Ada) und den besten Monitor.</a:t>
            </a:r>
          </a:p>
          <a:p>
            <a:pPr>
              <a:spcAft>
                <a:spcPts val="1000"/>
              </a:spcAft>
              <a:defRPr sz="1050" b="1">
                <a:solidFill>
                  <a:srgbClr val="385723"/>
                </a:solidFill>
                <a:latin typeface="Calibri"/>
              </a:defRPr>
            </a:pPr>
            <a:r>
              <a:t>✔ Strikte Wareneingangsprüfung (§ 377 HGB): </a:t>
            </a:r>
            <a:r>
              <a:rPr b="0">
                <a:solidFill>
                  <a:srgbClr val="262626"/>
                </a:solidFill>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t>✔ Gute Teamarbeit &amp; klare Rollen: </a:t>
            </a:r>
            <a:r>
              <a:rPr b="0">
                <a:solidFill>
                  <a:srgbClr val="262626"/>
                </a:solidFill>
              </a:rPr>
              <a:t>Die klare Aufteilung auf Jan, Mathias, Marian, Marco und Siyar verhinderte Doppelarbeit.</a:t>
            </a:r>
          </a:p>
          <a:p>
            <a:pPr>
              <a:spcAft>
                <a:spcPts val="1000"/>
              </a:spcAft>
              <a:defRPr sz="1050" b="1">
                <a:solidFill>
                  <a:srgbClr val="385723"/>
                </a:solidFill>
                <a:latin typeface="Calibri"/>
              </a:defRPr>
            </a:pPr>
            <a:r>
              <a:t>✔ Vorab-Installation im Systemhaus: </a:t>
            </a:r>
            <a:r>
              <a:rPr b="0">
                <a:solidFill>
                  <a:srgbClr val="262626"/>
                </a:solidFill>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FFFFF"/>
          </a:solidFill>
          <a:ln w="1905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371600"/>
            <a:ext cx="5257800" cy="54864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t>Was nehmen wir für nächste Projekte mit?</a:t>
            </a:r>
          </a:p>
        </p:txBody>
      </p:sp>
      <p:sp>
        <p:nvSpPr>
          <p:cNvPr id="10" name="TextBox 9"/>
          <p:cNvSpPr txBox="1"/>
          <p:nvPr/>
        </p:nvSpPr>
        <p:spPr>
          <a:xfrm>
            <a:off x="6446520" y="2103120"/>
            <a:ext cx="4800600" cy="3840480"/>
          </a:xfrm>
          <a:prstGeom prst="rect">
            <a:avLst/>
          </a:prstGeom>
          <a:noFill/>
        </p:spPr>
        <p:txBody>
          <a:bodyPr wrap="square" lIns="0" rIns="0" tIns="0" bIns="0">
            <a:spAutoFit/>
          </a:bodyPr>
          <a:lstStyle/>
          <a:p>
            <a:pPr>
              <a:spcAft>
                <a:spcPts val="1000"/>
              </a:spcAft>
              <a:defRPr sz="1050" b="1">
                <a:solidFill>
                  <a:srgbClr val="1F497D"/>
                </a:solidFill>
                <a:latin typeface="Calibri"/>
              </a:defRPr>
            </a:pPr>
            <a:r>
              <a:t>➔ Netzwerk-Check noch früher machen: </a:t>
            </a:r>
            <a:r>
              <a:rPr b="0">
                <a:solidFill>
                  <a:srgbClr val="262626"/>
                </a:solidFill>
              </a:rPr>
              <a:t>Die Switch-Ports und Dosen vor Ort sollten wir künftig schon vor der Bestellung gemeinsam mit dem Kunden begehen.</a:t>
            </a:r>
          </a:p>
          <a:p>
            <a:pPr>
              <a:spcAft>
                <a:spcPts val="1000"/>
              </a:spcAft>
              <a:defRPr sz="1050" b="1">
                <a:solidFill>
                  <a:srgbClr val="1F497D"/>
                </a:solidFill>
                <a:latin typeface="Calibri"/>
              </a:defRPr>
            </a:pPr>
            <a:r>
              <a:t>➔ Pufferzeiten für Retouren einplanen: </a:t>
            </a:r>
            <a:r>
              <a:rPr b="0">
                <a:solidFill>
                  <a:srgbClr val="262626"/>
                </a:solidFill>
              </a:rPr>
              <a:t>Für RMA-Austauschprozesse sollte im Netzplan immer ein festes Zeitfenster von 3-5 Tagen reserviert sein.</a:t>
            </a:r>
          </a:p>
          <a:p>
            <a:pPr>
              <a:spcAft>
                <a:spcPts val="1000"/>
              </a:spcAft>
              <a:defRPr sz="1050" b="1">
                <a:solidFill>
                  <a:srgbClr val="1F497D"/>
                </a:solidFill>
                <a:latin typeface="Calibri"/>
              </a:defRPr>
            </a:pPr>
            <a:r>
              <a:t>➔ Inbetriebnahme-Checkliste beibehalten: </a:t>
            </a:r>
            <a:r>
              <a:rPr b="0">
                <a:solidFill>
                  <a:srgbClr val="262626"/>
                </a:solidFill>
              </a:rPr>
              <a:t>Unsere erstellte Checkliste nach ArbStättV war Gold wert und wird als Standardvorlage übernommen.</a:t>
            </a:r>
          </a:p>
          <a:p>
            <a:pPr>
              <a:spcAft>
                <a:spcPts val="1000"/>
              </a:spcAft>
              <a:defRPr sz="1050" b="1">
                <a:solidFill>
                  <a:srgbClr val="1F497D"/>
                </a:solidFill>
                <a:latin typeface="Calibri"/>
              </a:defRPr>
            </a:pPr>
            <a:r>
              <a:t>➔ Mitarbeiter-Einweisung standardisieren: </a:t>
            </a:r>
            <a:r>
              <a:rPr b="0">
                <a:solidFill>
                  <a:srgbClr val="262626"/>
                </a:solidFill>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9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645920" y="822960"/>
            <a:ext cx="8899855" cy="5212080"/>
          </a:xfrm>
          <a:prstGeom prst="roundRect">
            <a:avLst/>
          </a:prstGeom>
          <a:solidFill>
            <a:srgbClr val="2F5597"/>
          </a:solidFill>
          <a:ln w="25400">
            <a:solidFill>
              <a:srgbClr val="B4C6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1097280"/>
            <a:ext cx="8534095" cy="1280160"/>
          </a:xfrm>
          <a:prstGeom prst="rect">
            <a:avLst/>
          </a:prstGeom>
          <a:noFill/>
        </p:spPr>
        <p:txBody>
          <a:bodyPr wrap="square">
            <a:spAutoFit/>
          </a:bodyPr>
          <a:lstStyle/>
          <a:p>
            <a:pPr algn="ctr">
              <a:defRPr sz="3200" b="1">
                <a:solidFill>
                  <a:srgbClr val="FFFFFF"/>
                </a:solidFill>
                <a:latin typeface="Calibri"/>
              </a:defRPr>
            </a:pPr>
            <a:r>
              <a:t>Vielen Dank für Ihre Aufmerksamkeit!</a:t>
            </a:r>
          </a:p>
          <a:p>
            <a:pPr algn="ctr">
              <a:defRPr sz="1500">
                <a:solidFill>
                  <a:srgbClr val="DEEBF7"/>
                </a:solidFill>
              </a:defRPr>
            </a:pPr>
            <a: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743200"/>
            <a:ext cx="8534095" cy="1188720"/>
          </a:xfrm>
          <a:prstGeom prst="rect">
            <a:avLst/>
          </a:prstGeom>
          <a:noFill/>
        </p:spPr>
        <p:txBody>
          <a:bodyPr wrap="square">
            <a:spAutoFit/>
          </a:bodyPr>
          <a:lstStyle/>
          <a:p>
            <a:pPr algn="ctr">
              <a:defRPr sz="1600" b="1">
                <a:solidFill>
                  <a:srgbClr val="FFFFFF"/>
                </a:solidFill>
                <a:latin typeface="Calibri"/>
              </a:defRPr>
            </a:pPr>
            <a:r>
              <a:t>NextLevel IT Solutions GmbH</a:t>
            </a:r>
          </a:p>
          <a:p>
            <a:pPr algn="ctr">
              <a:defRPr sz="1100">
                <a:solidFill>
                  <a:srgbClr val="DEEBF7"/>
                </a:solidFill>
              </a:defRPr>
            </a:pPr>
            <a: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1F497D"/>
          </a:solidFill>
          <a:ln w="12700">
            <a:solidFill>
              <a:srgbClr val="8EA9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06240"/>
            <a:ext cx="7985455" cy="1463040"/>
          </a:xfrm>
          <a:prstGeom prst="rect">
            <a:avLst/>
          </a:prstGeom>
          <a:noFill/>
        </p:spPr>
        <p:txBody>
          <a:bodyPr wrap="square">
            <a:spAutoFit/>
          </a:bodyPr>
          <a:lstStyle/>
          <a:p>
            <a:pPr algn="ctr">
              <a:defRPr sz="1100" b="1">
                <a:solidFill>
                  <a:srgbClr val="DEEBF7"/>
                </a:solidFill>
                <a:latin typeface="Calibri"/>
              </a:defRPr>
            </a:pPr>
            <a:r>
              <a:t>PROJEKTTEAM (HANDLUNGSAUFGABE 2026):</a:t>
            </a:r>
          </a:p>
          <a:p>
            <a:pPr algn="ctr">
              <a:defRPr sz="1150">
                <a:solidFill>
                  <a:srgbClr val="FFFFFF"/>
                </a:solidFill>
              </a:defRPr>
            </a:pPr>
            <a:r>
              <a:t>Jan Kluth (Projektleiter)  •  Mathias Vonau (Techn. Planer)  •  Marian Bolecke (Kalkulation)</a:t>
            </a:r>
          </a:p>
          <a:p>
            <a:pPr algn="ctr">
              <a:defRPr sz="1150">
                <a:solidFill>
                  <a:srgbClr val="FFFFFF"/>
                </a:solidFill>
              </a:defRPr>
            </a:pPr>
            <a:r>
              <a:t>Marco Schmidt (Qualitätsmanagement)  •  Siyar (Berechnungen &amp; Dokumentation)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