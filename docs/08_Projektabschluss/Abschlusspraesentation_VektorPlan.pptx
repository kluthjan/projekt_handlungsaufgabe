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B4C6E7"/>
                </a:solidFill>
                <a:latin typeface="Calibri"/>
              </a:defRPr>
            </a:pPr>
            <a:r>
              <a:t>Handlungsaufgabe: IT-Systemhaus</a:t>
            </a:r>
          </a:p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Ausstattung eines Planungs- &amp;</a:t>
            </a:r>
            <a:br/>
            <a:r>
              <a:t>Konstruktionsbüros</a:t>
            </a:r>
          </a:p>
          <a:p>
            <a:pPr>
              <a:defRPr sz="1400">
                <a:solidFill>
                  <a:srgbClr val="DEEBF7"/>
                </a:solidFill>
                <a:latin typeface="Calibri"/>
              </a:defRPr>
            </a:pPr>
            <a:r>
              <a:t>Kunde: VektorPlan GmbH (Düsseldorf)  |  Auftragnehmer: NextLevel IT Solutions GmbH (Köln)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4389120"/>
            <a:ext cx="9966960" cy="1463040"/>
          </a:xfrm>
          <a:prstGeom prst="roundRect">
            <a:avLst/>
          </a:prstGeom>
          <a:solidFill>
            <a:srgbClr val="2F5597"/>
          </a:solidFill>
          <a:ln w="19050">
            <a:solidFill>
              <a:srgbClr val="8EA9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526280"/>
            <a:ext cx="96012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DEEBF7"/>
                </a:solidFill>
                <a:latin typeface="Calibri"/>
              </a:defRPr>
            </a:pPr>
            <a:r>
              <a:t>Projektteam NextLevel IT Solutions:</a:t>
            </a:r>
          </a:p>
          <a:p>
            <a:pPr>
              <a:defRPr sz="1200">
                <a:solidFill>
                  <a:srgbClr val="FFFFFF"/>
                </a:solidFill>
                <a:latin typeface="Calibri"/>
              </a:defRPr>
            </a:pPr>
            <a:r>
              <a:t>Jan Kluth (Projektleiter)  •  Mathias Vonau (Techn. Planer)  •  Marian Bolecke (Beschaffung &amp; Kalkulation)</a:t>
            </a:r>
            <a:br/>
            <a:r>
              <a:t>Marco Schmidt (Qualitätsmanagement &amp; Logistik)  •  Siyar (Berechnungen &amp; Dokumentation)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4C6E7"/>
                </a:solidFill>
                <a:latin typeface="Calibri"/>
              </a:defRPr>
            </a:pPr>
            <a:r>
              <a:t>PROJEKTÜBERSICHT</a:t>
            </a:r>
          </a:p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Agenda unseres Projektablaufs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Handlungsaufgabe 2026  •  NextLevel IT Solutions GmbH  •  Kunde: VektorPlan GmbH             Folie 2 von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658368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16736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97D"/>
                </a:solidFill>
                <a:latin typeface="Calibri"/>
              </a:defRPr>
            </a:pPr>
            <a:r>
              <a:t>1. Projektauftrag &amp; Kundenbedarf</a:t>
            </a:r>
          </a:p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Ausgangslage der VektorPlan GmbH und geforderte 16 Arbeitsplätze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93391"/>
            <a:ext cx="5212080" cy="658368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29967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97D"/>
                </a:solidFill>
                <a:latin typeface="Calibri"/>
              </a:defRPr>
            </a:pPr>
            <a:r>
              <a:t>2. Team &amp; Rollenverteilung</a:t>
            </a:r>
          </a:p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Verteilung der Aufgabenbereiche auf unser 5-köpfiges Projektteam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06624"/>
            <a:ext cx="5212080" cy="658368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97D"/>
                </a:solidFill>
                <a:latin typeface="Calibri"/>
              </a:defRPr>
            </a:pPr>
            <a:r>
              <a:t>3. Projektstrukturplan (PSP)</a:t>
            </a:r>
          </a:p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Objektorientierte Gliederung nach DIN 69901 in 5 Hauptbereiche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19856"/>
            <a:ext cx="5212080" cy="658368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456432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97D"/>
                </a:solidFill>
                <a:latin typeface="Calibri"/>
              </a:defRPr>
            </a:pPr>
            <a:r>
              <a:t>4. Netzplan &amp; Kritischer Pfad</a:t>
            </a:r>
          </a:p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Termin- und Pufferberechnung nach DIN 69900 (Dauer: 46 Arbeitstage)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33087"/>
            <a:ext cx="5212080" cy="658368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169663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97D"/>
                </a:solidFill>
                <a:latin typeface="Calibri"/>
              </a:defRPr>
            </a:pPr>
            <a:r>
              <a:t>5. Hardware- &amp; Software-Spezifikationen</a:t>
            </a:r>
          </a:p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Unterschiede Standard-Büro vs. High-End CAD/BIM-Workstations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46320"/>
            <a:ext cx="5212080" cy="658368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82896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97D"/>
                </a:solidFill>
                <a:latin typeface="Calibri"/>
              </a:defRPr>
            </a:pPr>
            <a:r>
              <a:t>6. Marktrecherche &amp; Produktauswahl</a:t>
            </a:r>
          </a:p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Reale Produkte namhafter Hersteller aus dem deutschen IT-Fachhandel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59552"/>
            <a:ext cx="5212080" cy="658368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596128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97D"/>
                </a:solidFill>
                <a:latin typeface="Calibri"/>
              </a:defRPr>
            </a:pPr>
            <a:r>
              <a:t>7. Nutzwertanalysen (Workstation &amp; Monitor)</a:t>
            </a:r>
          </a:p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Entscheidungsmatrizen: Lenovo ThinkStation P3 &amp; Dell UltraSharp U2724D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280160"/>
            <a:ext cx="5212080" cy="658368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316736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97D"/>
                </a:solidFill>
                <a:latin typeface="Calibri"/>
              </a:defRPr>
            </a:pPr>
            <a:r>
              <a:t>8. Preiskalkulation &amp; Kaufmännisches Angebot</a:t>
            </a:r>
          </a:p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Vorwärtskalkulation (Handlungskosten, Gewinn, Skonto) &amp; Gesamtsumme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993391"/>
            <a:ext cx="5212080" cy="658368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2029967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97D"/>
                </a:solidFill>
                <a:latin typeface="Calibri"/>
              </a:defRPr>
            </a:pPr>
            <a:r>
              <a:t>9. Kundenberechnungen (Aufgabe B)</a:t>
            </a:r>
          </a:p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Speicherplatzbedarf für Q1 (445 GiB) und jährliche Stromkosten (1.771 €)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706624"/>
            <a:ext cx="5212080" cy="658368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27432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97D"/>
                </a:solidFill>
                <a:latin typeface="Calibri"/>
              </a:defRPr>
            </a:pPr>
            <a:r>
              <a:t>10. Wareneingangsprüfung &amp; Mängelrüge</a:t>
            </a:r>
          </a:p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Rechtliche Schritte nach § 377 HGB bei Transportschaden &amp; Falschlieferung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419856"/>
            <a:ext cx="5212080" cy="658368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3456432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97D"/>
                </a:solidFill>
                <a:latin typeface="Calibri"/>
              </a:defRPr>
            </a:pPr>
            <a:r>
              <a:t>11. Umweltgerechte Altdrucker-Entsorgung</a:t>
            </a:r>
          </a:p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ElektroG, WEEE-Richtlinie, Toner-Recycling und BSI-konforme Datenlöschung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133087"/>
            <a:ext cx="5212080" cy="658368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4169663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97D"/>
                </a:solidFill>
                <a:latin typeface="Calibri"/>
              </a:defRPr>
            </a:pPr>
            <a:r>
              <a:t>12. Rollout, Montage &amp; Abnahme vor Ort</a:t>
            </a:r>
          </a:p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Checkliste nach Bildschirmarbeitsverordnung (ArbStättV) &amp; Abnahmeprotokoll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846320"/>
            <a:ext cx="5212080" cy="658368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4882896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97D"/>
                </a:solidFill>
                <a:latin typeface="Calibri"/>
              </a:defRPr>
            </a:pPr>
            <a:r>
              <a:t>13. Projektergebnis: Soll-Ist-Vergleich</a:t>
            </a:r>
          </a:p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Erfolgreiche Einhaltung von Terminvorgaben, Budgetrahmen und Qualitätszielen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559552"/>
            <a:ext cx="5212080" cy="658368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5596128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497D"/>
                </a:solidFill>
                <a:latin typeface="Calibri"/>
              </a:defRPr>
            </a:pPr>
            <a:r>
              <a:t>14. Lessons Learned &amp; Fazit</a:t>
            </a:r>
          </a:p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Was lief gut im Team und welche Erfahrungen nehmen wir für die Zukunft mit?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4C6E7"/>
                </a:solidFill>
                <a:latin typeface="Calibri"/>
              </a:defRPr>
            </a:pPr>
            <a:r>
              <a:t>PROJEKTAUFTRAG</a:t>
            </a:r>
          </a:p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Ausgangssituation der VektorPlan GmbH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Handlungsaufgabe 2026  •  NextLevel IT Solutions GmbH  •  Kunde: VektorPlan GmbH             Folie 3 von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F497D"/>
                </a:solidFill>
                <a:latin typeface="Calibri"/>
              </a:defRPr>
            </a:pPr>
            <a:r>
              <a:t>Die Ausgangslage beim Kunden:</a:t>
            </a:r>
          </a:p>
          <a:p>
            <a:pPr>
              <a:spcAft>
                <a:spcPts val="800"/>
              </a:spcAft>
              <a:defRPr sz="1050">
                <a:solidFill>
                  <a:srgbClr val="262626"/>
                </a:solidFill>
                <a:latin typeface="Calibri"/>
              </a:defRPr>
            </a:pPr>
            <a:r>
              <a:t>• Kunde: VektorPlan GmbH ist eine wachsende Architektur- und Ingenieurgesellschaft.</a:t>
            </a:r>
          </a:p>
          <a:p>
            <a:pPr>
              <a:spcAft>
                <a:spcPts val="800"/>
              </a:spcAft>
              <a:defRPr sz="1050">
                <a:solidFill>
                  <a:srgbClr val="262626"/>
                </a:solidFill>
                <a:latin typeface="Calibri"/>
              </a:defRPr>
            </a:pPr>
            <a:r>
              <a:t>• Anlass: Die Büroräume werden modernisiert. Es entstehen zwei neue Großraumbüros sowie eine zentrale Plotter- und Scanstation.</a:t>
            </a:r>
          </a:p>
          <a:p>
            <a:pPr>
              <a:spcAft>
                <a:spcPts val="800"/>
              </a:spcAft>
              <a:defRPr sz="1050">
                <a:solidFill>
                  <a:srgbClr val="262626"/>
                </a:solidFill>
                <a:latin typeface="Calibri"/>
              </a:defRPr>
            </a:pPr>
            <a:r>
              <a:t>• Problem der alten IT: Veraltete Hardware führte zu langen Ladezeiten bei großen CAD-Modellen und häufigen Systemabstürzen.</a:t>
            </a:r>
          </a:p>
          <a:p>
            <a:pPr>
              <a:spcAft>
                <a:spcPts val="800"/>
              </a:spcAft>
              <a:defRPr sz="1050">
                <a:solidFill>
                  <a:srgbClr val="262626"/>
                </a:solidFill>
                <a:latin typeface="Calibri"/>
              </a:defRPr>
            </a:pPr>
            <a:r>
              <a:t>• Ergonomie-Anspruch: Für ermüdungsfreies Arbeiten wurden ausdrücklich ergonomische Arbeitsplätze mit je zwei Bildschirmen gefordert.</a:t>
            </a:r>
          </a:p>
          <a:p>
            <a:pPr>
              <a:spcAft>
                <a:spcPts val="800"/>
              </a:spcAft>
              <a:defRPr sz="1050">
                <a:solidFill>
                  <a:srgbClr val="262626"/>
                </a:solidFill>
                <a:latin typeface="Calibri"/>
              </a:defRPr>
            </a:pPr>
            <a:r>
              <a:t>• Sicherheitskonzept: Tägliche Zwischensicherung auf externe SSDs sowie zentrale Abendsynchronisation auf den Firmen-Fileserver.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F497D"/>
                </a:solidFill>
                <a:latin typeface="Calibri"/>
              </a:defRPr>
            </a:pPr>
            <a:r>
              <a:t>Der Auftrag an NextLevel IT Solutions:</a:t>
            </a:r>
          </a:p>
          <a:p>
            <a:pPr>
              <a:spcAft>
                <a:spcPts val="600"/>
              </a:spcAft>
              <a:defRPr sz="1050">
                <a:solidFill>
                  <a:srgbClr val="262626"/>
                </a:solidFill>
                <a:latin typeface="Calibri"/>
              </a:defRPr>
            </a:pPr>
            <a:r>
              <a:t>✔ 12 Standard-Büroarbeitsplätze für Bauleitung, Ausschreibung und Office.</a:t>
            </a:r>
          </a:p>
          <a:p>
            <a:pPr>
              <a:spcAft>
                <a:spcPts val="600"/>
              </a:spcAft>
              <a:defRPr sz="1050">
                <a:solidFill>
                  <a:srgbClr val="262626"/>
                </a:solidFill>
                <a:latin typeface="Calibri"/>
              </a:defRPr>
            </a:pPr>
            <a:r>
              <a:t>✔ 4 High-End CAD-Workstations mit Profi-Grafikkarten für 3D-BIM &amp; Rendering.</a:t>
            </a:r>
          </a:p>
          <a:p>
            <a:pPr>
              <a:spcAft>
                <a:spcPts val="600"/>
              </a:spcAft>
              <a:defRPr sz="1050">
                <a:solidFill>
                  <a:srgbClr val="262626"/>
                </a:solidFill>
                <a:latin typeface="Calibri"/>
              </a:defRPr>
            </a:pPr>
            <a:r>
              <a:t>✔ 32 ergonomische 27'' WQHD-Monitore (höhenverstellbar, Pivot-Funktion).</a:t>
            </a:r>
          </a:p>
          <a:p>
            <a:pPr>
              <a:spcAft>
                <a:spcPts val="600"/>
              </a:spcAft>
              <a:defRPr sz="1050">
                <a:solidFill>
                  <a:srgbClr val="262626"/>
                </a:solidFill>
                <a:latin typeface="Calibri"/>
              </a:defRPr>
            </a:pPr>
            <a:r>
              <a:t>✔ 16 kabellose Tastatur-Maus-Sets (mit verschlüsselter Funkübertragung).</a:t>
            </a:r>
          </a:p>
          <a:p>
            <a:pPr>
              <a:spcAft>
                <a:spcPts val="600"/>
              </a:spcAft>
              <a:defRPr sz="1050">
                <a:solidFill>
                  <a:srgbClr val="262626"/>
                </a:solidFill>
                <a:latin typeface="Calibri"/>
              </a:defRPr>
            </a:pPr>
            <a:r>
              <a:t>✔ 16 externe SSDs (1TB) zur schnellen lokalen Zwischensicherung.</a:t>
            </a:r>
          </a:p>
          <a:p>
            <a:pPr>
              <a:spcAft>
                <a:spcPts val="600"/>
              </a:spcAft>
              <a:defRPr sz="1050">
                <a:solidFill>
                  <a:srgbClr val="262626"/>
                </a:solidFill>
                <a:latin typeface="Calibri"/>
              </a:defRPr>
            </a:pPr>
            <a:r>
              <a:t>✔ 1 zentraler Farblaser-Multifunktionsdrucker für Pläne bis Format DIN A3.</a:t>
            </a:r>
          </a:p>
          <a:p>
            <a:pPr>
              <a:spcAft>
                <a:spcPts val="600"/>
              </a:spcAft>
              <a:defRPr sz="1050">
                <a:solidFill>
                  <a:srgbClr val="262626"/>
                </a:solidFill>
                <a:latin typeface="Calibri"/>
              </a:defRPr>
            </a:pPr>
            <a:r>
              <a:t>✔ Fachgerechte Entsorgung des alten Schwarzweiß-Druckers gem. ElektroG.</a:t>
            </a:r>
          </a:p>
          <a:p>
            <a:pPr>
              <a:spcAft>
                <a:spcPts val="600"/>
              </a:spcAft>
              <a:defRPr sz="1050">
                <a:solidFill>
                  <a:srgbClr val="262626"/>
                </a:solidFill>
                <a:latin typeface="Calibri"/>
              </a:defRPr>
            </a:pPr>
            <a:r>
              <a:t>✔ Komplettservice: Beratung, Einkauf, Vorinstallation, Aufbau &amp; Abnahme.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4C6E7"/>
                </a:solidFill>
                <a:latin typeface="Calibri"/>
              </a:defRPr>
            </a:pPr>
            <a:r>
              <a:t>ORGANISATION</a:t>
            </a:r>
          </a:p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Unser Team und die Aufgabenverteilung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Handlungsaufgabe 2026  •  NextLevel IT Solutions GmbH  •  Kunde: VektorPlan GmbH             Folie 4 von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0574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2057400" cy="8229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44752"/>
            <a:ext cx="2057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Jan Kluth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10512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B4C6E7"/>
                </a:solidFill>
                <a:latin typeface="Calibri"/>
              </a:defRPr>
            </a:pPr>
            <a:r>
              <a:t>Projektleiter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31720"/>
            <a:ext cx="183794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Gesamtkoordination &amp; Leitung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Termin- &amp; Ablaufüberwachung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Risikoanalyse &amp; Abnahme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Abschlusspräsentation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7791" y="1371600"/>
            <a:ext cx="20574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07791" y="1371600"/>
            <a:ext cx="2057400" cy="82296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1" y="1444752"/>
            <a:ext cx="2057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497D"/>
                </a:solidFill>
                <a:latin typeface="Calibri"/>
              </a:defRPr>
            </a:pPr>
            <a:r>
              <a:t>Mathias Vonau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7791" y="1810512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2F5597"/>
                </a:solidFill>
                <a:latin typeface="Calibri"/>
              </a:defRPr>
            </a:pPr>
            <a:r>
              <a:t>Technischer Planer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19" y="2331720"/>
            <a:ext cx="183794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Anforderungsanalyse &amp; Lastenheft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Hardware-Spezifikationen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Vorinstallation (Staging)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Ergonomie-Montage vor Ort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4064" y="1371600"/>
            <a:ext cx="20574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84064" y="1371600"/>
            <a:ext cx="2057400" cy="82296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84064" y="1444752"/>
            <a:ext cx="2057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497D"/>
                </a:solidFill>
                <a:latin typeface="Calibri"/>
              </a:defRPr>
            </a:pPr>
            <a:r>
              <a:t>Marian Bolecke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4064" y="1810512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2F5597"/>
                </a:solidFill>
                <a:latin typeface="Calibri"/>
              </a:defRPr>
            </a:pPr>
            <a:r>
              <a:t>Beschaffung &amp; Kalkulation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92" y="2331720"/>
            <a:ext cx="183794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Reale Marktrecherche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Nutzwertanalysen (PCs / TFTs)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Vorwärtskalkulation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Angebotserstellung DIN 5008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0336" y="1371600"/>
            <a:ext cx="20574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60336" y="1371600"/>
            <a:ext cx="2057400" cy="82296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60336" y="1444752"/>
            <a:ext cx="2057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497D"/>
                </a:solidFill>
                <a:latin typeface="Calibri"/>
              </a:defRPr>
            </a:pPr>
            <a:r>
              <a:t>Marco Schmidt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0336" y="1810512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2F5597"/>
                </a:solidFill>
                <a:latin typeface="Calibri"/>
              </a:defRPr>
            </a:pPr>
            <a:r>
              <a:t>Qualitätsmanagement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0064" y="2331720"/>
            <a:ext cx="183794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Wareneingangsprüfung (§ 377 HGB)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Kaufmännische Mängelrüge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Entsorgungskonzept ElektroG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Datenschutz &amp; BSI-Löschung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36608" y="1371600"/>
            <a:ext cx="20574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36608" y="1371600"/>
            <a:ext cx="2057400" cy="82296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36608" y="1444752"/>
            <a:ext cx="2057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497D"/>
                </a:solidFill>
                <a:latin typeface="Calibri"/>
              </a:defRPr>
            </a:pPr>
            <a:r>
              <a:t>Siyar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36608" y="1810512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2F5597"/>
                </a:solidFill>
                <a:latin typeface="Calibri"/>
              </a:defRPr>
            </a:pPr>
            <a:r>
              <a:t>Berechnung &amp; Doku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6336" y="2331720"/>
            <a:ext cx="183794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Server-Speicherbedarf (445 GiB)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Energiekosten-Kalkulation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Checklisten &amp; Protokolle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Qualitätssicherung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4C6E7"/>
                </a:solidFill>
                <a:latin typeface="Calibri"/>
              </a:defRPr>
            </a:pPr>
            <a:r>
              <a:t>PROJEKTORGANISATION</a:t>
            </a:r>
          </a:p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Projektstrukturplan nach DIN 69901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Handlungsaufgabe 2026  •  NextLevel IT Solutions GmbH  •  Kunde: VektorPlan GmbH             Folie 5 von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52190" y="1280160"/>
            <a:ext cx="5486400" cy="685800"/>
          </a:xfrm>
          <a:prstGeom prst="roundRect">
            <a:avLst/>
          </a:prstGeom>
          <a:solidFill>
            <a:srgbClr val="1F497D"/>
          </a:solidFill>
          <a:ln w="19050">
            <a:solidFill>
              <a:srgbClr val="8EA9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1.0 IT-Ausstattung Planungs- und Konstruktionsbüro</a:t>
            </a:r>
          </a:p>
          <a:p>
            <a:pPr algn="ctr">
              <a:defRPr sz="1000">
                <a:solidFill>
                  <a:srgbClr val="DEEBF7"/>
                </a:solidFill>
                <a:latin typeface="Calibri"/>
              </a:defRPr>
            </a:pPr>
            <a:r>
              <a:t>Projektleiter: Jan Kluth  |  NextLevel IT Solutions GmbH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20574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2057400" cy="685800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1.1 Hardware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42032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DEEBF7"/>
                </a:solidFill>
                <a:latin typeface="Calibri"/>
              </a:defRPr>
            </a:pPr>
            <a:r>
              <a:t>Leitung: Marian Bolecke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1874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1.1.1 12x Standard-PCs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1.1.2 4x CAD-Workstations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1.1.3 32x Monitore (WQHD)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1.1.4 16x Funk-Eingabesets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1.1.5 16x Externe 1TB SSDs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1.1.6 1x Farblaser-MFP A3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07791" y="2194560"/>
            <a:ext cx="20574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07791" y="2194560"/>
            <a:ext cx="2057400" cy="685800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07791" y="2240280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1.2 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7791" y="2542032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DEEBF7"/>
                </a:solidFill>
                <a:latin typeface="Calibri"/>
              </a:defRPr>
            </a:pPr>
            <a:r>
              <a:t>Leitung: Mathias Vonau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1" y="2971800"/>
            <a:ext cx="1874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1.2.1 16x Windows 11 Pro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1.2.2 16x M365 Business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1.2.3 16x Adobe Acrobat Pro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1.2.4 16x ESET PROTECT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1.2.5 Staging-Images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1.2.6 Lizenzdokumentation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4064" y="2194560"/>
            <a:ext cx="20574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84064" y="2194560"/>
            <a:ext cx="2057400" cy="685800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84064" y="2240280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1.3 Netzwerk/Server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064" y="2542032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DEEBF7"/>
                </a:solidFill>
                <a:latin typeface="Calibri"/>
              </a:defRPr>
            </a:pPr>
            <a:r>
              <a:t>Leitung: Siyar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5504" y="2971800"/>
            <a:ext cx="1874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1.3.1 16x Cat.6A Patchkabel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1.3.2 Serverbedarf (445 GiB)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1.3.3 Stromkosten (1.771 €)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1.3.4 Switchport-Planung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1.3.5 Server-Sync Test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1.3.6 Netzlaufwerke Setup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0336" y="2194560"/>
            <a:ext cx="20574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0336" y="2194560"/>
            <a:ext cx="2057400" cy="685800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0336" y="2240280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1.4 QM &amp; Logistik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0336" y="2542032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DEEBF7"/>
                </a:solidFill>
                <a:latin typeface="Calibri"/>
              </a:defRPr>
            </a:pPr>
            <a:r>
              <a:t>Leitung: Marco Schmidt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1776" y="2971800"/>
            <a:ext cx="1874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1.4.1 Wareneingang § 377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1.4.2 Mängelrüge Schreiben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1.4.3 Altdrucker-Entsorgung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1.4.4 Datenschutz &amp; BSI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1.4.5 Entsorgungsnachweis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1.4.6 RMA-Austausch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36608" y="2194560"/>
            <a:ext cx="20574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36608" y="2194560"/>
            <a:ext cx="2057400" cy="685800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36608" y="2240280"/>
            <a:ext cx="2057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1.5 Rollout &amp;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36608" y="2542032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DEEBF7"/>
                </a:solidFill>
                <a:latin typeface="Calibri"/>
              </a:defRPr>
            </a:pPr>
            <a:r>
              <a:t>Leitung: Jan Kluth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28048" y="2971800"/>
            <a:ext cx="1874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1.5.1 Staging im IT-Labor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1.5.2 Vor-Ort-Montage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1.5.3 End-to-End Tests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1.5.4 Abnahmeprotokoll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1.5.5 Zeit-/Kostenkontrolle</a:t>
            </a:r>
          </a:p>
          <a:p>
            <a:pPr>
              <a:spcAft>
                <a:spcPts val="4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1.5.6 Lessons Learned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4C6E7"/>
                </a:solidFill>
                <a:latin typeface="Calibri"/>
              </a:defRPr>
            </a:pPr>
            <a:r>
              <a:t>ABLAUFPLANUNG</a:t>
            </a:r>
          </a:p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Netzplan und Kritischer Pfad nach DIN 69900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Handlungsaufgabe 2026  •  NextLevel IT Solutions GmbH  •  Kunde: VektorPlan GmbH             Folie 6 von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10698480" cy="502920"/>
          </a:xfrm>
          <a:prstGeom prst="roundRect">
            <a:avLst/>
          </a:prstGeom>
          <a:solidFill>
            <a:srgbClr val="FCE4D6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9C0006"/>
                </a:solidFill>
                <a:latin typeface="Calibri"/>
              </a:defRPr>
            </a:pPr>
            <a:r>
              <a:t>Kritischer Pfad (rot): V1 ➔ V2 ➔ V3 ➔ V4 ➔ V5 ➔ V6 ➔ V7 ➔ V8 ➔ V9 ➔ V11 ➔ V12 ➔ V13 ➔ V14  |  Gesamtdauer: 46 Arbeitstage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691640" cy="1280160"/>
          </a:xfrm>
          <a:prstGeom prst="roundRect">
            <a:avLst/>
          </a:prstGeom>
          <a:solidFill>
            <a:srgbClr val="FEF2ED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93392"/>
            <a:ext cx="154533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9C0006"/>
                </a:solidFill>
                <a:latin typeface="Calibri"/>
              </a:defRPr>
            </a:pPr>
            <a:r>
              <a:t>V1: Kick-off</a:t>
            </a:r>
          </a:p>
          <a:p>
            <a:pPr>
              <a:defRPr sz="950" b="1">
                <a:solidFill>
                  <a:srgbClr val="262626"/>
                </a:solidFill>
                <a:latin typeface="Calibri"/>
              </a:defRPr>
            </a:pPr>
            <a:r>
              <a:t>Dauer: 2 Tage</a:t>
            </a:r>
          </a:p>
          <a:p>
            <a:pPr>
              <a:defRPr sz="850">
                <a:solidFill>
                  <a:srgbClr val="595959"/>
                </a:solidFill>
                <a:latin typeface="Calibri"/>
              </a:defRPr>
            </a:pPr>
            <a:r>
              <a:t>FAZ 0 | FEZ 2</a:t>
            </a:r>
          </a:p>
          <a:p>
            <a:pPr>
              <a:defRPr sz="850" b="1">
                <a:solidFill>
                  <a:srgbClr val="C00000"/>
                </a:solidFill>
                <a:latin typeface="Calibri"/>
              </a:defRPr>
            </a:pPr>
            <a:r>
              <a:t>GP: 0 (Kritisch)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42032" y="1920240"/>
            <a:ext cx="1691640" cy="1280160"/>
          </a:xfrm>
          <a:prstGeom prst="roundRect">
            <a:avLst/>
          </a:prstGeom>
          <a:solidFill>
            <a:srgbClr val="FEF2ED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15184" y="1993392"/>
            <a:ext cx="154533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9C0006"/>
                </a:solidFill>
                <a:latin typeface="Calibri"/>
              </a:defRPr>
            </a:pPr>
            <a:r>
              <a:t>V2: Lastenheft</a:t>
            </a:r>
          </a:p>
          <a:p>
            <a:pPr>
              <a:defRPr sz="950" b="1">
                <a:solidFill>
                  <a:srgbClr val="262626"/>
                </a:solidFill>
                <a:latin typeface="Calibri"/>
              </a:defRPr>
            </a:pPr>
            <a:r>
              <a:t>Dauer: 5 Tage</a:t>
            </a:r>
          </a:p>
          <a:p>
            <a:pPr>
              <a:defRPr sz="850">
                <a:solidFill>
                  <a:srgbClr val="595959"/>
                </a:solidFill>
                <a:latin typeface="Calibri"/>
              </a:defRPr>
            </a:pPr>
            <a:r>
              <a:t>FAZ 2 | FEZ 7</a:t>
            </a:r>
          </a:p>
          <a:p>
            <a:pPr>
              <a:defRPr sz="850" b="1">
                <a:solidFill>
                  <a:srgbClr val="C00000"/>
                </a:solidFill>
                <a:latin typeface="Calibri"/>
              </a:defRPr>
            </a:pPr>
            <a:r>
              <a:t>GP: 0 (Kritisch)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920240"/>
            <a:ext cx="1691640" cy="1280160"/>
          </a:xfrm>
          <a:prstGeom prst="roundRect">
            <a:avLst/>
          </a:prstGeom>
          <a:solidFill>
            <a:srgbClr val="FEF2ED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5696" y="1993392"/>
            <a:ext cx="154533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9C0006"/>
                </a:solidFill>
                <a:latin typeface="Calibri"/>
              </a:defRPr>
            </a:pPr>
            <a:r>
              <a:t>V3: Recherche</a:t>
            </a:r>
          </a:p>
          <a:p>
            <a:pPr>
              <a:defRPr sz="950" b="1">
                <a:solidFill>
                  <a:srgbClr val="262626"/>
                </a:solidFill>
                <a:latin typeface="Calibri"/>
              </a:defRPr>
            </a:pPr>
            <a:r>
              <a:t>Dauer: 5 Tage</a:t>
            </a:r>
          </a:p>
          <a:p>
            <a:pPr>
              <a:defRPr sz="850">
                <a:solidFill>
                  <a:srgbClr val="595959"/>
                </a:solidFill>
                <a:latin typeface="Calibri"/>
              </a:defRPr>
            </a:pPr>
            <a:r>
              <a:t>FAZ 7 | FEZ 12</a:t>
            </a:r>
          </a:p>
          <a:p>
            <a:pPr>
              <a:defRPr sz="850" b="1">
                <a:solidFill>
                  <a:srgbClr val="C00000"/>
                </a:solidFill>
                <a:latin typeface="Calibri"/>
              </a:defRPr>
            </a:pPr>
            <a:r>
              <a:t>GP: 0 (Kritisch)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055" y="1920240"/>
            <a:ext cx="1691640" cy="1280160"/>
          </a:xfrm>
          <a:prstGeom prst="roundRect">
            <a:avLst/>
          </a:prstGeom>
          <a:solidFill>
            <a:srgbClr val="FEF2ED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7" y="1993392"/>
            <a:ext cx="154533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9C0006"/>
                </a:solidFill>
                <a:latin typeface="Calibri"/>
              </a:defRPr>
            </a:pPr>
            <a:r>
              <a:t>V4: Nutzwert</a:t>
            </a:r>
          </a:p>
          <a:p>
            <a:pPr>
              <a:defRPr sz="950" b="1">
                <a:solidFill>
                  <a:srgbClr val="262626"/>
                </a:solidFill>
                <a:latin typeface="Calibri"/>
              </a:defRPr>
            </a:pPr>
            <a:r>
              <a:t>Dauer: 3 Tage</a:t>
            </a:r>
          </a:p>
          <a:p>
            <a:pPr>
              <a:defRPr sz="850">
                <a:solidFill>
                  <a:srgbClr val="595959"/>
                </a:solidFill>
                <a:latin typeface="Calibri"/>
              </a:defRPr>
            </a:pPr>
            <a:r>
              <a:t>FAZ 12 | FEZ 15</a:t>
            </a:r>
          </a:p>
          <a:p>
            <a:pPr>
              <a:defRPr sz="850" b="1">
                <a:solidFill>
                  <a:srgbClr val="C00000"/>
                </a:solidFill>
                <a:latin typeface="Calibri"/>
              </a:defRPr>
            </a:pPr>
            <a:r>
              <a:t>GP: 0 (Kritisch)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1920240"/>
            <a:ext cx="1691640" cy="1280160"/>
          </a:xfrm>
          <a:prstGeom prst="roundRect">
            <a:avLst/>
          </a:prstGeom>
          <a:solidFill>
            <a:srgbClr val="FEF2ED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1993392"/>
            <a:ext cx="154533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9C0006"/>
                </a:solidFill>
                <a:latin typeface="Calibri"/>
              </a:defRPr>
            </a:pPr>
            <a:r>
              <a:t>V5: Angebot</a:t>
            </a:r>
          </a:p>
          <a:p>
            <a:pPr>
              <a:defRPr sz="950" b="1">
                <a:solidFill>
                  <a:srgbClr val="262626"/>
                </a:solidFill>
                <a:latin typeface="Calibri"/>
              </a:defRPr>
            </a:pPr>
            <a:r>
              <a:t>Dauer: 4 Tage</a:t>
            </a:r>
          </a:p>
          <a:p>
            <a:pPr>
              <a:defRPr sz="850">
                <a:solidFill>
                  <a:srgbClr val="595959"/>
                </a:solidFill>
                <a:latin typeface="Calibri"/>
              </a:defRPr>
            </a:pPr>
            <a:r>
              <a:t>FAZ 15 | FEZ 19</a:t>
            </a:r>
          </a:p>
          <a:p>
            <a:pPr>
              <a:defRPr sz="850" b="1">
                <a:solidFill>
                  <a:srgbClr val="C00000"/>
                </a:solidFill>
                <a:latin typeface="Calibri"/>
              </a:defRPr>
            </a:pPr>
            <a:r>
              <a:t>GP: 0 (Kritisch)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84080" y="1920240"/>
            <a:ext cx="1691640" cy="1280160"/>
          </a:xfrm>
          <a:prstGeom prst="roundRect">
            <a:avLst/>
          </a:prstGeom>
          <a:solidFill>
            <a:srgbClr val="FEF2ED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57232" y="1993392"/>
            <a:ext cx="154533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9C0006"/>
                </a:solidFill>
                <a:latin typeface="Calibri"/>
              </a:defRPr>
            </a:pPr>
            <a:r>
              <a:t>V6: Freigabe</a:t>
            </a:r>
          </a:p>
          <a:p>
            <a:pPr>
              <a:defRPr sz="950" b="1">
                <a:solidFill>
                  <a:srgbClr val="262626"/>
                </a:solidFill>
                <a:latin typeface="Calibri"/>
              </a:defRPr>
            </a:pPr>
            <a:r>
              <a:t>Dauer: 3 Tage</a:t>
            </a:r>
          </a:p>
          <a:p>
            <a:pPr>
              <a:defRPr sz="850">
                <a:solidFill>
                  <a:srgbClr val="595959"/>
                </a:solidFill>
                <a:latin typeface="Calibri"/>
              </a:defRPr>
            </a:pPr>
            <a:r>
              <a:t>FAZ 19 | FEZ 22</a:t>
            </a:r>
          </a:p>
          <a:p>
            <a:pPr>
              <a:defRPr sz="850" b="1">
                <a:solidFill>
                  <a:srgbClr val="C00000"/>
                </a:solidFill>
                <a:latin typeface="Calibri"/>
              </a:defRPr>
            </a:pPr>
            <a:r>
              <a:t>GP: 0 (Kritisch)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566160"/>
            <a:ext cx="1691640" cy="1280160"/>
          </a:xfrm>
          <a:prstGeom prst="roundRect">
            <a:avLst/>
          </a:prstGeom>
          <a:solidFill>
            <a:srgbClr val="FEF2ED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639312"/>
            <a:ext cx="154533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9C0006"/>
                </a:solidFill>
                <a:latin typeface="Calibri"/>
              </a:defRPr>
            </a:pPr>
            <a:r>
              <a:t>V7: Beschaffung</a:t>
            </a:r>
          </a:p>
          <a:p>
            <a:pPr>
              <a:defRPr sz="950" b="1">
                <a:solidFill>
                  <a:srgbClr val="262626"/>
                </a:solidFill>
                <a:latin typeface="Calibri"/>
              </a:defRPr>
            </a:pPr>
            <a:r>
              <a:t>Dauer: 10 Tage</a:t>
            </a:r>
          </a:p>
          <a:p>
            <a:pPr>
              <a:defRPr sz="850">
                <a:solidFill>
                  <a:srgbClr val="595959"/>
                </a:solidFill>
                <a:latin typeface="Calibri"/>
              </a:defRPr>
            </a:pPr>
            <a:r>
              <a:t>FAZ 22 | FEZ 32</a:t>
            </a:r>
          </a:p>
          <a:p>
            <a:pPr>
              <a:defRPr sz="850" b="1">
                <a:solidFill>
                  <a:srgbClr val="C00000"/>
                </a:solidFill>
                <a:latin typeface="Calibri"/>
              </a:defRPr>
            </a:pPr>
            <a:r>
              <a:t>GP: 0 (Kritisch)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2032" y="3566160"/>
            <a:ext cx="1691640" cy="1280160"/>
          </a:xfrm>
          <a:prstGeom prst="roundRect">
            <a:avLst/>
          </a:prstGeom>
          <a:solidFill>
            <a:srgbClr val="FEF2ED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15184" y="3639312"/>
            <a:ext cx="154533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9C0006"/>
                </a:solidFill>
                <a:latin typeface="Calibri"/>
              </a:defRPr>
            </a:pPr>
            <a:r>
              <a:t>V8: Wareneingang</a:t>
            </a:r>
          </a:p>
          <a:p>
            <a:pPr>
              <a:defRPr sz="950" b="1">
                <a:solidFill>
                  <a:srgbClr val="262626"/>
                </a:solidFill>
                <a:latin typeface="Calibri"/>
              </a:defRPr>
            </a:pPr>
            <a:r>
              <a:t>Dauer: 2 Tage</a:t>
            </a:r>
          </a:p>
          <a:p>
            <a:pPr>
              <a:defRPr sz="850">
                <a:solidFill>
                  <a:srgbClr val="595959"/>
                </a:solidFill>
                <a:latin typeface="Calibri"/>
              </a:defRPr>
            </a:pPr>
            <a:r>
              <a:t>FAZ 32 | FEZ 34</a:t>
            </a:r>
          </a:p>
          <a:p>
            <a:pPr>
              <a:defRPr sz="850" b="1">
                <a:solidFill>
                  <a:srgbClr val="C00000"/>
                </a:solidFill>
                <a:latin typeface="Calibri"/>
              </a:defRPr>
            </a:pPr>
            <a:r>
              <a:t>GP: 0 (Kritisch)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2544" y="3566160"/>
            <a:ext cx="1691640" cy="1280160"/>
          </a:xfrm>
          <a:prstGeom prst="roundRect">
            <a:avLst/>
          </a:prstGeom>
          <a:solidFill>
            <a:srgbClr val="FEF2ED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25696" y="3639312"/>
            <a:ext cx="154533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9C0006"/>
                </a:solidFill>
                <a:latin typeface="Calibri"/>
              </a:defRPr>
            </a:pPr>
            <a:r>
              <a:t>V9: Staging</a:t>
            </a:r>
          </a:p>
          <a:p>
            <a:pPr>
              <a:defRPr sz="950" b="1">
                <a:solidFill>
                  <a:srgbClr val="262626"/>
                </a:solidFill>
                <a:latin typeface="Calibri"/>
              </a:defRPr>
            </a:pPr>
            <a:r>
              <a:t>Dauer: 5 Tage</a:t>
            </a:r>
          </a:p>
          <a:p>
            <a:pPr>
              <a:defRPr sz="850">
                <a:solidFill>
                  <a:srgbClr val="595959"/>
                </a:solidFill>
                <a:latin typeface="Calibri"/>
              </a:defRPr>
            </a:pPr>
            <a:r>
              <a:t>FAZ 34 | FEZ 39</a:t>
            </a:r>
          </a:p>
          <a:p>
            <a:pPr>
              <a:defRPr sz="850" b="1">
                <a:solidFill>
                  <a:srgbClr val="C00000"/>
                </a:solidFill>
                <a:latin typeface="Calibri"/>
              </a:defRPr>
            </a:pPr>
            <a:r>
              <a:t>GP: 0 (Kritisch)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63055" y="3566160"/>
            <a:ext cx="1691640" cy="1280160"/>
          </a:xfrm>
          <a:prstGeom prst="roundRect">
            <a:avLst/>
          </a:prstGeom>
          <a:solidFill>
            <a:srgbClr val="FEF2ED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6207" y="3639312"/>
            <a:ext cx="154533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9C0006"/>
                </a:solidFill>
                <a:latin typeface="Calibri"/>
              </a:defRPr>
            </a:pPr>
            <a:r>
              <a:t>V11: Montage</a:t>
            </a:r>
          </a:p>
          <a:p>
            <a:pPr>
              <a:defRPr sz="950" b="1">
                <a:solidFill>
                  <a:srgbClr val="262626"/>
                </a:solidFill>
                <a:latin typeface="Calibri"/>
              </a:defRPr>
            </a:pPr>
            <a:r>
              <a:t>Dauer: 3 Tage</a:t>
            </a:r>
          </a:p>
          <a:p>
            <a:pPr>
              <a:defRPr sz="850">
                <a:solidFill>
                  <a:srgbClr val="595959"/>
                </a:solidFill>
                <a:latin typeface="Calibri"/>
              </a:defRPr>
            </a:pPr>
            <a:r>
              <a:t>FAZ 39 | FEZ 42</a:t>
            </a:r>
          </a:p>
          <a:p>
            <a:pPr>
              <a:defRPr sz="850" b="1">
                <a:solidFill>
                  <a:srgbClr val="C00000"/>
                </a:solidFill>
                <a:latin typeface="Calibri"/>
              </a:defRPr>
            </a:pPr>
            <a:r>
              <a:t>GP: 0 (Kritisch)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8" y="3566160"/>
            <a:ext cx="1691640" cy="1280160"/>
          </a:xfrm>
          <a:prstGeom prst="roundRect">
            <a:avLst/>
          </a:prstGeom>
          <a:solidFill>
            <a:srgbClr val="FEF2ED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0" y="3639312"/>
            <a:ext cx="154533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9C0006"/>
                </a:solidFill>
                <a:latin typeface="Calibri"/>
              </a:defRPr>
            </a:pPr>
            <a:r>
              <a:t>V12: Abnahme</a:t>
            </a:r>
          </a:p>
          <a:p>
            <a:pPr>
              <a:defRPr sz="950" b="1">
                <a:solidFill>
                  <a:srgbClr val="262626"/>
                </a:solidFill>
                <a:latin typeface="Calibri"/>
              </a:defRPr>
            </a:pPr>
            <a:r>
              <a:t>Dauer: 2 Tage</a:t>
            </a:r>
          </a:p>
          <a:p>
            <a:pPr>
              <a:defRPr sz="850">
                <a:solidFill>
                  <a:srgbClr val="595959"/>
                </a:solidFill>
                <a:latin typeface="Calibri"/>
              </a:defRPr>
            </a:pPr>
            <a:r>
              <a:t>FAZ 42 | FEZ 44</a:t>
            </a:r>
          </a:p>
          <a:p>
            <a:pPr>
              <a:defRPr sz="850" b="1">
                <a:solidFill>
                  <a:srgbClr val="C00000"/>
                </a:solidFill>
                <a:latin typeface="Calibri"/>
              </a:defRPr>
            </a:pPr>
            <a:r>
              <a:t>GP: 0 (Kritisch)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3566160"/>
            <a:ext cx="1691640" cy="1280160"/>
          </a:xfrm>
          <a:prstGeom prst="roundRect">
            <a:avLst/>
          </a:prstGeom>
          <a:solidFill>
            <a:srgbClr val="FEF2ED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57232" y="3639312"/>
            <a:ext cx="154533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9C0006"/>
                </a:solidFill>
                <a:latin typeface="Calibri"/>
              </a:defRPr>
            </a:pPr>
            <a:r>
              <a:t>V13/14: Abschluss</a:t>
            </a:r>
          </a:p>
          <a:p>
            <a:pPr>
              <a:defRPr sz="950" b="1">
                <a:solidFill>
                  <a:srgbClr val="262626"/>
                </a:solidFill>
                <a:latin typeface="Calibri"/>
              </a:defRPr>
            </a:pPr>
            <a:r>
              <a:t>Dauer: 2 Tage</a:t>
            </a:r>
          </a:p>
          <a:p>
            <a:pPr>
              <a:defRPr sz="850">
                <a:solidFill>
                  <a:srgbClr val="595959"/>
                </a:solidFill>
                <a:latin typeface="Calibri"/>
              </a:defRPr>
            </a:pPr>
            <a:r>
              <a:t>FAZ 44 | FEZ 46</a:t>
            </a:r>
          </a:p>
          <a:p>
            <a:pPr>
              <a:defRPr sz="850" b="1">
                <a:solidFill>
                  <a:srgbClr val="C00000"/>
                </a:solidFill>
                <a:latin typeface="Calibri"/>
              </a:defRPr>
            </a:pPr>
            <a:r>
              <a:t>GP: 0 (Kritisch)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394960"/>
            <a:ext cx="10698480" cy="868680"/>
          </a:xfrm>
          <a:prstGeom prst="roundRect">
            <a:avLst/>
          </a:prstGeom>
          <a:solidFill>
            <a:srgbClr val="DEEBF7"/>
          </a:solidFill>
          <a:ln w="1270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F497D"/>
                </a:solidFill>
                <a:latin typeface="Calibri"/>
              </a:defRPr>
            </a:pPr>
            <a:r>
              <a:t>Puffer-Analyse: V10 'Entsorgung Altdrucker (ElektroG)' | Dauer: 2 Tage | FAZ: Tag 39 / FEZ: Tag 41 | SAZ: Tag 40 / SEZ: Tag 42</a:t>
            </a:r>
          </a:p>
          <a:p>
            <a:pPr>
              <a:defRPr sz="950">
                <a:solidFill>
                  <a:srgbClr val="262626"/>
                </a:solidFill>
                <a:latin typeface="Calibri"/>
              </a:defRPr>
            </a:pPr>
            <a:r>
              <a:t>➔ V10 besitzt 1 Tag Gesamtpuffer (GP = 1). Da die Montage vor Ort (V11) 3 Tage beansprucht und parallel läuft, verzögert eine eintägige Verzögerung bei der Altdrucker-Abholung den Gesamtabgabetermin (Tag 46) nicht.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4C6E7"/>
                </a:solidFill>
                <a:latin typeface="Calibri"/>
              </a:defRPr>
            </a:pPr>
            <a:r>
              <a:t>SPEZIFIKATIONEN</a:t>
            </a:r>
          </a:p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Anforderungsprofil: Arbeitsplatztypen im Vergleich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Handlungsaufgabe 2026  •  NextLevel IT Solutions GmbH  •  Kunde: VektorPlan GmbH             Folie 7 von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747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474720" cy="7772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4475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12x Standard-Büro-PCs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DEEBF7"/>
                </a:solidFill>
                <a:latin typeface="Calibri"/>
              </a:defRPr>
            </a:pPr>
            <a:r>
              <a:t>Bauleitung, Ausschreibung &amp; Office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32004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Prozessor: </a:t>
            </a:r>
            <a:r>
              <a:rPr b="0">
                <a:solidFill>
                  <a:srgbClr val="262626"/>
                </a:solidFill>
              </a:rPr>
              <a:t>Intel Core i5-13400 (10 Kerne, bis 4.6 GHz)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Arbeitsspeicher: </a:t>
            </a:r>
            <a:r>
              <a:rPr b="0">
                <a:solidFill>
                  <a:srgbClr val="262626"/>
                </a:solidFill>
              </a:rPr>
              <a:t>16 GB DDR5 RAM (Erweiterbar bis 64 GB)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Grafikeinheit: </a:t>
            </a:r>
            <a:r>
              <a:rPr b="0">
                <a:solidFill>
                  <a:srgbClr val="262626"/>
                </a:solidFill>
              </a:rPr>
              <a:t>Integrierte Intel UHD Graphics 730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Festplatte: </a:t>
            </a:r>
            <a:r>
              <a:rPr b="0">
                <a:solidFill>
                  <a:srgbClr val="262626"/>
                </a:solidFill>
              </a:rPr>
              <a:t>512 GB M.2 NVMe PCIe 4.0 SSD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Gehäuse / Lautstärke: </a:t>
            </a:r>
            <a:r>
              <a:rPr b="0">
                <a:solidFill>
                  <a:srgbClr val="262626"/>
                </a:solidFill>
              </a:rPr>
              <a:t>Small Form Factor (SFF), leise Lüfter (&lt;28 dB)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Peripherie: </a:t>
            </a:r>
            <a:r>
              <a:rPr b="0">
                <a:solidFill>
                  <a:srgbClr val="262626"/>
                </a:solidFill>
              </a:rPr>
              <a:t>Logitech MK650 Funkset (AES) + 1TB SSD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371600"/>
            <a:ext cx="34747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371600"/>
            <a:ext cx="3474720" cy="777240"/>
          </a:xfrm>
          <a:prstGeom prst="rect">
            <a:avLst/>
          </a:prstGeom>
          <a:solidFill>
            <a:srgbClr val="2F55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70832" y="144475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4x CAD/BIM-Workstations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0832" y="17830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DEEBF7"/>
                </a:solidFill>
                <a:latin typeface="Calibri"/>
              </a:defRPr>
            </a:pPr>
            <a:r>
              <a:t>3D-Konstruktion, Revit &amp; Rendering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286000"/>
            <a:ext cx="32004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Prozessor: </a:t>
            </a:r>
            <a:r>
              <a:rPr b="0">
                <a:solidFill>
                  <a:srgbClr val="262626"/>
                </a:solidFill>
              </a:rPr>
              <a:t>Intel Core i7-13700 (16 Kerne, bis 5.2 GHz)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Arbeitsspeicher: </a:t>
            </a:r>
            <a:r>
              <a:rPr b="0">
                <a:solidFill>
                  <a:srgbClr val="262626"/>
                </a:solidFill>
              </a:rPr>
              <a:t>64 GB DDR5 RAM (Erweiterbar bis 128 GB)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Grafikkarte: </a:t>
            </a:r>
            <a:r>
              <a:rPr b="0">
                <a:solidFill>
                  <a:srgbClr val="262626"/>
                </a:solidFill>
              </a:rPr>
              <a:t>NVIDIA RTX 4000 Ada Gen (20 GB GDDR6 ECC)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Festplatte: </a:t>
            </a:r>
            <a:r>
              <a:rPr b="0">
                <a:solidFill>
                  <a:srgbClr val="262626"/>
                </a:solidFill>
              </a:rPr>
              <a:t>1 TB M.2 NVMe PCIe 4.0 SSD (sehr hohe IOPS)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Kühlung / Gehäuse: </a:t>
            </a:r>
            <a:r>
              <a:rPr b="0">
                <a:solidFill>
                  <a:srgbClr val="262626"/>
                </a:solidFill>
              </a:rPr>
              <a:t>Tower-Gehäuse mit leiser Hochleistungskühlung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Zertifizierung: </a:t>
            </a:r>
            <a:r>
              <a:rPr b="0">
                <a:solidFill>
                  <a:srgbClr val="262626"/>
                </a:solidFill>
              </a:rPr>
              <a:t>ISV-zertifiziert für Autodesk Revit &amp; Archicad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371600"/>
            <a:ext cx="34747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1371600"/>
            <a:ext cx="3474720" cy="777240"/>
          </a:xfrm>
          <a:prstGeom prst="rect">
            <a:avLst/>
          </a:prstGeom>
          <a:solidFill>
            <a:srgbClr val="385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0144" y="1444752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Monitore &amp; Drucker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0144" y="17830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DEEBF7"/>
                </a:solidFill>
                <a:latin typeface="Calibri"/>
              </a:defRPr>
            </a:pPr>
            <a:r>
              <a:t>Ergonomie &amp; Büroinfrastruktur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2286000"/>
            <a:ext cx="32004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32x Bildschirme: </a:t>
            </a:r>
            <a:r>
              <a:rPr b="0">
                <a:solidFill>
                  <a:srgbClr val="262626"/>
                </a:solidFill>
              </a:rPr>
              <a:t>27'' WQHD (2560x1440), IPS Black Panel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Ergonomie: </a:t>
            </a:r>
            <a:r>
              <a:rPr b="0">
                <a:solidFill>
                  <a:srgbClr val="262626"/>
                </a:solidFill>
              </a:rPr>
              <a:t>Höhenverstellbar (150 mm), Pivot 90°, Swivel, Tilt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Augenschonung: </a:t>
            </a:r>
            <a:r>
              <a:rPr b="0">
                <a:solidFill>
                  <a:srgbClr val="262626"/>
                </a:solidFill>
              </a:rPr>
              <a:t>Hardware-Blaulichtfilter (ComfortView Plus)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1x zentrales MFP: </a:t>
            </a:r>
            <a:r>
              <a:rPr b="0">
                <a:solidFill>
                  <a:srgbClr val="262626"/>
                </a:solidFill>
              </a:rPr>
              <a:t>Lexmark CX930dse Farb-Multifunktionsdrucker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Druckleistung: </a:t>
            </a:r>
            <a:r>
              <a:rPr b="0">
                <a:solidFill>
                  <a:srgbClr val="262626"/>
                </a:solidFill>
              </a:rPr>
              <a:t>DIN A3/A4 Farblaser, 33 Seiten/Min., Duplex-Scan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Netzwerkanbindung: </a:t>
            </a:r>
            <a:r>
              <a:rPr b="0">
                <a:solidFill>
                  <a:srgbClr val="262626"/>
                </a:solidFill>
              </a:rPr>
              <a:t>Gigabit-LAN Cat.6A S/FTP halogenfrei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4C6E7"/>
                </a:solidFill>
                <a:latin typeface="Calibri"/>
              </a:defRPr>
            </a:pPr>
            <a:r>
              <a:t>HARDWARE-AUSWAHL</a:t>
            </a:r>
          </a:p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Ausgewählte Marken-Hardware aus dem Fachhandel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Handlungsaufgabe 2026  •  NextLevel IT Solutions GmbH  •  Kunde: VektorPlan GmbH             Folie 8 von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57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069080" y="1508760"/>
            <a:ext cx="1737360" cy="365760"/>
          </a:xfrm>
          <a:prstGeom prst="round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DEEBF7"/>
                </a:solidFill>
                <a:latin typeface="Calibri"/>
              </a:defRPr>
            </a:pPr>
            <a:r>
              <a:t>690,00 € Netto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81328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F5597"/>
                </a:solidFill>
                <a:latin typeface="Calibri"/>
              </a:defRPr>
            </a:pPr>
            <a:r>
              <a:t>STANDARD-PC (12 STÜCK)</a:t>
            </a:r>
          </a:p>
          <a:p>
            <a:pPr>
              <a:defRPr sz="1200" b="1">
                <a:solidFill>
                  <a:srgbClr val="1F497D"/>
                </a:solidFill>
                <a:latin typeface="Calibri"/>
              </a:defRPr>
            </a:pPr>
            <a:r>
              <a:t>Lenovo ThinkCentre M70s Gen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4892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Intel Core i5-13400 Prozessor, 16 GB DDR5 RAM, 512 GB NVMe</a:t>
            </a:r>
          </a:p>
          <a:p>
            <a:pPr>
              <a:spcAft>
                <a:spcPts val="2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Kompakter Small Form Factor (SFF), leise Lüfterkurve</a:t>
            </a:r>
          </a:p>
          <a:p>
            <a:pPr>
              <a:spcAft>
                <a:spcPts val="2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Zuverlässige Plattform für Bauleiter und Ausschreibungen</a:t>
            </a:r>
          </a:p>
          <a:p>
            <a:pPr>
              <a:spcAft>
                <a:spcPts val="2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3 Jahre Vor-Ort-Herstellergarantie inklusive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257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509760" y="1508760"/>
            <a:ext cx="1737360" cy="365760"/>
          </a:xfrm>
          <a:prstGeom prst="round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DEEBF7"/>
                </a:solidFill>
                <a:latin typeface="Calibri"/>
              </a:defRPr>
            </a:pPr>
            <a:r>
              <a:t>3.200,00 € Netto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481328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F5597"/>
                </a:solidFill>
                <a:latin typeface="Calibri"/>
              </a:defRPr>
            </a:pPr>
            <a:r>
              <a:t>CAD-WORKSTATION (4 STÜCK)</a:t>
            </a:r>
          </a:p>
          <a:p>
            <a:pPr>
              <a:defRPr sz="1200" b="1">
                <a:solidFill>
                  <a:srgbClr val="1F497D"/>
                </a:solidFill>
                <a:latin typeface="Calibri"/>
              </a:defRPr>
            </a:pPr>
            <a:r>
              <a:t>Lenovo ThinkStation P3 Tower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94560"/>
            <a:ext cx="4892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Intel Core i7-13700, 64 GB DDR5 RAM, 1 TB High-Speed NVMe</a:t>
            </a:r>
          </a:p>
          <a:p>
            <a:pPr>
              <a:spcAft>
                <a:spcPts val="2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NVIDIA RTX 4000 Ada Generation (20 GB VRAM ECC)</a:t>
            </a:r>
          </a:p>
          <a:p>
            <a:pPr>
              <a:spcAft>
                <a:spcPts val="2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Zertifiziert für Revit, AutoCAD, Archicad und BIM-Viewer</a:t>
            </a:r>
          </a:p>
          <a:p>
            <a:pPr>
              <a:spcAft>
                <a:spcPts val="2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Optimiertes Airflow-Gehäuse mit geringer Geräuschentwicklung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257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69080" y="3977640"/>
            <a:ext cx="1737360" cy="365760"/>
          </a:xfrm>
          <a:prstGeom prst="round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DEEBF7"/>
                </a:solidFill>
                <a:latin typeface="Calibri"/>
              </a:defRPr>
            </a:pPr>
            <a:r>
              <a:t>310,00 € Netto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50208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F5597"/>
                </a:solidFill>
                <a:latin typeface="Calibri"/>
              </a:defRPr>
            </a:pPr>
            <a:r>
              <a:t>ERGONOMIE-BILDSCHIRM (32 STÜCK)</a:t>
            </a:r>
          </a:p>
          <a:p>
            <a:pPr>
              <a:defRPr sz="1200" b="1">
                <a:solidFill>
                  <a:srgbClr val="1F497D"/>
                </a:solidFill>
                <a:latin typeface="Calibri"/>
              </a:defRPr>
            </a:pPr>
            <a:r>
              <a:t>Dell UltraSharp U2724D (27'')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4892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27 Zoll WQHD (2560x1440) mit IPS-Black-Panel (2000:1 Kontrast)</a:t>
            </a:r>
          </a:p>
          <a:p>
            <a:pPr>
              <a:spcAft>
                <a:spcPts val="2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120 Hz Bildwiederholrate &amp; ComfortView Plus Hardware-Blaulichtfilter</a:t>
            </a:r>
          </a:p>
          <a:p>
            <a:pPr>
              <a:spcAft>
                <a:spcPts val="2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Volle Ergonomie: Höhenverstellbar, Pivot (90° drehbar), Swivel &amp; Tilt</a:t>
            </a:r>
          </a:p>
          <a:p>
            <a:pPr>
              <a:spcAft>
                <a:spcPts val="2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Je 2 Bildschirme pro Arbeitsplatz für hohe Arbeitsleistung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840480"/>
            <a:ext cx="5257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09760" y="3977640"/>
            <a:ext cx="1737360" cy="365760"/>
          </a:xfrm>
          <a:prstGeom prst="round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DEEBF7"/>
                </a:solidFill>
                <a:latin typeface="Calibri"/>
              </a:defRPr>
            </a:pPr>
            <a:r>
              <a:t>2.200,00 € Netto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50208"/>
            <a:ext cx="31089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2F5597"/>
                </a:solidFill>
                <a:latin typeface="Calibri"/>
              </a:defRPr>
            </a:pPr>
            <a:r>
              <a:t>ZENTRALER FARB-DRUCKER (1 STÜCK)</a:t>
            </a:r>
          </a:p>
          <a:p>
            <a:pPr>
              <a:defRPr sz="1200" b="1">
                <a:solidFill>
                  <a:srgbClr val="1F497D"/>
                </a:solidFill>
                <a:latin typeface="Calibri"/>
              </a:defRPr>
            </a:pPr>
            <a:r>
              <a:t>Lexmark CX930dse A3/A4 MFP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663440"/>
            <a:ext cx="4892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DIN A3 und DIN A4 Farblaser für großformatige Baupläne</a:t>
            </a:r>
          </a:p>
          <a:p>
            <a:pPr>
              <a:spcAft>
                <a:spcPts val="2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Druck- und Kopiergeschwindigkeit bis zu 33 Seiten pro Minute</a:t>
            </a:r>
          </a:p>
          <a:p>
            <a:pPr>
              <a:spcAft>
                <a:spcPts val="2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Automatischer Duplex-Scan und hohe Papierkassetten-Kapazität</a:t>
            </a:r>
          </a:p>
          <a:p>
            <a:pPr>
              <a:spcAft>
                <a:spcPts val="2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Vollständig gigabit-netzwerkfähig mit PostScript-Unterstützung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4C6E7"/>
                </a:solidFill>
                <a:latin typeface="Calibri"/>
              </a:defRPr>
            </a:pPr>
            <a:r>
              <a:t>ENTSCHEIDUNGSMATRIX</a:t>
            </a:r>
          </a:p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Nutzwertanalysen: Objektiver Produktvergleich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Handlungsaufgabe 2026  •  NextLevel IT Solutions GmbH  •  Kunde: VektorPlan GmbH             Folie 9 von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578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5257800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Nutzwertanalyse: CAD-Workstations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92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F497D"/>
                </a:solidFill>
              </a:defRPr>
            </a:pPr>
            <a:r>
              <a:t>Bewertete Modelle &amp; Punktwerte:</a:t>
            </a:r>
          </a:p>
          <a:p>
            <a:pPr>
              <a:defRPr b="1" sz="1050">
                <a:solidFill>
                  <a:srgbClr val="385723"/>
                </a:solidFill>
              </a:defRPr>
            </a:pPr>
            <a:r>
              <a:t>• 1. Platz (Sieger): Lenovo ThinkStation P3 ➔ 8,70 Punkte</a:t>
            </a:r>
          </a:p>
          <a:p>
            <a:pPr>
              <a:defRPr b="0" sz="1050">
                <a:solidFill>
                  <a:srgbClr val="595959"/>
                </a:solidFill>
              </a:defRPr>
            </a:pPr>
            <a:r>
              <a:t>• 2. Platz: Dell Precision 3660 ➔ 7,80 Punkte</a:t>
            </a:r>
          </a:p>
          <a:p>
            <a:pPr>
              <a:defRPr b="0" sz="1050">
                <a:solidFill>
                  <a:srgbClr val="595959"/>
                </a:solidFill>
              </a:defRPr>
            </a:pPr>
            <a:r>
              <a:t>• 3. Platz: HP Z2 Tower G9 ➔ 6,80 Punkte</a:t>
            </a:r>
          </a:p>
          <a:p>
            <a:br/>
            <a:pPr>
              <a:defRPr b="1" sz="1050">
                <a:solidFill>
                  <a:srgbClr val="1F497D"/>
                </a:solidFill>
              </a:defRPr>
            </a:pPr>
            <a:r>
              <a:t>Gewichtete Kriterien:</a:t>
            </a:r>
          </a:p>
          <a:p>
            <a:pPr>
              <a:defRPr sz="950">
                <a:solidFill>
                  <a:srgbClr val="595959"/>
                </a:solidFill>
              </a:defRPr>
            </a:pPr>
            <a:r>
              <a:t>• 3D/BIM-Performance (40%) • Arbeitsspeicher &amp; Ausbau (15%)</a:t>
            </a:r>
            <a:br/>
            <a:r>
              <a:t>• Preis-Leistungs-Verhältnis (15%) • Garantie/Service (15%)</a:t>
            </a:r>
            <a:br/>
            <a:r>
              <a:t>• Lautstärke/Kühlung (10%) • Lieferzeit (5%)</a:t>
            </a:r>
          </a:p>
          <a:p>
            <a:br/>
            <a:pPr>
              <a:defRPr b="1" sz="1050">
                <a:solidFill>
                  <a:srgbClr val="1F497D"/>
                </a:solidFill>
              </a:defRPr>
            </a:pPr>
            <a:r>
              <a:t>Begründung des Siegers: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Für VektorPlan steht flüssiges 3D-BIM-Arbeiten an oberster Stelle. Die Lenovo P3 besitzt mit der modernen NVIDIA RTX 4000 Ada (20 GB VRAM) die doppelte Grafikleistung gegenüber der älteren RTX A4000 im Dell-System und gewinnt die Analyse mit 8,70 Punkten.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578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257800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Nutzwertanalyse: 27'' WQHD-Monitore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892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F497D"/>
                </a:solidFill>
              </a:defRPr>
            </a:pPr>
            <a:r>
              <a:t>Bewertete Modelle &amp; Punktwerte:</a:t>
            </a:r>
          </a:p>
          <a:p>
            <a:pPr>
              <a:defRPr b="1" sz="1050">
                <a:solidFill>
                  <a:srgbClr val="385723"/>
                </a:solidFill>
              </a:defRPr>
            </a:pPr>
            <a:r>
              <a:t>• 1. Platz (Sieger): Dell UltraSharp U2724D ➔ 9,10 Punkte</a:t>
            </a:r>
          </a:p>
          <a:p>
            <a:pPr>
              <a:defRPr b="0" sz="1050">
                <a:solidFill>
                  <a:srgbClr val="595959"/>
                </a:solidFill>
              </a:defRPr>
            </a:pPr>
            <a:r>
              <a:t>• 2. Platz: Lenovo ThinkVision P27h-30 ➔ 8,30 Punkte</a:t>
            </a:r>
          </a:p>
          <a:p>
            <a:pPr>
              <a:defRPr b="0" sz="1050">
                <a:solidFill>
                  <a:srgbClr val="595959"/>
                </a:solidFill>
              </a:defRPr>
            </a:pPr>
            <a:r>
              <a:t>• 3. Platz: EIZO FlexScan EV2781 ➔ 8,15 Punkte</a:t>
            </a:r>
          </a:p>
          <a:p>
            <a:br/>
            <a:pPr>
              <a:defRPr b="1" sz="1050">
                <a:solidFill>
                  <a:srgbClr val="1F497D"/>
                </a:solidFill>
              </a:defRPr>
            </a:pPr>
            <a:r>
              <a:t>Gewichtete Kriterien:</a:t>
            </a:r>
          </a:p>
          <a:p>
            <a:pPr>
              <a:defRPr sz="950">
                <a:solidFill>
                  <a:srgbClr val="595959"/>
                </a:solidFill>
              </a:defRPr>
            </a:pPr>
            <a:r>
              <a:t>• Ergonomie (Höhe, Pivot, Tilt) (25%) • Bildqualität (IPS Black) (25%)</a:t>
            </a:r>
            <a:br/>
            <a:r>
              <a:t>• Preis / Menge (32 Stück) (25%) • Augenschonung/Filter (15%)</a:t>
            </a:r>
            <a:br/>
            <a:r>
              <a:t>• Garantie (5%) • Anschlüsse (5%)</a:t>
            </a:r>
          </a:p>
          <a:p>
            <a:br/>
            <a:pPr>
              <a:defRPr b="1" sz="1050">
                <a:solidFill>
                  <a:srgbClr val="1F497D"/>
                </a:solidFill>
              </a:defRPr>
            </a:pPr>
            <a:r>
              <a:t>Begründung des Siegers:</a:t>
            </a:r>
          </a:p>
          <a:p>
            <a:pPr>
              <a:defRPr sz="950">
                <a:solidFill>
                  <a:srgbClr val="262626"/>
                </a:solidFill>
              </a:defRPr>
            </a:pPr>
            <a:r>
              <a:t>Bei 32 Monitoren spart der Dell U2724D (310 €) gegenüber dem teuren EIZO (480 €) ganze 5.440 € netto ein! Gleichzeitig bietet Dell modernste IPS-Black-Technologie (2000:1 Kontrast), 120 Hz und volle Ergonomie. Dell gewinnt mit 9,10 Punkten.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4C6E7"/>
                </a:solidFill>
                <a:latin typeface="Calibri"/>
              </a:defRPr>
            </a:pPr>
            <a:r>
              <a:t>KALKULATION</a:t>
            </a:r>
          </a:p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Kaufmännische Preiskalkulation &amp; Angebot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Handlungsaufgabe 2026  •  NextLevel IT Solutions GmbH  •  Kunde: VektorPlan GmbH             Folie 10 von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578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892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F497D"/>
                </a:solidFill>
              </a:defRPr>
            </a:pPr>
            <a:r>
              <a:t>Kaufmännisches Kalkulationsschema:</a:t>
            </a:r>
          </a:p>
          <a:p>
            <a:pPr>
              <a:spcAft>
                <a:spcPts val="400"/>
              </a:spcAft>
              <a:defRPr sz="1000">
                <a:solidFill>
                  <a:srgbClr val="262626"/>
                </a:solidFill>
              </a:defRPr>
            </a:pPr>
            <a:r>
              <a:t>Bezugspreis (Einkauf Fachhandel netto)</a:t>
            </a:r>
            <a:br/>
            <a:r>
              <a:t>   ➔ Ausgangsbasis</a:t>
            </a:r>
          </a:p>
          <a:p>
            <a:pPr>
              <a:spcAft>
                <a:spcPts val="400"/>
              </a:spcAft>
              <a:defRPr sz="1000">
                <a:solidFill>
                  <a:srgbClr val="262626"/>
                </a:solidFill>
              </a:defRPr>
            </a:pPr>
            <a:r>
              <a:t>+ Handlungskostenzuschlag (25,0 %)</a:t>
            </a:r>
            <a:br/>
            <a:r>
              <a:t>   ➔ = Selbstkostenpreis</a:t>
            </a:r>
          </a:p>
          <a:p>
            <a:pPr>
              <a:spcAft>
                <a:spcPts val="400"/>
              </a:spcAft>
              <a:defRPr sz="1000">
                <a:solidFill>
                  <a:srgbClr val="262626"/>
                </a:solidFill>
              </a:defRPr>
            </a:pPr>
            <a:r>
              <a:t>+ Gewinnzuschlag (12,0 %)</a:t>
            </a:r>
            <a:br/>
            <a:r>
              <a:t>   ➔ = Barverkaufspreis</a:t>
            </a:r>
          </a:p>
          <a:p>
            <a:pPr>
              <a:spcAft>
                <a:spcPts val="400"/>
              </a:spcAft>
              <a:defRPr sz="1000">
                <a:solidFill>
                  <a:srgbClr val="262626"/>
                </a:solidFill>
              </a:defRPr>
            </a:pPr>
            <a:r>
              <a:t>+ Kundenskonto (3,0 % im Hundert)</a:t>
            </a:r>
            <a:br/>
            <a:r>
              <a:t>   ➔ = Zielverkaufspreis</a:t>
            </a:r>
          </a:p>
          <a:p>
            <a:pPr>
              <a:spcAft>
                <a:spcPts val="400"/>
              </a:spcAft>
              <a:defRPr sz="1000">
                <a:solidFill>
                  <a:srgbClr val="262626"/>
                </a:solidFill>
              </a:defRPr>
            </a:pPr>
            <a:r>
              <a:t>+ Kundenrabatt (0,0 % für Neukunde)</a:t>
            </a:r>
            <a:br/>
            <a:r>
              <a:t>   ➔ = Listenverkaufspreis netto</a:t>
            </a:r>
          </a:p>
          <a:p>
            <a:pPr>
              <a:spcAft>
                <a:spcPts val="400"/>
              </a:spcAft>
              <a:defRPr sz="1000">
                <a:solidFill>
                  <a:srgbClr val="262626"/>
                </a:solidFill>
              </a:defRPr>
            </a:pPr>
            <a:r>
              <a:t>+ Gesetzliche Umsatzsteuer (19,0 %)</a:t>
            </a:r>
            <a:br/>
            <a:r>
              <a:t>   ➔ = Gesamtangebot brutto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578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92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F497D"/>
                </a:solidFill>
              </a:defRPr>
            </a:pPr>
            <a:r>
              <a:t>Angebotsübersicht (Nr. NL-2026-VP-001):</a:t>
            </a:r>
          </a:p>
          <a:p>
            <a:pPr>
              <a:defRPr sz="950">
                <a:latin typeface="Consolas"/>
              </a:defRPr>
            </a:pPr>
            <a:r>
              <a:t>1. Hardware (16 PCs, 32 Monitore, MFP, SSDs)    51.108,12 €</a:t>
            </a:r>
          </a:p>
          <a:p>
            <a:pPr>
              <a:defRPr sz="950">
                <a:latin typeface="Consolas"/>
              </a:defRPr>
            </a:pPr>
            <a:r>
              <a:t>2. Software &amp; Lizenzen (1. Jahr: M365, Adobe, ESET)    10.021,20 €</a:t>
            </a:r>
          </a:p>
          <a:p>
            <a:pPr>
              <a:defRPr sz="950">
                <a:latin typeface="Consolas"/>
              </a:defRPr>
            </a:pPr>
            <a:r>
              <a:t>3. Dienstleistungen (Staging, Montage, Abnahme)     6.050,00 €</a:t>
            </a:r>
          </a:p>
          <a:p>
            <a:pPr>
              <a:defRPr sz="950">
                <a:latin typeface="Consolas"/>
              </a:defRPr>
            </a:pPr>
            <a:r>
              <a:t>─────────────────────────────────────────────    ───────────</a:t>
            </a:r>
          </a:p>
          <a:p>
            <a:pPr>
              <a:defRPr sz="1050" b="1">
                <a:solidFill>
                  <a:srgbClr val="1F497D"/>
                </a:solidFill>
                <a:latin typeface="Consolas"/>
              </a:defRPr>
            </a:pPr>
            <a:r>
              <a:t>Gesamtbetrag Netto:                       67.179,32 €</a:t>
            </a:r>
          </a:p>
          <a:p>
            <a:pPr>
              <a:defRPr sz="950">
                <a:latin typeface="Consolas"/>
              </a:defRPr>
            </a:pPr>
            <a:r>
              <a:t>+ 19% Umsatzsteuer:                       12.764,07 €</a:t>
            </a:r>
          </a:p>
          <a:p>
            <a:pPr>
              <a:defRPr sz="1050" b="1">
                <a:solidFill>
                  <a:srgbClr val="1F497D"/>
                </a:solidFill>
                <a:latin typeface="Consolas"/>
              </a:defRPr>
            </a:pPr>
            <a:r>
              <a:t>Gesamtbetrag Brutto:                      79.943,39 €</a:t>
            </a:r>
          </a:p>
          <a:p>
            <a:br/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Zahlungs- &amp; Lieferkonditionen:</a:t>
            </a:r>
            <a:br/>
            <a:r>
              <a:t>• 14 Tage mit 3% Skonto (Ersparnis: 2.015,38 €), 30 Tage rein netto</a:t>
            </a:r>
            <a:br/>
            <a:r>
              <a:t>• Gewährleistung: 36 Monate Vor-Ort-Herstellerservice auf Neugeräte</a:t>
            </a:r>
            <a:br/>
            <a:r>
              <a:t>• Alternative: IT-Leasing ab ca. 1.580 € monatlich (OPEX-Vorteil)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4C6E7"/>
                </a:solidFill>
                <a:latin typeface="Calibri"/>
              </a:defRPr>
            </a:pPr>
            <a:r>
              <a:t>KUNDENBERECHNUNGEN</a:t>
            </a:r>
          </a:p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Spezifische Berechnungen für den Kunden (Aufgabe 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Handlungsaufgabe 2026  •  NextLevel IT Solutions GmbH  •  Kunde: VektorPlan GmbH             Folie 11 von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578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645920"/>
            <a:ext cx="4526280" cy="1005840"/>
          </a:xfrm>
          <a:prstGeom prst="roundRect">
            <a:avLst/>
          </a:prstGeom>
          <a:solidFill>
            <a:srgbClr val="DEEBF7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1F497D"/>
                </a:solidFill>
                <a:latin typeface="Calibri"/>
              </a:defRPr>
            </a:pPr>
            <a:r>
              <a:t>445 GiB</a:t>
            </a:r>
          </a:p>
          <a:p>
            <a:pPr algn="ctr">
              <a:defRPr sz="1050">
                <a:solidFill>
                  <a:srgbClr val="262626"/>
                </a:solidFill>
              </a:defRPr>
            </a:pPr>
            <a:r>
              <a:t>Benötigter Fileserver-Speicherplatz für 1 Quartal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F497D"/>
                </a:solidFill>
              </a:defRPr>
            </a:pPr>
            <a:r>
              <a:t>Rechnenweg Schritt für Schritt:</a:t>
            </a:r>
          </a:p>
          <a:p>
            <a:pPr>
              <a:spcAft>
                <a:spcPts val="300"/>
              </a:spcAft>
              <a:defRPr sz="950">
                <a:solidFill>
                  <a:srgbClr val="262626"/>
                </a:solidFill>
              </a:defRPr>
            </a:pPr>
            <a:r>
              <a:t>• 16 Arbeitsplätze × 350 MiB/Tag = 5.600 MiB tägliche Daten</a:t>
            </a:r>
          </a:p>
          <a:p>
            <a:pPr>
              <a:spcAft>
                <a:spcPts val="300"/>
              </a:spcAft>
              <a:defRPr sz="950">
                <a:solidFill>
                  <a:srgbClr val="262626"/>
                </a:solidFill>
              </a:defRPr>
            </a:pPr>
            <a:r>
              <a:t>• 5.600 MiB × 65 Arbeitstage = 364.000 MiB Daten pro Quartal</a:t>
            </a:r>
          </a:p>
          <a:p>
            <a:pPr>
              <a:spcAft>
                <a:spcPts val="300"/>
              </a:spcAft>
              <a:defRPr sz="950">
                <a:solidFill>
                  <a:srgbClr val="262626"/>
                </a:solidFill>
              </a:defRPr>
            </a:pPr>
            <a:r>
              <a:t>• Umrechnung in GiB (Binärfaktor 1.024):</a:t>
            </a:r>
          </a:p>
          <a:p>
            <a:pPr>
              <a:spcAft>
                <a:spcPts val="300"/>
              </a:spcAft>
              <a:defRPr sz="950">
                <a:solidFill>
                  <a:srgbClr val="262626"/>
                </a:solidFill>
              </a:defRPr>
            </a:pPr>
            <a:r>
              <a:t>•   364.000 MiB ÷ 1.024 = 355,47 GiB</a:t>
            </a:r>
          </a:p>
          <a:p>
            <a:pPr>
              <a:spcAft>
                <a:spcPts val="300"/>
              </a:spcAft>
              <a:defRPr sz="950">
                <a:solidFill>
                  <a:srgbClr val="262626"/>
                </a:solidFill>
              </a:defRPr>
            </a:pPr>
            <a:r>
              <a:t>• Aufrunden auf volle GiB: 356 GiB netto</a:t>
            </a:r>
          </a:p>
          <a:p>
            <a:pPr>
              <a:spcAft>
                <a:spcPts val="300"/>
              </a:spcAft>
              <a:defRPr sz="950">
                <a:solidFill>
                  <a:srgbClr val="262626"/>
                </a:solidFill>
              </a:defRPr>
            </a:pPr>
            <a:r>
              <a:t>• + 25 % Sicherheits- und Pufferzuschlag:</a:t>
            </a:r>
          </a:p>
          <a:p>
            <a:pPr>
              <a:spcAft>
                <a:spcPts val="300"/>
              </a:spcAft>
              <a:defRPr sz="950">
                <a:solidFill>
                  <a:srgbClr val="262626"/>
                </a:solidFill>
              </a:defRPr>
            </a:pPr>
            <a:r>
              <a:t>•   356 GiB × 1,25 = 445 GiB Gesamtkapazität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578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0" y="1645920"/>
            <a:ext cx="452628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C55A11"/>
                </a:solidFill>
                <a:latin typeface="Calibri"/>
              </a:defRPr>
            </a:pPr>
            <a:r>
              <a:t>1.771,26 €</a:t>
            </a:r>
          </a:p>
          <a:p>
            <a:pPr algn="ctr">
              <a:defRPr sz="1050">
                <a:solidFill>
                  <a:srgbClr val="262626"/>
                </a:solidFill>
              </a:defRPr>
            </a:pPr>
            <a:r>
              <a:t>Jährliche Stromkosten für alle 16 Arbeitsplätze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83464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F497D"/>
                </a:solidFill>
              </a:defRPr>
            </a:pPr>
            <a:r>
              <a:t>Rechnenweg Schritt für Schritt:</a:t>
            </a:r>
          </a:p>
          <a:p>
            <a:pPr>
              <a:spcAft>
                <a:spcPts val="300"/>
              </a:spcAft>
              <a:defRPr sz="950">
                <a:solidFill>
                  <a:srgbClr val="262626"/>
                </a:solidFill>
              </a:defRPr>
            </a:pPr>
            <a:r>
              <a:t>• 12 Standard-PCs à 140 W = 1.680 W</a:t>
            </a:r>
          </a:p>
          <a:p>
            <a:pPr>
              <a:spcAft>
                <a:spcPts val="300"/>
              </a:spcAft>
              <a:defRPr sz="950">
                <a:solidFill>
                  <a:srgbClr val="262626"/>
                </a:solidFill>
              </a:defRPr>
            </a:pPr>
            <a:r>
              <a:t>• 4 CAD-Workstations à 320 W = 1.280 W</a:t>
            </a:r>
          </a:p>
          <a:p>
            <a:pPr>
              <a:spcAft>
                <a:spcPts val="300"/>
              </a:spcAft>
              <a:defRPr sz="950">
                <a:solidFill>
                  <a:srgbClr val="262626"/>
                </a:solidFill>
              </a:defRPr>
            </a:pPr>
            <a:r>
              <a:t>• Gesamtleistung: 1.680 W + 1.280 W = 2.960 W (2,96 kW)</a:t>
            </a:r>
          </a:p>
          <a:p>
            <a:pPr>
              <a:spcAft>
                <a:spcPts val="300"/>
              </a:spcAft>
              <a:defRPr sz="950">
                <a:solidFill>
                  <a:srgbClr val="262626"/>
                </a:solidFill>
              </a:defRPr>
            </a:pPr>
            <a:r>
              <a:t>• Jahresbetriebszeit: 220 Tage × 8,5 h/Tag = 1.870 Stunden</a:t>
            </a:r>
          </a:p>
          <a:p>
            <a:pPr>
              <a:spcAft>
                <a:spcPts val="300"/>
              </a:spcAft>
              <a:defRPr sz="950">
                <a:solidFill>
                  <a:srgbClr val="262626"/>
                </a:solidFill>
              </a:defRPr>
            </a:pPr>
            <a:r>
              <a:t>• Jahresstromverbrauch:</a:t>
            </a:r>
          </a:p>
          <a:p>
            <a:pPr>
              <a:spcAft>
                <a:spcPts val="300"/>
              </a:spcAft>
              <a:defRPr sz="950">
                <a:solidFill>
                  <a:srgbClr val="262626"/>
                </a:solidFill>
              </a:defRPr>
            </a:pPr>
            <a:r>
              <a:t>•   2,96 kW × 1.870 h = 5.535,2 kWh</a:t>
            </a:r>
          </a:p>
          <a:p>
            <a:pPr>
              <a:spcAft>
                <a:spcPts val="300"/>
              </a:spcAft>
              <a:defRPr sz="950">
                <a:solidFill>
                  <a:srgbClr val="262626"/>
                </a:solidFill>
              </a:defRPr>
            </a:pPr>
            <a:r>
              <a:t>• Stromkosten bei 0,32 €/kWh:</a:t>
            </a:r>
          </a:p>
          <a:p>
            <a:pPr>
              <a:spcAft>
                <a:spcPts val="300"/>
              </a:spcAft>
              <a:defRPr sz="950">
                <a:solidFill>
                  <a:srgbClr val="262626"/>
                </a:solidFill>
              </a:defRPr>
            </a:pPr>
            <a:r>
              <a:t>•   5.535,2 kWh × 0,32 € = 1.771,26 € pro Jahr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4C6E7"/>
                </a:solidFill>
                <a:latin typeface="Calibri"/>
              </a:defRPr>
            </a:pPr>
            <a:r>
              <a:t>QUALITÄT &amp; UMWELT</a:t>
            </a:r>
          </a:p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Qualitätssicherung: Wareneingang und Entsorgung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Handlungsaufgabe 2026  •  NextLevel IT Solutions GmbH  •  Kunde: VektorPlan GmbH             Folie 12 von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747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47472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3474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Wareneingang § 377 HGB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3200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F497D"/>
                </a:solidFill>
                <a:latin typeface="Calibri"/>
              </a:defRPr>
            </a:pPr>
            <a:r>
              <a:t>Unverzügliche Prüfung: </a:t>
            </a:r>
            <a:r>
              <a:rPr b="0">
                <a:solidFill>
                  <a:srgbClr val="262626"/>
                </a:solidFill>
              </a:rPr>
              <a:t>Im kaufmännischen Geschäftsverkehr muss gelieferte Ware unverzüglich geprüft werden.</a:t>
            </a:r>
          </a:p>
          <a:p>
            <a:pPr>
              <a:spcAft>
                <a:spcPts val="800"/>
              </a:spcAft>
              <a:defRPr sz="1000" b="1">
                <a:solidFill>
                  <a:srgbClr val="1F497D"/>
                </a:solidFill>
                <a:latin typeface="Calibri"/>
              </a:defRPr>
            </a:pPr>
            <a:r>
              <a:t>Offene Mängel: </a:t>
            </a:r>
            <a:r>
              <a:rPr b="0">
                <a:solidFill>
                  <a:srgbClr val="262626"/>
                </a:solidFill>
              </a:rPr>
              <a:t>Sichtbare Schäden (z.B. beschädigter Karton) müssen sofort auf dem Frachtbrief vermerkt und gerügt werden.</a:t>
            </a:r>
          </a:p>
          <a:p>
            <a:pPr>
              <a:spcAft>
                <a:spcPts val="800"/>
              </a:spcAft>
              <a:defRPr sz="1000" b="1">
                <a:solidFill>
                  <a:srgbClr val="1F497D"/>
                </a:solidFill>
                <a:latin typeface="Calibri"/>
              </a:defRPr>
            </a:pPr>
            <a:r>
              <a:t>Verdeckte Mängel: </a:t>
            </a:r>
            <a:r>
              <a:rPr b="0">
                <a:solidFill>
                  <a:srgbClr val="262626"/>
                </a:solidFill>
              </a:rPr>
              <a:t>Schäden im Inneren müssen unverzüglich nach Entdeckung angezeigt werden.</a:t>
            </a:r>
          </a:p>
          <a:p>
            <a:pPr>
              <a:spcAft>
                <a:spcPts val="800"/>
              </a:spcAft>
              <a:defRPr sz="1000" b="1">
                <a:solidFill>
                  <a:srgbClr val="1F497D"/>
                </a:solidFill>
                <a:latin typeface="Calibri"/>
              </a:defRPr>
            </a:pPr>
            <a:r>
              <a:t>Rechtsfolge: </a:t>
            </a:r>
            <a:r>
              <a:rPr b="0">
                <a:solidFill>
                  <a:srgbClr val="262626"/>
                </a:solidFill>
              </a:rPr>
              <a:t>Ohne rechtzeitige Rüge gilt die Ware als genehmigt (§ 377 Abs. 2 HGB) – Verlust von Rechten!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371600"/>
            <a:ext cx="34747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1371600"/>
            <a:ext cx="3474720" cy="64008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0832" y="1481328"/>
            <a:ext cx="3474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Praxisfall: Mängelrüge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148840"/>
            <a:ext cx="3200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F497D"/>
                </a:solidFill>
                <a:latin typeface="Calibri"/>
              </a:defRPr>
            </a:pPr>
            <a:r>
              <a:t>Mangel 1: </a:t>
            </a:r>
            <a:r>
              <a:rPr b="0">
                <a:solidFill>
                  <a:srgbClr val="262626"/>
                </a:solidFill>
              </a:rPr>
              <a:t>Gehäuseschaden an einer Lenovo ThinkStation P3 (Transportschaden/Delle).</a:t>
            </a:r>
          </a:p>
          <a:p>
            <a:pPr>
              <a:spcAft>
                <a:spcPts val="800"/>
              </a:spcAft>
              <a:defRPr sz="1000" b="1">
                <a:solidFill>
                  <a:srgbClr val="1F497D"/>
                </a:solidFill>
                <a:latin typeface="Calibri"/>
              </a:defRPr>
            </a:pPr>
            <a:r>
              <a:t>Mangel 2: </a:t>
            </a:r>
            <a:r>
              <a:rPr b="0">
                <a:solidFill>
                  <a:srgbClr val="262626"/>
                </a:solidFill>
              </a:rPr>
              <a:t>Fehllieferung eines Monitors (Full-HD statt bestelltem WQHD-Display).</a:t>
            </a:r>
          </a:p>
          <a:p>
            <a:pPr>
              <a:spcAft>
                <a:spcPts val="800"/>
              </a:spcAft>
              <a:defRPr sz="1000" b="1">
                <a:solidFill>
                  <a:srgbClr val="1F497D"/>
                </a:solidFill>
                <a:latin typeface="Calibri"/>
              </a:defRPr>
            </a:pPr>
            <a:r>
              <a:t>Schriftliche Rüge: </a:t>
            </a:r>
            <a:r>
              <a:rPr b="0">
                <a:solidFill>
                  <a:srgbClr val="262626"/>
                </a:solidFill>
              </a:rPr>
              <a:t>Kaufmännisches Rüge-Schreiben nach DIN 5008 an den Distributor.</a:t>
            </a:r>
          </a:p>
          <a:p>
            <a:pPr>
              <a:spcAft>
                <a:spcPts val="800"/>
              </a:spcAft>
              <a:defRPr sz="1000" b="1">
                <a:solidFill>
                  <a:srgbClr val="1F497D"/>
                </a:solidFill>
                <a:latin typeface="Calibri"/>
              </a:defRPr>
            </a:pPr>
            <a:r>
              <a:t>Fristsetzung: </a:t>
            </a:r>
            <a:r>
              <a:rPr b="0">
                <a:solidFill>
                  <a:srgbClr val="262626"/>
                </a:solidFill>
              </a:rPr>
              <a:t>Konkrete Frist zur kostenfreien Nachlieferung einwandfreier Ware binnen 14 Tagen.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371600"/>
            <a:ext cx="34747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0144" y="1371600"/>
            <a:ext cx="3474720" cy="640080"/>
          </a:xfrm>
          <a:prstGeom prst="rect">
            <a:avLst/>
          </a:prstGeom>
          <a:solidFill>
            <a:srgbClr val="385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10144" y="1481328"/>
            <a:ext cx="3474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Altdrucker-Entsorgung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7304" y="2148840"/>
            <a:ext cx="3200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F497D"/>
                </a:solidFill>
                <a:latin typeface="Calibri"/>
              </a:defRPr>
            </a:pPr>
            <a:r>
              <a:t>ElektroG / WEEE: </a:t>
            </a:r>
            <a:r>
              <a:rPr b="0">
                <a:solidFill>
                  <a:srgbClr val="262626"/>
                </a:solidFill>
              </a:rPr>
              <a:t>Fachgerechte Entsorgung als B2B-Altgerät bei einem zertifizierten Entsorgungsfachbetrieb.</a:t>
            </a:r>
          </a:p>
          <a:p>
            <a:pPr>
              <a:spcAft>
                <a:spcPts val="800"/>
              </a:spcAft>
              <a:defRPr sz="1000" b="1">
                <a:solidFill>
                  <a:srgbClr val="1F497D"/>
                </a:solidFill>
                <a:latin typeface="Calibri"/>
              </a:defRPr>
            </a:pPr>
            <a:r>
              <a:t>Toner-Kassetten: </a:t>
            </a:r>
            <a:r>
              <a:rPr b="0">
                <a:solidFill>
                  <a:srgbClr val="262626"/>
                </a:solidFill>
              </a:rPr>
              <a:t>Resttoner und Kassetten separat über geschlossene Recyclingprogramme entsorgen.</a:t>
            </a:r>
          </a:p>
          <a:p>
            <a:pPr>
              <a:spcAft>
                <a:spcPts val="800"/>
              </a:spcAft>
              <a:defRPr sz="1000" b="1">
                <a:solidFill>
                  <a:srgbClr val="1F497D"/>
                </a:solidFill>
                <a:latin typeface="Calibri"/>
              </a:defRPr>
            </a:pPr>
            <a:r>
              <a:t>Feinstaubschutz: </a:t>
            </a:r>
            <a:r>
              <a:rPr b="0">
                <a:solidFill>
                  <a:srgbClr val="262626"/>
                </a:solidFill>
              </a:rPr>
              <a:t>Sicherheitshandschuhe und Maske beim Ausbau verwenden.</a:t>
            </a:r>
          </a:p>
          <a:p>
            <a:pPr>
              <a:spcAft>
                <a:spcPts val="800"/>
              </a:spcAft>
              <a:defRPr sz="1000" b="1">
                <a:solidFill>
                  <a:srgbClr val="1F497D"/>
                </a:solidFill>
                <a:latin typeface="Calibri"/>
              </a:defRPr>
            </a:pPr>
            <a:r>
              <a:t>Datenlöschung (BSI): </a:t>
            </a:r>
            <a:r>
              <a:rPr b="0">
                <a:solidFill>
                  <a:srgbClr val="262626"/>
                </a:solidFill>
              </a:rPr>
              <a:t>Interne Speicher/Festplatten vor der Entsorgung 3-fach sicher überschreiben.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4C6E7"/>
                </a:solidFill>
                <a:latin typeface="Calibri"/>
              </a:defRPr>
            </a:pPr>
            <a:r>
              <a:t>ROLLOUT</a:t>
            </a:r>
          </a:p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Rollout-Phasen und Übergabe vor 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Handlungsaufgabe 2026  •  NextLevel IT Solutions GmbH  •  Kunde: VektorPlan GmbH             Folie 13 von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603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" y="155448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2377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1F497D"/>
                </a:solidFill>
                <a:latin typeface="Calibri"/>
              </a:defRPr>
            </a:pPr>
            <a:r>
              <a:t>Phase 1: Vorinstallation</a:t>
            </a:r>
          </a:p>
          <a:p>
            <a:pPr algn="ctr">
              <a:defRPr sz="950">
                <a:solidFill>
                  <a:srgbClr val="595959"/>
                </a:solidFill>
              </a:defRPr>
            </a:pPr>
            <a:r>
              <a:t>Im Systemhaus-Labor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00400"/>
            <a:ext cx="2286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Betriebssystem-Betankung über Standard-Image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Installation M365, Adobe Acrobat &amp; ESET EDR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Einspielen aller Windows- &amp; Treiber-Updates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24h-Dauertest der CAD-Workstations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371600"/>
            <a:ext cx="25603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25112" y="155448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468880"/>
            <a:ext cx="2377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1F497D"/>
                </a:solidFill>
                <a:latin typeface="Calibri"/>
              </a:defRPr>
            </a:pPr>
            <a:r>
              <a:t>Phase 2: Logistik</a:t>
            </a:r>
          </a:p>
          <a:p>
            <a:pPr algn="ctr">
              <a:defRPr sz="950">
                <a:solidFill>
                  <a:srgbClr val="595959"/>
                </a:solidFill>
              </a:defRPr>
            </a:pPr>
            <a:r>
              <a:t>Sicherer Transport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3200400"/>
            <a:ext cx="2286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ESD- und stoßsichere Verpackung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Terminierte Anlieferung bei VektorPlan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Verteilung auf die 2 Großraumbüros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Umweltgerechte Entsorgung von Kartonagen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71600"/>
            <a:ext cx="25603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050024" y="155448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2468880"/>
            <a:ext cx="2377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1F497D"/>
                </a:solidFill>
                <a:latin typeface="Calibri"/>
              </a:defRPr>
            </a:pPr>
            <a:r>
              <a:t>Phase 3: Montage</a:t>
            </a:r>
          </a:p>
          <a:p>
            <a:pPr algn="ctr">
              <a:defRPr sz="950">
                <a:solidFill>
                  <a:srgbClr val="595959"/>
                </a:solidFill>
              </a:defRPr>
            </a:pPr>
            <a:r>
              <a:t>ArbStättV-Ergonomie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3200400"/>
            <a:ext cx="2286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Aufbau der 32 höhenverstellbaren Monitore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Ausrichtung: Oberkante auf Augenhöhe (50-70 cm)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Saubere Bündelung aller Kabel unter Tischen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Patchkabel an Switchports anschließen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1371600"/>
            <a:ext cx="25603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74936" y="155448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2468880"/>
            <a:ext cx="2377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1F497D"/>
                </a:solidFill>
                <a:latin typeface="Calibri"/>
              </a:defRPr>
            </a:pPr>
            <a:r>
              <a:t>Phase 4: Abnahme</a:t>
            </a:r>
          </a:p>
          <a:p>
            <a:pPr algn="ctr">
              <a:defRPr sz="950">
                <a:solidFill>
                  <a:srgbClr val="595959"/>
                </a:solidFill>
              </a:defRPr>
            </a:pPr>
            <a:r>
              <a:t>Funktion &amp; Unterschrift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416" y="3200400"/>
            <a:ext cx="2286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Prüfung Netzwerkzugriff &amp; Server-Freigaben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CAD-Testrendering &amp; A3-Druckertest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Gemeinsame Begehung mit Kundenleitung</a:t>
            </a:r>
          </a:p>
          <a:p>
            <a:pPr>
              <a:spcAft>
                <a:spcPts val="600"/>
              </a:spcAft>
              <a:defRPr sz="950">
                <a:solidFill>
                  <a:srgbClr val="262626"/>
                </a:solidFill>
                <a:latin typeface="Calibri"/>
              </a:defRPr>
            </a:pPr>
            <a:r>
              <a:t>• Vorbehaltlose Unterzeichnung des Protokolls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4C6E7"/>
                </a:solidFill>
                <a:latin typeface="Calibri"/>
              </a:defRPr>
            </a:pPr>
            <a:r>
              <a:t>PROJEKTERGEBNIS</a:t>
            </a:r>
          </a:p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Soll-Ist-Vergleich: Termin, Kosten und Qualität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Handlungsaufgabe 2026  •  NextLevel IT Solutions GmbH  •  Kunde: VektorPlan GmbH             Folie 14 von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747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554480"/>
            <a:ext cx="3108960" cy="1097280"/>
          </a:xfrm>
          <a:prstGeom prst="roundRect">
            <a:avLst/>
          </a:prstGeom>
          <a:solidFill>
            <a:srgbClr val="DEEBF7"/>
          </a:solidFill>
          <a:ln w="19050">
            <a:solidFill>
              <a:srgbClr val="3857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3108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385723"/>
                </a:solidFill>
                <a:latin typeface="Calibri"/>
              </a:defRPr>
            </a:pPr>
            <a:r>
              <a:t>46 / 48 Tage</a:t>
            </a:r>
          </a:p>
          <a:p>
            <a:pPr algn="ctr">
              <a:defRPr sz="1000" b="1">
                <a:solidFill>
                  <a:srgbClr val="1F497D"/>
                </a:solidFill>
                <a:latin typeface="Calibri"/>
              </a:defRPr>
            </a:pPr>
            <a:r>
              <a:t>- 2 Tage Vorsprung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Calibri"/>
              </a:defRPr>
            </a:pPr>
            <a:r>
              <a:t>Zeitplanung (Termintreue)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Geplante Projektdauer: </a:t>
            </a:r>
            <a:r>
              <a:rPr b="0">
                <a:solidFill>
                  <a:srgbClr val="262626"/>
                </a:solidFill>
              </a:rPr>
              <a:t>48 Arbeitstage laut Meilensteinplan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Tatsächliche Dauer: </a:t>
            </a:r>
            <a:r>
              <a:rPr b="0">
                <a:solidFill>
                  <a:srgbClr val="262626"/>
                </a:solidFill>
              </a:rPr>
              <a:t>Erfolgreicher Abschluss in 46 Arbeitstagen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Erfolgsfaktor: </a:t>
            </a:r>
            <a:r>
              <a:rPr b="0">
                <a:solidFill>
                  <a:srgbClr val="262626"/>
                </a:solidFill>
              </a:rPr>
              <a:t>Vorab-Staging im Labor sparte Montagezeit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Ergebnis: </a:t>
            </a:r>
            <a:r>
              <a:rPr b="0">
                <a:solidFill>
                  <a:srgbClr val="262626"/>
                </a:solidFill>
              </a:rPr>
              <a:t>Alle Meilensteine wurden pünktlich erreicht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371600"/>
            <a:ext cx="34747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1554480"/>
            <a:ext cx="3108960" cy="1097280"/>
          </a:xfrm>
          <a:prstGeom prst="roundRect">
            <a:avLst/>
          </a:prstGeom>
          <a:solidFill>
            <a:srgbClr val="DEEBF7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600200"/>
            <a:ext cx="3108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F497D"/>
                </a:solidFill>
                <a:latin typeface="Calibri"/>
              </a:defRPr>
            </a:pPr>
            <a:r>
              <a:t>67.179 €</a:t>
            </a:r>
          </a:p>
          <a:p>
            <a:pPr algn="ctr">
              <a:defRPr sz="1000" b="1">
                <a:solidFill>
                  <a:srgbClr val="1F497D"/>
                </a:solidFill>
                <a:latin typeface="Calibri"/>
              </a:defRPr>
            </a:pPr>
            <a:r>
              <a:t>Im Budgetrahmen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74320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Calibri"/>
              </a:defRPr>
            </a:pPr>
            <a:r>
              <a:t>Kostenbudget (Finanzen)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315468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Kundenbudget (Obergrenze): </a:t>
            </a:r>
            <a:r>
              <a:rPr b="0">
                <a:solidFill>
                  <a:srgbClr val="262626"/>
                </a:solidFill>
              </a:rPr>
              <a:t>Maximal 70.000,00 € Netto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Tatsächliche Angebotssumme: </a:t>
            </a:r>
            <a:r>
              <a:rPr b="0">
                <a:solidFill>
                  <a:srgbClr val="262626"/>
                </a:solidFill>
              </a:rPr>
              <a:t>67.179,32 € Netto (inkl. Services)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Kostenvorteil für Kunden: </a:t>
            </a:r>
            <a:r>
              <a:rPr b="0">
                <a:solidFill>
                  <a:srgbClr val="262626"/>
                </a:solidFill>
              </a:rPr>
              <a:t>Ca. 2.820 € Ersparnis gegenüber Limit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Transparenz: </a:t>
            </a:r>
            <a:r>
              <a:rPr b="0">
                <a:solidFill>
                  <a:srgbClr val="262626"/>
                </a:solidFill>
              </a:rPr>
              <a:t>Vollständige Vorwärtskalkulation vorgelegt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371600"/>
            <a:ext cx="34747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93024" y="1554480"/>
            <a:ext cx="3108960" cy="1097280"/>
          </a:xfrm>
          <a:prstGeom prst="roundRect">
            <a:avLst/>
          </a:prstGeom>
          <a:solidFill>
            <a:srgbClr val="DEEBF7"/>
          </a:solidFill>
          <a:ln w="1905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1600200"/>
            <a:ext cx="3108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F5597"/>
                </a:solidFill>
                <a:latin typeface="Calibri"/>
              </a:defRPr>
            </a:pPr>
            <a:r>
              <a:t>100%</a:t>
            </a:r>
          </a:p>
          <a:p>
            <a:pPr algn="ctr">
              <a:defRPr sz="1000" b="1">
                <a:solidFill>
                  <a:srgbClr val="1F497D"/>
                </a:solidFill>
                <a:latin typeface="Calibri"/>
              </a:defRPr>
            </a:pPr>
            <a:r>
              <a:t>Vorbehaltlos abgenommen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4" y="274320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Calibri"/>
              </a:defRPr>
            </a:pPr>
            <a:r>
              <a:t>Qualität &amp; Kundenzufriedenheit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315468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Lieferumfang: </a:t>
            </a:r>
            <a:r>
              <a:rPr b="0">
                <a:solidFill>
                  <a:srgbClr val="262626"/>
                </a:solidFill>
              </a:rPr>
              <a:t>16 von 16 Arbeitsplätzen voll funktionsfähig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Mängelmanagement: </a:t>
            </a:r>
            <a:r>
              <a:rPr b="0">
                <a:solidFill>
                  <a:srgbClr val="262626"/>
                </a:solidFill>
              </a:rPr>
              <a:t>Transportschäden fristgerecht getauscht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Ergonomie: </a:t>
            </a:r>
            <a:r>
              <a:rPr b="0">
                <a:solidFill>
                  <a:srgbClr val="262626"/>
                </a:solidFill>
              </a:rPr>
              <a:t>ArbStättV-konforme Arbeitsplatzgestaltung</a:t>
            </a:r>
          </a:p>
          <a:p>
            <a:pPr>
              <a:spcAft>
                <a:spcPts val="600"/>
              </a:spcAft>
              <a:defRPr sz="950" b="1">
                <a:solidFill>
                  <a:srgbClr val="1F497D"/>
                </a:solidFill>
                <a:latin typeface="Calibri"/>
              </a:defRPr>
            </a:pPr>
            <a:r>
              <a:t>Abnahmeprotokoll: </a:t>
            </a:r>
            <a:r>
              <a:rPr b="0">
                <a:solidFill>
                  <a:srgbClr val="262626"/>
                </a:solidFill>
              </a:rPr>
              <a:t>Durch VektorPlan GmbH ohne Mängel rügellos gezeichnet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4C6E7"/>
                </a:solidFill>
                <a:latin typeface="Calibri"/>
              </a:defRPr>
            </a:pPr>
            <a:r>
              <a:t>REFLEXION</a:t>
            </a:r>
          </a:p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Lessons Learned &amp; Fazit unseres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Handlungsaufgabe 2026  •  NextLevel IT Solutions GmbH  •  Kunde: VektorPlan GmbH             Folie 15 von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578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5257800" cy="548640"/>
          </a:xfrm>
          <a:prstGeom prst="rect">
            <a:avLst/>
          </a:prstGeom>
          <a:solidFill>
            <a:srgbClr val="385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Was lief besonders gut im Projekt?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4800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50" b="1">
                <a:solidFill>
                  <a:srgbClr val="385723"/>
                </a:solidFill>
                <a:latin typeface="Calibri"/>
              </a:defRPr>
            </a:pPr>
            <a:r>
              <a:t>✔ Nutzwertanalyse als Entscheidungshilfe: </a:t>
            </a:r>
            <a:r>
              <a:rPr b="0">
                <a:solidFill>
                  <a:srgbClr val="262626"/>
                </a:solidFill>
              </a:rPr>
              <a:t>Die mathematische Bewertung sicherte die optimale CAD-Grafikkarte (RTX 4000 Ada) und den besten Monitor.</a:t>
            </a:r>
          </a:p>
          <a:p>
            <a:pPr>
              <a:spcAft>
                <a:spcPts val="1000"/>
              </a:spcAft>
              <a:defRPr sz="1050" b="1">
                <a:solidFill>
                  <a:srgbClr val="385723"/>
                </a:solidFill>
                <a:latin typeface="Calibri"/>
              </a:defRPr>
            </a:pPr>
            <a:r>
              <a:t>✔ Strikte Wareneingangsprüfung (§ 377 HGB): </a:t>
            </a:r>
            <a:r>
              <a:rPr b="0">
                <a:solidFill>
                  <a:srgbClr val="262626"/>
                </a:solidFill>
              </a:rPr>
              <a:t>Weil wir die Pakete sofort kontrolliert haben, konnten wir den Gehäuseschaden und Falschlieferung rügen, ohne Gewährleistung zu verlieren.</a:t>
            </a:r>
          </a:p>
          <a:p>
            <a:pPr>
              <a:spcAft>
                <a:spcPts val="1000"/>
              </a:spcAft>
              <a:defRPr sz="1050" b="1">
                <a:solidFill>
                  <a:srgbClr val="385723"/>
                </a:solidFill>
                <a:latin typeface="Calibri"/>
              </a:defRPr>
            </a:pPr>
            <a:r>
              <a:t>✔ Gute Teamarbeit &amp; klare Rollen: </a:t>
            </a:r>
            <a:r>
              <a:rPr b="0">
                <a:solidFill>
                  <a:srgbClr val="262626"/>
                </a:solidFill>
              </a:rPr>
              <a:t>Die klare Aufteilung auf Jan, Mathias, Marian, Marco und Siyar verhinderte Doppelarbeit.</a:t>
            </a:r>
          </a:p>
          <a:p>
            <a:pPr>
              <a:spcAft>
                <a:spcPts val="1000"/>
              </a:spcAft>
              <a:defRPr sz="1050" b="1">
                <a:solidFill>
                  <a:srgbClr val="385723"/>
                </a:solidFill>
                <a:latin typeface="Calibri"/>
              </a:defRPr>
            </a:pPr>
            <a:r>
              <a:t>✔ Vorab-Installation im Systemhaus: </a:t>
            </a:r>
            <a:r>
              <a:rPr b="0">
                <a:solidFill>
                  <a:srgbClr val="262626"/>
                </a:solidFill>
              </a:rPr>
              <a:t>Weil alle Rechner im Labor vorgeflasht wurden, dauerte der Aufbau beim Kunden nur 3 statt 5 Tage.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578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257800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Was nehmen wir für nächste Projekte mit?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4800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50" b="1">
                <a:solidFill>
                  <a:srgbClr val="1F497D"/>
                </a:solidFill>
                <a:latin typeface="Calibri"/>
              </a:defRPr>
            </a:pPr>
            <a:r>
              <a:t>➔ Netzwerk-Check noch früher machen: </a:t>
            </a:r>
            <a:r>
              <a:rPr b="0">
                <a:solidFill>
                  <a:srgbClr val="262626"/>
                </a:solidFill>
              </a:rPr>
              <a:t>Die Switch-Ports und Dosen vor Ort sollten wir künftig schon vor der Bestellung gemeinsam mit dem Kunden begehen.</a:t>
            </a:r>
          </a:p>
          <a:p>
            <a:pPr>
              <a:spcAft>
                <a:spcPts val="1000"/>
              </a:spcAft>
              <a:defRPr sz="1050" b="1">
                <a:solidFill>
                  <a:srgbClr val="1F497D"/>
                </a:solidFill>
                <a:latin typeface="Calibri"/>
              </a:defRPr>
            </a:pPr>
            <a:r>
              <a:t>➔ Pufferzeiten für Retouren einplanen: </a:t>
            </a:r>
            <a:r>
              <a:rPr b="0">
                <a:solidFill>
                  <a:srgbClr val="262626"/>
                </a:solidFill>
              </a:rPr>
              <a:t>Für RMA-Austauschprozesse sollte im Netzplan immer ein festes Zeitfenster von 3-5 Tagen reserviert sein.</a:t>
            </a:r>
          </a:p>
          <a:p>
            <a:pPr>
              <a:spcAft>
                <a:spcPts val="1000"/>
              </a:spcAft>
              <a:defRPr sz="1050" b="1">
                <a:solidFill>
                  <a:srgbClr val="1F497D"/>
                </a:solidFill>
                <a:latin typeface="Calibri"/>
              </a:defRPr>
            </a:pPr>
            <a:r>
              <a:t>➔ Inbetriebnahme-Checkliste beibehalten: </a:t>
            </a:r>
            <a:r>
              <a:rPr b="0">
                <a:solidFill>
                  <a:srgbClr val="262626"/>
                </a:solidFill>
              </a:rPr>
              <a:t>Unsere erstellte Checkliste nach ArbStättV war Gold wert und wird als Standardvorlage übernommen.</a:t>
            </a:r>
          </a:p>
          <a:p>
            <a:pPr>
              <a:spcAft>
                <a:spcPts val="1000"/>
              </a:spcAft>
              <a:defRPr sz="1050" b="1">
                <a:solidFill>
                  <a:srgbClr val="1F497D"/>
                </a:solidFill>
                <a:latin typeface="Calibri"/>
              </a:defRPr>
            </a:pPr>
            <a:r>
              <a:t>➔ Mitarbeiter-Einweisung standardisieren: </a:t>
            </a:r>
            <a:r>
              <a:rPr b="0">
                <a:solidFill>
                  <a:srgbClr val="262626"/>
                </a:solidFill>
              </a:rPr>
              <a:t>Kurze Bedienungsanleitungen für den A3-Drucker direkt als PDF auf allen Desktops hinterlegen.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645920" y="822960"/>
            <a:ext cx="8899855" cy="5212080"/>
          </a:xfrm>
          <a:prstGeom prst="roundRect">
            <a:avLst/>
          </a:prstGeom>
          <a:solidFill>
            <a:srgbClr val="2F5597"/>
          </a:solidFill>
          <a:ln w="25400">
            <a:solidFill>
              <a:srgbClr val="B4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097280"/>
            <a:ext cx="85340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Vielen Dank für Ihre Aufmerksamkeit!</a:t>
            </a:r>
          </a:p>
          <a:p>
            <a:pPr algn="ctr">
              <a:defRPr sz="1500">
                <a:solidFill>
                  <a:srgbClr val="DEEBF7"/>
                </a:solidFill>
              </a:defRPr>
            </a:pPr>
            <a:r>
              <a:t>Wir freuen uns auf Ihre Fragen und die anschließende Diskussion.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2190" y="2560320"/>
            <a:ext cx="5486400" cy="18288"/>
          </a:xfrm>
          <a:prstGeom prst="rect">
            <a:avLst/>
          </a:prstGeom>
          <a:solidFill>
            <a:srgbClr val="B4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743200"/>
            <a:ext cx="85340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NextLevel IT Solutions GmbH</a:t>
            </a:r>
          </a:p>
          <a:p>
            <a:pPr algn="ctr">
              <a:defRPr sz="1100">
                <a:solidFill>
                  <a:srgbClr val="DEEBF7"/>
                </a:solidFill>
              </a:defRPr>
            </a:pPr>
            <a:r>
              <a:t>Technikstraße 42  •  50667 Köln  •  Tel: 0221 / 123 456-0  •  E-Mail: info@nextlevel-it.de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4114800"/>
            <a:ext cx="8168335" cy="1645920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8EA9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4206240"/>
            <a:ext cx="7985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DEEBF7"/>
                </a:solidFill>
                <a:latin typeface="Calibri"/>
              </a:defRPr>
            </a:pPr>
            <a:r>
              <a:t>PROJEKTTEAM (HANDLUNGSAUFGABE 2026):</a:t>
            </a:r>
          </a:p>
          <a:p>
            <a:pPr algn="ctr">
              <a:defRPr sz="1150">
                <a:solidFill>
                  <a:srgbClr val="FFFFFF"/>
                </a:solidFill>
              </a:defRPr>
            </a:pPr>
            <a:r>
              <a:t>Jan Kluth (Projektleiter)  •  Mathias Vonau (Techn. Planer)  •  Marian Bolecke (Kalkulation)</a:t>
            </a:r>
          </a:p>
          <a:p>
            <a:pPr algn="ctr">
              <a:defRPr sz="1150">
                <a:solidFill>
                  <a:srgbClr val="FFFFFF"/>
                </a:solidFill>
              </a:defRPr>
            </a:pPr>
            <a:r>
              <a:t>Marco Schmidt (Qualitätsmanagement)  •  Siyar (Berechnungen &amp; Dokumentation)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