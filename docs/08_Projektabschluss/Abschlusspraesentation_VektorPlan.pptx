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" cy="457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  <a:latin typeface="Segoe UI"/>
              </a:defRPr>
            </a:pPr>
            <a:r>
              <a:t>NEXTLEVEL IT SOLUTIONS GMBH  •  HANDLUNGSAUFGABE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Ausstattung eines Planungs- &amp;</a:t>
            </a:r>
            <a:br/>
            <a:r>
              <a:t>Konstruktionsbüros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918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BF3FA"/>
                </a:solidFill>
                <a:latin typeface="Segoe UI"/>
              </a:defRPr>
            </a:pPr>
            <a:r>
              <a:t>Schlüsselfertiges IT-Infrastruktur- und Modernisierungskonzept für die VektorPlan GmbH:</a:t>
            </a:r>
            <a:br/>
            <a:r>
              <a:t>16 ergonomische Arbeitsplätze, High-End CAD-Workstations &amp; rechtskonformes Projektmanagement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297680"/>
            <a:ext cx="9601200" cy="1371600"/>
          </a:xfrm>
          <a:prstGeom prst="roundRect">
            <a:avLst/>
          </a:prstGeom>
          <a:solidFill>
            <a:srgbClr val="123456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92354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Segoe UI"/>
              </a:defRPr>
            </a:pPr>
            <a:r>
              <a:t>Projektteam NextLevel IT Solutions: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Jan Kluth (Projektleiter)  •  Mathias Vonau (Techn. Planer)  •  Marian Bolecke (Kalkulation)  •  Marco Schmidt (QM)  •  Siyar (Dokumentation)</a:t>
            </a:r>
          </a:p>
          <a:p>
            <a:pPr>
              <a:defRPr sz="1050" i="1">
                <a:solidFill>
                  <a:srgbClr val="EBF3FA"/>
                </a:solidFill>
                <a:latin typeface="Segoe UI"/>
              </a:defRPr>
            </a:pPr>
            <a:r>
              <a:t>Abschlusspräsentation vor Kunde &amp; Geschäftsleitung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Agenda &amp; Fahrplan der Präsentation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Ausgangslage &amp; Ziele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Bedarf der VektorPlan GmbH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95728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Team &amp; 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Rollen &amp; Vorgehensmodell DIN 69901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50208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Projektstrukturplan (PSP)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Objektorientierte Gliederung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59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04687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Netzplan &amp; Kritischer Pfad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399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Ablaufanalyse nach DIN 69900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59168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Anforderungsprofil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Standard-PC vs. CAD-Workstation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13648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Marktrecherche &amp;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Ausgewählte Komponenten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146304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68128" y="157276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1965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Nutzwertanalysen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7432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Wissenschaftliche Entscheidungsmatrix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Kalkulation &amp; Angebot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Vorwärtskalkulation &amp; Konditionen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95728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Kundenberechnungen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Server-Speicher (445 GiB) &amp; Energie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950208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Wareneingang § 377 HGB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Prüfpflichten &amp; Praxisfall Mängelrüge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59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504687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399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Umwelt &amp; Entsorgung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399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Altdrucker nach ElektroG &amp; DSGVO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9440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059168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Rollout &amp; Inbetriebnahme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ArbStättV-Ergonomie &amp; Abnahme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3920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613648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Soll-Ist-Vergleich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Termin-, Kosten- &amp; Qualitätserfolg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58400" y="3840480"/>
            <a:ext cx="14630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168128" y="3950208"/>
            <a:ext cx="457200" cy="29260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4343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Lessons Learned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51206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Best Practices &amp; Empfehlungen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Projektauftrag: Modernisierung VektorPlan GmbH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Ausgangssituation &amp; Kundenbedarf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</a:defRPr>
            </a:pPr>
            <a:r>
              <a:t>• Kunde: </a:t>
            </a:r>
            <a:r>
              <a:rPr b="0">
                <a:solidFill>
                  <a:srgbClr val="1E293B"/>
                </a:solidFill>
              </a:rPr>
              <a:t>VektorPlan GmbH (Architektur- &amp; Ingenieurbüro)</a:t>
            </a:r>
          </a:p>
          <a:p>
            <a:pPr>
              <a:defRPr sz="1100" b="1">
                <a:solidFill>
                  <a:srgbClr val="005A9C"/>
                </a:solidFill>
              </a:defRPr>
            </a:pPr>
            <a:r>
              <a:t>• Anlass: </a:t>
            </a:r>
            <a:r>
              <a:rPr b="0">
                <a:solidFill>
                  <a:srgbClr val="1E293B"/>
                </a:solidFill>
              </a:rPr>
              <a:t>Bezug von 2 neuen Großraumbüros &amp; Plotterstation</a:t>
            </a:r>
          </a:p>
          <a:p>
            <a:pPr>
              <a:defRPr sz="1100" b="1">
                <a:solidFill>
                  <a:srgbClr val="005A9C"/>
                </a:solidFill>
              </a:defRPr>
            </a:pPr>
            <a:r>
              <a:t>• Zielsetzung: </a:t>
            </a:r>
            <a:r>
              <a:rPr b="0">
                <a:solidFill>
                  <a:srgbClr val="1E293B"/>
                </a:solidFill>
              </a:rPr>
              <a:t>Leistungsstarke, zukunftssichere IT-Infrastruktur</a:t>
            </a:r>
          </a:p>
          <a:p>
            <a:pPr>
              <a:defRPr sz="1100" b="1">
                <a:solidFill>
                  <a:srgbClr val="005A9C"/>
                </a:solidFill>
              </a:defRPr>
            </a:pPr>
            <a:r>
              <a:t>• Ergonomie: </a:t>
            </a:r>
            <a:r>
              <a:rPr b="0">
                <a:solidFill>
                  <a:srgbClr val="1E293B"/>
                </a:solidFill>
              </a:rPr>
              <a:t>Doppelmonitore, Pivot, Blaulichtfilter &amp; leise PCs</a:t>
            </a:r>
          </a:p>
          <a:p>
            <a:pPr>
              <a:defRPr sz="1100" b="1">
                <a:solidFill>
                  <a:srgbClr val="005A9C"/>
                </a:solidFill>
              </a:defRPr>
            </a:pPr>
            <a:r>
              <a:t>• Datensicherheit: </a:t>
            </a:r>
            <a:r>
              <a:rPr b="0">
                <a:solidFill>
                  <a:srgbClr val="1E293B"/>
                </a:solidFill>
              </a:rPr>
              <a:t>Tägliche lokale SSD-Zwischensicherung + Server-Sync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Liefer- und Leistungsumfang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✔ 12 Standard-Büro-PCs: </a:t>
            </a:r>
            <a:r>
              <a:rPr b="0">
                <a:solidFill>
                  <a:srgbClr val="1E293B"/>
                </a:solidFill>
              </a:rPr>
              <a:t>Leise Desktop-Rechner (Bauleitung/Office)</a:t>
            </a:r>
          </a:p>
          <a:p>
            <a:pPr>
              <a:defRPr sz="1100" b="1">
                <a:solidFill>
                  <a:srgbClr val="00A896"/>
                </a:solidFill>
              </a:defRPr>
            </a:pPr>
            <a:r>
              <a:t>✔ 4 CAD-Workstations: </a:t>
            </a:r>
            <a:r>
              <a:rPr b="0">
                <a:solidFill>
                  <a:srgbClr val="1E293B"/>
                </a:solidFill>
              </a:rPr>
              <a:t>High-End BIM/Rendering (NVIDIA RTX 4000 Ada)</a:t>
            </a:r>
          </a:p>
          <a:p>
            <a:pPr>
              <a:defRPr sz="1100" b="1">
                <a:solidFill>
                  <a:srgbClr val="00A896"/>
                </a:solidFill>
              </a:defRPr>
            </a:pPr>
            <a:r>
              <a:t>✔ 32 Ergonomie-Monitore: </a:t>
            </a:r>
            <a:r>
              <a:rPr b="0">
                <a:solidFill>
                  <a:srgbClr val="1E293B"/>
                </a:solidFill>
              </a:rPr>
              <a:t>Je 2x 27'' WQHD IPS Displays pro Platz</a:t>
            </a:r>
          </a:p>
          <a:p>
            <a:pPr>
              <a:defRPr sz="1100" b="1">
                <a:solidFill>
                  <a:srgbClr val="00A896"/>
                </a:solidFill>
              </a:defRPr>
            </a:pPr>
            <a:r>
              <a:t>✔ Zentrales Farblaser-MFP: </a:t>
            </a:r>
            <a:r>
              <a:rPr b="0">
                <a:solidFill>
                  <a:srgbClr val="1E293B"/>
                </a:solidFill>
              </a:rPr>
              <a:t>DIN A3/A4 Drucker &amp; Scanner für Baupläne</a:t>
            </a:r>
          </a:p>
          <a:p>
            <a:pPr>
              <a:defRPr sz="1100" b="1">
                <a:solidFill>
                  <a:srgbClr val="00A896"/>
                </a:solidFill>
              </a:defRPr>
            </a:pPr>
            <a:r>
              <a:t>✔ Schlüsselfertig: </a:t>
            </a:r>
            <a:r>
              <a:rPr b="0">
                <a:solidFill>
                  <a:srgbClr val="1E293B"/>
                </a:solidFill>
              </a:rPr>
              <a:t>Staging, Verkabelung, Montage &amp; Abnahme vor 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Teamorganisation: Rollen &amp; Verantwortlichkeiten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574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57400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Jan Kluth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3FA"/>
                </a:solidFill>
                <a:latin typeface="Segoe UI"/>
              </a:defRPr>
            </a:pPr>
            <a:r>
              <a:t>Projektleiter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Gesamtkoordination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Termin- &amp; Budgetkontrolle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Abnahme &amp; Präsentation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71600"/>
            <a:ext cx="20574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1" y="1371600"/>
            <a:ext cx="2057400" cy="914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1" y="146304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Mathias Vonau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18745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3FA"/>
                </a:solidFill>
                <a:latin typeface="Segoe UI"/>
              </a:defRPr>
            </a:pPr>
            <a:r>
              <a:t>Technischer Planer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246888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Anforderungsanalyse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Lastenheft-Erstellung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Rollout &amp; Ergonomie-Montage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1371600"/>
            <a:ext cx="20574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371600"/>
            <a:ext cx="2057400" cy="914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46304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Marian Bolecke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18745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3FA"/>
                </a:solidFill>
                <a:latin typeface="Segoe UI"/>
              </a:defRPr>
            </a:pPr>
            <a:r>
              <a:t>Beschaffung &amp; Kalkulation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46888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Reale Marktrecherche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Nutzwertanalysen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Vorwärtskalkulation &amp; Angebot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0336" y="1371600"/>
            <a:ext cx="20574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0336" y="1371600"/>
            <a:ext cx="2057400" cy="914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46304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Marco Schmidt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0336" y="18745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3FA"/>
                </a:solidFill>
                <a:latin typeface="Segoe UI"/>
              </a:defRPr>
            </a:pPr>
            <a:r>
              <a:t>Qualitätsmanagement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46888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Wareneingang (§ 377 HGB)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Mängelrüge-Management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Altdrucker-Entsorgung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1371600"/>
            <a:ext cx="20574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36608" y="1371600"/>
            <a:ext cx="2057400" cy="914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36608" y="146304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Siyar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18745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BF3FA"/>
                </a:solidFill>
                <a:latin typeface="Segoe UI"/>
              </a:defRPr>
            </a:pPr>
            <a:r>
              <a:t>Berechnung &amp; Doku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2468880"/>
            <a:ext cx="1783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Server-Speicherkalkulation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Energiekosten-Berechnung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Protokolle &amp; QS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PROJEKTSTRUKTUR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Projektstrukturplan (PSP) nach DIN 69901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190" y="1280160"/>
            <a:ext cx="5486400" cy="68580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1.0 Gesamtprojekt: IT-Ausstattung VektorPlan GmbH</a:t>
            </a:r>
          </a:p>
          <a:p>
            <a:pPr algn="ctr">
              <a:defRPr sz="950">
                <a:solidFill>
                  <a:srgbClr val="EBF3FA"/>
                </a:solidFill>
              </a:defRPr>
            </a:pPr>
            <a:r>
              <a:t>Projektleitung: Jan Kluth  |  Verfahren: Wasserfallmodell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2057400" cy="73152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1.1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Marian Bolecke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1874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1.1.1 12x Standard-PCs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1.1.2 4x CAD-Workstations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1.1.3 32x WQHD-Monitore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1.1.4 16x Eingabe-Sets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1.1.5 16x Externe SSDs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1.1.6 1x Farb-MFP A3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219456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7791" y="2194560"/>
            <a:ext cx="2057400" cy="73152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1.2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2578608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Mathias Vonau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1" y="3017520"/>
            <a:ext cx="1874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1.2.1 16x Win 11 Pro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1.2.2 16x M365 Business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1.2.3 16x Adobe Acrobat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1.2.4 ESET EDR Security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Standard-Image Setup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Lizenzzuordnung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219456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2194560"/>
            <a:ext cx="2057400" cy="73152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1.3 Netzwerk &amp;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578608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Siyar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3017520"/>
            <a:ext cx="1874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1.3.1 Cat.6A Patchkabel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1.3.2 Server-Kapazität (445 GiB)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1.3.3 Energiekosten (1.771 €)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Switchport-Zuordnung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Synchronisationstest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Dokumentation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0336" y="219456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0336" y="2194560"/>
            <a:ext cx="2057400" cy="73152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1.4 QM &amp; Logistik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2578608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Marco Schmidt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6" y="3017520"/>
            <a:ext cx="1874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1.4.1 Wareneingang § 377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1.4.2 Mängelrüge Distri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1.4.3 Altdrucker ElektroG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BSI-Datenlöschung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Entsorgungszertifikat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Gewährleistungsakte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36608" y="2194560"/>
            <a:ext cx="2057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36608" y="2194560"/>
            <a:ext cx="2057400" cy="73152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1.5 Rollout &amp;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2578608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Jan Kluth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017520"/>
            <a:ext cx="1874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1.5.1 Staging im Labor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1.5.2 Montage (ArbStättV)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1.5.3 Funktionstests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1.5.4 Abnahmeprotokoll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Kosten-/Terminplan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• Lessons Learned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TERMINPLANUNG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Netzplantechnik nach DIN 69900 (Knotenmodell)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FDE9D9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0006"/>
                </a:solidFill>
                <a:latin typeface="Segoe UI"/>
              </a:defRPr>
            </a:pPr>
            <a:r>
              <a:t>KRITISCHER PFAD (Dauer: 46 Arbeitstage): V1 ➔ V2 ➔ V3 ➔ V4 ➔ V5 ➔ V6 ➔ V7 ➔ V8 ➔ V9 ➔ V11 ➔ V12 ➔ V13 ➔ V14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V1: Kick-off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2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0 | FEZ 2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201168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208483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V2: Lastenheft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5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2 | FEZ 7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01168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08483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V3: Recherche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5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7 | FEZ 12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201168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208483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V4: Nutzwert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3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12 | FEZ 15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01168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8483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V5: Angebot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4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15 | FEZ 19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01168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208483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V6: Freigabe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3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19 | FEZ 22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3075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V7: Beschaffung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10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22 | FEZ 32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42032" y="365760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5184" y="373075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V8: Eingang §377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2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32 | FEZ 34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65760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373075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V9: Staging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5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34 | FEZ 39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5" y="365760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7" y="373075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V11: Montage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3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39 | FEZ 42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365760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73075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V12: Abnahme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2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42 | FEZ 44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3657600"/>
            <a:ext cx="1691640" cy="1280160"/>
          </a:xfrm>
          <a:prstGeom prst="roundRect">
            <a:avLst/>
          </a:prstGeom>
          <a:solidFill>
            <a:srgbClr val="FEF2ED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3730752"/>
            <a:ext cx="1545336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540"/>
                </a:solidFill>
                <a:latin typeface="Segoe UI"/>
              </a:defRPr>
            </a:pPr>
            <a:r>
              <a:t>V13/14: Finish</a:t>
            </a:r>
          </a:p>
          <a:p>
            <a:pPr>
              <a:defRPr sz="950" b="1">
                <a:solidFill>
                  <a:srgbClr val="EB5E28"/>
                </a:solidFill>
              </a:defRPr>
            </a:pPr>
            <a:r>
              <a:t>Dauer: 2 T.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FAZ 44 | FEZ 46</a:t>
            </a:r>
          </a:p>
          <a:p>
            <a:pPr>
              <a:defRPr sz="850" b="1">
                <a:solidFill>
                  <a:srgbClr val="9C0006"/>
                </a:solidFill>
              </a:defRPr>
            </a:pPr>
            <a:r>
              <a:t>GP: 0 (Kritisch)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EBF3FA"/>
          </a:solidFill>
          <a:ln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Paralleler Vorgang mit Puffer: V10 'Entsorgung Altdrucker' (ElektroG) | Dauer: 2 Tage | FAZ: Tag 39 / FEZ: Tag 41 | SAZ: Tag 40 / SEZ: Tag 42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➔ Gesamtpuffer (GP) = 1 Tag: Verzögerungen von bis zu 1 Tag bei der Druckerentsorgung gefährden den Endtermin (Tag 46) nicht.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SPEZIFIKATIONEN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Anforderungsprofil: Arbeitsplatztypen im Vergleich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12x Standard-Büro-PCs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Bauleitung, Ausschreibung,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Prozessor: </a:t>
            </a:r>
            <a:r>
              <a:rPr b="0">
                <a:solidFill>
                  <a:srgbClr val="1E293B"/>
                </a:solidFill>
              </a:rPr>
              <a:t>Intel Core i5-13400 (10 Kerne, bis 4.6 GHz)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Arbeitsspeicher: </a:t>
            </a:r>
            <a:r>
              <a:rPr b="0">
                <a:solidFill>
                  <a:srgbClr val="1E293B"/>
                </a:solidFill>
              </a:rPr>
              <a:t>16 GB DDR5 RAM (Erweiterbar bis 64 GB)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Grafikeinheit: </a:t>
            </a:r>
            <a:r>
              <a:rPr b="0">
                <a:solidFill>
                  <a:srgbClr val="1E293B"/>
                </a:solidFill>
              </a:rPr>
              <a:t>Integrierte Intel UHD Graphics 730 (Dual-Screen)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Systemlaufwerk: </a:t>
            </a:r>
            <a:r>
              <a:rPr b="0">
                <a:solidFill>
                  <a:srgbClr val="1E293B"/>
                </a:solidFill>
              </a:rPr>
              <a:t>512 GB M.2 NVMe PCIe 4.0 SSD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Gehäuse/Akustik: </a:t>
            </a:r>
            <a:r>
              <a:rPr b="0">
                <a:solidFill>
                  <a:srgbClr val="1E293B"/>
                </a:solidFill>
              </a:rPr>
              <a:t>Small Form Factor (SFF), leise Lüfter (&lt;28 dB)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Peripherie: </a:t>
            </a:r>
            <a:r>
              <a:rPr b="0">
                <a:solidFill>
                  <a:srgbClr val="1E293B"/>
                </a:solidFill>
              </a:rPr>
              <a:t>Logitech Funk-Set (AES-128) + 1TB SSD extern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3474720" cy="822960"/>
          </a:xfrm>
          <a:prstGeom prst="rect">
            <a:avLst/>
          </a:prstGeom>
          <a:solidFill>
            <a:srgbClr val="EB5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4x CAD/BIM-Workstations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3D-Visualisierung, Rendering, Revit/CAD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Prozessor: </a:t>
            </a:r>
            <a:r>
              <a:rPr b="0">
                <a:solidFill>
                  <a:srgbClr val="1E293B"/>
                </a:solidFill>
              </a:rPr>
              <a:t>Intel Core i7-13700 (16 Kerne, bis 5.2 GHz)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Arbeitsspeicher: </a:t>
            </a:r>
            <a:r>
              <a:rPr b="0">
                <a:solidFill>
                  <a:srgbClr val="1E293B"/>
                </a:solidFill>
              </a:rPr>
              <a:t>64 GB DDR5 RAM (Erweiterbar bis 128 GB)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Grafikkarte: </a:t>
            </a:r>
            <a:r>
              <a:rPr b="0">
                <a:solidFill>
                  <a:srgbClr val="1E293B"/>
                </a:solidFill>
              </a:rPr>
              <a:t>NVIDIA RTX 4000 Ada (20 GB GDDR6 ECC)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Systemlaufwerk: </a:t>
            </a:r>
            <a:r>
              <a:rPr b="0">
                <a:solidFill>
                  <a:srgbClr val="1E293B"/>
                </a:solidFill>
              </a:rPr>
              <a:t>1 TB M.2 NVMe PCIe 4.0 SSD (hohe IOPS)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Gehäuse/Kühlung: </a:t>
            </a:r>
            <a:r>
              <a:rPr b="0">
                <a:solidFill>
                  <a:srgbClr val="1E293B"/>
                </a:solidFill>
              </a:rPr>
              <a:t>Tower-Gehäuse, leise Hochleistungskühlung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Zertifizierung: </a:t>
            </a:r>
            <a:r>
              <a:rPr b="0">
                <a:solidFill>
                  <a:srgbClr val="1E293B"/>
                </a:solidFill>
              </a:rPr>
              <a:t>ISV-zertifiziert für Revit, AutoCAD, Archicad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371600"/>
            <a:ext cx="3474720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Monitore &amp; Druckstation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Ergonomie &amp; Büroinfrastruktur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32x Monitore: </a:t>
            </a:r>
            <a:r>
              <a:rPr b="0">
                <a:solidFill>
                  <a:srgbClr val="1E293B"/>
                </a:solidFill>
              </a:rPr>
              <a:t>27 Zoll WQHD (2560x1440), IPS Black Panel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Ergonomie: </a:t>
            </a:r>
            <a:r>
              <a:rPr b="0">
                <a:solidFill>
                  <a:srgbClr val="1E293B"/>
                </a:solidFill>
              </a:rPr>
              <a:t>Höhenverstellbar (150mm), Pivot 90°, Swivel, Tilt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Augenschonung: </a:t>
            </a:r>
            <a:r>
              <a:rPr b="0">
                <a:solidFill>
                  <a:srgbClr val="1E293B"/>
                </a:solidFill>
              </a:rPr>
              <a:t>Hardware-Blaulichtfilter (ComfortView Plus)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1x A3/A4 MFP: </a:t>
            </a:r>
            <a:r>
              <a:rPr b="0">
                <a:solidFill>
                  <a:srgbClr val="1E293B"/>
                </a:solidFill>
              </a:rPr>
              <a:t>Lexmark CX930dse Farb-Multifunktionsdrucker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MFP-Funktionen: </a:t>
            </a:r>
            <a:r>
              <a:rPr b="0">
                <a:solidFill>
                  <a:srgbClr val="1E293B"/>
                </a:solidFill>
              </a:rPr>
              <a:t>Duplex-Druck/Scan, 33 S./Min, PostScript/PCL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Netzwerk: </a:t>
            </a:r>
            <a:r>
              <a:rPr b="0">
                <a:solidFill>
                  <a:srgbClr val="1E293B"/>
                </a:solidFill>
              </a:rPr>
              <a:t>Gigabit-LAN Cat.6A S/FTP halogenfrei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PRODUKTAUSWAHL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Ausgewählte Hardware-Komponenten (Fachhandel)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40" y="153619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690,00 € Netto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STANDARD-PC (12X)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Lenovo ThinkCentre M70s Gen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i5-13400, 16GB RAM, 512GB NVMe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Kompaktes SFF-Gehäuse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Extrem leise &amp; langlebig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3 Jahre Vor-Ort-Herstellergarantie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53619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3.200,00 € Netto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CAD-WORKSTATION (4X)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Lenovo ThinkStation P3 Tower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i7-13700, 64GB DDR5, 1TB NVMe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NVIDIA RTX 4000 Ada (20GB)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Zertifiziert für CAD/BIM-Software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Enorme Rendering-Leistung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77640" y="400507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310,00 € Netto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ERGONOMIE-MONITOR (32X)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Dell UltraSharp U2724D (27'')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WQHD (2560x1440), IPS Black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120Hz, ComfortView Plus Filter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Voll ergonomisch: Pivot, Höhe, Neigung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2x je Arbeitsplatz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0" y="400507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2.200,00 € Netto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ZENTRALER MFP-DRUCKER (1X)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Lexmark CX930dse A3/A4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0916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Farblaser bis Format DIN A3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Bis zu 33 Seiten/Min.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High-Speed Duplex-Scan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Gigabit-Netzwerkfähig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ENTSCHEIDUNGSMATRIX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Nutzwertanalyse: Wissenschaftliche Entscheidungsfindung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9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CAD-Workstations Entscheidungsmatrix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A2540"/>
                </a:solidFill>
              </a:defRPr>
            </a:pPr>
            <a:r>
              <a:t>Kriterien &amp; Gewichtung: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GPU/CPU-Performance (35%)  • RAM &amp; Ausbau (15%)</a:t>
            </a:r>
            <a:br/>
            <a:r>
              <a:t>• Preis-Leistung (20%)  • Garantie/Service (15%)</a:t>
            </a:r>
            <a:br/>
            <a:r>
              <a:t>• Energie &amp; Lautstärke (10%)  • Verfügbarkeit (5%)</a:t>
            </a:r>
          </a:p>
          <a:p>
            <a:br/>
            <a:pPr>
              <a:defRPr b="1" sz="1100">
                <a:solidFill>
                  <a:srgbClr val="0A2540"/>
                </a:solidFill>
              </a:defRPr>
            </a:pPr>
            <a:r>
              <a:t>Ergebnis des Modellvergleichs: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1. Lenovo ThinkStation P3: 8,10 Punkte  (SIEGER)</a:t>
            </a:r>
          </a:p>
          <a:p>
            <a:pPr>
              <a:defRPr b="0" sz="1100">
                <a:solidFill>
                  <a:srgbClr val="64748B"/>
                </a:solidFill>
              </a:defRPr>
            </a:pPr>
            <a:r>
              <a:t>2. Dell Precision 3660: 8,05 Punkte  (Platz 2)</a:t>
            </a:r>
          </a:p>
          <a:p>
            <a:pPr>
              <a:defRPr b="0" sz="1100">
                <a:solidFill>
                  <a:srgbClr val="64748B"/>
                </a:solidFill>
              </a:defRPr>
            </a:pPr>
            <a:r>
              <a:t>3. HP Z2 Tower G9: 7,15 Punkte  (Platz 3)</a:t>
            </a:r>
          </a:p>
          <a:p>
            <a:br/>
            <a:pPr>
              <a:defRPr b="1" sz="1050">
                <a:solidFill>
                  <a:srgbClr val="0A2540"/>
                </a:solidFill>
              </a:defRPr>
            </a:pPr>
            <a:r>
              <a:t>Begründung: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Die Lenovo P3 verfügt über die NVIDIA RTX 4000 Ada mit 20GB VRAM – der entscheidende Vorteil bei komplexen 3D-BIM-Renderings und Punktwolken in Revit.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Ergonomie-Monitore Entscheidungsmatrix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A2540"/>
                </a:solidFill>
              </a:defRPr>
            </a:pPr>
            <a:r>
              <a:t>Kriterien &amp; Gewichtung: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Bildqualität &amp; Panel (25%)  • Ergonomie &amp; Pivot (25%)</a:t>
            </a:r>
            <a:br/>
            <a:r>
              <a:t>• Preis (20%)  • Augenschonung/Filter (15%)</a:t>
            </a:r>
            <a:br/>
            <a:r>
              <a:t>• Garantie (10%)  • Anschlüsse (5%)</a:t>
            </a:r>
          </a:p>
          <a:p>
            <a:br/>
            <a:pPr>
              <a:defRPr b="1" sz="1100">
                <a:solidFill>
                  <a:srgbClr val="0A2540"/>
                </a:solidFill>
              </a:defRPr>
            </a:pPr>
            <a:r>
              <a:t>Ergebnis des Modellvergleichs: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1. Dell UltraSharp U2724D: 8,50 Punkte  (SIEGER)</a:t>
            </a:r>
          </a:p>
          <a:p>
            <a:pPr>
              <a:defRPr b="0" sz="1100">
                <a:solidFill>
                  <a:srgbClr val="64748B"/>
                </a:solidFill>
              </a:defRPr>
            </a:pPr>
            <a:r>
              <a:t>2. Lenovo ThinkVision P27h-30: 8,10 Punkte  (Platz 2)</a:t>
            </a:r>
          </a:p>
          <a:p>
            <a:pPr>
              <a:defRPr b="0" sz="1100">
                <a:solidFill>
                  <a:srgbClr val="64748B"/>
                </a:solidFill>
              </a:defRPr>
            </a:pPr>
            <a:r>
              <a:t>3. EIZO FlexScan EV2781: 8,00 Punkte  (Platz 3)</a:t>
            </a:r>
          </a:p>
          <a:p>
            <a:br/>
            <a:pPr>
              <a:defRPr b="1" sz="1050">
                <a:solidFill>
                  <a:srgbClr val="0A2540"/>
                </a:solidFill>
              </a:defRPr>
            </a:pPr>
            <a:r>
              <a:t>Begründung: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Der Dell U2724D punktet mit innovativer IPS-Black-Technologie (hoher Kontrast für Planzeichnungen), 120Hz Bildwiederholrate und unschlagbarem Preis-Leistungs-Verhältnis.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KALKULATION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Kaufmännische Preiskalkulation &amp; Gesamtangebot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Kaufmännisches Kalkulationsschema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A2540"/>
                </a:solidFill>
              </a:defRPr>
            </a:pPr>
            <a:r>
              <a:t>Bezugspreis (Einkauf Fachhandel)</a:t>
            </a:r>
            <a:br/>
            <a:r>
              <a:t>   ➔ Basis netto</a:t>
            </a:r>
          </a:p>
          <a:p>
            <a:pPr>
              <a:defRPr sz="1050" b="0">
                <a:solidFill>
                  <a:srgbClr val="1E293B"/>
                </a:solidFill>
              </a:defRPr>
            </a:pPr>
            <a:r>
              <a:t>+ Handlungskostenzuschlag (25,0%)</a:t>
            </a:r>
            <a:br/>
            <a:r>
              <a:t>   ➔ = Selbstkostenpreis</a:t>
            </a:r>
          </a:p>
          <a:p>
            <a:pPr>
              <a:defRPr sz="1050" b="0">
                <a:solidFill>
                  <a:srgbClr val="1E293B"/>
                </a:solidFill>
              </a:defRPr>
            </a:pPr>
            <a:r>
              <a:t>+ Gewinnzuschlag (12,0%)</a:t>
            </a:r>
            <a:br/>
            <a:r>
              <a:t>   ➔ = Barverkaufspreis</a:t>
            </a:r>
          </a:p>
          <a:p>
            <a:pPr>
              <a:defRPr sz="1050" b="0">
                <a:solidFill>
                  <a:srgbClr val="1E293B"/>
                </a:solidFill>
              </a:defRPr>
            </a:pPr>
            <a:r>
              <a:t>+ Kundenskonto (3,0% im Hundert)</a:t>
            </a:r>
            <a:br/>
            <a:r>
              <a:t>   ➔ = Zielverkaufspreis</a:t>
            </a:r>
          </a:p>
          <a:p>
            <a:pPr>
              <a:defRPr sz="1050" b="0">
                <a:solidFill>
                  <a:srgbClr val="1E293B"/>
                </a:solidFill>
              </a:defRPr>
            </a:pPr>
            <a:r>
              <a:t>+ Kundenrabatt (0,0% Neukunde)</a:t>
            </a:r>
            <a:br/>
            <a:r>
              <a:t>   ➔ = Listenverkaufspreis (netto)</a:t>
            </a:r>
          </a:p>
          <a:p>
            <a:pPr>
              <a:defRPr sz="1050" b="0">
                <a:solidFill>
                  <a:srgbClr val="1E293B"/>
                </a:solidFill>
              </a:defRPr>
            </a:pPr>
            <a:r>
              <a:t>+ Gesetzliche Umsatzsteuer (19,0%)</a:t>
            </a:r>
            <a:br/>
            <a:r>
              <a:t>   ➔ = Gesamtbetrag brutto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Angebotsübersicht (NL-2026-VP-001)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nsolas"/>
              </a:defRPr>
            </a:pPr>
            <a:r>
              <a:t>Hardware gesamt (16 APs, 32 Monitore, MFP)     51.108,12 €</a:t>
            </a:r>
          </a:p>
          <a:p>
            <a:pPr>
              <a:defRPr sz="1000">
                <a:latin typeface="Consolas"/>
              </a:defRPr>
            </a:pPr>
            <a:r>
              <a:t>Software Lizenzen (1. Jahr: M365, Adobe, ESET)     10.021,20 €</a:t>
            </a:r>
          </a:p>
          <a:p>
            <a:pPr>
              <a:defRPr sz="1000">
                <a:latin typeface="Consolas"/>
              </a:defRPr>
            </a:pPr>
            <a:r>
              <a:t>Dienstleistungen (Staging, Rollout, Abnahme)      6.050,00 €</a:t>
            </a:r>
          </a:p>
          <a:p>
            <a:pPr>
              <a:defRPr sz="1000">
                <a:latin typeface="Consolas"/>
              </a:defRPr>
            </a:pPr>
            <a:r>
              <a:t>--------------------------------------------------     -----------</a:t>
            </a:r>
          </a:p>
          <a:p>
            <a:pPr>
              <a:defRPr sz="1100" b="1">
                <a:solidFill>
                  <a:srgbClr val="00A896"/>
                </a:solidFill>
                <a:latin typeface="Consolas"/>
              </a:defRPr>
            </a:pPr>
            <a:r>
              <a:t>Gesamtbetrag Netto:                            67.179,32 €</a:t>
            </a:r>
          </a:p>
          <a:p>
            <a:pPr>
              <a:defRPr sz="1000">
                <a:latin typeface="Consolas"/>
              </a:defRPr>
            </a:pPr>
            <a:r>
              <a:t>+ 19% Umsatzsteuer:                            12.764,07 €</a:t>
            </a:r>
          </a:p>
          <a:p>
            <a:pPr>
              <a:defRPr sz="1100" b="1">
                <a:solidFill>
                  <a:srgbClr val="0A2540"/>
                </a:solidFill>
                <a:latin typeface="Consolas"/>
              </a:defRPr>
            </a:pPr>
            <a:r>
              <a:t>Gesamtbetrag Brutto:                           79.943,39 €</a:t>
            </a:r>
          </a:p>
          <a:p>
            <a:br/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Konditionen:</a:t>
            </a:r>
            <a:br/>
            <a:r>
              <a:t>• Zahlungsziel: 14 Tage 3% Skonto, 30 Tage rein netto</a:t>
            </a:r>
            <a:br/>
            <a:r>
              <a:t>• Gewährleistung: 36 Monate Vor-Ort-Herstellerservice</a:t>
            </a:r>
            <a:br/>
            <a:r>
              <a:t>• Option: IT-Leasing ab 1.580 €/Monat (OPEX-Vorteil)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KAPAZITÄTSPLANUNG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Spezifische Kundenberechnungen (Aufgabe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Speicherplatzbedarf Fileserver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011680"/>
            <a:ext cx="4526280" cy="1097280"/>
          </a:xfrm>
          <a:prstGeom prst="roundRect">
            <a:avLst/>
          </a:prstGeom>
          <a:solidFill>
            <a:srgbClr val="EBF3FA"/>
          </a:solidFill>
          <a:ln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526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A9C"/>
                </a:solidFill>
                <a:latin typeface="Segoe UI"/>
              </a:defRPr>
            </a:pPr>
            <a:r>
              <a:t>445 GiB</a:t>
            </a:r>
          </a:p>
          <a:p>
            <a:pPr algn="ctr">
              <a:defRPr sz="1100">
                <a:solidFill>
                  <a:srgbClr val="0A2540"/>
                </a:solidFill>
              </a:defRPr>
            </a:pPr>
            <a:r>
              <a:t>Gesamtbedarf für 1 Quartal (inkl. 25% Puffer)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4663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Formel &amp; Berechnungsschritte:</a:t>
            </a:r>
          </a:p>
          <a:p>
            <a:pPr>
              <a:defRPr sz="1000"/>
            </a:pPr>
            <a:r>
              <a:t>• 16 Arbeitsplätze × 350 MiB/Tag = 5.600 MiB / Tag</a:t>
            </a:r>
          </a:p>
          <a:p>
            <a:pPr>
              <a:defRPr sz="1000"/>
            </a:pPr>
            <a:r>
              <a:t>• 5.600 MiB × 65 Arbeitstage = 364.000 MiB (Quartal)</a:t>
            </a:r>
          </a:p>
          <a:p>
            <a:pPr>
              <a:defRPr sz="1000"/>
            </a:pPr>
            <a:r>
              <a:t>• Umrechnung in GiB: 364.000 ÷ 1.024 = 355,47 GiB</a:t>
            </a:r>
          </a:p>
          <a:p>
            <a:pPr>
              <a:defRPr sz="1000"/>
            </a:pPr>
            <a:r>
              <a:t>• Netto gerundet (volle GiB): 356 GiB</a:t>
            </a:r>
          </a:p>
          <a:p>
            <a:pPr>
              <a:defRPr sz="1000"/>
            </a:pPr>
            <a:r>
              <a:t>• Sicherheits- &amp; Pufferzuschlag (+25%):</a:t>
            </a:r>
          </a:p>
          <a:p>
            <a:pPr>
              <a:defRPr sz="1000" b="1">
                <a:solidFill>
                  <a:srgbClr val="00A896"/>
                </a:solidFill>
              </a:defRPr>
            </a:pPr>
            <a:r>
              <a:t>  ➔ 356 GiB × 1,25 = 445 GiB gesamt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Energiekosten-Kalkulation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11680"/>
            <a:ext cx="4526280" cy="1097280"/>
          </a:xfrm>
          <a:prstGeom prst="roundRect">
            <a:avLst/>
          </a:prstGeom>
          <a:solidFill>
            <a:srgbClr val="FEEDE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526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B5E28"/>
                </a:solidFill>
                <a:latin typeface="Segoe UI"/>
              </a:defRPr>
            </a:pPr>
            <a:r>
              <a:t>1.771,26 €</a:t>
            </a:r>
          </a:p>
          <a:p>
            <a:pPr algn="ctr">
              <a:defRPr sz="1100">
                <a:solidFill>
                  <a:srgbClr val="0A2540"/>
                </a:solidFill>
              </a:defRPr>
            </a:pPr>
            <a:r>
              <a:t>Jährliche Stromkosten (alle 16 Arbeitsplätze)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4663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Formel &amp; Berechnungsschritte:</a:t>
            </a:r>
          </a:p>
          <a:p>
            <a:pPr>
              <a:defRPr sz="1000"/>
            </a:pPr>
            <a:r>
              <a:t>• 12 Standard-PCs à 140 W = 1.680 W</a:t>
            </a:r>
          </a:p>
          <a:p>
            <a:pPr>
              <a:defRPr sz="1000"/>
            </a:pPr>
            <a:r>
              <a:t>• 4 CAD-Workstations à 320 W = 1.280 W</a:t>
            </a:r>
          </a:p>
          <a:p>
            <a:pPr>
              <a:defRPr sz="1000"/>
            </a:pPr>
            <a:r>
              <a:t>• Gesamtlast: 2.960 W = 2,96 kW</a:t>
            </a:r>
          </a:p>
          <a:p>
            <a:pPr>
              <a:defRPr sz="1000"/>
            </a:pPr>
            <a:r>
              <a:t>• Jahreslaufzeit: 220 Arbeitstage × 8,5 h = 1.870 Stunden</a:t>
            </a:r>
          </a:p>
          <a:p>
            <a:pPr>
              <a:defRPr sz="1000"/>
            </a:pPr>
            <a:r>
              <a:t>• Jahresstromverbrauch: 2,96 kW × 1.870 h = 5.535,2 kWh</a:t>
            </a:r>
          </a:p>
          <a:p>
            <a:pPr>
              <a:defRPr sz="1000"/>
            </a:pPr>
            <a:r>
              <a:t>• Jahreskosten bei 0,32 €/kWh:</a:t>
            </a:r>
          </a:p>
          <a:p>
            <a:pPr>
              <a:defRPr sz="1000" b="1">
                <a:solidFill>
                  <a:srgbClr val="EB5E28"/>
                </a:solidFill>
              </a:defRPr>
            </a:pPr>
            <a:r>
              <a:t>  ➔ 5.535,2 kWh × 0,32 € = 1.771,26 € / Jahr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Qualitätssicherung: Wareneingang &amp; Mängelrüge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Wareneingang § 377 HGB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Rügepflicht im B2B-Geschäftsverkehr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Unverzügliche Prüfung: </a:t>
            </a:r>
            <a:r>
              <a:rPr b="0">
                <a:solidFill>
                  <a:srgbClr val="1E293B"/>
                </a:solidFill>
              </a:rPr>
              <a:t>Pflicht zur sofortigen Untersuchung der Ware auf Vollständigkeit und Mängel.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Offene Mängel: </a:t>
            </a:r>
            <a:r>
              <a:rPr b="0">
                <a:solidFill>
                  <a:srgbClr val="1E293B"/>
                </a:solidFill>
              </a:rPr>
              <a:t>Sichtbare Transportschäden oder Fehllieferungen müssen unverzüglich gerügt werden.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Verdeckte Mängel: </a:t>
            </a:r>
            <a:r>
              <a:rPr b="0">
                <a:solidFill>
                  <a:srgbClr val="1E293B"/>
                </a:solidFill>
              </a:rPr>
              <a:t>Müssen sofort nach Entdeckung angezeigt werden.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Rechtsfolge Versäumnis: </a:t>
            </a:r>
            <a:r>
              <a:rPr b="0">
                <a:solidFill>
                  <a:srgbClr val="1E293B"/>
                </a:solidFill>
              </a:rPr>
              <a:t>Ware gilt rechtlich als genehmigt (§ 377 Abs. 2 HGB) – Verlust von Gewährleistungsrechten.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3474720" cy="822960"/>
          </a:xfrm>
          <a:prstGeom prst="rect">
            <a:avLst/>
          </a:prstGeom>
          <a:solidFill>
            <a:srgbClr val="EB5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Praxisfall: Mängelrüge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Gelebtes Fallbeispiel aus dem Projekt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Festgestellter Mangel 1: </a:t>
            </a:r>
            <a:r>
              <a:rPr b="0">
                <a:solidFill>
                  <a:srgbClr val="1E293B"/>
                </a:solidFill>
              </a:rPr>
              <a:t>Gehäuseschaden an Lenovo ThinkStation P3 (Transportschaden/Eindellung).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Festgestellter Mangel 2: </a:t>
            </a:r>
            <a:r>
              <a:rPr b="0">
                <a:solidFill>
                  <a:srgbClr val="1E293B"/>
                </a:solidFill>
              </a:rPr>
              <a:t>Fehllieferung: 1x Dell Full-HD statt bestelltem WQHD-Monitor.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Kaufmännische Rüge: </a:t>
            </a:r>
            <a:r>
              <a:rPr b="0">
                <a:solidFill>
                  <a:srgbClr val="1E293B"/>
                </a:solidFill>
              </a:rPr>
              <a:t>Formelles Anschreiben an Distributor (DIN 5008).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Konkrete Fristsetzung: </a:t>
            </a:r>
            <a:r>
              <a:rPr b="0">
                <a:solidFill>
                  <a:srgbClr val="1E293B"/>
                </a:solidFill>
              </a:rPr>
              <a:t>Frist zur Nachlieferung mangelfreier Neuware binnen 14 Werktagen.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371600"/>
            <a:ext cx="3474720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Umweltgerechte Entsorgung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BF3FA"/>
                </a:solidFill>
                <a:latin typeface="Segoe UI"/>
              </a:defRPr>
            </a:pPr>
            <a:r>
              <a:t>Altdrucker nach ElektroG &amp; WEEE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Gesetzliche Einstufung: </a:t>
            </a:r>
            <a:r>
              <a:rPr b="0">
                <a:solidFill>
                  <a:srgbClr val="1E293B"/>
                </a:solidFill>
              </a:rPr>
              <a:t>B2B-Elektroaltgerät (Kategorie 6 gem. ElektroG).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Datenschutz (DSGVO/BSI): </a:t>
            </a:r>
            <a:r>
              <a:rPr b="0">
                <a:solidFill>
                  <a:srgbClr val="1E293B"/>
                </a:solidFill>
              </a:rPr>
              <a:t>Sichere 3-fache Überschreibung interner Festplatten/Speicher vor Entsorgung.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Tonerkassetten: </a:t>
            </a:r>
            <a:r>
              <a:rPr b="0">
                <a:solidFill>
                  <a:srgbClr val="1E293B"/>
                </a:solidFill>
              </a:rPr>
              <a:t>Rückführung in geschlossene Hersteller-Recyclingkreisläufe (Zero Waste).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Nachweis: </a:t>
            </a:r>
            <a:r>
              <a:rPr b="0">
                <a:solidFill>
                  <a:srgbClr val="1E293B"/>
                </a:solidFill>
              </a:rPr>
              <a:t>Ausstellung eines offiziellen Entsorgungszertifikats für VektorPlan GmbH.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Rollout-Prozess: Von der Werkstatt zur Abnahme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1: Staging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Systemhaus Labor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Auspacken &amp; HW-Inventar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Win 11 Pro Image-Deployment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Office 365, Adobe &amp; ESET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24h Stresstest aller 16 PCs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37160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2: Logistik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Sicherer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ESD-Schutzverpackung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Terminierte Anlieferung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Verteilung auf 2 Büros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Entsorgung Verpackungen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37160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04304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3: Montage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ArbStättV-Ergonomie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Montage von 32 Monitoren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Augenhöhe &amp; Neigung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Bündiges Kabelmanagement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Patchkabel &amp; Switch-Test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37160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29216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4: Abnahme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Funktion &amp; Übergabe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End-to-End Netz- &amp; MFP-Test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Revit 3D-Rendering Stresstest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Unterzeichnung Protokoll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• Kurzeinweisung Mitarbeiter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CONTROLLING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Projekterfolg: Umfassender Soll-Ist-Vergleich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14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3108960" cy="10972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A896"/>
                </a:solidFill>
                <a:latin typeface="Segoe UI"/>
              </a:defRPr>
            </a:pPr>
            <a:r>
              <a:t>46 / 48 Tage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- 2 Tage Vorsprung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Termintreue (Zeitplan)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108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Planung (Soll): </a:t>
            </a:r>
            <a:r>
              <a:rPr b="0">
                <a:solidFill>
                  <a:srgbClr val="1E293B"/>
                </a:solidFill>
              </a:rPr>
              <a:t>48 geplante Arbeitstage nach Wasserfallmodell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Realisierung (Ist): </a:t>
            </a:r>
            <a:r>
              <a:rPr b="0">
                <a:solidFill>
                  <a:srgbClr val="1E293B"/>
                </a:solidFill>
              </a:rPr>
              <a:t>Erfolgreicher Rollout in 46 Arbeitstagen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Erfolgsfaktor: </a:t>
            </a:r>
            <a:r>
              <a:rPr b="0">
                <a:solidFill>
                  <a:srgbClr val="1E293B"/>
                </a:solidFill>
              </a:rPr>
              <a:t>Parallelisiertes Staging &amp; automatisierte Betankung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Status: </a:t>
            </a:r>
            <a:r>
              <a:rPr b="0">
                <a:solidFill>
                  <a:srgbClr val="1E293B"/>
                </a:solidFill>
              </a:rPr>
              <a:t>Meilensteine zu 100% fristgerecht erreicht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554480"/>
            <a:ext cx="3108960" cy="10972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5A9C"/>
                </a:solidFill>
                <a:latin typeface="Segoe UI"/>
              </a:defRPr>
            </a:pPr>
            <a:r>
              <a:t>67.179 €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Im Budgetrahmen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Finanzbudget (Kosten)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154680"/>
            <a:ext cx="3108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Freigegebenes Budget: </a:t>
            </a:r>
            <a:r>
              <a:rPr b="0">
                <a:solidFill>
                  <a:srgbClr val="1E293B"/>
                </a:solidFill>
              </a:rPr>
              <a:t>Bis zu 70.000,00 € Netto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Tatsächliches Angebot: </a:t>
            </a:r>
            <a:r>
              <a:rPr b="0">
                <a:solidFill>
                  <a:srgbClr val="1E293B"/>
                </a:solidFill>
              </a:rPr>
              <a:t>67.179,32 € Netto (inkl. 6.050 € Services)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Kostenvorteil: </a:t>
            </a:r>
            <a:r>
              <a:rPr b="0">
                <a:solidFill>
                  <a:srgbClr val="1E293B"/>
                </a:solidFill>
              </a:rPr>
              <a:t>Ca. 2.820 € unterhalb des maximalen Kundenbudgets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Transparenz: </a:t>
            </a:r>
            <a:r>
              <a:rPr b="0">
                <a:solidFill>
                  <a:srgbClr val="1E293B"/>
                </a:solidFill>
              </a:rPr>
              <a:t>Vollständige Vorwärtskalkulation hinterlegt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554480"/>
            <a:ext cx="3108960" cy="10972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2540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Vorbehaltlos abgenommen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Qualität &amp; Zufriedenheit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108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Lieferumfang: </a:t>
            </a:r>
            <a:r>
              <a:rPr b="0">
                <a:solidFill>
                  <a:srgbClr val="1E293B"/>
                </a:solidFill>
              </a:rPr>
              <a:t>16 von 16 Arbeitsplätzen voll betriebsbereit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Mängelmanagement: </a:t>
            </a:r>
            <a:r>
              <a:rPr b="0">
                <a:solidFill>
                  <a:srgbClr val="1E293B"/>
                </a:solidFill>
              </a:rPr>
              <a:t>Fehlerhafte Teile binnen Frist ausgetauscht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Ergonomie: </a:t>
            </a:r>
            <a:r>
              <a:rPr b="0">
                <a:solidFill>
                  <a:srgbClr val="1E293B"/>
                </a:solidFill>
              </a:rPr>
              <a:t>ArbStättV-konforme Einrichtung von 32 Monitoren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Abnahmeprotokoll: </a:t>
            </a:r>
            <a:r>
              <a:rPr b="0">
                <a:solidFill>
                  <a:srgbClr val="1E293B"/>
                </a:solidFill>
              </a:rPr>
              <a:t>Durch VektorPlan GmbH ohne Rüge unterzeichnet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REFLEXION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Lessons Learned &amp; Handlungsempfehlungen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NextLevel IT Solutions GmbH | Projekt: VektorPlan GmbH | Handlungsaufgabe 2026               Folie 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5780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Erfolge &amp; Best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4800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A896"/>
                </a:solidFill>
                <a:latin typeface="Segoe UI"/>
              </a:defRPr>
            </a:pPr>
            <a:r>
              <a:t>✔ Nutzwertanalyse: </a:t>
            </a:r>
            <a:r>
              <a:rPr b="0">
                <a:solidFill>
                  <a:srgbClr val="1E293B"/>
                </a:solidFill>
              </a:rPr>
              <a:t>Gewichtete Kriterien sicherten die optimale GPU (RTX 4000 Ada mit 20GB für BIM).</a:t>
            </a:r>
          </a:p>
          <a:p>
            <a:pPr>
              <a:spcAft>
                <a:spcPts val="1200"/>
              </a:spcAft>
              <a:defRPr sz="1100" b="1">
                <a:solidFill>
                  <a:srgbClr val="00A896"/>
                </a:solidFill>
                <a:latin typeface="Segoe UI"/>
              </a:defRPr>
            </a:pPr>
            <a:r>
              <a:t>✔ Wareneingang § 377 HGB: </a:t>
            </a:r>
            <a:r>
              <a:rPr b="0">
                <a:solidFill>
                  <a:srgbClr val="1E293B"/>
                </a:solidFill>
              </a:rPr>
              <a:t>Sofortige Rüge verhinderte Gewährleistungsverlust bei Gehäuseschaden und Falschlieferung.</a:t>
            </a:r>
          </a:p>
          <a:p>
            <a:pPr>
              <a:spcAft>
                <a:spcPts val="1200"/>
              </a:spcAft>
              <a:defRPr sz="1100" b="1">
                <a:solidFill>
                  <a:srgbClr val="00A896"/>
                </a:solidFill>
                <a:latin typeface="Segoe UI"/>
              </a:defRPr>
            </a:pPr>
            <a:r>
              <a:t>✔ Klare Rollenverteilung: </a:t>
            </a:r>
            <a:r>
              <a:rPr b="0">
                <a:solidFill>
                  <a:srgbClr val="1E293B"/>
                </a:solidFill>
              </a:rPr>
              <a:t>Klare Zuständigkeiten im Team führten zu reibungslosen Übergaben.</a:t>
            </a:r>
          </a:p>
          <a:p>
            <a:pPr>
              <a:spcAft>
                <a:spcPts val="1200"/>
              </a:spcAft>
              <a:defRPr sz="1100" b="1">
                <a:solidFill>
                  <a:srgbClr val="00A896"/>
                </a:solidFill>
                <a:latin typeface="Segoe UI"/>
              </a:defRPr>
            </a:pPr>
            <a:r>
              <a:t>✔ Labor-Staging: </a:t>
            </a:r>
            <a:r>
              <a:rPr b="0">
                <a:solidFill>
                  <a:srgbClr val="1E293B"/>
                </a:solidFill>
              </a:rPr>
              <a:t>Vorinstallation im Systemhaus reduzierte die Montagezeit vor Ort um über 40%.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5029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44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Optimierungspotenziale &amp; Empfehlungen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800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5A9C"/>
                </a:solidFill>
                <a:latin typeface="Segoe UI"/>
              </a:defRPr>
            </a:pPr>
            <a:r>
              <a:t>➔ Frühes Netzwerk-Audit: </a:t>
            </a:r>
            <a:r>
              <a:rPr b="0">
                <a:solidFill>
                  <a:srgbClr val="1E293B"/>
                </a:solidFill>
              </a:rPr>
              <a:t>Switchport-Prüfung künftig bereits vor Hardware-Bestellung vor Ort durchführen.</a:t>
            </a:r>
          </a:p>
          <a:p>
            <a:pPr>
              <a:spcAft>
                <a:spcPts val="1200"/>
              </a:spcAft>
              <a:defRPr sz="1100" b="1">
                <a:solidFill>
                  <a:srgbClr val="005A9C"/>
                </a:solidFill>
                <a:latin typeface="Segoe UI"/>
              </a:defRPr>
            </a:pPr>
            <a:r>
              <a:t>➔ Distributoren-Pufferzeit: </a:t>
            </a:r>
            <a:r>
              <a:rPr b="0">
                <a:solidFill>
                  <a:srgbClr val="1E293B"/>
                </a:solidFill>
              </a:rPr>
              <a:t>Stets 5 Tage Puffer für Retouren (RMA) im Gantt-Plan einplanen.</a:t>
            </a:r>
          </a:p>
          <a:p>
            <a:pPr>
              <a:spcAft>
                <a:spcPts val="1200"/>
              </a:spcAft>
              <a:defRPr sz="1100" b="1">
                <a:solidFill>
                  <a:srgbClr val="005A9C"/>
                </a:solidFill>
                <a:latin typeface="Segoe UI"/>
              </a:defRPr>
            </a:pPr>
            <a:r>
              <a:t>➔ Standard-Checklisten: </a:t>
            </a:r>
            <a:r>
              <a:rPr b="0">
                <a:solidFill>
                  <a:srgbClr val="1E293B"/>
                </a:solidFill>
              </a:rPr>
              <a:t>Die ArbStättV-Inbetriebnahme-Checkliste als festen Firmenstandard etablieren.</a:t>
            </a:r>
          </a:p>
          <a:p>
            <a:pPr>
              <a:spcAft>
                <a:spcPts val="1200"/>
              </a:spcAft>
              <a:defRPr sz="1100" b="1">
                <a:solidFill>
                  <a:srgbClr val="005A9C"/>
                </a:solidFill>
                <a:latin typeface="Segoe UI"/>
              </a:defRPr>
            </a:pPr>
            <a:r>
              <a:t>➔ Schulungsvideos: </a:t>
            </a:r>
            <a:r>
              <a:rPr b="0">
                <a:solidFill>
                  <a:srgbClr val="1E293B"/>
                </a:solidFill>
              </a:rPr>
              <a:t>Ergonomie- und MFP-Bedienungsanleitungen digital auf dem Desktop hinterlegen.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731520"/>
            <a:ext cx="8899855" cy="5394960"/>
          </a:xfrm>
          <a:prstGeom prst="roundRect">
            <a:avLst/>
          </a:prstGeom>
          <a:solidFill>
            <a:srgbClr val="123456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0584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Vielen Dank für Ihre Aufmerksamkeit!</a:t>
            </a:r>
          </a:p>
          <a:p>
            <a:pPr algn="ctr">
              <a:defRPr sz="1500">
                <a:solidFill>
                  <a:srgbClr val="EBF3FA"/>
                </a:solidFill>
                <a:latin typeface="Segoe UI"/>
              </a:defRPr>
            </a:pPr>
            <a:r>
              <a:t>Wir freuen uns auf Ihre Fragen und die gemeinsame Diskussion.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190" y="2377440"/>
            <a:ext cx="54864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NextLevel IT Solutions GmbH</a:t>
            </a:r>
          </a:p>
          <a:p>
            <a:pPr algn="ctr">
              <a:defRPr sz="1100">
                <a:solidFill>
                  <a:srgbClr val="EBF3FA"/>
                </a:solidFill>
                <a:latin typeface="Segoe UI"/>
              </a:defRPr>
            </a:pPr>
            <a:r>
              <a:t>Ihr Systemhauspartner für schlüsselfertige IT-Infrastruktur &amp; Cloud-Lösungen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Technikstraße 42  •  50667 Köln  •  Tel: 0221 / 123 456-0  •  E-Mail: kontakt@nextlevel-it.de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4114800"/>
            <a:ext cx="7985455" cy="1645920"/>
          </a:xfrm>
          <a:prstGeom prst="roundRect">
            <a:avLst/>
          </a:prstGeom>
          <a:solidFill>
            <a:srgbClr val="0C2640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4206240"/>
            <a:ext cx="78025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PROJEKTTEAM (HANDLUNGSAUFGABE 2026):</a:t>
            </a:r>
          </a:p>
          <a:p>
            <a:pPr algn="ctr">
              <a:defRPr sz="1150">
                <a:solidFill>
                  <a:srgbClr val="FFFFFF"/>
                </a:solidFill>
                <a:latin typeface="Segoe UI"/>
              </a:defRPr>
            </a:pPr>
            <a:r>
              <a:t>Jan Kluth (Projektleiter)  •  Mathias Vonau (Techn. Planer)  •  Marian Bolecke (Kalkulation)</a:t>
            </a:r>
          </a:p>
          <a:p>
            <a:pPr algn="ctr">
              <a:defRPr sz="1150">
                <a:solidFill>
                  <a:srgbClr val="FFFFFF"/>
                </a:solidFill>
                <a:latin typeface="Segoe UI"/>
              </a:defRPr>
            </a:pPr>
            <a:r>
              <a:t>Marco Schmidt (Qualitätsmanagement)  •  Siyar (Dokumentation &amp; Berechnung)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