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37160" cy="43891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96"/>
                </a:solidFill>
                <a:latin typeface="Segoe UI"/>
              </a:defRPr>
            </a:pPr>
            <a:r>
              <a:t>NEXTLEVEL IT SOLUTIONS GMBH  •  HANDLUNGSAUFGABE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Ausstattung eines Planungs- &amp;</a:t>
            </a:r>
            <a:br/>
            <a:r>
              <a:t>Konstruktionsbüros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918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1EEF8"/>
                </a:solidFill>
                <a:latin typeface="Segoe UI"/>
              </a:defRPr>
            </a:pPr>
            <a:r>
              <a:t>Ganzheitliches IT-Infrastrukturkonzept für die VektorPlan GmbH:</a:t>
            </a:r>
            <a:br/>
            <a:r>
              <a:t>16 moderne Arbeitsplätze, High-End CAD-Workstations, Sicherheits- und Speicherarchitektur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297680"/>
            <a:ext cx="9601200" cy="1463040"/>
          </a:xfrm>
          <a:prstGeom prst="roundRect">
            <a:avLst/>
          </a:prstGeom>
          <a:solidFill>
            <a:srgbClr val="123456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9235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96"/>
                </a:solidFill>
                <a:latin typeface="Segoe UI"/>
              </a:defRPr>
            </a:pPr>
            <a:r>
              <a:t>Projektteam (NextLevel IT Solutions GmbH):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Jan Kluth (Projektleiter)  •  Mathias Vonau (Techn. Planer)  •  Marian Bolecke (Kalkulation)  •  Marco Schmidt (QM)  •  Siyar (Dokumentation)</a:t>
            </a:r>
          </a:p>
          <a:p>
            <a:pPr>
              <a:defRPr sz="1100" i="1">
                <a:solidFill>
                  <a:srgbClr val="E1EEF8"/>
                </a:solidFill>
                <a:latin typeface="Segoe UI"/>
              </a:defRPr>
            </a:pPr>
            <a:r>
              <a:t>Status: Abschlusspräsentation &amp; Kundenübergabe  |  Datum: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Agenda &amp; Fahrplan der Präsentation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Ausgangslage &amp; Projektziele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Kundenanforderungen der VektorPlan GmbH &amp; Rahmenbedingungen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37160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9312" y="155448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Teamorganisation &amp; Vorgehensmodell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606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Rollenverteilung nach DIN 69901 &amp; 48-Tage-Ablaufplan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37160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4224" y="155448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Anforderungsprofil &amp; Spezifikationen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606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Standard-Office vs. High-End CAD/BIM-Workstations &amp; Monitore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37160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6" y="155448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Marktrecherche &amp; Nutzwertanalyse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606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Entscheidungsmatrix zur Produktauswahl mit Bewertungskriterien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9476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397764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Kaufmännische Kalkulation &amp; Angebot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Vorwärtskalkulation, DIN 5008 Angebot &amp; Leasingvergleich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6432" y="379476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39312" y="397764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Kundenberechnungen: Speicher &amp; Energie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5029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Fileserver-Bedarf (445 GiB) &amp; Jahresstromkosten (1.771 €)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379476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64224" y="397764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Qualitätssicherung &amp; Rollout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5029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Wareneingang § 377 HGB, ArbStättV-Ergonomie &amp; Abnahme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06256" y="3794760"/>
            <a:ext cx="2560320" cy="219456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89136" y="3977640"/>
            <a:ext cx="594360" cy="3200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389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Projektergebnis &amp; Lessons Learned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5029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Soll-Ist-Vergleich (Termin/Budget) &amp; Handlungsempfehlungen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PROJEKTKONTEXT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Projektauftrag &amp; Ausgangssituation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Ausgangslage der VektorPlan GmbH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5A9C"/>
                </a:solidFill>
              </a:defRPr>
            </a:pPr>
            <a:r>
              <a:t>• Kunde: </a:t>
            </a:r>
            <a:r>
              <a:rPr b="0">
                <a:solidFill>
                  <a:srgbClr val="212529"/>
                </a:solidFill>
              </a:rPr>
              <a:t>Architektur- und Ingenieurgesellschaft VektorPlan GmbH.</a:t>
            </a:r>
          </a:p>
          <a:p>
            <a:pPr>
              <a:defRPr b="1" sz="1100">
                <a:solidFill>
                  <a:srgbClr val="005A9C"/>
                </a:solidFill>
              </a:defRPr>
            </a:pPr>
            <a:r>
              <a:t>• Anlass: </a:t>
            </a:r>
            <a:r>
              <a:rPr b="0">
                <a:solidFill>
                  <a:srgbClr val="212529"/>
                </a:solidFill>
              </a:rPr>
              <a:t>Umfassende Modernisierung &amp; Bezug zweier neuer Großraumbüros sowie Einrichtung einer Plotter-/Scanstation.</a:t>
            </a:r>
          </a:p>
          <a:p>
            <a:pPr>
              <a:defRPr b="1" sz="1100">
                <a:solidFill>
                  <a:srgbClr val="005A9C"/>
                </a:solidFill>
              </a:defRPr>
            </a:pPr>
            <a:r>
              <a:t>• Ziele: </a:t>
            </a:r>
            <a:r>
              <a:rPr b="0">
                <a:solidFill>
                  <a:srgbClr val="212529"/>
                </a:solidFill>
              </a:rPr>
              <a:t>Erneuerung der veralteten IT-Infrastruktur zur Steigerung der Ausfallsicherheit, Mitarbeiterzufriedenheit &amp; BIM-Performance.</a:t>
            </a:r>
          </a:p>
          <a:p>
            <a:pPr>
              <a:defRPr b="1" sz="1100">
                <a:solidFill>
                  <a:srgbClr val="005A9C"/>
                </a:solidFill>
              </a:defRPr>
            </a:pPr>
            <a:r>
              <a:t>• Ergonomie: </a:t>
            </a:r>
            <a:r>
              <a:rPr b="0">
                <a:solidFill>
                  <a:srgbClr val="212529"/>
                </a:solidFill>
              </a:rPr>
              <a:t>Hohe Standards gefordert (Doppelmonitore, höhenverstellbar, Pivot, Blaulichtfilter, leise Rechner).</a:t>
            </a:r>
          </a:p>
          <a:p>
            <a:pPr>
              <a:defRPr b="1" sz="1100">
                <a:solidFill>
                  <a:srgbClr val="005A9C"/>
                </a:solidFill>
              </a:defRPr>
            </a:pPr>
            <a:r>
              <a:t>• Sicherheit: </a:t>
            </a:r>
            <a:r>
              <a:rPr b="0">
                <a:solidFill>
                  <a:srgbClr val="212529"/>
                </a:solidFill>
              </a:rPr>
              <a:t>Gefordert sind lokale tägliche SSD-Zwischensicherungen sowie zentrales synchronisiertes Backup auf dem Fileserver.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81328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Umfang &amp; Pflichten NextLevel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A896"/>
                </a:solidFill>
              </a:defRPr>
            </a:pPr>
            <a:r>
              <a:t>✔ 16 Arbeitsplätze gesamt: </a:t>
            </a:r>
            <a:r>
              <a:rPr b="0">
                <a:solidFill>
                  <a:srgbClr val="212529"/>
                </a:solidFill>
              </a:rPr>
              <a:t>12x Standard-Büro (Bauleitung/Ausschreibung) + 4x CAD/BIM-Workstations (Visualisierung/3D).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✔ 32 Ergonomische Bildschirme: </a:t>
            </a:r>
            <a:r>
              <a:rPr b="0">
                <a:solidFill>
                  <a:srgbClr val="212529"/>
                </a:solidFill>
              </a:rPr>
              <a:t>2x 27'' WQHD Monitore je Arbeitsplatz für produktives Multitasking.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✔ Zentrale Druckstation: </a:t>
            </a:r>
            <a:r>
              <a:rPr b="0">
                <a:solidFill>
                  <a:srgbClr val="212529"/>
                </a:solidFill>
              </a:rPr>
              <a:t>1x moderner Farblaser-A3/A4-Multifunktionsdrucker + umweltgerechte Entsorgung des Altgeräts.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✔ Software &amp; Lizenzen: </a:t>
            </a:r>
            <a:r>
              <a:rPr b="0">
                <a:solidFill>
                  <a:srgbClr val="212529"/>
                </a:solidFill>
              </a:rPr>
              <a:t>Windows 11 Pro, Microsoft 365, Adobe Acrobat Pro &amp; Cloud-EDR (ESET).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✔ Schlüsselfertige Leistung: </a:t>
            </a:r>
            <a:r>
              <a:rPr b="0">
                <a:solidFill>
                  <a:srgbClr val="212529"/>
                </a:solidFill>
              </a:rPr>
              <a:t>Beratung, Beschaffung, Vorinstallation im Systemhaus, Verkabelung, Montage vor Ort, Einweisung &amp; Abnahme.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Projektorganisation: Team &amp; Rollenverteilung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057400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Jan Kluth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1EEF8"/>
                </a:solidFill>
                <a:latin typeface="Segoe UI"/>
              </a:defRPr>
            </a:pPr>
            <a:r>
              <a:t>Projektleiter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2540"/>
                </a:solidFill>
                <a:latin typeface="Segoe UI"/>
              </a:defRPr>
            </a:pPr>
            <a:r>
              <a:t>Fokus: Gesamtkoordination &amp; Leitung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874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Projektplanung &amp; Vorgangsliste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Risiko- &amp; Qualitätsmonitoring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Kundenabnahme &amp; Präsentation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7791" y="1371600"/>
            <a:ext cx="2057400" cy="100584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14630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Mathias Vonau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1" y="18745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1EEF8"/>
                </a:solidFill>
                <a:latin typeface="Segoe UI"/>
              </a:defRPr>
            </a:pPr>
            <a:r>
              <a:t>Technischer Planer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1" y="24688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2540"/>
                </a:solidFill>
                <a:latin typeface="Segoe UI"/>
              </a:defRPr>
            </a:pPr>
            <a:r>
              <a:t>Fokus: Systemarchitektur &amp; Rollout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1" y="3063240"/>
            <a:ext cx="1874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Anforderungsanalyse &amp; Lastenheft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Vorinstallation &amp; Software-Staging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Vor-Ort-Montage &amp; Ergonomie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1371600"/>
            <a:ext cx="2057400" cy="100584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4630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Marian Bolecke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8745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1EEF8"/>
                </a:solidFill>
                <a:latin typeface="Segoe UI"/>
              </a:defRPr>
            </a:pPr>
            <a:r>
              <a:t>Beschaffung &amp; Kalkulation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24688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2540"/>
                </a:solidFill>
                <a:latin typeface="Segoe UI"/>
              </a:defRPr>
            </a:pPr>
            <a:r>
              <a:t>Fokus: Finanzen &amp; Einkauf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3063240"/>
            <a:ext cx="1874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Marktrecherche (Reale Komponenten)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Nutzwertanalysen (PCs / Monitore)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Vorwärtskalkulation &amp; Angebot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0336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0336" y="1371600"/>
            <a:ext cx="2057400" cy="100584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14630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Marco Schmidt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18745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1EEF8"/>
                </a:solidFill>
                <a:latin typeface="Segoe UI"/>
              </a:defRPr>
            </a:pPr>
            <a:r>
              <a:t>Qualitätsmanagement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6" y="24688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2540"/>
                </a:solidFill>
                <a:latin typeface="Segoe UI"/>
              </a:defRPr>
            </a:pPr>
            <a:r>
              <a:t>Fokus: Logistik &amp;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6" y="3063240"/>
            <a:ext cx="1874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Wareneingangsprüfung (§ 377 HGB)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Mängelrüge-Management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Entsorgungskonzept (ElektroG/WEEE)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6608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36608" y="1371600"/>
            <a:ext cx="2057400" cy="100584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608" y="146304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Siyar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18745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E1EEF8"/>
                </a:solidFill>
                <a:latin typeface="Segoe UI"/>
              </a:defRPr>
            </a:pPr>
            <a:r>
              <a:t>Berechnung &amp; Doku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2468880"/>
            <a:ext cx="1874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A2540"/>
                </a:solidFill>
                <a:latin typeface="Segoe UI"/>
              </a:defRPr>
            </a:pPr>
            <a:r>
              <a:t>Fokus: Kapazität &amp; Controlling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3063240"/>
            <a:ext cx="1874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Fileserver-Kalkulation (445 GiB)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Energiekosten-Analyse (1.771 €/a)</a:t>
            </a:r>
          </a:p>
          <a:p>
            <a:pPr>
              <a:defRPr sz="950">
                <a:solidFill>
                  <a:srgbClr val="212529"/>
                </a:solidFill>
                <a:latin typeface="Segoe UI"/>
              </a:defRPr>
            </a:pPr>
            <a:r>
              <a:t>• Projektdokumentation &amp;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LASTENHEFT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Anforderungsprofil: Arbeitsplatztypen im Vergleich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12x Standard-Büro-PCs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1EEF8"/>
                </a:solidFill>
                <a:latin typeface="Segoe UI"/>
              </a:defRPr>
            </a:pPr>
            <a:r>
              <a:t>Bauleitung, Ausschreibung,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Prozessor: </a:t>
            </a:r>
            <a:r>
              <a:rPr b="0">
                <a:solidFill>
                  <a:srgbClr val="212529"/>
                </a:solidFill>
              </a:rPr>
              <a:t>Intel Core i5-13400 (10 Kerne, bis 4.6 GHz)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Arbeitsspeicher: </a:t>
            </a:r>
            <a:r>
              <a:rPr b="0">
                <a:solidFill>
                  <a:srgbClr val="212529"/>
                </a:solidFill>
              </a:rPr>
              <a:t>16 GB DDR5 RAM (Erweiterbar bis 64 GB)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Grafikeinheit: </a:t>
            </a:r>
            <a:r>
              <a:rPr b="0">
                <a:solidFill>
                  <a:srgbClr val="212529"/>
                </a:solidFill>
              </a:rPr>
              <a:t>Integrierte Intel UHD Graphics 730 (Dual-Screen)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Systemlaufwerk: </a:t>
            </a:r>
            <a:r>
              <a:rPr b="0">
                <a:solidFill>
                  <a:srgbClr val="212529"/>
                </a:solidFill>
              </a:rPr>
              <a:t>512 GB M.2 NVMe PCIe 4.0 SSD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Gehäuse/Akustik: </a:t>
            </a:r>
            <a:r>
              <a:rPr b="0">
                <a:solidFill>
                  <a:srgbClr val="212529"/>
                </a:solidFill>
              </a:rPr>
              <a:t>Small Form Factor (SFF), leise Lüfter (&lt;28 dB)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Peripherie: </a:t>
            </a:r>
            <a:r>
              <a:rPr b="0">
                <a:solidFill>
                  <a:srgbClr val="212529"/>
                </a:solidFill>
              </a:rPr>
              <a:t>Logitech Funk-Set (AES-verschlüsselt) + 1TB SSD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3474720" cy="822960"/>
          </a:xfrm>
          <a:prstGeom prst="rect">
            <a:avLst/>
          </a:prstGeom>
          <a:solidFill>
            <a:srgbClr val="EB5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4x CAD/BIM-Workstations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1EEF8"/>
                </a:solidFill>
                <a:latin typeface="Segoe UI"/>
              </a:defRPr>
            </a:pPr>
            <a:r>
              <a:t>3D-Visualisierung, Rendering, Revit/CAD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Prozessor: </a:t>
            </a:r>
            <a:r>
              <a:rPr b="0">
                <a:solidFill>
                  <a:srgbClr val="212529"/>
                </a:solidFill>
              </a:rPr>
              <a:t>Intel Core i7-13700 (16 Kerne, bis 5.2 GHz)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Arbeitsspeicher: </a:t>
            </a:r>
            <a:r>
              <a:rPr b="0">
                <a:solidFill>
                  <a:srgbClr val="212529"/>
                </a:solidFill>
              </a:rPr>
              <a:t>64 GB DDR5 RAM (Erweiterbar bis 128 GB)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Grafikkarte: </a:t>
            </a:r>
            <a:r>
              <a:rPr b="0">
                <a:solidFill>
                  <a:srgbClr val="212529"/>
                </a:solidFill>
              </a:rPr>
              <a:t>NVIDIA RTX 4000 Ada Gen (20 GB GDDR6 ECC)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Systemlaufwerk: </a:t>
            </a:r>
            <a:r>
              <a:rPr b="0">
                <a:solidFill>
                  <a:srgbClr val="212529"/>
                </a:solidFill>
              </a:rPr>
              <a:t>1 TB M.2 NVMe PCIe 4.0 SSD (hohe IOPS)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Gehäuse/Kühlung: </a:t>
            </a:r>
            <a:r>
              <a:rPr b="0">
                <a:solidFill>
                  <a:srgbClr val="212529"/>
                </a:solidFill>
              </a:rPr>
              <a:t>Tower-Gehäuse, leise Hochleistungskühlung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Zertifizierung: </a:t>
            </a:r>
            <a:r>
              <a:rPr b="0">
                <a:solidFill>
                  <a:srgbClr val="212529"/>
                </a:solidFill>
              </a:rPr>
              <a:t>ISV-zertifiziert für Autodesk Revit, AutoCAD, Archicad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371600"/>
            <a:ext cx="3474720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Monitore &amp; Druckstation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1EEF8"/>
                </a:solidFill>
                <a:latin typeface="Segoe UI"/>
              </a:defRPr>
            </a:pPr>
            <a:r>
              <a:t>Ergonomie &amp; Büroinfrastruktur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32x Monitore: </a:t>
            </a:r>
            <a:r>
              <a:rPr b="0">
                <a:solidFill>
                  <a:srgbClr val="212529"/>
                </a:solidFill>
              </a:rPr>
              <a:t>27 Zoll WQHD (2560x1440), IPS Black Panel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Ergonomie: </a:t>
            </a:r>
            <a:r>
              <a:rPr b="0">
                <a:solidFill>
                  <a:srgbClr val="212529"/>
                </a:solidFill>
              </a:rPr>
              <a:t>Höhenverstellbar (150mm), Pivot 90°, Swivel, Tilt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Augenschonung: </a:t>
            </a:r>
            <a:r>
              <a:rPr b="0">
                <a:solidFill>
                  <a:srgbClr val="212529"/>
                </a:solidFill>
              </a:rPr>
              <a:t>Hardware-Blaulichtfilter (ComfortView Plus)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1x A3/A4 MFP: </a:t>
            </a:r>
            <a:r>
              <a:rPr b="0">
                <a:solidFill>
                  <a:srgbClr val="212529"/>
                </a:solidFill>
              </a:rPr>
              <a:t>Lexmark CX930dse Farb-Multifunktionsdrucker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MFP-Funktionen: </a:t>
            </a:r>
            <a:r>
              <a:rPr b="0">
                <a:solidFill>
                  <a:srgbClr val="212529"/>
                </a:solidFill>
              </a:rPr>
              <a:t>Duplex-Druck/Scan, 33 S./Min, PostScript/PCL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Netzwerk: </a:t>
            </a:r>
            <a:r>
              <a:rPr b="0">
                <a:solidFill>
                  <a:srgbClr val="212529"/>
                </a:solidFill>
              </a:rPr>
              <a:t>Gigabit-LAN Cat.6A S/FTP halogenfrei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HARDWARE-AUSWAHL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Ausgewählte Hardware-Lösung (Marktführer)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40" y="153619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690,00 € Netto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STANDARD-PC (12X)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Lenovo ThinkCentre M70s Gen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i5-13400, 16GB RAM, 512GB NVMe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Kompaktes SFF-Gehäuse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Extrem leise &amp; langlebig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3 Jahre Vor-Ort-Herstellergarantie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53619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3.200,00 € Netto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CAD-WORKSTATION (4X)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Lenovo ThinkStation P3 Tower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4028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i7-13700, 64GB DDR5, 1TB NVMe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NVIDIA RTX 4000 Ada (20GB)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Zertifiziert für CAD/BIM-Software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Enorme Rendering-Leistung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77640" y="400507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310,00 € Netto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ERGONOMIE-MONITOR (32X)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Dell UltraSharp U2724D (27'')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WQHD (2560x1440), IPS Black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120Hz, ComfortView Plus Filter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Voll ergonomisch: Pivot, Höhe, Neigung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2x je Arbeitsplatz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0" y="4005072"/>
            <a:ext cx="1828800" cy="384048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2.200,00 € Netto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5A9C"/>
                </a:solidFill>
                <a:latin typeface="Segoe UI"/>
              </a:defRPr>
            </a:pPr>
            <a:r>
              <a:t>ZENTRALER MFP-DRUCKER (1X)</a:t>
            </a:r>
          </a:p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Lexmark CX930dse A3/A4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09160"/>
            <a:ext cx="4892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Farblaser bis Format DIN A3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Bis zu 33 Seiten/Min.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High-Speed Duplex-Scan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Gigabit-Netzwerkfähig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ENTSCHEIDUNGSMATRIX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Nutzwertanalyse: Wissenschaftliche Entscheidungsfindung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CAD-Workstations Entscheidungsmatrix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A2540"/>
                </a:solidFill>
              </a:defRPr>
            </a:pPr>
            <a:r>
              <a:t>Kriterien &amp; Gewichtung: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t>• GPU/CPU-Performance (35%)  • RAM &amp; Ausbau (15%)</a:t>
            </a:r>
            <a:br/>
            <a:r>
              <a:t>• Preis-Leistung (20%)  • Garantie/Service (15%)</a:t>
            </a:r>
            <a:br/>
            <a:r>
              <a:t>• Energie &amp; Lautstärke (10%)  • Verfügbarkeit (5%)</a:t>
            </a:r>
          </a:p>
          <a:p>
            <a:br/>
            <a:pPr>
              <a:defRPr b="1" sz="1100">
                <a:solidFill>
                  <a:srgbClr val="0A2540"/>
                </a:solidFill>
              </a:defRPr>
            </a:pPr>
            <a:r>
              <a:t>Ergebnis des Modellvergleichs: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1. Lenovo ThinkStation P3: 8,10 Punkte  (SIEGER)</a:t>
            </a:r>
          </a:p>
          <a:p>
            <a:pPr>
              <a:defRPr b="0" sz="1100">
                <a:solidFill>
                  <a:srgbClr val="6C757D"/>
                </a:solidFill>
              </a:defRPr>
            </a:pPr>
            <a:r>
              <a:t>2. Dell Precision 3660: 8,05 Punkte  (Platz 2)</a:t>
            </a:r>
          </a:p>
          <a:p>
            <a:pPr>
              <a:defRPr b="0" sz="1100">
                <a:solidFill>
                  <a:srgbClr val="6C757D"/>
                </a:solidFill>
              </a:defRPr>
            </a:pPr>
            <a:r>
              <a:t>3. HP Z2 Tower G9: 7,15 Punkte  (Platz 3)</a:t>
            </a:r>
          </a:p>
          <a:p>
            <a:br/>
            <a:pPr>
              <a:defRPr b="1" sz="1050">
                <a:solidFill>
                  <a:srgbClr val="0A2540"/>
                </a:solidFill>
              </a:defRPr>
            </a:pPr>
            <a:r>
              <a:t>Begründung: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Die Lenovo P3 verfügt über die NVIDIA RTX 4000 Ada mit 20GB VRAM – der entscheidende Vorteil bei komplexen 3D-BIM-Renderings und Punktwolken in Revit.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Ergonomie-Monitore Entscheidungsmatrix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A2540"/>
                </a:solidFill>
              </a:defRPr>
            </a:pPr>
            <a:r>
              <a:t>Kriterien &amp; Gewichtung: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t>• Bildqualität &amp; Panel (25%)  • Ergonomie &amp; Pivot (25%)</a:t>
            </a:r>
            <a:br/>
            <a:r>
              <a:t>• Preis (20%)  • Augenschonung/Filter (15%)</a:t>
            </a:r>
            <a:br/>
            <a:r>
              <a:t>• Garantie (10%)  • Anschlüsse (5%)</a:t>
            </a:r>
          </a:p>
          <a:p>
            <a:br/>
            <a:pPr>
              <a:defRPr b="1" sz="1100">
                <a:solidFill>
                  <a:srgbClr val="0A2540"/>
                </a:solidFill>
              </a:defRPr>
            </a:pPr>
            <a:r>
              <a:t>Ergebnis des Modellvergleichs:</a:t>
            </a:r>
          </a:p>
          <a:p>
            <a:pPr>
              <a:defRPr b="1" sz="1100">
                <a:solidFill>
                  <a:srgbClr val="00A896"/>
                </a:solidFill>
              </a:defRPr>
            </a:pPr>
            <a:r>
              <a:t>1. Dell UltraSharp U2724D: 8,50 Punkte  (SIEGER)</a:t>
            </a:r>
          </a:p>
          <a:p>
            <a:pPr>
              <a:defRPr b="0" sz="1100">
                <a:solidFill>
                  <a:srgbClr val="6C757D"/>
                </a:solidFill>
              </a:defRPr>
            </a:pPr>
            <a:r>
              <a:t>2. Lenovo ThinkVision P27h-30: 8,10 Punkte  (Platz 2)</a:t>
            </a:r>
          </a:p>
          <a:p>
            <a:pPr>
              <a:defRPr b="0" sz="1100">
                <a:solidFill>
                  <a:srgbClr val="6C757D"/>
                </a:solidFill>
              </a:defRPr>
            </a:pPr>
            <a:r>
              <a:t>3. EIZO FlexScan EV2781: 8,00 Punkte  (Platz 3)</a:t>
            </a:r>
          </a:p>
          <a:p>
            <a:br/>
            <a:pPr>
              <a:defRPr b="1" sz="1050">
                <a:solidFill>
                  <a:srgbClr val="0A2540"/>
                </a:solidFill>
              </a:defRPr>
            </a:pPr>
            <a:r>
              <a:t>Begründung: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Der Dell U2724D punktet mit innovativer IPS-Black-Technologie (hoher Kontrast für Planzeichnungen), 120Hz Bildwiederholrate und unschlagbarem Preis-Leistungs-Verhältnis.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KALKULATION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Kaufmännische Preiskalkulation &amp; Gesamtangebot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8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Kaufmännisches Kalkulationsschema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A2540"/>
                </a:solidFill>
              </a:defRPr>
            </a:pPr>
            <a:r>
              <a:t>Bezugspreis (Einkauf Fachhandel)</a:t>
            </a:r>
            <a:br/>
            <a:r>
              <a:t>   ➔ Basis netto</a:t>
            </a:r>
          </a:p>
          <a:p>
            <a:pPr>
              <a:defRPr sz="1050" b="0">
                <a:solidFill>
                  <a:srgbClr val="212529"/>
                </a:solidFill>
              </a:defRPr>
            </a:pPr>
            <a:r>
              <a:t>+ Handlungskostenzuschlag (25,0%)</a:t>
            </a:r>
            <a:br/>
            <a:r>
              <a:t>   ➔ = Selbstkostenpreis</a:t>
            </a:r>
          </a:p>
          <a:p>
            <a:pPr>
              <a:defRPr sz="1050" b="0">
                <a:solidFill>
                  <a:srgbClr val="212529"/>
                </a:solidFill>
              </a:defRPr>
            </a:pPr>
            <a:r>
              <a:t>+ Gewinnzuschlag (12,0%)</a:t>
            </a:r>
            <a:br/>
            <a:r>
              <a:t>   ➔ = Barverkaufspreis</a:t>
            </a:r>
          </a:p>
          <a:p>
            <a:pPr>
              <a:defRPr sz="1050" b="0">
                <a:solidFill>
                  <a:srgbClr val="212529"/>
                </a:solidFill>
              </a:defRPr>
            </a:pPr>
            <a:r>
              <a:t>+ Kundenskonto (3,0% im Hundert)</a:t>
            </a:r>
            <a:br/>
            <a:r>
              <a:t>   ➔ = Zielverkaufspreis</a:t>
            </a:r>
          </a:p>
          <a:p>
            <a:pPr>
              <a:defRPr sz="1050" b="0">
                <a:solidFill>
                  <a:srgbClr val="212529"/>
                </a:solidFill>
              </a:defRPr>
            </a:pPr>
            <a:r>
              <a:t>+ Kundenrabatt (0,0% Neukunde)</a:t>
            </a:r>
            <a:br/>
            <a:r>
              <a:t>   ➔ = Listenverkaufspreis (netto)</a:t>
            </a:r>
          </a:p>
          <a:p>
            <a:pPr>
              <a:defRPr sz="1050" b="0">
                <a:solidFill>
                  <a:srgbClr val="212529"/>
                </a:solidFill>
              </a:defRPr>
            </a:pPr>
            <a:r>
              <a:t>+ Gesetzliche Umsatzsteuer (19,0%)</a:t>
            </a:r>
            <a:br/>
            <a:r>
              <a:t>   ➔ = Gesamtbetrag brutto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Angebotsübersicht (NL-2026-VP-001)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nsolas"/>
              </a:defRPr>
            </a:pPr>
            <a:r>
              <a:t>Hardware gesamt (16 APs, 32 Monitore, MFP)     51.108,12 €</a:t>
            </a:r>
          </a:p>
          <a:p>
            <a:pPr>
              <a:defRPr sz="1000">
                <a:latin typeface="Consolas"/>
              </a:defRPr>
            </a:pPr>
            <a:r>
              <a:t>Software Lizenzen (1. Jahr: M365, Adobe, ESET)     10.021,20 €</a:t>
            </a:r>
          </a:p>
          <a:p>
            <a:pPr>
              <a:defRPr sz="1000">
                <a:latin typeface="Consolas"/>
              </a:defRPr>
            </a:pPr>
            <a:r>
              <a:t>Dienstleistungen (Staging, Rollout, Abnahme)      6.050,00 €</a:t>
            </a:r>
          </a:p>
          <a:p>
            <a:pPr>
              <a:defRPr sz="1000">
                <a:latin typeface="Consolas"/>
              </a:defRPr>
            </a:pPr>
            <a:r>
              <a:t>--------------------------------------------------     -----------</a:t>
            </a:r>
          </a:p>
          <a:p>
            <a:pPr>
              <a:defRPr sz="1100" b="1">
                <a:solidFill>
                  <a:srgbClr val="00A896"/>
                </a:solidFill>
                <a:latin typeface="Consolas"/>
              </a:defRPr>
            </a:pPr>
            <a:r>
              <a:t>Gesamtbetrag Netto:                            67.179,32 €</a:t>
            </a:r>
          </a:p>
          <a:p>
            <a:pPr>
              <a:defRPr sz="1000">
                <a:latin typeface="Consolas"/>
              </a:defRPr>
            </a:pPr>
            <a:r>
              <a:t>+ 19% Umsatzsteuer:                            12.764,07 €</a:t>
            </a:r>
          </a:p>
          <a:p>
            <a:pPr>
              <a:defRPr sz="1100" b="1">
                <a:solidFill>
                  <a:srgbClr val="0A2540"/>
                </a:solidFill>
                <a:latin typeface="Consolas"/>
              </a:defRPr>
            </a:pPr>
            <a:r>
              <a:t>Gesamtbetrag Brutto:                           79.943,39 €</a:t>
            </a:r>
          </a:p>
          <a:p>
            <a:br/>
            <a:pPr>
              <a:defRPr sz="950">
                <a:solidFill>
                  <a:srgbClr val="6C757D"/>
                </a:solidFill>
                <a:latin typeface="Segoe UI"/>
              </a:defRPr>
            </a:pPr>
            <a:r>
              <a:t>Konditionen:</a:t>
            </a:r>
            <a:br/>
            <a:r>
              <a:t>• Zahlungsziel: 14 Tage 3% Skonto, 30 Tage rein netto</a:t>
            </a:r>
            <a:br/>
            <a:r>
              <a:t>• Gewährleistung: 36 Monate Vor-Ort-Herstellerservice</a:t>
            </a:r>
            <a:br/>
            <a:r>
              <a:t>• Option: IT-Leasing ab 1.580 €/Monat (OPEX-Vorteil)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KAPAZITÄTSPLANUNG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Spezifische Kundenberechnungen (Aufgabe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1. Speicherplatzbedarf Fileserver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011680"/>
            <a:ext cx="4526280" cy="1097280"/>
          </a:xfrm>
          <a:prstGeom prst="roundRect">
            <a:avLst/>
          </a:prstGeom>
          <a:solidFill>
            <a:srgbClr val="E1EEF8"/>
          </a:solidFill>
          <a:ln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4526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5A9C"/>
                </a:solidFill>
                <a:latin typeface="Segoe UI"/>
              </a:defRPr>
            </a:pPr>
            <a:r>
              <a:t>445 GiB</a:t>
            </a:r>
          </a:p>
          <a:p>
            <a:pPr algn="ctr">
              <a:defRPr sz="1100">
                <a:solidFill>
                  <a:srgbClr val="0A2540"/>
                </a:solidFill>
              </a:defRPr>
            </a:pPr>
            <a:r>
              <a:t>Gesamtbedarf für 1 Quartal (inkl. 25% Puffer)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663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Formel &amp; Berechnungsschritte:</a:t>
            </a:r>
          </a:p>
          <a:p>
            <a:pPr>
              <a:defRPr sz="1000"/>
            </a:pPr>
            <a:r>
              <a:t>• 16 Arbeitsplätze × 350 MiB/Tag = 5.600 MiB / Tag</a:t>
            </a:r>
          </a:p>
          <a:p>
            <a:pPr>
              <a:defRPr sz="1000"/>
            </a:pPr>
            <a:r>
              <a:t>• 5.600 MiB × 65 Arbeitstage = 364.000 MiB (Quartal)</a:t>
            </a:r>
          </a:p>
          <a:p>
            <a:pPr>
              <a:defRPr sz="1000"/>
            </a:pPr>
            <a:r>
              <a:t>• Umrechnung in GiB: 364.000 ÷ 1.024 = 355,47 GiB</a:t>
            </a:r>
          </a:p>
          <a:p>
            <a:pPr>
              <a:defRPr sz="1000"/>
            </a:pPr>
            <a:r>
              <a:t>• Netto gerundet (volle GiB): 356 GiB</a:t>
            </a:r>
          </a:p>
          <a:p>
            <a:pPr>
              <a:defRPr sz="1000"/>
            </a:pPr>
            <a:r>
              <a:t>• Sicherheits- &amp; Pufferzuschlag (+25%):</a:t>
            </a:r>
          </a:p>
          <a:p>
            <a:pPr>
              <a:defRPr sz="1000" b="1">
                <a:solidFill>
                  <a:srgbClr val="00A896"/>
                </a:solidFill>
              </a:defRPr>
            </a:pPr>
            <a:r>
              <a:t>  ➔ 356 GiB × 1,25 = 445 GiB gesamt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2. Energiekosten-Kalkulation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11680"/>
            <a:ext cx="4526280" cy="1097280"/>
          </a:xfrm>
          <a:prstGeom prst="roundRect">
            <a:avLst/>
          </a:prstGeom>
          <a:solidFill>
            <a:srgbClr val="FEEDE8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526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B5E28"/>
                </a:solidFill>
                <a:latin typeface="Segoe UI"/>
              </a:defRPr>
            </a:pPr>
            <a:r>
              <a:t>1.771,26 €</a:t>
            </a:r>
          </a:p>
          <a:p>
            <a:pPr algn="ctr">
              <a:defRPr sz="1100">
                <a:solidFill>
                  <a:srgbClr val="0A2540"/>
                </a:solidFill>
              </a:defRPr>
            </a:pPr>
            <a:r>
              <a:t>Jährliche Stromkosten (alle 16 Arbeitsplätze)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40"/>
            <a:ext cx="4663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Formel &amp; Berechnungsschritte:</a:t>
            </a:r>
          </a:p>
          <a:p>
            <a:pPr>
              <a:defRPr sz="1000"/>
            </a:pPr>
            <a:r>
              <a:t>• 12 Standard-PCs à 140 W = 1.680 W</a:t>
            </a:r>
          </a:p>
          <a:p>
            <a:pPr>
              <a:defRPr sz="1000"/>
            </a:pPr>
            <a:r>
              <a:t>• 4 CAD-Workstations à 320 W = 1.280 W</a:t>
            </a:r>
          </a:p>
          <a:p>
            <a:pPr>
              <a:defRPr sz="1000"/>
            </a:pPr>
            <a:r>
              <a:t>• Gesamtlast: 2.960 W = 2,96 kW</a:t>
            </a:r>
          </a:p>
          <a:p>
            <a:pPr>
              <a:defRPr sz="1000"/>
            </a:pPr>
            <a:r>
              <a:t>• Jahreslaufzeit: 220 Arbeitstage × 8,5 h = 1.870 Stunden</a:t>
            </a:r>
          </a:p>
          <a:p>
            <a:pPr>
              <a:defRPr sz="1000"/>
            </a:pPr>
            <a:r>
              <a:t>• Jahresstromverbrauch: 2,96 kW × 1.870 h = 5.535,2 kWh</a:t>
            </a:r>
          </a:p>
          <a:p>
            <a:pPr>
              <a:defRPr sz="1000"/>
            </a:pPr>
            <a:r>
              <a:t>• Jahreskosten bei 0,32 €/kWh:</a:t>
            </a:r>
          </a:p>
          <a:p>
            <a:pPr>
              <a:defRPr sz="1000" b="1">
                <a:solidFill>
                  <a:srgbClr val="EB5E28"/>
                </a:solidFill>
              </a:defRPr>
            </a:pPr>
            <a:r>
              <a:t>  ➔ 5.535,2 kWh × 0,32 € = 1.771,26 € / Jahr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Qualitätssicherung: Wareneingang &amp; Mängelrüge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10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82296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Wareneingang § 377 HGB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1EEF8"/>
                </a:solidFill>
                <a:latin typeface="Segoe UI"/>
              </a:defRPr>
            </a:pPr>
            <a:r>
              <a:t>Rügepflicht im B2B-Geschäftsverkehr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Unverzügliche Prüfung: </a:t>
            </a:r>
            <a:r>
              <a:rPr b="0">
                <a:solidFill>
                  <a:srgbClr val="212529"/>
                </a:solidFill>
              </a:rPr>
              <a:t>Pflicht zur sofortigen Untersuchung der Ware auf Vollständigkeit und Mängel.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Offene Mängel: </a:t>
            </a:r>
            <a:r>
              <a:rPr b="0">
                <a:solidFill>
                  <a:srgbClr val="212529"/>
                </a:solidFill>
              </a:rPr>
              <a:t>Sichtbare Transportschäden oder Fehllieferungen müssen unverzüglich gerügt werden.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Verdeckte Mängel: </a:t>
            </a:r>
            <a:r>
              <a:rPr b="0">
                <a:solidFill>
                  <a:srgbClr val="212529"/>
                </a:solidFill>
              </a:rPr>
              <a:t>Müssen sofort nach Entdeckung angezeigt werden.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Rechtsfolge Versäumnis: </a:t>
            </a:r>
            <a:r>
              <a:rPr b="0">
                <a:solidFill>
                  <a:srgbClr val="212529"/>
                </a:solidFill>
              </a:rPr>
              <a:t>Ware gilt rechtlich als genehmigt (§ 377 Abs. 2 HGB) – Verlust von Gewährleistungsrechten.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3474720" cy="822960"/>
          </a:xfrm>
          <a:prstGeom prst="rect">
            <a:avLst/>
          </a:prstGeom>
          <a:solidFill>
            <a:srgbClr val="EB5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Praxisfall: Mängelrüge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1EEF8"/>
                </a:solidFill>
                <a:latin typeface="Segoe UI"/>
              </a:defRPr>
            </a:pPr>
            <a:r>
              <a:t>Gelebtes Fallbeispiel aus dem Projekt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Festgestellter Mangel 1: </a:t>
            </a:r>
            <a:r>
              <a:rPr b="0">
                <a:solidFill>
                  <a:srgbClr val="212529"/>
                </a:solidFill>
              </a:rPr>
              <a:t>Gehäuseschaden an Lenovo ThinkStation P3 (Transportschaden/Eindellung).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Festgestellter Mangel 2: </a:t>
            </a:r>
            <a:r>
              <a:rPr b="0">
                <a:solidFill>
                  <a:srgbClr val="212529"/>
                </a:solidFill>
              </a:rPr>
              <a:t>Fehllieferung: 1x Dell Full-HD statt bestelltem WQHD-Monitor.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Kaufmännische Rüge: </a:t>
            </a:r>
            <a:r>
              <a:rPr b="0">
                <a:solidFill>
                  <a:srgbClr val="212529"/>
                </a:solidFill>
              </a:rPr>
              <a:t>Formelles Anschreiben an Distributor (DIN 5008).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Konkrete Fristsetzung: </a:t>
            </a:r>
            <a:r>
              <a:rPr b="0">
                <a:solidFill>
                  <a:srgbClr val="212529"/>
                </a:solidFill>
              </a:rPr>
              <a:t>Frist zur Nachlieferung mangelfreier Neuware binnen 14 Werktagen.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371600"/>
            <a:ext cx="3474720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144475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Umweltgerechte Entsorgung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18105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E1EEF8"/>
                </a:solidFill>
                <a:latin typeface="Segoe UI"/>
              </a:defRPr>
            </a:pPr>
            <a:r>
              <a:t>Altdrucker nach ElektroG &amp; WEEE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331720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Gesetzliche Einstufung: </a:t>
            </a:r>
            <a:r>
              <a:rPr b="0">
                <a:solidFill>
                  <a:srgbClr val="212529"/>
                </a:solidFill>
              </a:rPr>
              <a:t>B2B-Elektroaltgerät (Kategorie 6 gem. ElektroG).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Datenschutz (DSGVO/BSI): </a:t>
            </a:r>
            <a:r>
              <a:rPr b="0">
                <a:solidFill>
                  <a:srgbClr val="212529"/>
                </a:solidFill>
              </a:rPr>
              <a:t>Sichere 3-fache Überschreibung interner Festplatten/Speicher vor Entsorgung.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Tonerkassetten: </a:t>
            </a:r>
            <a:r>
              <a:rPr b="0">
                <a:solidFill>
                  <a:srgbClr val="212529"/>
                </a:solidFill>
              </a:rPr>
              <a:t>Rückführung in geschlossene Hersteller-Recyclingkreisläufe (Zero Waste).</a:t>
            </a:r>
          </a:p>
          <a:p>
            <a:pPr>
              <a:defRPr sz="1000" b="1">
                <a:solidFill>
                  <a:srgbClr val="0A2540"/>
                </a:solidFill>
                <a:latin typeface="Segoe UI"/>
              </a:defRPr>
            </a:pPr>
            <a:r>
              <a:t>• Nachweis: </a:t>
            </a:r>
            <a:r>
              <a:rPr b="0">
                <a:solidFill>
                  <a:srgbClr val="212529"/>
                </a:solidFill>
              </a:rPr>
              <a:t>Ausstellung eines offiziellen Entsorgungszertifikats für VektorPlan GmbH.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Rollout-Prozess: Von der Werkstatt zur Abnahme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1: Staging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C757D"/>
                </a:solidFill>
                <a:latin typeface="Segoe UI"/>
              </a:defRPr>
            </a:pPr>
            <a:r>
              <a:t>Im NextLevel Systemhaus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Auspacken &amp; HW-Inventarisierung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Installation Windows 11 Pro Image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Office 365, Adobe &amp; ESET Setup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24h Stresstest aller 16 Systeme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37160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2: Logistik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C757D"/>
                </a:solidFill>
                <a:latin typeface="Segoe UI"/>
              </a:defRPr>
            </a:pPr>
            <a:r>
              <a:t>Sicherer 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Schutzkartons &amp; ESD-Verpackung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Terminierte Anlieferung vor Ort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Bereitstellung in den 2 Großraumbüros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Entsorgung Transportverpackungen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37160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04304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3: Montage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C757D"/>
                </a:solidFill>
                <a:latin typeface="Segoe UI"/>
              </a:defRPr>
            </a:pPr>
            <a:r>
              <a:t>ArbStättV-Ergonomie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Montage der 32 Dual-Monitore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Höhenausrichtung (Augenhöhe)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Sauberes Kabelmanagement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Patchkabel &amp; Switch-Anbindung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37160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29216" y="1554480"/>
            <a:ext cx="914400" cy="914400"/>
          </a:xfrm>
          <a:prstGeom prst="ellipse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89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4: Abnahme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C757D"/>
                </a:solidFill>
                <a:latin typeface="Segoe UI"/>
              </a:defRPr>
            </a:pPr>
            <a:r>
              <a:t>Funktionstest &amp; Übergabe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3383280"/>
            <a:ext cx="2286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End-to-End Netzwerk- &amp; Drucktest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Revit/CAD 3D-Rendering-Prüfung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Unterzeichnung Abnahmeprotokoll</a:t>
            </a:r>
          </a:p>
          <a:p>
            <a:pPr>
              <a:defRPr sz="1000">
                <a:solidFill>
                  <a:srgbClr val="212529"/>
                </a:solidFill>
                <a:latin typeface="Segoe UI"/>
              </a:defRPr>
            </a:pPr>
            <a:r>
              <a:t>• Kurzeinweisung der Mitarbeiter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CONTROLLING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Projekterfolg: Umfassender Soll-Ist-Vergleich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12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3108960" cy="1097280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A896"/>
                </a:solidFill>
                <a:latin typeface="Segoe UI"/>
              </a:defRPr>
            </a:pPr>
            <a:r>
              <a:t>46 / 48 Tage</a:t>
            </a:r>
          </a:p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- 2 Tage Vorsprung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Zeitplanung (Termintreue)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3108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Planung (Soll): </a:t>
            </a:r>
            <a:r>
              <a:rPr b="0">
                <a:solidFill>
                  <a:srgbClr val="212529"/>
                </a:solidFill>
              </a:rPr>
              <a:t>48 geplante Arbeitstage nach Wasserfallmodell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Realisierung (Ist): </a:t>
            </a:r>
            <a:r>
              <a:rPr b="0">
                <a:solidFill>
                  <a:srgbClr val="212529"/>
                </a:solidFill>
              </a:rPr>
              <a:t>Erfolgreicher Rollout in 46 Arbeitstagen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Erfolgsfaktor: </a:t>
            </a:r>
            <a:r>
              <a:rPr b="0">
                <a:solidFill>
                  <a:srgbClr val="212529"/>
                </a:solidFill>
              </a:rPr>
              <a:t>Parallelisiertes Staging &amp; automatisierte Betankung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Status: </a:t>
            </a:r>
            <a:r>
              <a:rPr b="0">
                <a:solidFill>
                  <a:srgbClr val="212529"/>
                </a:solidFill>
              </a:rPr>
              <a:t>Meilensteine zu 100% fristgerecht erreicht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554480"/>
            <a:ext cx="3108960" cy="1097280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5A9C"/>
                </a:solidFill>
                <a:latin typeface="Segoe UI"/>
              </a:defRPr>
            </a:pPr>
            <a:r>
              <a:t>67.179 €</a:t>
            </a:r>
          </a:p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Im Budgetrahmen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Finanzbudget (Wirtschaftlichkeit)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154680"/>
            <a:ext cx="3108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Freigegebenes Budget: </a:t>
            </a:r>
            <a:r>
              <a:rPr b="0">
                <a:solidFill>
                  <a:srgbClr val="212529"/>
                </a:solidFill>
              </a:rPr>
              <a:t>Bis zu 70.000,00 € Netto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Tatsächliches Angebot: </a:t>
            </a:r>
            <a:r>
              <a:rPr b="0">
                <a:solidFill>
                  <a:srgbClr val="212529"/>
                </a:solidFill>
              </a:rPr>
              <a:t>67.179,32 € Netto (inkl. 6.050 € Dienstleistungen)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Kostenvorteil: </a:t>
            </a:r>
            <a:r>
              <a:rPr b="0">
                <a:solidFill>
                  <a:srgbClr val="212529"/>
                </a:solidFill>
              </a:rPr>
              <a:t>Ca. 2.820 € unterhalb des maximalen Kundenbudgets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Transparenz: </a:t>
            </a:r>
            <a:r>
              <a:rPr b="0">
                <a:solidFill>
                  <a:srgbClr val="212529"/>
                </a:solidFill>
              </a:rPr>
              <a:t>Vollständige Vorwärtskalkulation hinterlegt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1554480"/>
            <a:ext cx="3108960" cy="1097280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60020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2540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000" b="1">
                <a:solidFill>
                  <a:srgbClr val="0A2540"/>
                </a:solidFill>
                <a:latin typeface="Segoe UI"/>
              </a:defRPr>
            </a:pPr>
            <a:r>
              <a:t>Vorbehaltlos abgenommen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7432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Segoe UI"/>
              </a:defRPr>
            </a:pPr>
            <a:r>
              <a:t>Qualität &amp; Kundenzufriedenheit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108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Lieferumfang: </a:t>
            </a:r>
            <a:r>
              <a:rPr b="0">
                <a:solidFill>
                  <a:srgbClr val="212529"/>
                </a:solidFill>
              </a:rPr>
              <a:t>16 von 16 Arbeitsplätzen voll betriebsbereit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Mängelmanagement: </a:t>
            </a:r>
            <a:r>
              <a:rPr b="0">
                <a:solidFill>
                  <a:srgbClr val="212529"/>
                </a:solidFill>
              </a:rPr>
              <a:t>Fehlerhafte Teile binnen Frist ausgetauscht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Ergonomie: </a:t>
            </a:r>
            <a:r>
              <a:rPr b="0">
                <a:solidFill>
                  <a:srgbClr val="212529"/>
                </a:solidFill>
              </a:rPr>
              <a:t>ArbStättV-konforme Einrichtung von 32 Monitoren</a:t>
            </a:r>
          </a:p>
          <a:p>
            <a:pPr>
              <a:defRPr sz="1000" b="1">
                <a:solidFill>
                  <a:srgbClr val="005A9C"/>
                </a:solidFill>
                <a:latin typeface="Segoe UI"/>
              </a:defRPr>
            </a:pPr>
            <a:r>
              <a:t>• Abnahmeprotokoll: </a:t>
            </a:r>
            <a:r>
              <a:rPr b="0">
                <a:solidFill>
                  <a:srgbClr val="212529"/>
                </a:solidFill>
              </a:rPr>
              <a:t>Durch VektorPlan GmbH ohne Rüge unterzeichnet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A896"/>
                </a:solidFill>
                <a:latin typeface="Segoe UI"/>
              </a:defRPr>
            </a:pPr>
            <a:r>
              <a:t>REFLEXION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Lessons Learned &amp; Handlungsempfehlungen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C757D"/>
                </a:solidFill>
                <a:latin typeface="Segoe UI"/>
              </a:defRPr>
            </a:pPr>
            <a:r>
              <a:t>NextLevel IT Solutions GmbH | Projekt: VektorPlan GmbH | Handlungsaufgabe 2026               Folie 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96"/>
                </a:solidFill>
                <a:latin typeface="Segoe UI"/>
              </a:defRPr>
            </a:pPr>
            <a:r>
              <a:t>Top Erfolge &amp; Best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92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A896"/>
                </a:solidFill>
                <a:latin typeface="Segoe UI"/>
              </a:defRPr>
            </a:pPr>
            <a:r>
              <a:t>✔ Wissenschaftliche Nutzwertanalyse: </a:t>
            </a:r>
            <a:r>
              <a:rPr b="0">
                <a:solidFill>
                  <a:srgbClr val="212529"/>
                </a:solidFill>
              </a:rPr>
              <a:t>Die gewichtete Matrix schützte vor Fehlinvestitionen und wählte mit der RTX 4000 Ada die exakt passende Lösung.</a:t>
            </a:r>
          </a:p>
          <a:p>
            <a:pPr>
              <a:defRPr sz="1050" b="1">
                <a:solidFill>
                  <a:srgbClr val="00A896"/>
                </a:solidFill>
                <a:latin typeface="Segoe UI"/>
              </a:defRPr>
            </a:pPr>
            <a:r>
              <a:t>✔ Strikte Wareneingangsprüfung (§ 377 HGB): </a:t>
            </a:r>
            <a:r>
              <a:rPr b="0">
                <a:solidFill>
                  <a:srgbClr val="212529"/>
                </a:solidFill>
              </a:rPr>
              <a:t>Transportschaden und Fehllieferung wurden sofort gerügt. Ohne die Prüfung wären Nachbesserungsansprüche verloren gegangen.</a:t>
            </a:r>
          </a:p>
          <a:p>
            <a:pPr>
              <a:defRPr sz="1050" b="1">
                <a:solidFill>
                  <a:srgbClr val="00A896"/>
                </a:solidFill>
                <a:latin typeface="Segoe UI"/>
              </a:defRPr>
            </a:pPr>
            <a:r>
              <a:t>✔ Agile Teilrollen im Wasserfallmodell: </a:t>
            </a:r>
            <a:r>
              <a:rPr b="0">
                <a:solidFill>
                  <a:srgbClr val="212529"/>
                </a:solidFill>
              </a:rPr>
              <a:t>Klare Zuständigkeiten (Jan, Mathias, Marian, Marco, Siyar) ermöglichten paralleles Arbeiten ohne Reibungsverluste.</a:t>
            </a:r>
          </a:p>
          <a:p>
            <a:pPr>
              <a:defRPr sz="1050" b="1">
                <a:solidFill>
                  <a:srgbClr val="00A896"/>
                </a:solidFill>
                <a:latin typeface="Segoe UI"/>
              </a:defRPr>
            </a:pPr>
            <a:r>
              <a:t>✔ Vorkonfiguration (Staging) im Labor: </a:t>
            </a:r>
            <a:r>
              <a:rPr b="0">
                <a:solidFill>
                  <a:srgbClr val="212529"/>
                </a:solidFill>
              </a:rPr>
              <a:t>Durch das Vorab-Image-Deployment verkürzte sich die Montagezeit beim Kunden vor Ort um über 40%.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1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81328"/>
            <a:ext cx="4983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Segoe UI"/>
              </a:defRPr>
            </a:pPr>
            <a:r>
              <a:t>Optimierungspotenziale &amp; Empfehlungen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92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5A9C"/>
                </a:solidFill>
                <a:latin typeface="Segoe UI"/>
              </a:defRPr>
            </a:pPr>
            <a:r>
              <a:t>➔ Netzwerk-Audit noch früher durchführen: </a:t>
            </a:r>
            <a:r>
              <a:rPr b="0">
                <a:solidFill>
                  <a:srgbClr val="212529"/>
                </a:solidFill>
              </a:rPr>
              <a:t>Die Prüfung von Switchport-Belegungen sollte künftig bereits vor der Hardware-Bestellung mit dem Kunden erfolgen.</a:t>
            </a:r>
          </a:p>
          <a:p>
            <a:pPr>
              <a:defRPr sz="1050" b="1">
                <a:solidFill>
                  <a:srgbClr val="005A9C"/>
                </a:solidFill>
                <a:latin typeface="Segoe UI"/>
              </a:defRPr>
            </a:pPr>
            <a:r>
              <a:t>➔ Distributoren-Pufferzeiten einplanen: </a:t>
            </a:r>
            <a:r>
              <a:rPr b="0">
                <a:solidFill>
                  <a:srgbClr val="212529"/>
                </a:solidFill>
              </a:rPr>
              <a:t>Für Hardware-Austausch und RMA-Prozesse sollte stets ein Zeitpuffer von mind. 5 Werktagen im Gantt-Plan reserviert sein.</a:t>
            </a:r>
          </a:p>
          <a:p>
            <a:pPr>
              <a:defRPr sz="1050" b="1">
                <a:solidFill>
                  <a:srgbClr val="005A9C"/>
                </a:solidFill>
                <a:latin typeface="Segoe UI"/>
              </a:defRPr>
            </a:pPr>
            <a:r>
              <a:t>➔ Standardisierte Checklisten-Bibliothek: </a:t>
            </a:r>
            <a:r>
              <a:rPr b="0">
                <a:solidFill>
                  <a:srgbClr val="212529"/>
                </a:solidFill>
              </a:rPr>
              <a:t>Die im Projekt entwickelte ArbStättV-Inbetriebnahme-Checkliste wird als offizieller Unternehmensstandard übernommen.</a:t>
            </a:r>
          </a:p>
          <a:p>
            <a:pPr>
              <a:defRPr sz="1050" b="1">
                <a:solidFill>
                  <a:srgbClr val="005A9C"/>
                </a:solidFill>
                <a:latin typeface="Segoe UI"/>
              </a:defRPr>
            </a:pPr>
            <a:r>
              <a:t>➔ Automatisierte Schulungskomponente: </a:t>
            </a:r>
            <a:r>
              <a:rPr b="0">
                <a:solidFill>
                  <a:srgbClr val="212529"/>
                </a:solidFill>
              </a:rPr>
              <a:t>Ergonomie- und MFP-Kurzanleitungen sollten standardmäßig als Video/PDF auf dem Desktop bereitgestellt werden.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914400"/>
            <a:ext cx="8534095" cy="5029200"/>
          </a:xfrm>
          <a:prstGeom prst="roundRect">
            <a:avLst/>
          </a:prstGeom>
          <a:solidFill>
            <a:srgbClr val="123456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188720"/>
            <a:ext cx="81683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Vielen Dank für Ihre Aufmerksamkeit!</a:t>
            </a:r>
          </a:p>
          <a:p>
            <a:pPr algn="ctr">
              <a:defRPr sz="1600">
                <a:solidFill>
                  <a:srgbClr val="E1EEF8"/>
                </a:solidFill>
                <a:latin typeface="Segoe UI"/>
              </a:defRPr>
            </a:pPr>
            <a:r>
              <a:t>Wir freuen uns auf Ihre Fragen &amp; die gemeinsame Diskussion.</a:t>
            </a:r>
          </a:p>
          <a:p>
            <a:br/>
            <a:pPr algn="ctr">
              <a:defRPr sz="1200">
                <a:solidFill>
                  <a:srgbClr val="00A896"/>
                </a:solidFill>
              </a:defRPr>
            </a:pPr>
            <a:r>
              <a:t>────────────────────────────────────────────</a:t>
            </a:r>
            <a:br/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NextLevel IT Solutions GmbH  •  Ihr Partner für moderne IT-Infrastruktur</a:t>
            </a:r>
          </a:p>
          <a:p>
            <a:pPr algn="ctr">
              <a:defRPr sz="1100">
                <a:solidFill>
                  <a:srgbClr val="E1EEF8"/>
                </a:solidFill>
                <a:latin typeface="Segoe UI"/>
              </a:defRPr>
            </a:pPr>
            <a:r>
              <a:t>Technikstraße 42  •  50667 Köln  •  Tel: 0221 / 123 456-0  •  E-Mail: kontakt@nextlevel-it.de</a:t>
            </a:r>
          </a:p>
          <a:p>
            <a:br/>
            <a:pPr algn="ctr">
              <a:defRPr sz="1100" b="1">
                <a:solidFill>
                  <a:srgbClr val="00A896"/>
                </a:solidFill>
                <a:latin typeface="Segoe UI"/>
              </a:defRPr>
            </a:pPr>
            <a:r>
              <a:t>Projektteam Handlungsaufgabe 2026:</a:t>
            </a:r>
          </a:p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Jan Kluth (Projektleiter)  |  Mathias Vonau  |  Marian Bolecke  |  Marco Schmidt  |  Siyar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