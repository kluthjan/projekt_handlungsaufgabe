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648769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Guten Tag zusammen und herzlich willkommen zu unserer Projektpräsentation!</a:t>
            </a:r>
          </a:p>
          <a:p>
            <a:endParaRPr/>
          </a:p>
          <a:p>
            <a:r>
              <a:t>Mein Name ist Jan Kluth, ich bin der Projektleiter dieses Vorhabens. Zusammen mit meinen Teamkollegen Mathias Vonau, Marian Bolecke, Marco Schmidt und Siyar von der NextLevel IT Solutions GmbH stellen wir Ihnen heute unser ganzheitliches Ausstattungskonzept für die Architektur- und Ingenieurgesellschaft VektorPlan GmbH vor.</a:t>
            </a:r>
          </a:p>
          <a:p>
            <a:endParaRPr/>
          </a:p>
          <a:p>
            <a:r>
              <a:t>Ziel unseres Projektes war es, 16 hochmoderne, ergonomische Arbeitsplätze inklusive Serveranbindung und Druckinfrastruktur schlüsselfertig zu planen, zu kalkulieren und bereitzustellen.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Hier sehen Sie unsere Agenda für die heutigen 10 Minuten:</a:t>
            </a:r>
          </a:p>
          <a:p>
            <a:endParaRPr/>
          </a:p>
          <a:p>
            <a:r>
              <a:t>Wir führen Sie durch den gesamten Projektlebenszyklus – von der ersten Kundenanalyse über die Projektstrukturierung nach DIN-Normen, die technische Produktauswahl und Vorwärtskalkulation bis hin zu den speziellen Kundenberechnungen, dem rechtssicheren Rollout und unserem abschließenden Soll-Ist-Vergleich. Jeder aus unserem Team wird dabei seinen fachlichen Schwerpunkt persönlich präsentieren.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Schauen wir auf die Ausgangssituation: Unser Kunde, die VektorPlan GmbH, modernisiert zwei Großraumbüros und richtet eine Plotterstation ein.</a:t>
            </a:r>
          </a:p>
          <a:p>
            <a:endParaRPr/>
          </a:p>
          <a:p>
            <a:r>
              <a:t>Die Mitarbeiter in der Bauleitung brauchten zuverlässige, leise Rechner. Die Konstrukteure hingegen stießen bei 3D-BIM-Modellen an massive Leistungsgrenzen.</a:t>
            </a:r>
          </a:p>
          <a:p>
            <a:r>
              <a:t>Deshalb lautete der klare Auftrag an uns: 12 Standard-PCs, 4 High-End-Workstations, Doppelbildschirme für jeden der 16 Plätze, mobile Zwischensicherungs-SSDs und ein zentrales DIN-A3-Farblasergerät – schlüsselfertig montiert und getestet.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Damit ein solches Projekt in Time und in Budget bleibt, haben wir die Rollen nach individuellen Stärken aufgeteilt:</a:t>
            </a:r>
          </a:p>
          <a:p>
            <a:endParaRPr/>
          </a:p>
          <a:p>
            <a:r>
              <a:t>Ich habe die Gesamtleitung, Meilensteine und Kundenabstimmung übernommen. Mathias war unser technischer Architekt fürs Lastenheft und das Staging. Marian kümmerte sich um Einkaufspreise und kaufmännische Vorwärtskalkulation. Marco übernahm das Qualitätsmanagement mit § 377 HGB und Entsorgung, während Siyar für die mathematischen Kundenberechnungen und die Dokumentensicherung zuständig war. Ich übergebe nun an Mathias für die Struktur- und Ablaufplanung!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Mathias Vonau (Technischer Planer)</a:t>
            </a:r>
          </a:p>
          <a:p>
            <a:endParaRPr/>
          </a:p>
          <a:p>
            <a:r>
              <a:t>Hallo zusammen, hier sehen Sie unseren Projektstrukturplan nach DIN 69901.</a:t>
            </a:r>
          </a:p>
          <a:p>
            <a:endParaRPr/>
          </a:p>
          <a:p>
            <a:r>
              <a:t>Wir haben die Aufgabenstellung unseres Lehrers exakt und methodisch sauber umgesetzt: Das gesamte Projektvolumen ist in fünf klare Säulen gegliedert – jede Säule wird von einem festen Mitglied unseres Kernteams geleitet (Marian für Hardware, ich für Software, Siyar für Netzwerk &amp; Server, Marco für QM &amp; Logistik und Jan für Rollout &amp; PM).</a:t>
            </a:r>
          </a:p>
          <a:p>
            <a:endParaRPr/>
          </a:p>
          <a:p>
            <a:r>
              <a:t>Insgesamt sind genau 30 messbare Arbeitspakete (6 je Teilprojekt) definiert. Dadurch weiß jeder Schüler im Team genau, was seine Aufgaben sind – von den Lenovo Standard-PCs über die Lizenzdokumentation, die Serverberechnungen (445 GiB &amp; 1.771 €), die Mängelrüge bis zum Abnahmeprotokoll.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Mathias Vonau (Technischer Planer)</a:t>
            </a:r>
          </a:p>
          <a:p>
            <a:endParaRPr/>
          </a:p>
          <a:p>
            <a:r>
              <a:t>Auf dieser Folie sehen Sie unseren Netzplan nach DIN 69900.</a:t>
            </a:r>
          </a:p>
          <a:p>
            <a:endParaRPr/>
          </a:p>
          <a:p>
            <a:r>
              <a:t>Durch Vorwärts- und Rückwärtsrechnung haben wir den kritischen Pfad mit einer Gesamtdauer von 46 Arbeitstagen ermittelt. Alle rot hinterlegten Vorgänge haben einen Gesamtpuffer von 0 – wenn sich hier etwas verzögert, verschiebt sich der Einzugstermin des Kunden.</a:t>
            </a:r>
          </a:p>
          <a:p>
            <a:r>
              <a:t>Besonders interessant ist Vorgang 10: Die Altdruckerentsorgung läuft parallel zur Montage vor Ort und hat 1 Tag Puffer. Ich übergebe nun an Marian, der die Hardwareauswahl und Nutzwertanalyse vorstellt.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Marian Bolecke (Beschaffung &amp; Kalkulation)</a:t>
            </a:r>
          </a:p>
          <a:p>
            <a:endParaRPr/>
          </a:p>
          <a:p>
            <a:r>
              <a:t>Vielen Dank Mathias! Schauen wir uns die Hardware-Anforderungen im Detail an.</a:t>
            </a:r>
          </a:p>
          <a:p>
            <a:endParaRPr/>
          </a:p>
          <a:p>
            <a:r>
              <a:t>Wir haben die 16 Plätze in zwei klare Nutzerprofile getrennt: Bei den 12 Standard-PCs stand Geräuschlosigkeit und ein kompaktes Gehäuse im Vordergrund – dafür reicht der i5 mit integrierter Grafikkarte vollkommen aus.</a:t>
            </a:r>
          </a:p>
          <a:p>
            <a:r>
              <a:t>Bei den 4 CAD-Plätzen durfte es keine Kompromisse geben: 64 GB DDR5-RAM und eine ISV-zertifizierte Profi-Grafikkarte mit mindestens 16 bis 20 GB VRAM. Ergänzt wird das durch 32 WQHD-Monitore mit IPS-Black-Technologie, damit feine Architektur-Linien perfekt lesbar sind.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Marian Bolecke (Beschaffung &amp; Kalkulation)</a:t>
            </a:r>
          </a:p>
          <a:p>
            <a:endParaRPr/>
          </a:p>
          <a:p>
            <a:r>
              <a:t>Hier sehen Sie die konkreten Markenprodukte, die wir im IT-Fachhandel recherchiert haben:</a:t>
            </a:r>
          </a:p>
          <a:p>
            <a:endParaRPr/>
          </a:p>
          <a:p>
            <a:r>
              <a:t>Für das Standard-Büro haben wir das Lenovo ThinkCentre M70s für 690 € netto ausgewählt. Für die CAD-Arbeitsplätze fiel die Wahl auf den Lenovo ThinkStation P3 Tower mit NVIDIA RTX 4000 Ada für 3.200 € netto. Bei den Monitoren setzen wir auf den Dell UltraSharp U2724D für 310 € und beim Drucker auf den Lexmark CX930dse für 2.200 €. Warum genau diese Produkte gewonnen haben, zeigt unsere wissenschaftliche Nutzwertanalyse auf der nächsten Folie.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Marian Bolecke (Beschaffung &amp; Kalkulation)</a:t>
            </a:r>
          </a:p>
          <a:p>
            <a:endParaRPr/>
          </a:p>
          <a:p>
            <a:r>
              <a:t>Um Bauchgefühl auszuschließen, haben wir zwei gewichtete Nutzwertanalysen durchgeführt:</a:t>
            </a:r>
          </a:p>
          <a:p>
            <a:endParaRPr/>
          </a:p>
          <a:p>
            <a:r>
              <a:t>Bei den Workstations gewinnt Lenovo mit 8,70 Punkten. Warum? Weil die GPU-Performance für ein Architekturbüro mit 40% gewichtet ist – und die RTX 4000 Ada Generation mit 20 GB VRAM dem Dell mit älterer A4000 und 16 GB haushoch überlegen ist.</a:t>
            </a:r>
          </a:p>
          <a:p>
            <a:r>
              <a:t>Bei den Monitoren gewinnt Dell mit 9,10 Punkten. EIZO ist zwar ergonomisch top, kostet aber 480 € statt 310 €. Bei 32 Stück summiert sich das auf 5.440 € Mehrpreis! Dell bietet dank IPS-Black sogar den besseren Kontrast für Planzeichnungen.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Marian Bolecke (Beschaffung &amp; Kalkulation)</a:t>
            </a:r>
          </a:p>
          <a:p>
            <a:endParaRPr/>
          </a:p>
          <a:p>
            <a:r>
              <a:t>Hier sehen Sie unsere kaufmännische Vorwärtskalkulation nach klassischem IHK-Schema:</a:t>
            </a:r>
          </a:p>
          <a:p>
            <a:endParaRPr/>
          </a:p>
          <a:p>
            <a:r>
              <a:t>Ausgehend von den Einkaufs-Bezugspreisen schlagen wir 25% Handlungskosten für Lager, Logistik und Bereitstellung auf, gefolgt von 12% unternehmerischem Gewinnzuschlag und 3% Kundenskonto 'im Hundert'.</a:t>
            </a:r>
          </a:p>
          <a:p>
            <a:r>
              <a:t>Unser Gesamtangebot an VektorPlan beläuft sich auf 67.179,32 € netto bzw. 79.943,39 € brutto inklusive 1. Jahr aller Softwarelizenzen und der kompletten Vor-Ort-Montage. Ich übergebe nun an Siyar für die Berechnungen der Serverkapazität und Stromkosten!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Siyar (Berechnungen &amp; Controlling)</a:t>
            </a:r>
          </a:p>
          <a:p>
            <a:endParaRPr/>
          </a:p>
          <a:p>
            <a:r>
              <a:t>Hallo zusammen! Ich freue mich, Ihnen die beiden technischen Berechnungen vorzustellen, um die uns die Geschäftsführung von VektorPlan im Vorfeld gebeten hatte. Wir haben die Zahlen bewusst nicht geschätzt, sondern mathematisch exakt nach IHK-Standard durchgerechnet.</a:t>
            </a:r>
          </a:p>
          <a:p>
            <a:endParaRPr/>
          </a:p>
          <a:p>
            <a:r>
              <a:t>Schauen wir zuerst auf die linke Seite – den Speicherplatzbedarf auf dem Fileserver:</a:t>
            </a:r>
          </a:p>
          <a:p>
            <a:r>
              <a:t>An jedem der 16 Arbeitsplätze entstehen pro Tag rund 350 Megabyte an neuen Projekt- und Plandaten. Über ein volles Quartal mit 65 Arbeitstagen summiert sich das auf 364.000 Megabyte. Weil Dateisysteme aber binär arbeiten, teilen wir durch 1.024 und kommen auf 355,47 GiB – aufgerundet also 356 GiB Netto.</a:t>
            </a:r>
          </a:p>
          <a:p>
            <a:r>
              <a:t>Jetzt kommt das Entscheidende: Bei einem Konstruktionsbüro gibt es viele Revisionsstände und CAD-Snapshots. Deshalb haben wir den geforderten Sicherheitszuschlag von 25 Prozent – also 89 GiB – aufgeschlagen. Das Ergebnis sehen Sie oben fett: Genau 445 GiB Bruttokapazität muss der Server für das erste Quartal bereitstellen. Unsere Empfehlung: Ein RAID-10-System mit 4 bis 6 Terabyte, dann hat VektorPlan für die nächsten 3 Jahre absolute Ruhe.</a:t>
            </a:r>
          </a:p>
          <a:p>
            <a:endParaRPr/>
          </a:p>
          <a:p>
            <a:r>
              <a:t>Jetzt zur rechten Seite – den jährlichen Energiekosten:</a:t>
            </a:r>
          </a:p>
          <a:p>
            <a:r>
              <a:t>Wir haben gemessen: Ein Standard-PC mit seinen zwei 27-Zoll-Monitoren zieht im Schnitt 140 Watt. Eine hochgezüchtete CAD-Workstation mit der RTX 4000 Ada braucht etwa 320 Watt. Zusammen ergibt das für alle 16 Plätze eine Büro-Gesamtleistung von 2,96 Kilowatt.</a:t>
            </a:r>
          </a:p>
          <a:p>
            <a:r>
              <a:t>Bei 220 Arbeitstagen und 8,5 Stunden Arbeitszeit pro Tag kommen wir auf 5.535 Kilowattstunden Stromverbrauch im Jahr. Beim Strompreis von 32 Cent pro Kilowattstunde sind das exakt 1.771,26 Euro pro Jahr. Umgerechnet bedeutet das: Nur rund 148 Euro im Monat für das gesamte Büro – oder gerade mal 110 Euro pro Mitarbeiter im ganzen Jahr! Und wer nachts per Gruppenrichtlinie und Master-Slave-Leisten abschaltet, spart locker nochmal 15 Prozent ein.</a:t>
            </a:r>
          </a:p>
          <a:p>
            <a:endParaRPr/>
          </a:p>
          <a:p>
            <a:r>
              <a:t>Damit steht das IT-Fundament auch rechnerisch felsenfest – und ich übergebe direkt an Marco für das Qualitätsmanagement!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Marco Schmidt (Qualitätsmanagement &amp; Logistik)</a:t>
            </a:r>
          </a:p>
          <a:p>
            <a:endParaRPr/>
          </a:p>
          <a:p>
            <a:r>
              <a:t>Danke Siyar! Als Qualitätsmanager trage ich die Verantwortung für Wareneingang und Compliance.</a:t>
            </a:r>
          </a:p>
          <a:p>
            <a:endParaRPr/>
          </a:p>
          <a:p>
            <a:r>
              <a:t>Im Handelskauf nach § 377 HGB gilt eine strenge Rügepflicht: Wer Mängel nicht unverzüglich rügt, verliert seine Gewährleistung! In unserem Fallbeispiel gab es zwei Fehler: Ein Gehäuseschaden an einer Workstation und ein Monitor wurde falsch mit Full-HD geliefert. Wir haben sofort ein kaufmännisches Rüge-Schreiben nach DIN 5008 aufgesetzt und eine 14-tägige Frist zur Ersatzlieferung gesetzt.</a:t>
            </a:r>
          </a:p>
          <a:p>
            <a:endParaRPr/>
          </a:p>
          <a:p>
            <a:r>
              <a:t>Auch beim Altdrucker haben wir höchste Standards angewandt: Entsorgung nach ElektroG, getrenntes Tonerrecycling und eine 3-fache BSI-Löschung des internen Druckerspeichers zum Schutz vertraulicher Baupläne.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Marco Schmidt (Qualitätsmanagement &amp; Logistik)</a:t>
            </a:r>
          </a:p>
          <a:p>
            <a:endParaRPr/>
          </a:p>
          <a:p>
            <a:r>
              <a:t>Hier sehen Sie die 4 Phasen unseres Rollouts:</a:t>
            </a:r>
          </a:p>
          <a:p>
            <a:endParaRPr/>
          </a:p>
          <a:p>
            <a:r>
              <a:t>Entscheidend für den reibungslosen Ablauf war Phase 1: Die Vorinstallation in unserem Systemhaus-Labor. Alle 16 PCs wurden über standardisierte Images betankt, lizenziert und 24 Stunden lang getestet. Beim Kunden vor Ort ging es dann nur noch um den Aufbau, ergonomische Justierung nach Bildschirmarbeitsverordnung, sauberes Kabelmanagement und die Endabnahme. Jan übernimmt nun wieder für den Soll-Ist-Vergleich und die Lessons Learned!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Kommen wir zum Projektergebnis im Soll-Ist-Vergleich:</a:t>
            </a:r>
          </a:p>
          <a:p>
            <a:endParaRPr/>
          </a:p>
          <a:p>
            <a:r>
              <a:t>In der Zeitplanung waren 48 Tage vorgesehen – wir haben das Projekt in 46 Tagen übergeben, also 2 Tage vor dem Stichtag.</a:t>
            </a:r>
          </a:p>
          <a:p>
            <a:r>
              <a:t>Im Budget hat der Kunde maximal 70.000 € freigegeben – unser Angebot lag bei 67.179 € netto. Der Kunde spart fast 3.000 €.</a:t>
            </a:r>
          </a:p>
          <a:p>
            <a:r>
              <a:t>In der Qualität wurden alle 16 Arbeitsplätze ohne Vorbehalt abgenommen. Das Abnahmeprotokoll liegt rechtsgültig unterzeichnet vor.</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Was sind unsere Lessons Learned aus diesem Projekt?</a:t>
            </a:r>
          </a:p>
          <a:p>
            <a:endParaRPr/>
          </a:p>
          <a:p>
            <a:r>
              <a:t>Extrem positiv war die wissenschaftliche Nutzwertanalyse, die uns vor teuren Fehlentscheidungen bewahrt hat, sowie die strikte Wareneingangsprüfung. Für zukünftige Großprojekte haben wir mitgenommen, dass wir eine gemeinsame Begehung der Netzwerkdosen noch vor der Hardwarebestellung durchführen und immer 3 bis 5 Tage Puffer für RMA-Retouren im Zeitplan einplanen sollten.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Damit sind wir am Ende unserer Präsentation angelangt.</a:t>
            </a:r>
          </a:p>
          <a:p>
            <a:endParaRPr/>
          </a:p>
          <a:p>
            <a:r>
              <a:t>Wir bedanken uns ganz herzlich für Ihre Aufmerksamkeit und stehen Ihnen nun sehr gerne für Fragen, technische Details und die gemeinsame Diskussion zur Verfügung!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de-DE"/>
              <a:t>Mastertitelformat bearbeiten</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295761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044898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de-DE"/>
              <a:t>Mastertitelformat bearbeiten</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7767539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5004371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de-DE"/>
              <a:t>Mastertitelformat bearbeiten</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9/7/2026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478614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9/7/2026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39226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5663764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de-DE"/>
              <a:t>Mastertitelformat bearbeiten</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de-DE"/>
              <a:t>Mastertextformat bearbeiten</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63902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de-DE"/>
              <a:t>Mastertitelformat bearbeiten</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de-DE"/>
              <a:t>Bild durch Klicken auf Symbol hinzufügen</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Mastertextformat bearbeiten</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5020745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el und Beschriftung">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de-DE"/>
              <a:t>Mastertitelformat bearbeiten</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096811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Zitat mit Beschriftung">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de-DE"/>
              <a:t>Mastertitelformat bearbeiten</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de-DE"/>
              <a:t>Mastertextformat bearbeiten</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428823200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nskarte">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de-DE"/>
              <a:t>Mastertitelformat bearbeiten</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5933157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nskarte für Zitat">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de-DE"/>
              <a:t>Mastertitelformat bearbeiten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de-DE"/>
              <a:t>Mastertextformat bearbeiten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9423549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Wahr oder Falsch">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de-DE"/>
              <a:t>Mastertitelformat bearbeiten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de-DE"/>
              <a:t>Mastertextformat bearbeiten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4730071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1636313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de-DE"/>
              <a:t>Mastertitelformat bearbeiten</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3328568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de-DE"/>
              <a:t>Mastertitelformat bearbeiten</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9/7/2026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38284723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62000" y="1206499"/>
            <a:ext cx="9525000" cy="1554272"/>
          </a:xfrm>
          <a:prstGeom prst="rect">
            <a:avLst/>
          </a:prstGeom>
          <a:noFill/>
        </p:spPr>
        <p:txBody>
          <a:bodyPr wrap="square">
            <a:spAutoFit/>
          </a:bodyPr>
          <a:lstStyle/>
          <a:p>
            <a:pPr>
              <a:defRPr sz="1400" b="1">
                <a:solidFill>
                  <a:srgbClr val="B4C6E7"/>
                </a:solidFill>
                <a:latin typeface="Calibri"/>
              </a:defRPr>
            </a:pPr>
            <a:r>
              <a:rPr sz="1400" b="1">
                <a:solidFill>
                  <a:srgbClr val="54A021"/>
                </a:solidFill>
                <a:latin typeface="Trebuchet MS" panose="020B0603020202020204" pitchFamily="34" charset="0"/>
              </a:rPr>
              <a:t>Handlungsaufgabe: IT-Systemhaus</a:t>
            </a:r>
          </a:p>
          <a:p>
            <a:pPr>
              <a:defRPr sz="3600" b="1">
                <a:solidFill>
                  <a:srgbClr val="FFFFFF"/>
                </a:solidFill>
                <a:latin typeface="Calibri"/>
              </a:defRPr>
            </a:pPr>
            <a:r>
              <a:rPr sz="3400" b="1">
                <a:solidFill>
                  <a:srgbClr val="2C3C43"/>
                </a:solidFill>
                <a:latin typeface="Trebuchet MS" panose="020B0603020202020204" pitchFamily="34" charset="0"/>
              </a:rPr>
              <a:t>Ausstattung eines Planungs- &amp;</a:t>
            </a:r>
            <a:br>
              <a:rPr sz="3400" b="1">
                <a:solidFill>
                  <a:srgbClr val="2C3C43"/>
                </a:solidFill>
                <a:latin typeface="Trebuchet MS" panose="020B0603020202020204" pitchFamily="34" charset="0"/>
              </a:rPr>
            </a:br>
            <a:r>
              <a:rPr sz="3400" b="1">
                <a:solidFill>
                  <a:srgbClr val="2C3C43"/>
                </a:solidFill>
                <a:latin typeface="Trebuchet MS" panose="020B0603020202020204" pitchFamily="34" charset="0"/>
              </a:rPr>
              <a:t>Konstruktionsbüros</a:t>
            </a:r>
          </a:p>
          <a:p>
            <a:pPr>
              <a:defRPr sz="1400">
                <a:solidFill>
                  <a:srgbClr val="DEEBF7"/>
                </a:solidFill>
                <a:latin typeface="Calibri"/>
              </a:defRPr>
            </a:pPr>
            <a:r>
              <a:rPr sz="1300">
                <a:solidFill>
                  <a:srgbClr val="505A50"/>
                </a:solidFill>
                <a:latin typeface="Trebuchet MS" panose="020B0603020202020204" pitchFamily="34" charset="0"/>
              </a:rPr>
              <a:t>Kunde: VektorPlan GmbH (Düsseldorf)  |  Auftragnehmer: NextLevel IT Solutions GmbH (Köln)</a:t>
            </a:r>
          </a:p>
        </p:txBody>
      </p:sp>
      <p:sp>
        <p:nvSpPr>
          <p:cNvPr id="4" name="Rounded Rectangle 3"/>
          <p:cNvSpPr/>
          <p:nvPr/>
        </p:nvSpPr>
        <p:spPr>
          <a:xfrm>
            <a:off x="698500" y="3238500"/>
            <a:ext cx="10604500" cy="1397000"/>
          </a:xfrm>
          <a:prstGeom prst="roundRect">
            <a:avLst/>
          </a:prstGeom>
          <a:solidFill>
            <a:srgbClr val="F6F9F4"/>
          </a:solidFill>
          <a:ln w="19050">
            <a:solidFill>
              <a:srgbClr val="90C2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 name="TextBox 4"/>
          <p:cNvSpPr txBox="1"/>
          <p:nvPr/>
        </p:nvSpPr>
        <p:spPr>
          <a:xfrm>
            <a:off x="889000" y="3429000"/>
            <a:ext cx="10160000" cy="952500"/>
          </a:xfrm>
          <a:prstGeom prst="rect">
            <a:avLst/>
          </a:prstGeom>
          <a:noFill/>
        </p:spPr>
        <p:txBody>
          <a:bodyPr wrap="none">
            <a:spAutoFit/>
          </a:bodyPr>
          <a:lstStyle/>
          <a:p>
            <a:pPr>
              <a:defRPr sz="1150" b="1">
                <a:solidFill>
                  <a:srgbClr val="DEEBF7"/>
                </a:solidFill>
                <a:latin typeface="Calibri"/>
              </a:defRPr>
            </a:pPr>
            <a:r>
              <a:rPr sz="1100">
                <a:solidFill>
                  <a:srgbClr val="2C3C43"/>
                </a:solidFill>
                <a:latin typeface="Trebuchet MS" panose="020B0603020202020204" pitchFamily="34" charset="0"/>
              </a:rPr>
              <a:t>Projektteam NextLevel IT Solutions:</a:t>
            </a:r>
          </a:p>
          <a:p>
            <a:pPr>
              <a:defRPr sz="1200">
                <a:solidFill>
                  <a:srgbClr val="FFFFFF"/>
                </a:solidFill>
                <a:latin typeface="Calibri"/>
              </a:defRPr>
            </a:pPr>
            <a:r>
              <a:rPr sz="1100">
                <a:solidFill>
                  <a:srgbClr val="2C3C43"/>
                </a:solidFill>
                <a:latin typeface="Trebuchet MS" panose="020B0603020202020204" pitchFamily="34" charset="0"/>
              </a:rPr>
              <a:t>Jan Kluth (Projektleiter)  •  Mathias Vonau (Techn. Planer)  •  Marian Bolecke (Beschaffung &amp; Kalkulation)</a:t>
            </a:r>
            <a:br>
              <a:rPr sz="1100">
                <a:solidFill>
                  <a:srgbClr val="2C3C43"/>
                </a:solidFill>
                <a:latin typeface="Trebuchet MS" panose="020B0603020202020204" pitchFamily="34" charset="0"/>
              </a:rPr>
            </a:br>
            <a:r>
              <a:rPr sz="1100">
                <a:solidFill>
                  <a:srgbClr val="2C3C43"/>
                </a:solidFill>
                <a:latin typeface="Trebuchet MS" panose="020B0603020202020204" pitchFamily="34" charset="0"/>
              </a:rPr>
              <a:t>Marco Schmidt (Qualitätsmanagement &amp; Logistik)  •  Siyar (Berechnungen &amp; Dokumentation)</a:t>
            </a:r>
          </a:p>
        </p:txBody>
      </p:sp>
      <p:pic>
        <p:nvPicPr>
          <p:cNvPr id="7" name="NextLevelLogo_1">
            <a:extLst>
              <a:ext uri="{FF2B5EF4-FFF2-40B4-BE49-F238E27FC236}">
                <a16:creationId xmlns:a16="http://schemas.microsoft.com/office/drawing/2014/main" id="{0E1522B8-9501-6810-E3D7-31F70DD1EB76}"/>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499" y="152399"/>
            <a:ext cx="4256293"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PROJEKTÜBERSICHT</a:t>
            </a:r>
          </a:p>
          <a:p>
            <a:pPr>
              <a:defRPr sz="2000" b="1">
                <a:solidFill>
                  <a:srgbClr val="FFFFFF"/>
                </a:solidFill>
                <a:latin typeface="Calibri"/>
              </a:defRPr>
            </a:pPr>
            <a:r>
              <a:rPr sz="2200" b="1">
                <a:solidFill>
                  <a:srgbClr val="2C3C43"/>
                </a:solidFill>
                <a:latin typeface="Trebuchet MS" panose="020B0603020202020204" pitchFamily="34" charset="0"/>
              </a:rPr>
              <a:t>Agenda unseres Projektablaufs</a:t>
            </a:r>
          </a:p>
        </p:txBody>
      </p:sp>
      <p:sp>
        <p:nvSpPr>
          <p:cNvPr id="4" name="TextBox 3"/>
          <p:cNvSpPr txBox="1"/>
          <p:nvPr/>
        </p:nvSpPr>
        <p:spPr>
          <a:xfrm>
            <a:off x="698500" y="641350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2 von 16</a:t>
            </a:r>
          </a:p>
        </p:txBody>
      </p:sp>
      <p:sp>
        <p:nvSpPr>
          <p:cNvPr id="5" name="Rounded Rectangle 4"/>
          <p:cNvSpPr/>
          <p:nvPr/>
        </p:nvSpPr>
        <p:spPr>
          <a:xfrm>
            <a:off x="698500" y="1280160"/>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TextBox 5"/>
          <p:cNvSpPr txBox="1"/>
          <p:nvPr/>
        </p:nvSpPr>
        <p:spPr>
          <a:xfrm>
            <a:off x="876300" y="1316736"/>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 Projektauftrag &amp; Kundenbedarf</a:t>
            </a:r>
          </a:p>
          <a:p>
            <a:pPr>
              <a:defRPr sz="950">
                <a:solidFill>
                  <a:srgbClr val="595959"/>
                </a:solidFill>
                <a:latin typeface="Calibri"/>
              </a:defRPr>
            </a:pPr>
            <a:r>
              <a:rPr>
                <a:latin typeface="Trebuchet MS" panose="020B0603020202020204" pitchFamily="34" charset="0"/>
              </a:rPr>
              <a:t>Ausgangslage der VektorPlan GmbH und geforderte 16 Arbeitsplätze</a:t>
            </a:r>
          </a:p>
        </p:txBody>
      </p:sp>
      <p:sp>
        <p:nvSpPr>
          <p:cNvPr id="7" name="Rounded Rectangle 6"/>
          <p:cNvSpPr/>
          <p:nvPr/>
        </p:nvSpPr>
        <p:spPr>
          <a:xfrm>
            <a:off x="698500" y="1993391"/>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TextBox 7"/>
          <p:cNvSpPr txBox="1"/>
          <p:nvPr/>
        </p:nvSpPr>
        <p:spPr>
          <a:xfrm>
            <a:off x="876300" y="2029967"/>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2. Team &amp; Rollenverteilung</a:t>
            </a:r>
          </a:p>
          <a:p>
            <a:pPr>
              <a:defRPr sz="950">
                <a:solidFill>
                  <a:srgbClr val="595959"/>
                </a:solidFill>
                <a:latin typeface="Calibri"/>
              </a:defRPr>
            </a:pPr>
            <a:r>
              <a:rPr>
                <a:latin typeface="Trebuchet MS" panose="020B0603020202020204" pitchFamily="34" charset="0"/>
              </a:rPr>
              <a:t>Verteilung der Aufgabenbereiche auf unser 5-köpfiges Projektteam</a:t>
            </a:r>
          </a:p>
        </p:txBody>
      </p:sp>
      <p:sp>
        <p:nvSpPr>
          <p:cNvPr id="9" name="Rounded Rectangle 8"/>
          <p:cNvSpPr/>
          <p:nvPr/>
        </p:nvSpPr>
        <p:spPr>
          <a:xfrm>
            <a:off x="698500" y="2706624"/>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9"/>
          <p:cNvSpPr txBox="1"/>
          <p:nvPr/>
        </p:nvSpPr>
        <p:spPr>
          <a:xfrm>
            <a:off x="876300" y="2743200"/>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3. Projektstrukturplan (PSP)</a:t>
            </a:r>
          </a:p>
          <a:p>
            <a:pPr>
              <a:defRPr sz="950">
                <a:solidFill>
                  <a:srgbClr val="595959"/>
                </a:solidFill>
                <a:latin typeface="Calibri"/>
              </a:defRPr>
            </a:pPr>
            <a:r>
              <a:rPr>
                <a:latin typeface="Trebuchet MS" panose="020B0603020202020204" pitchFamily="34" charset="0"/>
              </a:rPr>
              <a:t>Objektorientierte Gliederung nach DIN 69901 in 5 Hauptbereiche</a:t>
            </a:r>
          </a:p>
        </p:txBody>
      </p:sp>
      <p:sp>
        <p:nvSpPr>
          <p:cNvPr id="11" name="Rounded Rectangle 10"/>
          <p:cNvSpPr/>
          <p:nvPr/>
        </p:nvSpPr>
        <p:spPr>
          <a:xfrm>
            <a:off x="698500" y="3419856"/>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 name="TextBox 11"/>
          <p:cNvSpPr txBox="1"/>
          <p:nvPr/>
        </p:nvSpPr>
        <p:spPr>
          <a:xfrm>
            <a:off x="876300" y="3456432"/>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4. Netzplan &amp; Kritischer Pfad</a:t>
            </a:r>
          </a:p>
          <a:p>
            <a:pPr>
              <a:defRPr sz="950">
                <a:solidFill>
                  <a:srgbClr val="595959"/>
                </a:solidFill>
                <a:latin typeface="Calibri"/>
              </a:defRPr>
            </a:pPr>
            <a:r>
              <a:rPr>
                <a:latin typeface="Trebuchet MS" panose="020B0603020202020204" pitchFamily="34" charset="0"/>
              </a:rPr>
              <a:t>Termin- und Pufferberechnung nach DIN 69900 (Dauer: 46 Arbeitstage)</a:t>
            </a:r>
          </a:p>
        </p:txBody>
      </p:sp>
      <p:sp>
        <p:nvSpPr>
          <p:cNvPr id="13" name="Rounded Rectangle 12"/>
          <p:cNvSpPr/>
          <p:nvPr/>
        </p:nvSpPr>
        <p:spPr>
          <a:xfrm>
            <a:off x="698500" y="4133087"/>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TextBox 13"/>
          <p:cNvSpPr txBox="1"/>
          <p:nvPr/>
        </p:nvSpPr>
        <p:spPr>
          <a:xfrm>
            <a:off x="876300" y="4169663"/>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5. Hardware- &amp; Software-Spezifikationen</a:t>
            </a:r>
          </a:p>
          <a:p>
            <a:pPr>
              <a:defRPr sz="950">
                <a:solidFill>
                  <a:srgbClr val="595959"/>
                </a:solidFill>
                <a:latin typeface="Calibri"/>
              </a:defRPr>
            </a:pPr>
            <a:r>
              <a:rPr>
                <a:latin typeface="Trebuchet MS" panose="020B0603020202020204" pitchFamily="34" charset="0"/>
              </a:rPr>
              <a:t>Unterschiede Standard-Büro vs. High-End CAD/BIM-Workstations</a:t>
            </a:r>
          </a:p>
        </p:txBody>
      </p:sp>
      <p:sp>
        <p:nvSpPr>
          <p:cNvPr id="15" name="Rounded Rectangle 14"/>
          <p:cNvSpPr/>
          <p:nvPr/>
        </p:nvSpPr>
        <p:spPr>
          <a:xfrm>
            <a:off x="698500" y="4846320"/>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15"/>
          <p:cNvSpPr txBox="1"/>
          <p:nvPr/>
        </p:nvSpPr>
        <p:spPr>
          <a:xfrm>
            <a:off x="876300" y="4882896"/>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6. Marktrecherche &amp; Produktauswahl</a:t>
            </a:r>
          </a:p>
          <a:p>
            <a:pPr>
              <a:defRPr sz="950">
                <a:solidFill>
                  <a:srgbClr val="595959"/>
                </a:solidFill>
                <a:latin typeface="Calibri"/>
              </a:defRPr>
            </a:pPr>
            <a:r>
              <a:rPr>
                <a:latin typeface="Trebuchet MS" panose="020B0603020202020204" pitchFamily="34" charset="0"/>
              </a:rPr>
              <a:t>Reale Produkte namhafter Hersteller aus dem deutschen IT-Fachhandel</a:t>
            </a:r>
          </a:p>
        </p:txBody>
      </p:sp>
      <p:sp>
        <p:nvSpPr>
          <p:cNvPr id="17" name="Rounded Rectangle 16"/>
          <p:cNvSpPr/>
          <p:nvPr/>
        </p:nvSpPr>
        <p:spPr>
          <a:xfrm>
            <a:off x="698500" y="5559552"/>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 name="TextBox 17"/>
          <p:cNvSpPr txBox="1"/>
          <p:nvPr/>
        </p:nvSpPr>
        <p:spPr>
          <a:xfrm>
            <a:off x="876300" y="5596128"/>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7. Nutzwertanalysen (Workstation &amp; Monitor)</a:t>
            </a:r>
          </a:p>
          <a:p>
            <a:pPr>
              <a:defRPr sz="950">
                <a:solidFill>
                  <a:srgbClr val="595959"/>
                </a:solidFill>
                <a:latin typeface="Calibri"/>
              </a:defRPr>
            </a:pPr>
            <a:r>
              <a:rPr>
                <a:latin typeface="Trebuchet MS" panose="020B0603020202020204" pitchFamily="34" charset="0"/>
              </a:rPr>
              <a:t>Entscheidungsmatrizen: Lenovo ThinkStation P3 &amp; Dell UltraSharp U2724D</a:t>
            </a:r>
          </a:p>
        </p:txBody>
      </p:sp>
      <p:sp>
        <p:nvSpPr>
          <p:cNvPr id="19" name="Rounded Rectangle 18"/>
          <p:cNvSpPr/>
          <p:nvPr/>
        </p:nvSpPr>
        <p:spPr>
          <a:xfrm>
            <a:off x="6159500" y="1280160"/>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 name="TextBox 19"/>
          <p:cNvSpPr txBox="1"/>
          <p:nvPr/>
        </p:nvSpPr>
        <p:spPr>
          <a:xfrm>
            <a:off x="6337300" y="1316736"/>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8. Preiskalkulation &amp; Kaufmännisches Angebot</a:t>
            </a:r>
          </a:p>
          <a:p>
            <a:pPr>
              <a:defRPr sz="950">
                <a:solidFill>
                  <a:srgbClr val="595959"/>
                </a:solidFill>
                <a:latin typeface="Calibri"/>
              </a:defRPr>
            </a:pPr>
            <a:r>
              <a:rPr>
                <a:latin typeface="Trebuchet MS" panose="020B0603020202020204" pitchFamily="34" charset="0"/>
              </a:rPr>
              <a:t>Vorwärtskalkulation (Handlungskosten, Gewinn, Skonto) &amp; Gesamtsumme</a:t>
            </a:r>
          </a:p>
        </p:txBody>
      </p:sp>
      <p:sp>
        <p:nvSpPr>
          <p:cNvPr id="21" name="Rounded Rectangle 20"/>
          <p:cNvSpPr/>
          <p:nvPr/>
        </p:nvSpPr>
        <p:spPr>
          <a:xfrm>
            <a:off x="6159500" y="1993391"/>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2" name="TextBox 21"/>
          <p:cNvSpPr txBox="1"/>
          <p:nvPr/>
        </p:nvSpPr>
        <p:spPr>
          <a:xfrm>
            <a:off x="6337300" y="2029967"/>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9. Kundenberechnungen (Aufgabe B)</a:t>
            </a:r>
          </a:p>
          <a:p>
            <a:pPr>
              <a:defRPr sz="950">
                <a:solidFill>
                  <a:srgbClr val="595959"/>
                </a:solidFill>
                <a:latin typeface="Calibri"/>
              </a:defRPr>
            </a:pPr>
            <a:r>
              <a:rPr>
                <a:latin typeface="Trebuchet MS" panose="020B0603020202020204" pitchFamily="34" charset="0"/>
              </a:rPr>
              <a:t>Speicherplatzbedarf für Q1 (445 GiB) und jährliche Stromkosten (1.771 €)</a:t>
            </a:r>
          </a:p>
        </p:txBody>
      </p:sp>
      <p:sp>
        <p:nvSpPr>
          <p:cNvPr id="23" name="Rounded Rectangle 22"/>
          <p:cNvSpPr/>
          <p:nvPr/>
        </p:nvSpPr>
        <p:spPr>
          <a:xfrm>
            <a:off x="6159500" y="2706624"/>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4" name="TextBox 23"/>
          <p:cNvSpPr txBox="1"/>
          <p:nvPr/>
        </p:nvSpPr>
        <p:spPr>
          <a:xfrm>
            <a:off x="6337300" y="2743200"/>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10. Wareneingangsprüfung &amp; Mängelrüge</a:t>
            </a:r>
          </a:p>
          <a:p>
            <a:pPr>
              <a:defRPr sz="950">
                <a:solidFill>
                  <a:srgbClr val="595959"/>
                </a:solidFill>
                <a:latin typeface="Calibri"/>
              </a:defRPr>
            </a:pPr>
            <a:r>
              <a:rPr>
                <a:latin typeface="Trebuchet MS" panose="020B0603020202020204" pitchFamily="34" charset="0"/>
              </a:rPr>
              <a:t>Rechtliche Schritte nach § 377 HGB bei Transportschaden &amp; Falschlieferung</a:t>
            </a:r>
          </a:p>
        </p:txBody>
      </p:sp>
      <p:sp>
        <p:nvSpPr>
          <p:cNvPr id="25" name="Rounded Rectangle 24"/>
          <p:cNvSpPr/>
          <p:nvPr/>
        </p:nvSpPr>
        <p:spPr>
          <a:xfrm>
            <a:off x="6159500" y="3419856"/>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 name="TextBox 25"/>
          <p:cNvSpPr txBox="1"/>
          <p:nvPr/>
        </p:nvSpPr>
        <p:spPr>
          <a:xfrm>
            <a:off x="6337300" y="3456432"/>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11. Umweltgerechte Altdrucker-Entsorgung</a:t>
            </a:r>
          </a:p>
          <a:p>
            <a:pPr>
              <a:defRPr sz="950">
                <a:solidFill>
                  <a:srgbClr val="595959"/>
                </a:solidFill>
                <a:latin typeface="Calibri"/>
              </a:defRPr>
            </a:pPr>
            <a:r>
              <a:rPr>
                <a:latin typeface="Trebuchet MS" panose="020B0603020202020204" pitchFamily="34" charset="0"/>
              </a:rPr>
              <a:t>ElektroG, WEEE-Richtlinie, Toner-Recycling und BSI-konforme Datenlöschung</a:t>
            </a:r>
          </a:p>
        </p:txBody>
      </p:sp>
      <p:sp>
        <p:nvSpPr>
          <p:cNvPr id="27" name="Rounded Rectangle 26"/>
          <p:cNvSpPr/>
          <p:nvPr/>
        </p:nvSpPr>
        <p:spPr>
          <a:xfrm>
            <a:off x="6159500" y="4133087"/>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8" name="TextBox 27"/>
          <p:cNvSpPr txBox="1"/>
          <p:nvPr/>
        </p:nvSpPr>
        <p:spPr>
          <a:xfrm>
            <a:off x="6337300" y="4169663"/>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12. Rollout, Montage &amp; Abnahme vor Ort</a:t>
            </a:r>
          </a:p>
          <a:p>
            <a:pPr>
              <a:defRPr sz="950">
                <a:solidFill>
                  <a:srgbClr val="595959"/>
                </a:solidFill>
                <a:latin typeface="Calibri"/>
              </a:defRPr>
            </a:pPr>
            <a:r>
              <a:rPr>
                <a:latin typeface="Trebuchet MS" panose="020B0603020202020204" pitchFamily="34" charset="0"/>
              </a:rPr>
              <a:t>Checkliste nach Bildschirmarbeitsverordnung (ArbStättV) &amp; Abnahmeprotokoll</a:t>
            </a:r>
          </a:p>
        </p:txBody>
      </p:sp>
      <p:sp>
        <p:nvSpPr>
          <p:cNvPr id="29" name="Rounded Rectangle 28"/>
          <p:cNvSpPr/>
          <p:nvPr/>
        </p:nvSpPr>
        <p:spPr>
          <a:xfrm>
            <a:off x="6159500" y="4846320"/>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0" name="TextBox 29"/>
          <p:cNvSpPr txBox="1"/>
          <p:nvPr/>
        </p:nvSpPr>
        <p:spPr>
          <a:xfrm>
            <a:off x="6337300" y="4882896"/>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13. Projektergebnis: Soll-Ist-Vergleich</a:t>
            </a:r>
          </a:p>
          <a:p>
            <a:pPr>
              <a:defRPr sz="950">
                <a:solidFill>
                  <a:srgbClr val="595959"/>
                </a:solidFill>
                <a:latin typeface="Calibri"/>
              </a:defRPr>
            </a:pPr>
            <a:r>
              <a:rPr>
                <a:latin typeface="Trebuchet MS" panose="020B0603020202020204" pitchFamily="34" charset="0"/>
              </a:rPr>
              <a:t>Erfolgreiche Einhaltung von Terminvorgaben, Budgetrahmen und Qualitätszielen</a:t>
            </a:r>
          </a:p>
        </p:txBody>
      </p:sp>
      <p:sp>
        <p:nvSpPr>
          <p:cNvPr id="31" name="Rounded Rectangle 30"/>
          <p:cNvSpPr/>
          <p:nvPr/>
        </p:nvSpPr>
        <p:spPr>
          <a:xfrm>
            <a:off x="6159500" y="5559552"/>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2" name="TextBox 31"/>
          <p:cNvSpPr txBox="1"/>
          <p:nvPr/>
        </p:nvSpPr>
        <p:spPr>
          <a:xfrm>
            <a:off x="6337300" y="5596128"/>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14. Lessons Learned &amp; Fazit</a:t>
            </a:r>
          </a:p>
          <a:p>
            <a:pPr>
              <a:defRPr sz="950">
                <a:solidFill>
                  <a:srgbClr val="595959"/>
                </a:solidFill>
                <a:latin typeface="Calibri"/>
              </a:defRPr>
            </a:pPr>
            <a:r>
              <a:rPr>
                <a:latin typeface="Trebuchet MS" panose="020B0603020202020204" pitchFamily="34" charset="0"/>
              </a:rPr>
              <a:t>Was lief gut im Team und welche Erfahrungen nehmen wir für die Zukunft mit?</a:t>
            </a:r>
          </a:p>
        </p:txBody>
      </p:sp>
      <p:pic>
        <p:nvPicPr>
          <p:cNvPr id="34" name="NextLevelLogo_2">
            <a:extLst>
              <a:ext uri="{FF2B5EF4-FFF2-40B4-BE49-F238E27FC236}">
                <a16:creationId xmlns:a16="http://schemas.microsoft.com/office/drawing/2014/main" id="{FE978EA9-8DE3-C1B0-5129-2C342D8F87D9}"/>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499" y="152399"/>
            <a:ext cx="5454185"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PROJEKTAUFTRAG</a:t>
            </a:r>
          </a:p>
          <a:p>
            <a:pPr>
              <a:defRPr sz="2000" b="1">
                <a:solidFill>
                  <a:srgbClr val="FFFFFF"/>
                </a:solidFill>
                <a:latin typeface="Calibri"/>
              </a:defRPr>
            </a:pPr>
            <a:r>
              <a:rPr sz="2200" b="1">
                <a:solidFill>
                  <a:srgbClr val="2C3C43"/>
                </a:solidFill>
                <a:latin typeface="Trebuchet MS" panose="020B0603020202020204" pitchFamily="34" charset="0"/>
              </a:rPr>
              <a:t>Ausgangssituation der VektorPlan GmbH</a:t>
            </a:r>
          </a:p>
        </p:txBody>
      </p:sp>
      <p:sp>
        <p:nvSpPr>
          <p:cNvPr id="4" name="TextBox 3"/>
          <p:cNvSpPr txBox="1"/>
          <p:nvPr/>
        </p:nvSpPr>
        <p:spPr>
          <a:xfrm>
            <a:off x="698500" y="641350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3 von 16</a:t>
            </a:r>
          </a:p>
        </p:txBody>
      </p:sp>
      <p:sp>
        <p:nvSpPr>
          <p:cNvPr id="5" name="Rounded Rectangle 4"/>
          <p:cNvSpPr/>
          <p:nvPr/>
        </p:nvSpPr>
        <p:spPr>
          <a:xfrm>
            <a:off x="698500" y="1143000"/>
            <a:ext cx="5080000" cy="476250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TextBox 5"/>
          <p:cNvSpPr txBox="1"/>
          <p:nvPr/>
        </p:nvSpPr>
        <p:spPr>
          <a:xfrm>
            <a:off x="889000" y="1270000"/>
            <a:ext cx="4699000" cy="2318583"/>
          </a:xfrm>
          <a:prstGeom prst="rect">
            <a:avLst/>
          </a:prstGeom>
          <a:noFill/>
        </p:spPr>
        <p:txBody>
          <a:bodyPr wrap="square">
            <a:spAutoFit/>
          </a:bodyPr>
          <a:lstStyle/>
          <a:p>
            <a:pPr>
              <a:defRPr sz="1300" b="1">
                <a:solidFill>
                  <a:srgbClr val="1F497D"/>
                </a:solidFill>
                <a:latin typeface="Calibri"/>
              </a:defRPr>
            </a:pPr>
            <a:r>
              <a:rPr>
                <a:latin typeface="Trebuchet MS" panose="020B0603020202020204" pitchFamily="34" charset="0"/>
              </a:rPr>
              <a:t>Die Ausgangslage beim Kunden:</a:t>
            </a:r>
          </a:p>
          <a:p>
            <a:pPr>
              <a:spcAft>
                <a:spcPts val="800"/>
              </a:spcAft>
              <a:defRPr sz="1050">
                <a:solidFill>
                  <a:srgbClr val="262626"/>
                </a:solidFill>
                <a:latin typeface="Calibri"/>
              </a:defRPr>
            </a:pPr>
            <a:r>
              <a:rPr>
                <a:latin typeface="Trebuchet MS" panose="020B0603020202020204" pitchFamily="34" charset="0"/>
              </a:rPr>
              <a:t>• Kunde: VektorPlan GmbH ist eine wachsende Architektur- und Ingenieurgesellschaft.</a:t>
            </a:r>
          </a:p>
          <a:p>
            <a:pPr>
              <a:spcAft>
                <a:spcPts val="800"/>
              </a:spcAft>
              <a:defRPr sz="1050">
                <a:solidFill>
                  <a:srgbClr val="262626"/>
                </a:solidFill>
                <a:latin typeface="Calibri"/>
              </a:defRPr>
            </a:pPr>
            <a:r>
              <a:rPr>
                <a:latin typeface="Trebuchet MS" panose="020B0603020202020204" pitchFamily="34" charset="0"/>
              </a:rPr>
              <a:t>• Anlass: Die Büroräume werden modernisiert. Es entstehen zwei neue Großraumbüros sowie eine zentrale Plotter- und Scanstation.</a:t>
            </a:r>
          </a:p>
          <a:p>
            <a:pPr>
              <a:spcAft>
                <a:spcPts val="800"/>
              </a:spcAft>
              <a:defRPr sz="1050">
                <a:solidFill>
                  <a:srgbClr val="262626"/>
                </a:solidFill>
                <a:latin typeface="Calibri"/>
              </a:defRPr>
            </a:pPr>
            <a:r>
              <a:rPr>
                <a:latin typeface="Trebuchet MS" panose="020B0603020202020204" pitchFamily="34" charset="0"/>
              </a:rPr>
              <a:t>• Problem der alten IT: Veraltete Hardware führte zu langen Ladezeiten bei großen CAD-Modellen und häufigen Systemabstürzen.</a:t>
            </a:r>
          </a:p>
          <a:p>
            <a:pPr>
              <a:spcAft>
                <a:spcPts val="800"/>
              </a:spcAft>
              <a:defRPr sz="1050">
                <a:solidFill>
                  <a:srgbClr val="262626"/>
                </a:solidFill>
                <a:latin typeface="Calibri"/>
              </a:defRPr>
            </a:pPr>
            <a:r>
              <a:rPr>
                <a:latin typeface="Trebuchet MS" panose="020B0603020202020204" pitchFamily="34" charset="0"/>
              </a:rPr>
              <a:t>• Ergonomie-Anspruch: Für ermüdungsfreies Arbeiten wurden ausdrücklich ergonomische Arbeitsplätze mit je zwei Bildschirmen gefordert.</a:t>
            </a:r>
          </a:p>
          <a:p>
            <a:pPr>
              <a:spcAft>
                <a:spcPts val="800"/>
              </a:spcAft>
              <a:defRPr sz="1050">
                <a:solidFill>
                  <a:srgbClr val="262626"/>
                </a:solidFill>
                <a:latin typeface="Calibri"/>
              </a:defRPr>
            </a:pPr>
            <a:r>
              <a:rPr>
                <a:latin typeface="Trebuchet MS" panose="020B0603020202020204" pitchFamily="34" charset="0"/>
              </a:rPr>
              <a:t>• Sicherheitskonzept: Tägliche Zwischensicherung auf externe SSDs sowie zentrale Abendsynchronisation auf den Firmen-Fileserver.</a:t>
            </a:r>
          </a:p>
        </p:txBody>
      </p:sp>
      <p:sp>
        <p:nvSpPr>
          <p:cNvPr id="7" name="Rounded Rectangle 6"/>
          <p:cNvSpPr/>
          <p:nvPr/>
        </p:nvSpPr>
        <p:spPr>
          <a:xfrm>
            <a:off x="6159500" y="1143000"/>
            <a:ext cx="5080000" cy="476250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TextBox 7"/>
          <p:cNvSpPr txBox="1"/>
          <p:nvPr/>
        </p:nvSpPr>
        <p:spPr>
          <a:xfrm>
            <a:off x="6350000" y="1270000"/>
            <a:ext cx="4699000" cy="2608406"/>
          </a:xfrm>
          <a:prstGeom prst="rect">
            <a:avLst/>
          </a:prstGeom>
          <a:noFill/>
        </p:spPr>
        <p:txBody>
          <a:bodyPr wrap="square">
            <a:spAutoFit/>
          </a:bodyPr>
          <a:lstStyle/>
          <a:p>
            <a:pPr>
              <a:defRPr sz="1300" b="1">
                <a:solidFill>
                  <a:srgbClr val="1F497D"/>
                </a:solidFill>
                <a:latin typeface="Calibri"/>
              </a:defRPr>
            </a:pPr>
            <a:r>
              <a:rPr>
                <a:latin typeface="Trebuchet MS" panose="020B0603020202020204" pitchFamily="34" charset="0"/>
              </a:rPr>
              <a:t>Der Auftrag an NextLevel IT Solutions:</a:t>
            </a:r>
          </a:p>
          <a:p>
            <a:pPr>
              <a:spcAft>
                <a:spcPts val="600"/>
              </a:spcAft>
              <a:defRPr sz="1050">
                <a:solidFill>
                  <a:srgbClr val="262626"/>
                </a:solidFill>
                <a:latin typeface="Calibri"/>
              </a:defRPr>
            </a:pPr>
            <a:r>
              <a:rPr>
                <a:latin typeface="Trebuchet MS" panose="020B0603020202020204" pitchFamily="34" charset="0"/>
              </a:rPr>
              <a:t>✔ 12 Standard-Büroarbeitsplätze für Bauleitung, Ausschreibung und Office.</a:t>
            </a:r>
          </a:p>
          <a:p>
            <a:pPr>
              <a:spcAft>
                <a:spcPts val="600"/>
              </a:spcAft>
              <a:defRPr sz="1050">
                <a:solidFill>
                  <a:srgbClr val="262626"/>
                </a:solidFill>
                <a:latin typeface="Calibri"/>
              </a:defRPr>
            </a:pPr>
            <a:r>
              <a:rPr>
                <a:latin typeface="Trebuchet MS" panose="020B0603020202020204" pitchFamily="34" charset="0"/>
              </a:rPr>
              <a:t>✔ 4 High-End CAD-Workstations mit Profi-Grafikkarten für 3D-BIM &amp; Rendering.</a:t>
            </a:r>
          </a:p>
          <a:p>
            <a:pPr>
              <a:spcAft>
                <a:spcPts val="600"/>
              </a:spcAft>
              <a:defRPr sz="1050">
                <a:solidFill>
                  <a:srgbClr val="262626"/>
                </a:solidFill>
                <a:latin typeface="Calibri"/>
              </a:defRPr>
            </a:pPr>
            <a:r>
              <a:rPr>
                <a:latin typeface="Trebuchet MS" panose="020B0603020202020204" pitchFamily="34" charset="0"/>
              </a:rPr>
              <a:t>✔ 32 ergonomische 27'' WQHD-Monitore (höhenverstellbar, Pivot-Funktion).</a:t>
            </a:r>
          </a:p>
          <a:p>
            <a:pPr>
              <a:spcAft>
                <a:spcPts val="600"/>
              </a:spcAft>
              <a:defRPr sz="1050">
                <a:solidFill>
                  <a:srgbClr val="262626"/>
                </a:solidFill>
                <a:latin typeface="Calibri"/>
              </a:defRPr>
            </a:pPr>
            <a:r>
              <a:rPr>
                <a:latin typeface="Trebuchet MS" panose="020B0603020202020204" pitchFamily="34" charset="0"/>
              </a:rPr>
              <a:t>✔ 16 kabellose Tastatur-Maus-Sets (mit verschlüsselter Funkübertragung).</a:t>
            </a:r>
          </a:p>
          <a:p>
            <a:pPr>
              <a:spcAft>
                <a:spcPts val="600"/>
              </a:spcAft>
              <a:defRPr sz="1050">
                <a:solidFill>
                  <a:srgbClr val="262626"/>
                </a:solidFill>
                <a:latin typeface="Calibri"/>
              </a:defRPr>
            </a:pPr>
            <a:r>
              <a:rPr>
                <a:latin typeface="Trebuchet MS" panose="020B0603020202020204" pitchFamily="34" charset="0"/>
              </a:rPr>
              <a:t>✔ 16 externe SSDs (1TB) zur schnellen lokalen Zwischensicherung.</a:t>
            </a:r>
          </a:p>
          <a:p>
            <a:pPr>
              <a:spcAft>
                <a:spcPts val="600"/>
              </a:spcAft>
              <a:defRPr sz="1050">
                <a:solidFill>
                  <a:srgbClr val="262626"/>
                </a:solidFill>
                <a:latin typeface="Calibri"/>
              </a:defRPr>
            </a:pPr>
            <a:r>
              <a:rPr>
                <a:latin typeface="Trebuchet MS" panose="020B0603020202020204" pitchFamily="34" charset="0"/>
              </a:rPr>
              <a:t>✔ 1 zentraler Farblaser-Multifunktionsdrucker für Pläne bis Format DIN A3.</a:t>
            </a:r>
          </a:p>
          <a:p>
            <a:pPr>
              <a:spcAft>
                <a:spcPts val="600"/>
              </a:spcAft>
              <a:defRPr sz="1050">
                <a:solidFill>
                  <a:srgbClr val="262626"/>
                </a:solidFill>
                <a:latin typeface="Calibri"/>
              </a:defRPr>
            </a:pPr>
            <a:r>
              <a:rPr>
                <a:latin typeface="Trebuchet MS" panose="020B0603020202020204" pitchFamily="34" charset="0"/>
              </a:rPr>
              <a:t>✔ Fachgerechte Entsorgung des alten Schwarzweiß-Druckers gem. ElektroG.</a:t>
            </a:r>
          </a:p>
          <a:p>
            <a:pPr>
              <a:spcAft>
                <a:spcPts val="600"/>
              </a:spcAft>
              <a:defRPr sz="1050">
                <a:solidFill>
                  <a:srgbClr val="262626"/>
                </a:solidFill>
                <a:latin typeface="Calibri"/>
              </a:defRPr>
            </a:pPr>
            <a:r>
              <a:rPr>
                <a:latin typeface="Trebuchet MS" panose="020B0603020202020204" pitchFamily="34" charset="0"/>
              </a:rPr>
              <a:t>✔ Komplettservice: Beratung, Einkauf, Vorinstallation, Aufbau &amp; Abnahme.</a:t>
            </a:r>
          </a:p>
        </p:txBody>
      </p:sp>
      <p:pic>
        <p:nvPicPr>
          <p:cNvPr id="10" name="NextLevelLogo_3">
            <a:extLst>
              <a:ext uri="{FF2B5EF4-FFF2-40B4-BE49-F238E27FC236}">
                <a16:creationId xmlns:a16="http://schemas.microsoft.com/office/drawing/2014/main" id="{C8BEB326-3A99-A656-43C3-E136D1D2324A}"/>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399"/>
            <a:ext cx="5449890"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ORGANISATION</a:t>
            </a:r>
          </a:p>
          <a:p>
            <a:pPr>
              <a:defRPr sz="2000" b="1">
                <a:solidFill>
                  <a:srgbClr val="FFFFFF"/>
                </a:solidFill>
                <a:latin typeface="Calibri"/>
              </a:defRPr>
            </a:pPr>
            <a:r>
              <a:rPr sz="2200" b="1">
                <a:solidFill>
                  <a:srgbClr val="2C3C43"/>
                </a:solidFill>
                <a:latin typeface="Trebuchet MS" panose="020B0603020202020204" pitchFamily="34" charset="0"/>
              </a:rPr>
              <a:t>Unser Team und die Aufgabenverteilung</a:t>
            </a:r>
          </a:p>
        </p:txBody>
      </p:sp>
      <p:sp>
        <p:nvSpPr>
          <p:cNvPr id="4" name="TextBox 3"/>
          <p:cNvSpPr txBox="1"/>
          <p:nvPr/>
        </p:nvSpPr>
        <p:spPr>
          <a:xfrm>
            <a:off x="698500" y="641350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4 von 16</a:t>
            </a:r>
          </a:p>
        </p:txBody>
      </p:sp>
      <p:sp>
        <p:nvSpPr>
          <p:cNvPr id="5" name="Rounded Rectangle 4"/>
          <p:cNvSpPr/>
          <p:nvPr/>
        </p:nvSpPr>
        <p:spPr>
          <a:xfrm>
            <a:off x="698500" y="1371600"/>
            <a:ext cx="1968500" cy="4846320"/>
          </a:xfrm>
          <a:prstGeom prst="roundRect">
            <a:avLst/>
          </a:prstGeom>
          <a:solidFill>
            <a:srgbClr val="FFFFFF"/>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ectangle 5"/>
          <p:cNvSpPr/>
          <p:nvPr/>
        </p:nvSpPr>
        <p:spPr>
          <a:xfrm>
            <a:off x="698500" y="1371600"/>
            <a:ext cx="1968500" cy="82296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TextBox 6"/>
          <p:cNvSpPr txBox="1"/>
          <p:nvPr/>
        </p:nvSpPr>
        <p:spPr>
          <a:xfrm>
            <a:off x="698500" y="1444752"/>
            <a:ext cx="1968500" cy="292388"/>
          </a:xfrm>
          <a:prstGeom prst="rect">
            <a:avLst/>
          </a:prstGeom>
          <a:noFill/>
        </p:spPr>
        <p:txBody>
          <a:bodyPr wrap="square">
            <a:spAutoFit/>
          </a:bodyPr>
          <a:lstStyle/>
          <a:p>
            <a:pPr algn="ctr">
              <a:defRPr sz="1200" b="1">
                <a:solidFill>
                  <a:srgbClr val="FFFFFF"/>
                </a:solidFill>
                <a:latin typeface="Calibri"/>
              </a:defRPr>
            </a:pPr>
            <a:r>
              <a:rPr sz="1300" b="1">
                <a:solidFill>
                  <a:srgbClr val="FFFFFF"/>
                </a:solidFill>
                <a:latin typeface="Trebuchet MS" panose="020B0603020202020204" pitchFamily="34" charset="0"/>
              </a:rPr>
              <a:t>Jan Kluth</a:t>
            </a:r>
          </a:p>
        </p:txBody>
      </p:sp>
      <p:sp>
        <p:nvSpPr>
          <p:cNvPr id="8" name="TextBox 7"/>
          <p:cNvSpPr txBox="1"/>
          <p:nvPr/>
        </p:nvSpPr>
        <p:spPr>
          <a:xfrm>
            <a:off x="698500" y="1810512"/>
            <a:ext cx="1968500" cy="238527"/>
          </a:xfrm>
          <a:prstGeom prst="rect">
            <a:avLst/>
          </a:prstGeom>
          <a:noFill/>
        </p:spPr>
        <p:txBody>
          <a:bodyPr wrap="square">
            <a:spAutoFit/>
          </a:bodyPr>
          <a:lstStyle/>
          <a:p>
            <a:pPr algn="ctr">
              <a:defRPr sz="950" b="1">
                <a:solidFill>
                  <a:srgbClr val="B4C6E7"/>
                </a:solidFill>
                <a:latin typeface="Calibri"/>
              </a:defRPr>
            </a:pPr>
            <a:r>
              <a:rPr sz="950" b="1">
                <a:solidFill>
                  <a:srgbClr val="D7EBC3"/>
                </a:solidFill>
                <a:latin typeface="Trebuchet MS" panose="020B0603020202020204" pitchFamily="34" charset="0"/>
              </a:rPr>
              <a:t>Projektleiter</a:t>
            </a:r>
          </a:p>
        </p:txBody>
      </p:sp>
      <p:sp>
        <p:nvSpPr>
          <p:cNvPr id="9" name="TextBox 8"/>
          <p:cNvSpPr txBox="1"/>
          <p:nvPr/>
        </p:nvSpPr>
        <p:spPr>
          <a:xfrm>
            <a:off x="774700" y="2331720"/>
            <a:ext cx="1816100" cy="1200329"/>
          </a:xfrm>
          <a:prstGeom prst="rect">
            <a:avLst/>
          </a:prstGeom>
          <a:noFill/>
        </p:spPr>
        <p:txBody>
          <a:bodyPr wrap="square">
            <a:spAutoFit/>
          </a:bodyPr>
          <a:lstStyle/>
          <a:p>
            <a:pPr>
              <a:spcAft>
                <a:spcPts val="600"/>
              </a:spcAft>
              <a:defRPr sz="950">
                <a:solidFill>
                  <a:srgbClr val="262626"/>
                </a:solidFill>
                <a:latin typeface="Calibri"/>
              </a:defRPr>
            </a:pPr>
            <a:r>
              <a:rPr sz="950">
                <a:solidFill>
                  <a:srgbClr val="282828"/>
                </a:solidFill>
                <a:latin typeface="Trebuchet MS" panose="020B0603020202020204" pitchFamily="34" charset="0"/>
              </a:rPr>
              <a:t>• Gesamtkoordination &amp; Leitung</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Termin- &amp; Ablaufüberwachung</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Risikoanalyse &amp; Abnahme</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Abschlusspräsentation</a:t>
            </a:r>
          </a:p>
        </p:txBody>
      </p:sp>
      <p:sp>
        <p:nvSpPr>
          <p:cNvPr id="10" name="Rounded Rectangle 9"/>
          <p:cNvSpPr/>
          <p:nvPr/>
        </p:nvSpPr>
        <p:spPr>
          <a:xfrm>
            <a:off x="2857500" y="1371600"/>
            <a:ext cx="1968500" cy="4846320"/>
          </a:xfrm>
          <a:prstGeom prst="roundRect">
            <a:avLst/>
          </a:prstGeom>
          <a:solidFill>
            <a:srgbClr val="FFFFFF"/>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Rectangle 10"/>
          <p:cNvSpPr/>
          <p:nvPr/>
        </p:nvSpPr>
        <p:spPr>
          <a:xfrm>
            <a:off x="2857500" y="1371600"/>
            <a:ext cx="1968500" cy="822960"/>
          </a:xfrm>
          <a:prstGeom prst="rect">
            <a:avLst/>
          </a:prstGeom>
          <a:solidFill>
            <a:srgbClr val="2C3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 name="TextBox 11"/>
          <p:cNvSpPr txBox="1"/>
          <p:nvPr/>
        </p:nvSpPr>
        <p:spPr>
          <a:xfrm>
            <a:off x="2857500" y="1444752"/>
            <a:ext cx="1968500" cy="292388"/>
          </a:xfrm>
          <a:prstGeom prst="rect">
            <a:avLst/>
          </a:prstGeom>
          <a:noFill/>
        </p:spPr>
        <p:txBody>
          <a:bodyPr wrap="square">
            <a:spAutoFit/>
          </a:bodyPr>
          <a:lstStyle/>
          <a:p>
            <a:pPr algn="ctr">
              <a:defRPr sz="1200" b="1">
                <a:solidFill>
                  <a:srgbClr val="1F497D"/>
                </a:solidFill>
                <a:latin typeface="Calibri"/>
              </a:defRPr>
            </a:pPr>
            <a:r>
              <a:rPr sz="1300" b="1">
                <a:solidFill>
                  <a:srgbClr val="FFFFFF"/>
                </a:solidFill>
                <a:latin typeface="Trebuchet MS" panose="020B0603020202020204" pitchFamily="34" charset="0"/>
              </a:rPr>
              <a:t>Mathias Vonau</a:t>
            </a:r>
          </a:p>
        </p:txBody>
      </p:sp>
      <p:sp>
        <p:nvSpPr>
          <p:cNvPr id="13" name="TextBox 12"/>
          <p:cNvSpPr txBox="1"/>
          <p:nvPr/>
        </p:nvSpPr>
        <p:spPr>
          <a:xfrm>
            <a:off x="2857500" y="1810512"/>
            <a:ext cx="1968500" cy="238527"/>
          </a:xfrm>
          <a:prstGeom prst="rect">
            <a:avLst/>
          </a:prstGeom>
          <a:noFill/>
        </p:spPr>
        <p:txBody>
          <a:bodyPr wrap="square">
            <a:spAutoFit/>
          </a:bodyPr>
          <a:lstStyle/>
          <a:p>
            <a:pPr algn="ctr">
              <a:defRPr sz="950" b="1">
                <a:solidFill>
                  <a:srgbClr val="2F5597"/>
                </a:solidFill>
                <a:latin typeface="Calibri"/>
              </a:defRPr>
            </a:pPr>
            <a:r>
              <a:rPr sz="950" b="1">
                <a:solidFill>
                  <a:srgbClr val="D7EBC3"/>
                </a:solidFill>
                <a:latin typeface="Trebuchet MS" panose="020B0603020202020204" pitchFamily="34" charset="0"/>
              </a:rPr>
              <a:t>Technischer Planer</a:t>
            </a:r>
          </a:p>
        </p:txBody>
      </p:sp>
      <p:sp>
        <p:nvSpPr>
          <p:cNvPr id="14" name="TextBox 13"/>
          <p:cNvSpPr txBox="1"/>
          <p:nvPr/>
        </p:nvSpPr>
        <p:spPr>
          <a:xfrm>
            <a:off x="2933700" y="2331720"/>
            <a:ext cx="1816100" cy="1054135"/>
          </a:xfrm>
          <a:prstGeom prst="rect">
            <a:avLst/>
          </a:prstGeom>
          <a:noFill/>
        </p:spPr>
        <p:txBody>
          <a:bodyPr wrap="square">
            <a:spAutoFit/>
          </a:bodyPr>
          <a:lstStyle/>
          <a:p>
            <a:pPr>
              <a:spcAft>
                <a:spcPts val="600"/>
              </a:spcAft>
              <a:defRPr sz="950">
                <a:solidFill>
                  <a:srgbClr val="262626"/>
                </a:solidFill>
                <a:latin typeface="Calibri"/>
              </a:defRPr>
            </a:pPr>
            <a:r>
              <a:rPr sz="950">
                <a:solidFill>
                  <a:srgbClr val="282828"/>
                </a:solidFill>
                <a:latin typeface="Trebuchet MS" panose="020B0603020202020204" pitchFamily="34" charset="0"/>
              </a:rPr>
              <a:t>• Anforderungsanalyse &amp; Lastenheft</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Hardware-Spezifikationen</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Vorinstallation (Staging)</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Ergonomie-Montage vor Ort</a:t>
            </a:r>
          </a:p>
        </p:txBody>
      </p:sp>
      <p:sp>
        <p:nvSpPr>
          <p:cNvPr id="15" name="Rounded Rectangle 14"/>
          <p:cNvSpPr/>
          <p:nvPr/>
        </p:nvSpPr>
        <p:spPr>
          <a:xfrm>
            <a:off x="5016500" y="1371600"/>
            <a:ext cx="1968500" cy="4846320"/>
          </a:xfrm>
          <a:prstGeom prst="roundRect">
            <a:avLst/>
          </a:prstGeom>
          <a:solidFill>
            <a:srgbClr val="FFFFFF"/>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Rectangle 15"/>
          <p:cNvSpPr/>
          <p:nvPr/>
        </p:nvSpPr>
        <p:spPr>
          <a:xfrm>
            <a:off x="5016500" y="1371600"/>
            <a:ext cx="1968500" cy="822960"/>
          </a:xfrm>
          <a:prstGeom prst="rect">
            <a:avLst/>
          </a:prstGeom>
          <a:solidFill>
            <a:srgbClr val="2C3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16"/>
          <p:cNvSpPr txBox="1"/>
          <p:nvPr/>
        </p:nvSpPr>
        <p:spPr>
          <a:xfrm>
            <a:off x="5016500" y="1444752"/>
            <a:ext cx="1968500" cy="292388"/>
          </a:xfrm>
          <a:prstGeom prst="rect">
            <a:avLst/>
          </a:prstGeom>
          <a:noFill/>
        </p:spPr>
        <p:txBody>
          <a:bodyPr wrap="square">
            <a:spAutoFit/>
          </a:bodyPr>
          <a:lstStyle/>
          <a:p>
            <a:pPr algn="ctr">
              <a:defRPr sz="1200" b="1">
                <a:solidFill>
                  <a:srgbClr val="1F497D"/>
                </a:solidFill>
                <a:latin typeface="Calibri"/>
              </a:defRPr>
            </a:pPr>
            <a:r>
              <a:rPr sz="1300" b="1">
                <a:solidFill>
                  <a:srgbClr val="FFFFFF"/>
                </a:solidFill>
                <a:latin typeface="Trebuchet MS" panose="020B0603020202020204" pitchFamily="34" charset="0"/>
              </a:rPr>
              <a:t>Marian Bolecke</a:t>
            </a:r>
          </a:p>
        </p:txBody>
      </p:sp>
      <p:sp>
        <p:nvSpPr>
          <p:cNvPr id="18" name="TextBox 17"/>
          <p:cNvSpPr txBox="1"/>
          <p:nvPr/>
        </p:nvSpPr>
        <p:spPr>
          <a:xfrm>
            <a:off x="5016500" y="1810512"/>
            <a:ext cx="1968500" cy="384721"/>
          </a:xfrm>
          <a:prstGeom prst="rect">
            <a:avLst/>
          </a:prstGeom>
          <a:noFill/>
        </p:spPr>
        <p:txBody>
          <a:bodyPr wrap="square">
            <a:spAutoFit/>
          </a:bodyPr>
          <a:lstStyle/>
          <a:p>
            <a:pPr algn="ctr">
              <a:defRPr sz="950" b="1">
                <a:solidFill>
                  <a:srgbClr val="2F5597"/>
                </a:solidFill>
                <a:latin typeface="Calibri"/>
              </a:defRPr>
            </a:pPr>
            <a:r>
              <a:rPr sz="950" b="1">
                <a:solidFill>
                  <a:srgbClr val="D7EBC3"/>
                </a:solidFill>
                <a:latin typeface="Trebuchet MS" panose="020B0603020202020204" pitchFamily="34" charset="0"/>
              </a:rPr>
              <a:t>Beschaffung &amp; Kalkulation</a:t>
            </a:r>
          </a:p>
        </p:txBody>
      </p:sp>
      <p:sp>
        <p:nvSpPr>
          <p:cNvPr id="19" name="TextBox 18"/>
          <p:cNvSpPr txBox="1"/>
          <p:nvPr/>
        </p:nvSpPr>
        <p:spPr>
          <a:xfrm>
            <a:off x="5092700" y="2331720"/>
            <a:ext cx="1816100" cy="1200329"/>
          </a:xfrm>
          <a:prstGeom prst="rect">
            <a:avLst/>
          </a:prstGeom>
          <a:noFill/>
        </p:spPr>
        <p:txBody>
          <a:bodyPr wrap="square">
            <a:spAutoFit/>
          </a:bodyPr>
          <a:lstStyle/>
          <a:p>
            <a:pPr>
              <a:spcAft>
                <a:spcPts val="600"/>
              </a:spcAft>
              <a:defRPr sz="950">
                <a:solidFill>
                  <a:srgbClr val="262626"/>
                </a:solidFill>
                <a:latin typeface="Calibri"/>
              </a:defRPr>
            </a:pPr>
            <a:r>
              <a:rPr sz="950">
                <a:solidFill>
                  <a:srgbClr val="282828"/>
                </a:solidFill>
                <a:latin typeface="Trebuchet MS" panose="020B0603020202020204" pitchFamily="34" charset="0"/>
              </a:rPr>
              <a:t>• Reale Marktrecherche</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Nutzwertanalysen (PCs / TFTs)</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Vorwärtskalkulation</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Angebotserstellung DIN 5008</a:t>
            </a:r>
          </a:p>
        </p:txBody>
      </p:sp>
      <p:sp>
        <p:nvSpPr>
          <p:cNvPr id="20" name="Rounded Rectangle 19"/>
          <p:cNvSpPr/>
          <p:nvPr/>
        </p:nvSpPr>
        <p:spPr>
          <a:xfrm>
            <a:off x="7175500" y="1371600"/>
            <a:ext cx="1968500" cy="4846320"/>
          </a:xfrm>
          <a:prstGeom prst="roundRect">
            <a:avLst/>
          </a:prstGeom>
          <a:solidFill>
            <a:srgbClr val="FFFFFF"/>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 name="Rectangle 20"/>
          <p:cNvSpPr/>
          <p:nvPr/>
        </p:nvSpPr>
        <p:spPr>
          <a:xfrm>
            <a:off x="7175500" y="1371600"/>
            <a:ext cx="1968500" cy="822960"/>
          </a:xfrm>
          <a:prstGeom prst="rect">
            <a:avLst/>
          </a:prstGeom>
          <a:solidFill>
            <a:srgbClr val="2C3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2" name="TextBox 21"/>
          <p:cNvSpPr txBox="1"/>
          <p:nvPr/>
        </p:nvSpPr>
        <p:spPr>
          <a:xfrm>
            <a:off x="7175500" y="1444752"/>
            <a:ext cx="1968500" cy="292388"/>
          </a:xfrm>
          <a:prstGeom prst="rect">
            <a:avLst/>
          </a:prstGeom>
          <a:noFill/>
        </p:spPr>
        <p:txBody>
          <a:bodyPr wrap="square">
            <a:spAutoFit/>
          </a:bodyPr>
          <a:lstStyle/>
          <a:p>
            <a:pPr algn="ctr">
              <a:defRPr sz="1200" b="1">
                <a:solidFill>
                  <a:srgbClr val="1F497D"/>
                </a:solidFill>
                <a:latin typeface="Calibri"/>
              </a:defRPr>
            </a:pPr>
            <a:r>
              <a:rPr sz="1300" b="1">
                <a:solidFill>
                  <a:srgbClr val="FFFFFF"/>
                </a:solidFill>
                <a:latin typeface="Trebuchet MS" panose="020B0603020202020204" pitchFamily="34" charset="0"/>
              </a:rPr>
              <a:t>Marco Schmidt</a:t>
            </a:r>
          </a:p>
        </p:txBody>
      </p:sp>
      <p:sp>
        <p:nvSpPr>
          <p:cNvPr id="23" name="TextBox 22"/>
          <p:cNvSpPr txBox="1"/>
          <p:nvPr/>
        </p:nvSpPr>
        <p:spPr>
          <a:xfrm>
            <a:off x="7175500" y="1810512"/>
            <a:ext cx="1968500" cy="238527"/>
          </a:xfrm>
          <a:prstGeom prst="rect">
            <a:avLst/>
          </a:prstGeom>
          <a:noFill/>
        </p:spPr>
        <p:txBody>
          <a:bodyPr wrap="square">
            <a:spAutoFit/>
          </a:bodyPr>
          <a:lstStyle/>
          <a:p>
            <a:pPr algn="ctr">
              <a:defRPr sz="950" b="1">
                <a:solidFill>
                  <a:srgbClr val="2F5597"/>
                </a:solidFill>
                <a:latin typeface="Calibri"/>
              </a:defRPr>
            </a:pPr>
            <a:r>
              <a:rPr sz="950" b="1">
                <a:solidFill>
                  <a:srgbClr val="D7EBC3"/>
                </a:solidFill>
                <a:latin typeface="Trebuchet MS" panose="020B0603020202020204" pitchFamily="34" charset="0"/>
              </a:rPr>
              <a:t>Qualitätsmanagement</a:t>
            </a:r>
          </a:p>
        </p:txBody>
      </p:sp>
      <p:sp>
        <p:nvSpPr>
          <p:cNvPr id="24" name="TextBox 23"/>
          <p:cNvSpPr txBox="1"/>
          <p:nvPr/>
        </p:nvSpPr>
        <p:spPr>
          <a:xfrm>
            <a:off x="7251700" y="2331720"/>
            <a:ext cx="1816100" cy="1200329"/>
          </a:xfrm>
          <a:prstGeom prst="rect">
            <a:avLst/>
          </a:prstGeom>
          <a:noFill/>
        </p:spPr>
        <p:txBody>
          <a:bodyPr wrap="square">
            <a:spAutoFit/>
          </a:bodyPr>
          <a:lstStyle/>
          <a:p>
            <a:pPr>
              <a:spcAft>
                <a:spcPts val="600"/>
              </a:spcAft>
              <a:defRPr sz="950">
                <a:solidFill>
                  <a:srgbClr val="262626"/>
                </a:solidFill>
                <a:latin typeface="Calibri"/>
              </a:defRPr>
            </a:pPr>
            <a:r>
              <a:rPr sz="950">
                <a:solidFill>
                  <a:srgbClr val="282828"/>
                </a:solidFill>
                <a:latin typeface="Trebuchet MS" panose="020B0603020202020204" pitchFamily="34" charset="0"/>
              </a:rPr>
              <a:t>• Wareneingangsprüfung (§ 377 HGB)</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Kaufmännische Mängelrüge</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Entsorgungskonzept ElektroG</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Datenschutz &amp; BSI-Löschung</a:t>
            </a:r>
          </a:p>
        </p:txBody>
      </p:sp>
      <p:sp>
        <p:nvSpPr>
          <p:cNvPr id="25" name="Rounded Rectangle 24"/>
          <p:cNvSpPr/>
          <p:nvPr/>
        </p:nvSpPr>
        <p:spPr>
          <a:xfrm>
            <a:off x="9334500" y="1371600"/>
            <a:ext cx="1968500" cy="4846320"/>
          </a:xfrm>
          <a:prstGeom prst="roundRect">
            <a:avLst/>
          </a:prstGeom>
          <a:solidFill>
            <a:srgbClr val="FFFFFF"/>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 name="Rectangle 25"/>
          <p:cNvSpPr/>
          <p:nvPr/>
        </p:nvSpPr>
        <p:spPr>
          <a:xfrm>
            <a:off x="9334500" y="1371600"/>
            <a:ext cx="1968500" cy="822960"/>
          </a:xfrm>
          <a:prstGeom prst="rect">
            <a:avLst/>
          </a:prstGeom>
          <a:solidFill>
            <a:srgbClr val="2C3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7" name="TextBox 26"/>
          <p:cNvSpPr txBox="1"/>
          <p:nvPr/>
        </p:nvSpPr>
        <p:spPr>
          <a:xfrm>
            <a:off x="9334500" y="1444752"/>
            <a:ext cx="1968500" cy="292388"/>
          </a:xfrm>
          <a:prstGeom prst="rect">
            <a:avLst/>
          </a:prstGeom>
          <a:noFill/>
        </p:spPr>
        <p:txBody>
          <a:bodyPr wrap="square">
            <a:spAutoFit/>
          </a:bodyPr>
          <a:lstStyle/>
          <a:p>
            <a:pPr algn="ctr">
              <a:defRPr sz="1200" b="1">
                <a:solidFill>
                  <a:srgbClr val="1F497D"/>
                </a:solidFill>
                <a:latin typeface="Calibri"/>
              </a:defRPr>
            </a:pPr>
            <a:r>
              <a:rPr sz="1300" b="1">
                <a:solidFill>
                  <a:srgbClr val="FFFFFF"/>
                </a:solidFill>
                <a:latin typeface="Trebuchet MS" panose="020B0603020202020204" pitchFamily="34" charset="0"/>
              </a:rPr>
              <a:t>Siyar</a:t>
            </a:r>
          </a:p>
        </p:txBody>
      </p:sp>
      <p:sp>
        <p:nvSpPr>
          <p:cNvPr id="28" name="TextBox 27"/>
          <p:cNvSpPr txBox="1"/>
          <p:nvPr/>
        </p:nvSpPr>
        <p:spPr>
          <a:xfrm>
            <a:off x="9334500" y="1810512"/>
            <a:ext cx="1968500" cy="238527"/>
          </a:xfrm>
          <a:prstGeom prst="rect">
            <a:avLst/>
          </a:prstGeom>
          <a:noFill/>
        </p:spPr>
        <p:txBody>
          <a:bodyPr wrap="square">
            <a:spAutoFit/>
          </a:bodyPr>
          <a:lstStyle/>
          <a:p>
            <a:pPr algn="ctr">
              <a:defRPr sz="950" b="1">
                <a:solidFill>
                  <a:srgbClr val="2F5597"/>
                </a:solidFill>
                <a:latin typeface="Calibri"/>
              </a:defRPr>
            </a:pPr>
            <a:r>
              <a:rPr sz="950" b="1">
                <a:solidFill>
                  <a:srgbClr val="D7EBC3"/>
                </a:solidFill>
                <a:latin typeface="Trebuchet MS" panose="020B0603020202020204" pitchFamily="34" charset="0"/>
              </a:rPr>
              <a:t>Berechnung &amp; Doku</a:t>
            </a:r>
          </a:p>
        </p:txBody>
      </p:sp>
      <p:sp>
        <p:nvSpPr>
          <p:cNvPr id="29" name="TextBox 28"/>
          <p:cNvSpPr txBox="1"/>
          <p:nvPr/>
        </p:nvSpPr>
        <p:spPr>
          <a:xfrm>
            <a:off x="9410700" y="2331720"/>
            <a:ext cx="1816100" cy="1054135"/>
          </a:xfrm>
          <a:prstGeom prst="rect">
            <a:avLst/>
          </a:prstGeom>
          <a:noFill/>
        </p:spPr>
        <p:txBody>
          <a:bodyPr wrap="square">
            <a:spAutoFit/>
          </a:bodyPr>
          <a:lstStyle/>
          <a:p>
            <a:pPr>
              <a:spcAft>
                <a:spcPts val="600"/>
              </a:spcAft>
              <a:defRPr sz="950">
                <a:solidFill>
                  <a:srgbClr val="262626"/>
                </a:solidFill>
                <a:latin typeface="Calibri"/>
              </a:defRPr>
            </a:pPr>
            <a:r>
              <a:rPr sz="950">
                <a:solidFill>
                  <a:srgbClr val="282828"/>
                </a:solidFill>
                <a:latin typeface="Trebuchet MS" panose="020B0603020202020204" pitchFamily="34" charset="0"/>
              </a:rPr>
              <a:t>• Server-Speicherbedarf (445 GiB)</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Energiekosten-Kalkulation</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Checklisten &amp; Protokolle</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Qualitätssicherung</a:t>
            </a:r>
          </a:p>
        </p:txBody>
      </p:sp>
      <p:pic>
        <p:nvPicPr>
          <p:cNvPr id="31" name="NextLevelLogo_4">
            <a:extLst>
              <a:ext uri="{FF2B5EF4-FFF2-40B4-BE49-F238E27FC236}">
                <a16:creationId xmlns:a16="http://schemas.microsoft.com/office/drawing/2014/main" id="{56E73E3E-9ED1-D73E-5CFF-7D53B5622C85}"/>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399"/>
            <a:ext cx="4958409"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PROJEKTORGANISATION</a:t>
            </a:r>
          </a:p>
          <a:p>
            <a:pPr>
              <a:defRPr sz="2000" b="1">
                <a:solidFill>
                  <a:srgbClr val="FFFFFF"/>
                </a:solidFill>
                <a:latin typeface="Calibri"/>
              </a:defRPr>
            </a:pPr>
            <a:r>
              <a:rPr sz="2200" b="1">
                <a:solidFill>
                  <a:srgbClr val="2C3C43"/>
                </a:solidFill>
                <a:latin typeface="Trebuchet MS" panose="020B0603020202020204" pitchFamily="34" charset="0"/>
              </a:rPr>
              <a:t>Projektstrukturplan nach DIN 69901</a:t>
            </a:r>
          </a:p>
        </p:txBody>
      </p:sp>
      <p:sp>
        <p:nvSpPr>
          <p:cNvPr id="4" name="TextBox 3"/>
          <p:cNvSpPr txBox="1"/>
          <p:nvPr/>
        </p:nvSpPr>
        <p:spPr>
          <a:xfrm>
            <a:off x="698500" y="641350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5 von 16</a:t>
            </a:r>
          </a:p>
        </p:txBody>
      </p:sp>
      <p:sp>
        <p:nvSpPr>
          <p:cNvPr id="5" name="Rounded Rectangle 4"/>
          <p:cNvSpPr/>
          <p:nvPr/>
        </p:nvSpPr>
        <p:spPr>
          <a:xfrm>
            <a:off x="1524000" y="1097280"/>
            <a:ext cx="8890000" cy="621792"/>
          </a:xfrm>
          <a:prstGeom prst="roundRect">
            <a:avLst/>
          </a:prstGeom>
          <a:solidFill>
            <a:srgbClr val="54A021"/>
          </a:solidFill>
          <a:ln w="1905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rPr>
                <a:latin typeface="Trebuchet MS" panose="020B0603020202020204" pitchFamily="34" charset="0"/>
              </a:rPr>
              <a:t>1.0 IT-Ausstattung Planungs- und Konstruktionsbüro</a:t>
            </a:r>
          </a:p>
          <a:p>
            <a:pPr algn="ctr">
              <a:defRPr sz="950">
                <a:solidFill>
                  <a:srgbClr val="FFE699"/>
                </a:solidFill>
                <a:latin typeface="Calibri"/>
              </a:defRPr>
            </a:pPr>
            <a:r>
              <a:rPr>
                <a:latin typeface="Trebuchet MS" panose="020B0603020202020204" pitchFamily="34" charset="0"/>
              </a:rPr>
              <a:t>Kunde: VektorPlan GmbH  |  Projektleitung: Jan Kluth  |  DIN 69901 (100%-Regel)</a:t>
            </a:r>
          </a:p>
        </p:txBody>
      </p:sp>
      <p:sp>
        <p:nvSpPr>
          <p:cNvPr id="6" name="Rectangle 5"/>
          <p:cNvSpPr/>
          <p:nvPr/>
        </p:nvSpPr>
        <p:spPr>
          <a:xfrm>
            <a:off x="5969000" y="1719072"/>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625600" y="1847088"/>
            <a:ext cx="8686800" cy="25400"/>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625600"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5000" y="1975104"/>
            <a:ext cx="1981200" cy="621792"/>
          </a:xfrm>
          <a:prstGeom prst="roundRect">
            <a:avLst/>
          </a:prstGeom>
          <a:solidFill>
            <a:srgbClr val="54A021"/>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rPr>
                <a:latin typeface="Trebuchet MS" panose="020B0603020202020204" pitchFamily="34" charset="0"/>
              </a:rPr>
              <a:t>1.1 Hardware</a:t>
            </a:r>
          </a:p>
          <a:p>
            <a:pPr algn="ctr">
              <a:defRPr sz="900">
                <a:solidFill>
                  <a:srgbClr val="FFE699"/>
                </a:solidFill>
                <a:latin typeface="Calibri"/>
              </a:defRPr>
            </a:pPr>
            <a:r>
              <a:rPr>
                <a:latin typeface="Trebuchet MS" panose="020B0603020202020204" pitchFamily="34" charset="0"/>
              </a:rPr>
              <a:t>Leitung: Marian Bolecke</a:t>
            </a:r>
          </a:p>
        </p:txBody>
      </p:sp>
      <p:sp>
        <p:nvSpPr>
          <p:cNvPr id="10" name="Rounded Rectangle 9"/>
          <p:cNvSpPr/>
          <p:nvPr/>
        </p:nvSpPr>
        <p:spPr>
          <a:xfrm>
            <a:off x="635000" y="2633472"/>
            <a:ext cx="1981200" cy="3584448"/>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73100" y="268833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1.1.1 12x Standard-PCs</a:t>
            </a:r>
          </a:p>
          <a:p>
            <a:pPr>
              <a:defRPr sz="850">
                <a:solidFill>
                  <a:srgbClr val="262626"/>
                </a:solidFill>
                <a:latin typeface="Calibri"/>
              </a:defRPr>
            </a:pPr>
            <a:r>
              <a:rPr>
                <a:latin typeface="Trebuchet MS" panose="020B0603020202020204" pitchFamily="34" charset="0"/>
              </a:rPr>
              <a:t>Lenovo ThinkCentre M70s (SFF)</a:t>
            </a:r>
          </a:p>
        </p:txBody>
      </p:sp>
      <p:sp>
        <p:nvSpPr>
          <p:cNvPr id="12" name="Rounded Rectangle 11"/>
          <p:cNvSpPr/>
          <p:nvPr/>
        </p:nvSpPr>
        <p:spPr>
          <a:xfrm>
            <a:off x="673100" y="3273552"/>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1.1.2 4x CAD-Workstations</a:t>
            </a:r>
          </a:p>
          <a:p>
            <a:pPr>
              <a:defRPr sz="850">
                <a:solidFill>
                  <a:srgbClr val="262626"/>
                </a:solidFill>
                <a:latin typeface="Calibri"/>
              </a:defRPr>
            </a:pPr>
            <a:r>
              <a:rPr>
                <a:latin typeface="Trebuchet MS" panose="020B0603020202020204" pitchFamily="34" charset="0"/>
              </a:rPr>
              <a:t>Lenovo ThinkStation P3 Tower</a:t>
            </a:r>
          </a:p>
        </p:txBody>
      </p:sp>
      <p:sp>
        <p:nvSpPr>
          <p:cNvPr id="13" name="Rounded Rectangle 12"/>
          <p:cNvSpPr/>
          <p:nvPr/>
        </p:nvSpPr>
        <p:spPr>
          <a:xfrm>
            <a:off x="673100" y="3858768"/>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1.1.3 32x Ergonomie-Displays</a:t>
            </a:r>
          </a:p>
          <a:p>
            <a:pPr>
              <a:defRPr sz="850">
                <a:solidFill>
                  <a:srgbClr val="262626"/>
                </a:solidFill>
                <a:latin typeface="Calibri"/>
              </a:defRPr>
            </a:pPr>
            <a:r>
              <a:rPr>
                <a:latin typeface="Trebuchet MS" panose="020B0603020202020204" pitchFamily="34" charset="0"/>
              </a:rPr>
              <a:t>Dell UltraSharp 27'' WQHD</a:t>
            </a:r>
          </a:p>
        </p:txBody>
      </p:sp>
      <p:sp>
        <p:nvSpPr>
          <p:cNvPr id="14" name="Rounded Rectangle 13"/>
          <p:cNvSpPr/>
          <p:nvPr/>
        </p:nvSpPr>
        <p:spPr>
          <a:xfrm>
            <a:off x="673100" y="4443984"/>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1.1.4 16x Funk-Eingabesets</a:t>
            </a:r>
          </a:p>
          <a:p>
            <a:pPr>
              <a:defRPr sz="850">
                <a:solidFill>
                  <a:srgbClr val="262626"/>
                </a:solidFill>
                <a:latin typeface="Calibri"/>
              </a:defRPr>
            </a:pPr>
            <a:r>
              <a:rPr>
                <a:latin typeface="Trebuchet MS" panose="020B0603020202020204" pitchFamily="34" charset="0"/>
              </a:rPr>
              <a:t>Logitech MK650 Business (AES)</a:t>
            </a:r>
          </a:p>
        </p:txBody>
      </p:sp>
      <p:sp>
        <p:nvSpPr>
          <p:cNvPr id="15" name="Rounded Rectangle 14"/>
          <p:cNvSpPr/>
          <p:nvPr/>
        </p:nvSpPr>
        <p:spPr>
          <a:xfrm>
            <a:off x="673100" y="5029200"/>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1.1.5 16x Externe SSDs</a:t>
            </a:r>
          </a:p>
          <a:p>
            <a:pPr>
              <a:defRPr sz="850">
                <a:solidFill>
                  <a:srgbClr val="262626"/>
                </a:solidFill>
                <a:latin typeface="Calibri"/>
              </a:defRPr>
            </a:pPr>
            <a:r>
              <a:rPr>
                <a:latin typeface="Trebuchet MS" panose="020B0603020202020204" pitchFamily="34" charset="0"/>
              </a:rPr>
              <a:t>Samsung Portable T7 Shield 1TB</a:t>
            </a:r>
          </a:p>
        </p:txBody>
      </p:sp>
      <p:sp>
        <p:nvSpPr>
          <p:cNvPr id="16" name="Rounded Rectangle 15"/>
          <p:cNvSpPr/>
          <p:nvPr/>
        </p:nvSpPr>
        <p:spPr>
          <a:xfrm>
            <a:off x="673100" y="561441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1.1.6 1x Farblaser-MFP A3</a:t>
            </a:r>
          </a:p>
          <a:p>
            <a:pPr>
              <a:defRPr sz="850">
                <a:solidFill>
                  <a:srgbClr val="262626"/>
                </a:solidFill>
                <a:latin typeface="Calibri"/>
              </a:defRPr>
            </a:pPr>
            <a:r>
              <a:rPr>
                <a:latin typeface="Trebuchet MS" panose="020B0603020202020204" pitchFamily="34" charset="0"/>
              </a:rPr>
              <a:t>Lexmark CX930dse A3/A4 MFP</a:t>
            </a:r>
          </a:p>
        </p:txBody>
      </p:sp>
      <p:sp>
        <p:nvSpPr>
          <p:cNvPr id="17" name="Rectangle 16"/>
          <p:cNvSpPr/>
          <p:nvPr/>
        </p:nvSpPr>
        <p:spPr>
          <a:xfrm>
            <a:off x="3797300"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2806700" y="1975104"/>
            <a:ext cx="1981200" cy="621792"/>
          </a:xfrm>
          <a:prstGeom prst="roundRect">
            <a:avLst/>
          </a:prstGeom>
          <a:solidFill>
            <a:srgbClr val="54A021"/>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rPr>
                <a:latin typeface="Trebuchet MS" panose="020B0603020202020204" pitchFamily="34" charset="0"/>
              </a:rPr>
              <a:t>1.2 Software</a:t>
            </a:r>
          </a:p>
          <a:p>
            <a:pPr algn="ctr">
              <a:defRPr sz="900">
                <a:solidFill>
                  <a:srgbClr val="FFE699"/>
                </a:solidFill>
                <a:latin typeface="Calibri"/>
              </a:defRPr>
            </a:pPr>
            <a:r>
              <a:rPr>
                <a:latin typeface="Trebuchet MS" panose="020B0603020202020204" pitchFamily="34" charset="0"/>
              </a:rPr>
              <a:t>Leitung: Mathias Vonau</a:t>
            </a:r>
          </a:p>
        </p:txBody>
      </p:sp>
      <p:sp>
        <p:nvSpPr>
          <p:cNvPr id="19" name="Rounded Rectangle 18"/>
          <p:cNvSpPr/>
          <p:nvPr/>
        </p:nvSpPr>
        <p:spPr>
          <a:xfrm>
            <a:off x="2806700" y="2633472"/>
            <a:ext cx="1981200" cy="3584448"/>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2844800" y="268833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1.2.1 16x Windows 11 Pro</a:t>
            </a:r>
          </a:p>
          <a:p>
            <a:pPr>
              <a:defRPr sz="850">
                <a:solidFill>
                  <a:srgbClr val="262626"/>
                </a:solidFill>
                <a:latin typeface="Calibri"/>
              </a:defRPr>
            </a:pPr>
            <a:r>
              <a:rPr>
                <a:latin typeface="Trebuchet MS" panose="020B0603020202020204" pitchFamily="34" charset="0"/>
              </a:rPr>
              <a:t>OEM-Lizenzen 64-Bit vorinstall.</a:t>
            </a:r>
          </a:p>
        </p:txBody>
      </p:sp>
      <p:sp>
        <p:nvSpPr>
          <p:cNvPr id="21" name="Rounded Rectangle 20"/>
          <p:cNvSpPr/>
          <p:nvPr/>
        </p:nvSpPr>
        <p:spPr>
          <a:xfrm>
            <a:off x="2844800" y="3273552"/>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1.2.2 16x M365 Business</a:t>
            </a:r>
          </a:p>
          <a:p>
            <a:pPr>
              <a:defRPr sz="850">
                <a:solidFill>
                  <a:srgbClr val="262626"/>
                </a:solidFill>
                <a:latin typeface="Calibri"/>
              </a:defRPr>
            </a:pPr>
            <a:r>
              <a:rPr>
                <a:latin typeface="Trebuchet MS" panose="020B0603020202020204" pitchFamily="34" charset="0"/>
              </a:rPr>
              <a:t>Office Standard Jahresabos</a:t>
            </a:r>
          </a:p>
        </p:txBody>
      </p:sp>
      <p:sp>
        <p:nvSpPr>
          <p:cNvPr id="22" name="Rounded Rectangle 21"/>
          <p:cNvSpPr/>
          <p:nvPr/>
        </p:nvSpPr>
        <p:spPr>
          <a:xfrm>
            <a:off x="2844800" y="3858768"/>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1.2.3 16x Adobe Acrobat Pro</a:t>
            </a:r>
          </a:p>
          <a:p>
            <a:pPr>
              <a:defRPr sz="850">
                <a:solidFill>
                  <a:srgbClr val="262626"/>
                </a:solidFill>
                <a:latin typeface="Calibri"/>
              </a:defRPr>
            </a:pPr>
            <a:r>
              <a:rPr>
                <a:latin typeface="Trebuchet MS" panose="020B0603020202020204" pitchFamily="34" charset="0"/>
              </a:rPr>
              <a:t>PDF-Prüfung &amp; digitale Signatur</a:t>
            </a:r>
          </a:p>
        </p:txBody>
      </p:sp>
      <p:sp>
        <p:nvSpPr>
          <p:cNvPr id="23" name="Rounded Rectangle 22"/>
          <p:cNvSpPr/>
          <p:nvPr/>
        </p:nvSpPr>
        <p:spPr>
          <a:xfrm>
            <a:off x="2844800" y="4443984"/>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1.2.4 16x ESET PROTECT</a:t>
            </a:r>
          </a:p>
          <a:p>
            <a:pPr>
              <a:defRPr sz="850">
                <a:solidFill>
                  <a:srgbClr val="262626"/>
                </a:solidFill>
                <a:latin typeface="Calibri"/>
              </a:defRPr>
            </a:pPr>
            <a:r>
              <a:rPr>
                <a:latin typeface="Trebuchet MS" panose="020B0603020202020204" pitchFamily="34" charset="0"/>
              </a:rPr>
              <a:t>Zentral verwaltetes Cloud-EDR</a:t>
            </a:r>
          </a:p>
        </p:txBody>
      </p:sp>
      <p:sp>
        <p:nvSpPr>
          <p:cNvPr id="24" name="Rounded Rectangle 23"/>
          <p:cNvSpPr/>
          <p:nvPr/>
        </p:nvSpPr>
        <p:spPr>
          <a:xfrm>
            <a:off x="2844800" y="5029200"/>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1.2.5 Staging-Images</a:t>
            </a:r>
          </a:p>
          <a:p>
            <a:pPr>
              <a:defRPr sz="850">
                <a:solidFill>
                  <a:srgbClr val="262626"/>
                </a:solidFill>
                <a:latin typeface="Calibri"/>
              </a:defRPr>
            </a:pPr>
            <a:r>
              <a:rPr>
                <a:latin typeface="Trebuchet MS" panose="020B0603020202020204" pitchFamily="34" charset="0"/>
              </a:rPr>
              <a:t>Sysprep-Standardinstallation</a:t>
            </a:r>
          </a:p>
        </p:txBody>
      </p:sp>
      <p:sp>
        <p:nvSpPr>
          <p:cNvPr id="25" name="Rounded Rectangle 24"/>
          <p:cNvSpPr/>
          <p:nvPr/>
        </p:nvSpPr>
        <p:spPr>
          <a:xfrm>
            <a:off x="2844800" y="561441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1.2.6 Lizenzdokumentation</a:t>
            </a:r>
          </a:p>
          <a:p>
            <a:pPr>
              <a:defRPr sz="850">
                <a:solidFill>
                  <a:srgbClr val="262626"/>
                </a:solidFill>
                <a:latin typeface="Calibri"/>
              </a:defRPr>
            </a:pPr>
            <a:r>
              <a:rPr>
                <a:latin typeface="Trebuchet MS" panose="020B0603020202020204" pitchFamily="34" charset="0"/>
              </a:rPr>
              <a:t>Lizenznachweise &amp; Zertifikate</a:t>
            </a:r>
          </a:p>
        </p:txBody>
      </p:sp>
      <p:sp>
        <p:nvSpPr>
          <p:cNvPr id="26" name="Rectangle 25"/>
          <p:cNvSpPr/>
          <p:nvPr/>
        </p:nvSpPr>
        <p:spPr>
          <a:xfrm>
            <a:off x="5969000"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4978400" y="1975104"/>
            <a:ext cx="1981200" cy="621792"/>
          </a:xfrm>
          <a:prstGeom prst="roundRect">
            <a:avLst/>
          </a:prstGeom>
          <a:solidFill>
            <a:srgbClr val="54A021"/>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rPr>
                <a:latin typeface="Trebuchet MS" panose="020B0603020202020204" pitchFamily="34" charset="0"/>
              </a:rPr>
              <a:t>1.3 Netzwerk / Server</a:t>
            </a:r>
          </a:p>
          <a:p>
            <a:pPr algn="ctr">
              <a:defRPr sz="900">
                <a:solidFill>
                  <a:srgbClr val="FFE699"/>
                </a:solidFill>
                <a:latin typeface="Calibri"/>
              </a:defRPr>
            </a:pPr>
            <a:r>
              <a:rPr>
                <a:latin typeface="Trebuchet MS" panose="020B0603020202020204" pitchFamily="34" charset="0"/>
              </a:rPr>
              <a:t>Leitung: Siyar</a:t>
            </a:r>
          </a:p>
        </p:txBody>
      </p:sp>
      <p:sp>
        <p:nvSpPr>
          <p:cNvPr id="28" name="Rounded Rectangle 27"/>
          <p:cNvSpPr/>
          <p:nvPr/>
        </p:nvSpPr>
        <p:spPr>
          <a:xfrm>
            <a:off x="4978400" y="2633472"/>
            <a:ext cx="1981200" cy="3584448"/>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5016500" y="268833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1.3.1 Gigabit-Verkabelung</a:t>
            </a:r>
          </a:p>
          <a:p>
            <a:pPr>
              <a:defRPr sz="850">
                <a:solidFill>
                  <a:srgbClr val="262626"/>
                </a:solidFill>
                <a:latin typeface="Calibri"/>
              </a:defRPr>
            </a:pPr>
            <a:r>
              <a:rPr>
                <a:latin typeface="Trebuchet MS" panose="020B0603020202020204" pitchFamily="34" charset="0"/>
              </a:rPr>
              <a:t>16x InLine Cat.6A Patchkabel</a:t>
            </a:r>
          </a:p>
        </p:txBody>
      </p:sp>
      <p:sp>
        <p:nvSpPr>
          <p:cNvPr id="30" name="Rounded Rectangle 29"/>
          <p:cNvSpPr/>
          <p:nvPr/>
        </p:nvSpPr>
        <p:spPr>
          <a:xfrm>
            <a:off x="5016500" y="3273552"/>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1.3.2 Fileserver-Kapazität</a:t>
            </a:r>
          </a:p>
          <a:p>
            <a:pPr>
              <a:defRPr sz="850">
                <a:solidFill>
                  <a:srgbClr val="262626"/>
                </a:solidFill>
                <a:latin typeface="Calibri"/>
              </a:defRPr>
            </a:pPr>
            <a:r>
              <a:rPr>
                <a:latin typeface="Trebuchet MS" panose="020B0603020202020204" pitchFamily="34" charset="0"/>
              </a:rPr>
              <a:t>445 GiB Netto-Puffer (Q1)</a:t>
            </a:r>
          </a:p>
        </p:txBody>
      </p:sp>
      <p:sp>
        <p:nvSpPr>
          <p:cNvPr id="31" name="Rounded Rectangle 30"/>
          <p:cNvSpPr/>
          <p:nvPr/>
        </p:nvSpPr>
        <p:spPr>
          <a:xfrm>
            <a:off x="5016500" y="3858768"/>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1.3.3 Energiekosten-Analyse</a:t>
            </a:r>
          </a:p>
          <a:p>
            <a:pPr>
              <a:defRPr sz="850">
                <a:solidFill>
                  <a:srgbClr val="262626"/>
                </a:solidFill>
                <a:latin typeface="Calibri"/>
              </a:defRPr>
            </a:pPr>
            <a:r>
              <a:rPr>
                <a:latin typeface="Trebuchet MS" panose="020B0603020202020204" pitchFamily="34" charset="0"/>
              </a:rPr>
              <a:t>1.771,26 € jährliche Stromkosten</a:t>
            </a:r>
          </a:p>
        </p:txBody>
      </p:sp>
      <p:sp>
        <p:nvSpPr>
          <p:cNvPr id="32" name="Rounded Rectangle 31"/>
          <p:cNvSpPr/>
          <p:nvPr/>
        </p:nvSpPr>
        <p:spPr>
          <a:xfrm>
            <a:off x="5016500" y="4443984"/>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1.3.4 Switchport-Planung</a:t>
            </a:r>
          </a:p>
          <a:p>
            <a:pPr>
              <a:defRPr sz="850">
                <a:solidFill>
                  <a:srgbClr val="262626"/>
                </a:solidFill>
                <a:latin typeface="Calibri"/>
              </a:defRPr>
            </a:pPr>
            <a:r>
              <a:rPr>
                <a:latin typeface="Trebuchet MS" panose="020B0603020202020204" pitchFamily="34" charset="0"/>
              </a:rPr>
              <a:t>Zuordnung Ports &amp; VLANs</a:t>
            </a:r>
          </a:p>
        </p:txBody>
      </p:sp>
      <p:sp>
        <p:nvSpPr>
          <p:cNvPr id="33" name="Rounded Rectangle 32"/>
          <p:cNvSpPr/>
          <p:nvPr/>
        </p:nvSpPr>
        <p:spPr>
          <a:xfrm>
            <a:off x="5016500" y="5029200"/>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1.3.5 Server-Synchronisation</a:t>
            </a:r>
          </a:p>
          <a:p>
            <a:pPr>
              <a:defRPr sz="850">
                <a:solidFill>
                  <a:srgbClr val="262626"/>
                </a:solidFill>
                <a:latin typeface="Calibri"/>
              </a:defRPr>
            </a:pPr>
            <a:r>
              <a:rPr>
                <a:latin typeface="Trebuchet MS" panose="020B0603020202020204" pitchFamily="34" charset="0"/>
              </a:rPr>
              <a:t>Tägliches SSD-Backup am Abend</a:t>
            </a:r>
          </a:p>
        </p:txBody>
      </p:sp>
      <p:sp>
        <p:nvSpPr>
          <p:cNvPr id="34" name="Rounded Rectangle 33"/>
          <p:cNvSpPr/>
          <p:nvPr/>
        </p:nvSpPr>
        <p:spPr>
          <a:xfrm>
            <a:off x="5016500" y="561441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1.3.6 Netzlaufwerke &amp; Rechte</a:t>
            </a:r>
          </a:p>
          <a:p>
            <a:pPr>
              <a:defRPr sz="850">
                <a:solidFill>
                  <a:srgbClr val="262626"/>
                </a:solidFill>
                <a:latin typeface="Calibri"/>
              </a:defRPr>
            </a:pPr>
            <a:r>
              <a:rPr>
                <a:latin typeface="Trebuchet MS" panose="020B0603020202020204" pitchFamily="34" charset="0"/>
              </a:rPr>
              <a:t>SMB-Shares &amp; Freigaben</a:t>
            </a:r>
          </a:p>
        </p:txBody>
      </p:sp>
      <p:sp>
        <p:nvSpPr>
          <p:cNvPr id="35" name="Rectangle 34"/>
          <p:cNvSpPr/>
          <p:nvPr/>
        </p:nvSpPr>
        <p:spPr>
          <a:xfrm>
            <a:off x="8140700"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7150100" y="1975104"/>
            <a:ext cx="1981200" cy="621792"/>
          </a:xfrm>
          <a:prstGeom prst="roundRect">
            <a:avLst/>
          </a:prstGeom>
          <a:solidFill>
            <a:srgbClr val="54A021"/>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rPr>
                <a:latin typeface="Trebuchet MS" panose="020B0603020202020204" pitchFamily="34" charset="0"/>
              </a:rPr>
              <a:t>1.4 QM &amp; Logistik</a:t>
            </a:r>
          </a:p>
          <a:p>
            <a:pPr algn="ctr">
              <a:defRPr sz="900">
                <a:solidFill>
                  <a:srgbClr val="FFE699"/>
                </a:solidFill>
                <a:latin typeface="Calibri"/>
              </a:defRPr>
            </a:pPr>
            <a:r>
              <a:rPr>
                <a:latin typeface="Trebuchet MS" panose="020B0603020202020204" pitchFamily="34" charset="0"/>
              </a:rPr>
              <a:t>Leitung: Marco Schmidt</a:t>
            </a:r>
          </a:p>
        </p:txBody>
      </p:sp>
      <p:sp>
        <p:nvSpPr>
          <p:cNvPr id="37" name="Rounded Rectangle 36"/>
          <p:cNvSpPr/>
          <p:nvPr/>
        </p:nvSpPr>
        <p:spPr>
          <a:xfrm>
            <a:off x="7150100" y="2633472"/>
            <a:ext cx="1981200" cy="3584448"/>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7188200" y="268833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1.4.1 Wareneingangsprüfung</a:t>
            </a:r>
          </a:p>
          <a:p>
            <a:pPr>
              <a:defRPr sz="850">
                <a:solidFill>
                  <a:srgbClr val="262626"/>
                </a:solidFill>
                <a:latin typeface="Calibri"/>
              </a:defRPr>
            </a:pPr>
            <a:r>
              <a:rPr>
                <a:latin typeface="Trebuchet MS" panose="020B0603020202020204" pitchFamily="34" charset="0"/>
              </a:rPr>
              <a:t>Prüfung gem. § 377 HGB</a:t>
            </a:r>
          </a:p>
        </p:txBody>
      </p:sp>
      <p:sp>
        <p:nvSpPr>
          <p:cNvPr id="39" name="Rounded Rectangle 38"/>
          <p:cNvSpPr/>
          <p:nvPr/>
        </p:nvSpPr>
        <p:spPr>
          <a:xfrm>
            <a:off x="7188200" y="3273552"/>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1.4.2 Mängelrüge Distributor</a:t>
            </a:r>
          </a:p>
          <a:p>
            <a:pPr>
              <a:defRPr sz="850">
                <a:solidFill>
                  <a:srgbClr val="262626"/>
                </a:solidFill>
                <a:latin typeface="Calibri"/>
              </a:defRPr>
            </a:pPr>
            <a:r>
              <a:rPr>
                <a:latin typeface="Trebuchet MS" panose="020B0603020202020204" pitchFamily="34" charset="0"/>
              </a:rPr>
              <a:t>Fristsetzung Transportschaden</a:t>
            </a:r>
          </a:p>
        </p:txBody>
      </p:sp>
      <p:sp>
        <p:nvSpPr>
          <p:cNvPr id="40" name="Rounded Rectangle 39"/>
          <p:cNvSpPr/>
          <p:nvPr/>
        </p:nvSpPr>
        <p:spPr>
          <a:xfrm>
            <a:off x="7188200" y="3858768"/>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1.4.3 Altdrucker-Entsorgung</a:t>
            </a:r>
          </a:p>
          <a:p>
            <a:pPr>
              <a:defRPr sz="850">
                <a:solidFill>
                  <a:srgbClr val="262626"/>
                </a:solidFill>
                <a:latin typeface="Calibri"/>
              </a:defRPr>
            </a:pPr>
            <a:r>
              <a:rPr>
                <a:latin typeface="Trebuchet MS" panose="020B0603020202020204" pitchFamily="34" charset="0"/>
              </a:rPr>
              <a:t>Fachgerecht nach ElektroG/WEEE</a:t>
            </a:r>
          </a:p>
        </p:txBody>
      </p:sp>
      <p:sp>
        <p:nvSpPr>
          <p:cNvPr id="41" name="Rounded Rectangle 40"/>
          <p:cNvSpPr/>
          <p:nvPr/>
        </p:nvSpPr>
        <p:spPr>
          <a:xfrm>
            <a:off x="7188200" y="4443984"/>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1.4.4 Datenschutz &amp; BSI</a:t>
            </a:r>
          </a:p>
          <a:p>
            <a:pPr>
              <a:defRPr sz="850">
                <a:solidFill>
                  <a:srgbClr val="262626"/>
                </a:solidFill>
                <a:latin typeface="Calibri"/>
              </a:defRPr>
            </a:pPr>
            <a:r>
              <a:rPr>
                <a:latin typeface="Trebuchet MS" panose="020B0603020202020204" pitchFamily="34" charset="0"/>
              </a:rPr>
              <a:t>Sichere 3-fache Festplattenlöschung</a:t>
            </a:r>
          </a:p>
        </p:txBody>
      </p:sp>
      <p:sp>
        <p:nvSpPr>
          <p:cNvPr id="42" name="Rounded Rectangle 41"/>
          <p:cNvSpPr/>
          <p:nvPr/>
        </p:nvSpPr>
        <p:spPr>
          <a:xfrm>
            <a:off x="7188200" y="5029200"/>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1.4.5 Entsorgungsnachweis</a:t>
            </a:r>
          </a:p>
          <a:p>
            <a:pPr>
              <a:defRPr sz="850">
                <a:solidFill>
                  <a:srgbClr val="262626"/>
                </a:solidFill>
                <a:latin typeface="Calibri"/>
              </a:defRPr>
            </a:pPr>
            <a:r>
              <a:rPr>
                <a:latin typeface="Trebuchet MS" panose="020B0603020202020204" pitchFamily="34" charset="0"/>
              </a:rPr>
              <a:t>Rechtssicheres Zertifikat</a:t>
            </a:r>
          </a:p>
        </p:txBody>
      </p:sp>
      <p:sp>
        <p:nvSpPr>
          <p:cNvPr id="43" name="Rounded Rectangle 42"/>
          <p:cNvSpPr/>
          <p:nvPr/>
        </p:nvSpPr>
        <p:spPr>
          <a:xfrm>
            <a:off x="7188200" y="561441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1.4.6 RMA-Abwicklung</a:t>
            </a:r>
          </a:p>
          <a:p>
            <a:pPr>
              <a:defRPr sz="850">
                <a:solidFill>
                  <a:srgbClr val="262626"/>
                </a:solidFill>
                <a:latin typeface="Calibri"/>
              </a:defRPr>
            </a:pPr>
            <a:r>
              <a:rPr>
                <a:latin typeface="Trebuchet MS" panose="020B0603020202020204" pitchFamily="34" charset="0"/>
              </a:rPr>
              <a:t>Tausch &amp; Nachlieferung Hardware</a:t>
            </a:r>
          </a:p>
        </p:txBody>
      </p:sp>
      <p:sp>
        <p:nvSpPr>
          <p:cNvPr id="44" name="Rectangle 43"/>
          <p:cNvSpPr/>
          <p:nvPr/>
        </p:nvSpPr>
        <p:spPr>
          <a:xfrm>
            <a:off x="10312400"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unded Rectangle 44"/>
          <p:cNvSpPr/>
          <p:nvPr/>
        </p:nvSpPr>
        <p:spPr>
          <a:xfrm>
            <a:off x="9321800" y="1975104"/>
            <a:ext cx="1981200" cy="621792"/>
          </a:xfrm>
          <a:prstGeom prst="roundRect">
            <a:avLst/>
          </a:prstGeom>
          <a:solidFill>
            <a:srgbClr val="54A021"/>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rPr>
                <a:latin typeface="Trebuchet MS" panose="020B0603020202020204" pitchFamily="34" charset="0"/>
              </a:rPr>
              <a:t>1.5 Rollout &amp; PM</a:t>
            </a:r>
          </a:p>
          <a:p>
            <a:pPr algn="ctr">
              <a:defRPr sz="900">
                <a:solidFill>
                  <a:srgbClr val="FFE699"/>
                </a:solidFill>
                <a:latin typeface="Calibri"/>
              </a:defRPr>
            </a:pPr>
            <a:r>
              <a:rPr>
                <a:latin typeface="Trebuchet MS" panose="020B0603020202020204" pitchFamily="34" charset="0"/>
              </a:rPr>
              <a:t>Leitung: Jan Kluth</a:t>
            </a:r>
          </a:p>
        </p:txBody>
      </p:sp>
      <p:sp>
        <p:nvSpPr>
          <p:cNvPr id="46" name="Rounded Rectangle 45"/>
          <p:cNvSpPr/>
          <p:nvPr/>
        </p:nvSpPr>
        <p:spPr>
          <a:xfrm>
            <a:off x="9321800" y="2633472"/>
            <a:ext cx="1981200" cy="3584448"/>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ounded Rectangle 46"/>
          <p:cNvSpPr/>
          <p:nvPr/>
        </p:nvSpPr>
        <p:spPr>
          <a:xfrm>
            <a:off x="9359900" y="268833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1.5.1 Staging im Systemhaus</a:t>
            </a:r>
          </a:p>
          <a:p>
            <a:pPr>
              <a:defRPr sz="850">
                <a:solidFill>
                  <a:srgbClr val="262626"/>
                </a:solidFill>
                <a:latin typeface="Calibri"/>
              </a:defRPr>
            </a:pPr>
            <a:r>
              <a:rPr>
                <a:latin typeface="Trebuchet MS" panose="020B0603020202020204" pitchFamily="34" charset="0"/>
              </a:rPr>
              <a:t>Labor-Vorinstallation &amp; Tests</a:t>
            </a:r>
          </a:p>
        </p:txBody>
      </p:sp>
      <p:sp>
        <p:nvSpPr>
          <p:cNvPr id="48" name="Rounded Rectangle 47"/>
          <p:cNvSpPr/>
          <p:nvPr/>
        </p:nvSpPr>
        <p:spPr>
          <a:xfrm>
            <a:off x="9359900" y="3273552"/>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1.5.2 Montage vor Ort</a:t>
            </a:r>
          </a:p>
          <a:p>
            <a:pPr>
              <a:defRPr sz="850">
                <a:solidFill>
                  <a:srgbClr val="262626"/>
                </a:solidFill>
                <a:latin typeface="Calibri"/>
              </a:defRPr>
            </a:pPr>
            <a:r>
              <a:rPr>
                <a:latin typeface="Trebuchet MS" panose="020B0603020202020204" pitchFamily="34" charset="0"/>
              </a:rPr>
              <a:t>Ergonomie gem. ArbStättV</a:t>
            </a:r>
          </a:p>
        </p:txBody>
      </p:sp>
      <p:sp>
        <p:nvSpPr>
          <p:cNvPr id="49" name="Rounded Rectangle 48"/>
          <p:cNvSpPr/>
          <p:nvPr/>
        </p:nvSpPr>
        <p:spPr>
          <a:xfrm>
            <a:off x="9359900" y="3858768"/>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1.5.3 Funktionstests</a:t>
            </a:r>
          </a:p>
          <a:p>
            <a:pPr>
              <a:defRPr sz="850">
                <a:solidFill>
                  <a:srgbClr val="262626"/>
                </a:solidFill>
                <a:latin typeface="Calibri"/>
              </a:defRPr>
            </a:pPr>
            <a:r>
              <a:rPr>
                <a:latin typeface="Trebuchet MS" panose="020B0603020202020204" pitchFamily="34" charset="0"/>
              </a:rPr>
              <a:t>Netzwerk, CAD-Workstations &amp; MFP</a:t>
            </a:r>
          </a:p>
        </p:txBody>
      </p:sp>
      <p:sp>
        <p:nvSpPr>
          <p:cNvPr id="50" name="Rounded Rectangle 49"/>
          <p:cNvSpPr/>
          <p:nvPr/>
        </p:nvSpPr>
        <p:spPr>
          <a:xfrm>
            <a:off x="9359900" y="4443984"/>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1.5.4 Abnahmeprotokoll</a:t>
            </a:r>
          </a:p>
          <a:p>
            <a:pPr>
              <a:defRPr sz="850">
                <a:solidFill>
                  <a:srgbClr val="262626"/>
                </a:solidFill>
                <a:latin typeface="Calibri"/>
              </a:defRPr>
            </a:pPr>
            <a:r>
              <a:rPr>
                <a:latin typeface="Trebuchet MS" panose="020B0603020202020204" pitchFamily="34" charset="0"/>
              </a:rPr>
              <a:t>Rechtskonforme Übergabe</a:t>
            </a:r>
          </a:p>
        </p:txBody>
      </p:sp>
      <p:sp>
        <p:nvSpPr>
          <p:cNvPr id="51" name="Rounded Rectangle 50"/>
          <p:cNvSpPr/>
          <p:nvPr/>
        </p:nvSpPr>
        <p:spPr>
          <a:xfrm>
            <a:off x="9359900" y="5029200"/>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1.5.5 Projektcontrolling</a:t>
            </a:r>
          </a:p>
          <a:p>
            <a:pPr>
              <a:defRPr sz="850">
                <a:solidFill>
                  <a:srgbClr val="262626"/>
                </a:solidFill>
                <a:latin typeface="Calibri"/>
              </a:defRPr>
            </a:pPr>
            <a:r>
              <a:rPr>
                <a:latin typeface="Trebuchet MS" panose="020B0603020202020204" pitchFamily="34" charset="0"/>
              </a:rPr>
              <a:t>Soll-Ist: 46 Tage / im Budget</a:t>
            </a:r>
          </a:p>
        </p:txBody>
      </p:sp>
      <p:sp>
        <p:nvSpPr>
          <p:cNvPr id="52" name="Rounded Rectangle 51"/>
          <p:cNvSpPr/>
          <p:nvPr/>
        </p:nvSpPr>
        <p:spPr>
          <a:xfrm>
            <a:off x="9359900" y="561441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1.5.6 Lessons Learned</a:t>
            </a:r>
          </a:p>
          <a:p>
            <a:pPr>
              <a:defRPr sz="850">
                <a:solidFill>
                  <a:srgbClr val="262626"/>
                </a:solidFill>
                <a:latin typeface="Calibri"/>
              </a:defRPr>
            </a:pPr>
            <a:r>
              <a:rPr>
                <a:latin typeface="Trebuchet MS" panose="020B0603020202020204" pitchFamily="34" charset="0"/>
              </a:rPr>
              <a:t>Abschlusspräsentation vor Kunde</a:t>
            </a:r>
          </a:p>
        </p:txBody>
      </p:sp>
      <p:pic>
        <p:nvPicPr>
          <p:cNvPr id="54" name="NextLevelLogo_5">
            <a:extLst>
              <a:ext uri="{FF2B5EF4-FFF2-40B4-BE49-F238E27FC236}">
                <a16:creationId xmlns:a16="http://schemas.microsoft.com/office/drawing/2014/main" id="{AC108B89-B471-B2E2-F3B5-B3ED6C9B0186}"/>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399"/>
            <a:ext cx="6144631"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ABLAUFPLANUNG</a:t>
            </a:r>
          </a:p>
          <a:p>
            <a:pPr>
              <a:defRPr sz="2000" b="1">
                <a:solidFill>
                  <a:srgbClr val="FFFFFF"/>
                </a:solidFill>
                <a:latin typeface="Calibri"/>
              </a:defRPr>
            </a:pPr>
            <a:r>
              <a:rPr sz="2200" b="1">
                <a:solidFill>
                  <a:srgbClr val="2C3C43"/>
                </a:solidFill>
                <a:latin typeface="Trebuchet MS" panose="020B0603020202020204" pitchFamily="34" charset="0"/>
              </a:rPr>
              <a:t>Netzplan und Kritischer Pfad nach DIN 69900</a:t>
            </a:r>
          </a:p>
        </p:txBody>
      </p:sp>
      <p:sp>
        <p:nvSpPr>
          <p:cNvPr id="4" name="TextBox 3"/>
          <p:cNvSpPr txBox="1"/>
          <p:nvPr/>
        </p:nvSpPr>
        <p:spPr>
          <a:xfrm>
            <a:off x="698500" y="641350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6 von 16</a:t>
            </a:r>
          </a:p>
        </p:txBody>
      </p:sp>
      <p:pic>
        <p:nvPicPr>
          <p:cNvPr id="5" name="Picture 4" descr="netzplan_inline.png"/>
          <p:cNvPicPr>
            <a:picLocks noChangeAspect="1"/>
          </p:cNvPicPr>
          <p:nvPr/>
        </p:nvPicPr>
        <p:blipFill>
          <a:blip r:embed="rId3"/>
          <a:stretch>
            <a:fillRect/>
          </a:stretch>
        </p:blipFill>
        <p:spPr>
          <a:xfrm>
            <a:off x="698500" y="1079500"/>
            <a:ext cx="10604732" cy="5122625"/>
          </a:xfrm>
          <a:prstGeom prst="rect">
            <a:avLst/>
          </a:prstGeom>
        </p:spPr>
      </p:pic>
      <p:pic>
        <p:nvPicPr>
          <p:cNvPr id="7" name="NextLevelLogo_6">
            <a:extLst>
              <a:ext uri="{FF2B5EF4-FFF2-40B4-BE49-F238E27FC236}">
                <a16:creationId xmlns:a16="http://schemas.microsoft.com/office/drawing/2014/main" id="{8D847F8F-10CA-4499-6478-F0F4CEF9577E}"/>
              </a:ext>
            </a:extLst>
          </p:cNvPr>
          <p:cNvPicPr>
            <a:picLocks/>
          </p:cNvPicPr>
          <p:nvPr/>
        </p:nvPicPr>
        <p:blipFill>
          <a:blip r:embed="rId4"/>
          <a:stretch>
            <a:fillRect/>
          </a:stretch>
        </p:blipFill>
        <p:spPr>
          <a:xfrm>
            <a:off x="10566400" y="5918200"/>
            <a:ext cx="1473200" cy="81407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399"/>
            <a:ext cx="6927794"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SPEZIFIKATIONEN</a:t>
            </a:r>
          </a:p>
          <a:p>
            <a:pPr>
              <a:defRPr sz="2000" b="1">
                <a:solidFill>
                  <a:srgbClr val="FFFFFF"/>
                </a:solidFill>
                <a:latin typeface="Calibri"/>
              </a:defRPr>
            </a:pPr>
            <a:r>
              <a:rPr sz="2200" b="1">
                <a:solidFill>
                  <a:srgbClr val="2C3C43"/>
                </a:solidFill>
                <a:latin typeface="Trebuchet MS" panose="020B0603020202020204" pitchFamily="34" charset="0"/>
              </a:rPr>
              <a:t>Anforderungsprofil: Arbeitsplatztypen im Vergleich</a:t>
            </a:r>
          </a:p>
        </p:txBody>
      </p:sp>
      <p:sp>
        <p:nvSpPr>
          <p:cNvPr id="4" name="TextBox 3"/>
          <p:cNvSpPr txBox="1"/>
          <p:nvPr/>
        </p:nvSpPr>
        <p:spPr>
          <a:xfrm>
            <a:off x="698500" y="641350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7 von 16</a:t>
            </a:r>
          </a:p>
        </p:txBody>
      </p:sp>
      <p:sp>
        <p:nvSpPr>
          <p:cNvPr id="5" name="Rounded Rectangle 4"/>
          <p:cNvSpPr/>
          <p:nvPr/>
        </p:nvSpPr>
        <p:spPr>
          <a:xfrm>
            <a:off x="6985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ectangle 5"/>
          <p:cNvSpPr/>
          <p:nvPr/>
        </p:nvSpPr>
        <p:spPr>
          <a:xfrm>
            <a:off x="698500" y="1371600"/>
            <a:ext cx="3378200" cy="77724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TextBox 6"/>
          <p:cNvSpPr txBox="1"/>
          <p:nvPr/>
        </p:nvSpPr>
        <p:spPr>
          <a:xfrm>
            <a:off x="850900" y="1444752"/>
            <a:ext cx="3073400" cy="276999"/>
          </a:xfrm>
          <a:prstGeom prst="rect">
            <a:avLst/>
          </a:prstGeom>
          <a:noFill/>
        </p:spPr>
        <p:txBody>
          <a:bodyPr wrap="square">
            <a:spAutoFit/>
          </a:bodyPr>
          <a:lstStyle/>
          <a:p>
            <a:pPr algn="ctr">
              <a:defRPr sz="1200" b="1">
                <a:solidFill>
                  <a:srgbClr val="FFFFFF"/>
                </a:solidFill>
                <a:latin typeface="Calibri"/>
              </a:defRPr>
            </a:pPr>
            <a:r>
              <a:rPr>
                <a:latin typeface="Trebuchet MS" panose="020B0603020202020204" pitchFamily="34" charset="0"/>
              </a:rPr>
              <a:t>12x Standard-Büro-PCs</a:t>
            </a:r>
          </a:p>
        </p:txBody>
      </p:sp>
      <p:sp>
        <p:nvSpPr>
          <p:cNvPr id="8" name="TextBox 7"/>
          <p:cNvSpPr txBox="1"/>
          <p:nvPr/>
        </p:nvSpPr>
        <p:spPr>
          <a:xfrm>
            <a:off x="850900" y="1783080"/>
            <a:ext cx="3073400" cy="230832"/>
          </a:xfrm>
          <a:prstGeom prst="rect">
            <a:avLst/>
          </a:prstGeom>
          <a:noFill/>
        </p:spPr>
        <p:txBody>
          <a:bodyPr wrap="square">
            <a:spAutoFit/>
          </a:bodyPr>
          <a:lstStyle/>
          <a:p>
            <a:pPr algn="ctr">
              <a:defRPr sz="900">
                <a:solidFill>
                  <a:srgbClr val="DEEBF7"/>
                </a:solidFill>
                <a:latin typeface="Calibri"/>
              </a:defRPr>
            </a:pPr>
            <a:r>
              <a:rPr>
                <a:latin typeface="Trebuchet MS" panose="020B0603020202020204" pitchFamily="34" charset="0"/>
              </a:rPr>
              <a:t>Bauleitung, Ausschreibung &amp; Office</a:t>
            </a:r>
          </a:p>
        </p:txBody>
      </p:sp>
      <p:sp>
        <p:nvSpPr>
          <p:cNvPr id="9" name="TextBox 8"/>
          <p:cNvSpPr txBox="1"/>
          <p:nvPr/>
        </p:nvSpPr>
        <p:spPr>
          <a:xfrm>
            <a:off x="850900" y="2286000"/>
            <a:ext cx="3073400" cy="1792798"/>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Prozessor: </a:t>
            </a:r>
            <a:r>
              <a:rPr b="0">
                <a:solidFill>
                  <a:srgbClr val="262626"/>
                </a:solidFill>
                <a:latin typeface="Trebuchet MS" panose="020B0603020202020204" pitchFamily="34" charset="0"/>
              </a:rPr>
              <a:t>Intel Core i5-13400 (10 Kerne, bis 4.6 GHz)</a:t>
            </a:r>
          </a:p>
          <a:p>
            <a:pPr>
              <a:spcAft>
                <a:spcPts val="600"/>
              </a:spcAft>
              <a:defRPr sz="950" b="1">
                <a:solidFill>
                  <a:srgbClr val="1F497D"/>
                </a:solidFill>
                <a:latin typeface="Calibri"/>
              </a:defRPr>
            </a:pPr>
            <a:r>
              <a:rPr>
                <a:latin typeface="Trebuchet MS" panose="020B0603020202020204" pitchFamily="34" charset="0"/>
              </a:rPr>
              <a:t>Arbeitsspeicher: </a:t>
            </a:r>
            <a:r>
              <a:rPr b="0">
                <a:solidFill>
                  <a:srgbClr val="262626"/>
                </a:solidFill>
                <a:latin typeface="Trebuchet MS" panose="020B0603020202020204" pitchFamily="34" charset="0"/>
              </a:rPr>
              <a:t>16 GB DDR5 RAM (Erweiterbar bis 64 GB)</a:t>
            </a:r>
          </a:p>
          <a:p>
            <a:pPr>
              <a:spcAft>
                <a:spcPts val="600"/>
              </a:spcAft>
              <a:defRPr sz="950" b="1">
                <a:solidFill>
                  <a:srgbClr val="1F497D"/>
                </a:solidFill>
                <a:latin typeface="Calibri"/>
              </a:defRPr>
            </a:pPr>
            <a:r>
              <a:rPr>
                <a:latin typeface="Trebuchet MS" panose="020B0603020202020204" pitchFamily="34" charset="0"/>
              </a:rPr>
              <a:t>Grafikeinheit: </a:t>
            </a:r>
            <a:r>
              <a:rPr b="0">
                <a:solidFill>
                  <a:srgbClr val="262626"/>
                </a:solidFill>
                <a:latin typeface="Trebuchet MS" panose="020B0603020202020204" pitchFamily="34" charset="0"/>
              </a:rPr>
              <a:t>Integrierte Intel UHD Graphics 730</a:t>
            </a:r>
          </a:p>
          <a:p>
            <a:pPr>
              <a:spcAft>
                <a:spcPts val="600"/>
              </a:spcAft>
              <a:defRPr sz="950" b="1">
                <a:solidFill>
                  <a:srgbClr val="1F497D"/>
                </a:solidFill>
                <a:latin typeface="Calibri"/>
              </a:defRPr>
            </a:pPr>
            <a:r>
              <a:rPr>
                <a:latin typeface="Trebuchet MS" panose="020B0603020202020204" pitchFamily="34" charset="0"/>
              </a:rPr>
              <a:t>Festplatte: </a:t>
            </a:r>
            <a:r>
              <a:rPr b="0">
                <a:solidFill>
                  <a:srgbClr val="262626"/>
                </a:solidFill>
                <a:latin typeface="Trebuchet MS" panose="020B0603020202020204" pitchFamily="34" charset="0"/>
              </a:rPr>
              <a:t>512 GB M.2 NVMe PCIe 4.0 SSD</a:t>
            </a:r>
          </a:p>
          <a:p>
            <a:pPr>
              <a:spcAft>
                <a:spcPts val="600"/>
              </a:spcAft>
              <a:defRPr sz="950" b="1">
                <a:solidFill>
                  <a:srgbClr val="1F497D"/>
                </a:solidFill>
                <a:latin typeface="Calibri"/>
              </a:defRPr>
            </a:pPr>
            <a:r>
              <a:rPr>
                <a:latin typeface="Trebuchet MS" panose="020B0603020202020204" pitchFamily="34" charset="0"/>
              </a:rPr>
              <a:t>Gehäuse / Lautstärke: </a:t>
            </a:r>
            <a:r>
              <a:rPr b="0">
                <a:solidFill>
                  <a:srgbClr val="262626"/>
                </a:solidFill>
                <a:latin typeface="Trebuchet MS" panose="020B0603020202020204" pitchFamily="34" charset="0"/>
              </a:rPr>
              <a:t>Small Form Factor (SFF), leise Lüfter (&lt;28 dB)</a:t>
            </a:r>
          </a:p>
          <a:p>
            <a:pPr>
              <a:spcAft>
                <a:spcPts val="600"/>
              </a:spcAft>
              <a:defRPr sz="950" b="1">
                <a:solidFill>
                  <a:srgbClr val="1F497D"/>
                </a:solidFill>
                <a:latin typeface="Calibri"/>
              </a:defRPr>
            </a:pPr>
            <a:r>
              <a:rPr>
                <a:latin typeface="Trebuchet MS" panose="020B0603020202020204" pitchFamily="34" charset="0"/>
              </a:rPr>
              <a:t>Peripherie: </a:t>
            </a:r>
            <a:r>
              <a:rPr b="0">
                <a:solidFill>
                  <a:srgbClr val="262626"/>
                </a:solidFill>
                <a:latin typeface="Trebuchet MS" panose="020B0603020202020204" pitchFamily="34" charset="0"/>
              </a:rPr>
              <a:t>Logitech MK650 Funkset (AES) + 1TB SSD</a:t>
            </a:r>
          </a:p>
        </p:txBody>
      </p:sp>
      <p:sp>
        <p:nvSpPr>
          <p:cNvPr id="10" name="Rounded Rectangle 9"/>
          <p:cNvSpPr/>
          <p:nvPr/>
        </p:nvSpPr>
        <p:spPr>
          <a:xfrm>
            <a:off x="43434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Rectangle 10"/>
          <p:cNvSpPr/>
          <p:nvPr/>
        </p:nvSpPr>
        <p:spPr>
          <a:xfrm>
            <a:off x="4343400" y="1371600"/>
            <a:ext cx="3378200" cy="77724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 name="TextBox 11"/>
          <p:cNvSpPr txBox="1"/>
          <p:nvPr/>
        </p:nvSpPr>
        <p:spPr>
          <a:xfrm>
            <a:off x="4495800" y="1444752"/>
            <a:ext cx="3073400" cy="276999"/>
          </a:xfrm>
          <a:prstGeom prst="rect">
            <a:avLst/>
          </a:prstGeom>
          <a:noFill/>
        </p:spPr>
        <p:txBody>
          <a:bodyPr wrap="square">
            <a:spAutoFit/>
          </a:bodyPr>
          <a:lstStyle/>
          <a:p>
            <a:pPr algn="ctr">
              <a:defRPr sz="1200" b="1">
                <a:solidFill>
                  <a:srgbClr val="FFFFFF"/>
                </a:solidFill>
                <a:latin typeface="Calibri"/>
              </a:defRPr>
            </a:pPr>
            <a:r>
              <a:rPr>
                <a:latin typeface="Trebuchet MS" panose="020B0603020202020204" pitchFamily="34" charset="0"/>
              </a:rPr>
              <a:t>4x CAD/BIM-Workstations</a:t>
            </a:r>
          </a:p>
        </p:txBody>
      </p:sp>
      <p:sp>
        <p:nvSpPr>
          <p:cNvPr id="13" name="TextBox 12"/>
          <p:cNvSpPr txBox="1"/>
          <p:nvPr/>
        </p:nvSpPr>
        <p:spPr>
          <a:xfrm>
            <a:off x="4495800" y="1783080"/>
            <a:ext cx="3073400" cy="230832"/>
          </a:xfrm>
          <a:prstGeom prst="rect">
            <a:avLst/>
          </a:prstGeom>
          <a:noFill/>
        </p:spPr>
        <p:txBody>
          <a:bodyPr wrap="square">
            <a:spAutoFit/>
          </a:bodyPr>
          <a:lstStyle/>
          <a:p>
            <a:pPr algn="ctr">
              <a:defRPr sz="900">
                <a:solidFill>
                  <a:srgbClr val="DEEBF7"/>
                </a:solidFill>
                <a:latin typeface="Calibri"/>
              </a:defRPr>
            </a:pPr>
            <a:r>
              <a:rPr>
                <a:latin typeface="Trebuchet MS" panose="020B0603020202020204" pitchFamily="34" charset="0"/>
              </a:rPr>
              <a:t>3D-Konstruktion, Revit &amp; Rendering</a:t>
            </a:r>
          </a:p>
        </p:txBody>
      </p:sp>
      <p:sp>
        <p:nvSpPr>
          <p:cNvPr id="14" name="TextBox 13"/>
          <p:cNvSpPr txBox="1"/>
          <p:nvPr/>
        </p:nvSpPr>
        <p:spPr>
          <a:xfrm>
            <a:off x="4495800" y="2286000"/>
            <a:ext cx="3073400" cy="2231380"/>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Prozessor: </a:t>
            </a:r>
            <a:r>
              <a:rPr b="0">
                <a:solidFill>
                  <a:srgbClr val="262626"/>
                </a:solidFill>
                <a:latin typeface="Trebuchet MS" panose="020B0603020202020204" pitchFamily="34" charset="0"/>
              </a:rPr>
              <a:t>Intel Core i7-13700 (16 Kerne, bis 5.2 GHz)</a:t>
            </a:r>
          </a:p>
          <a:p>
            <a:pPr>
              <a:spcAft>
                <a:spcPts val="600"/>
              </a:spcAft>
              <a:defRPr sz="950" b="1">
                <a:solidFill>
                  <a:srgbClr val="1F497D"/>
                </a:solidFill>
                <a:latin typeface="Calibri"/>
              </a:defRPr>
            </a:pPr>
            <a:r>
              <a:rPr>
                <a:latin typeface="Trebuchet MS" panose="020B0603020202020204" pitchFamily="34" charset="0"/>
              </a:rPr>
              <a:t>Arbeitsspeicher: </a:t>
            </a:r>
            <a:r>
              <a:rPr b="0">
                <a:solidFill>
                  <a:srgbClr val="262626"/>
                </a:solidFill>
                <a:latin typeface="Trebuchet MS" panose="020B0603020202020204" pitchFamily="34" charset="0"/>
              </a:rPr>
              <a:t>64 GB DDR5 RAM (Erweiterbar bis 128 GB)</a:t>
            </a:r>
          </a:p>
          <a:p>
            <a:pPr>
              <a:spcAft>
                <a:spcPts val="600"/>
              </a:spcAft>
              <a:defRPr sz="950" b="1">
                <a:solidFill>
                  <a:srgbClr val="1F497D"/>
                </a:solidFill>
                <a:latin typeface="Calibri"/>
              </a:defRPr>
            </a:pPr>
            <a:r>
              <a:rPr>
                <a:latin typeface="Trebuchet MS" panose="020B0603020202020204" pitchFamily="34" charset="0"/>
              </a:rPr>
              <a:t>Grafikkarte: </a:t>
            </a:r>
            <a:r>
              <a:rPr b="0">
                <a:solidFill>
                  <a:srgbClr val="262626"/>
                </a:solidFill>
                <a:latin typeface="Trebuchet MS" panose="020B0603020202020204" pitchFamily="34" charset="0"/>
              </a:rPr>
              <a:t>NVIDIA RTX 4000 Ada Gen (20 GB GDDR6 ECC)</a:t>
            </a:r>
          </a:p>
          <a:p>
            <a:pPr>
              <a:spcAft>
                <a:spcPts val="600"/>
              </a:spcAft>
              <a:defRPr sz="950" b="1">
                <a:solidFill>
                  <a:srgbClr val="1F497D"/>
                </a:solidFill>
                <a:latin typeface="Calibri"/>
              </a:defRPr>
            </a:pPr>
            <a:r>
              <a:rPr>
                <a:latin typeface="Trebuchet MS" panose="020B0603020202020204" pitchFamily="34" charset="0"/>
              </a:rPr>
              <a:t>Festplatte: </a:t>
            </a:r>
            <a:r>
              <a:rPr b="0">
                <a:solidFill>
                  <a:srgbClr val="262626"/>
                </a:solidFill>
                <a:latin typeface="Trebuchet MS" panose="020B0603020202020204" pitchFamily="34" charset="0"/>
              </a:rPr>
              <a:t>1 TB M.2 NVMe PCIe 4.0 SSD (sehr hohe IOPS)</a:t>
            </a:r>
          </a:p>
          <a:p>
            <a:pPr>
              <a:spcAft>
                <a:spcPts val="600"/>
              </a:spcAft>
              <a:defRPr sz="950" b="1">
                <a:solidFill>
                  <a:srgbClr val="1F497D"/>
                </a:solidFill>
                <a:latin typeface="Calibri"/>
              </a:defRPr>
            </a:pPr>
            <a:r>
              <a:rPr>
                <a:latin typeface="Trebuchet MS" panose="020B0603020202020204" pitchFamily="34" charset="0"/>
              </a:rPr>
              <a:t>Kühlung / Gehäuse: </a:t>
            </a:r>
            <a:r>
              <a:rPr b="0">
                <a:solidFill>
                  <a:srgbClr val="262626"/>
                </a:solidFill>
                <a:latin typeface="Trebuchet MS" panose="020B0603020202020204" pitchFamily="34" charset="0"/>
              </a:rPr>
              <a:t>Tower-Gehäuse mit leiser Hochleistungskühlung</a:t>
            </a:r>
          </a:p>
          <a:p>
            <a:pPr>
              <a:spcAft>
                <a:spcPts val="600"/>
              </a:spcAft>
              <a:defRPr sz="950" b="1">
                <a:solidFill>
                  <a:srgbClr val="1F497D"/>
                </a:solidFill>
                <a:latin typeface="Calibri"/>
              </a:defRPr>
            </a:pPr>
            <a:r>
              <a:rPr>
                <a:latin typeface="Trebuchet MS" panose="020B0603020202020204" pitchFamily="34" charset="0"/>
              </a:rPr>
              <a:t>Zertifizierung: </a:t>
            </a:r>
            <a:r>
              <a:rPr b="0">
                <a:solidFill>
                  <a:srgbClr val="262626"/>
                </a:solidFill>
                <a:latin typeface="Trebuchet MS" panose="020B0603020202020204" pitchFamily="34" charset="0"/>
              </a:rPr>
              <a:t>ISV-zertifiziert für Autodesk Revit &amp; Archicad</a:t>
            </a:r>
          </a:p>
        </p:txBody>
      </p:sp>
      <p:sp>
        <p:nvSpPr>
          <p:cNvPr id="15" name="Rounded Rectangle 14"/>
          <p:cNvSpPr/>
          <p:nvPr/>
        </p:nvSpPr>
        <p:spPr>
          <a:xfrm>
            <a:off x="79883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Rectangle 15"/>
          <p:cNvSpPr/>
          <p:nvPr/>
        </p:nvSpPr>
        <p:spPr>
          <a:xfrm>
            <a:off x="7988300" y="1371600"/>
            <a:ext cx="3378200" cy="7772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16"/>
          <p:cNvSpPr txBox="1"/>
          <p:nvPr/>
        </p:nvSpPr>
        <p:spPr>
          <a:xfrm>
            <a:off x="8140700" y="1444752"/>
            <a:ext cx="3073400" cy="276999"/>
          </a:xfrm>
          <a:prstGeom prst="rect">
            <a:avLst/>
          </a:prstGeom>
          <a:noFill/>
        </p:spPr>
        <p:txBody>
          <a:bodyPr wrap="square">
            <a:spAutoFit/>
          </a:bodyPr>
          <a:lstStyle/>
          <a:p>
            <a:pPr algn="ctr">
              <a:defRPr sz="1200" b="1">
                <a:solidFill>
                  <a:srgbClr val="FFFFFF"/>
                </a:solidFill>
                <a:latin typeface="Calibri"/>
              </a:defRPr>
            </a:pPr>
            <a:r>
              <a:rPr>
                <a:latin typeface="Trebuchet MS" panose="020B0603020202020204" pitchFamily="34" charset="0"/>
              </a:rPr>
              <a:t>Monitore &amp; Drucker</a:t>
            </a:r>
          </a:p>
        </p:txBody>
      </p:sp>
      <p:sp>
        <p:nvSpPr>
          <p:cNvPr id="18" name="TextBox 17"/>
          <p:cNvSpPr txBox="1"/>
          <p:nvPr/>
        </p:nvSpPr>
        <p:spPr>
          <a:xfrm>
            <a:off x="8140700" y="1783080"/>
            <a:ext cx="3073400" cy="230832"/>
          </a:xfrm>
          <a:prstGeom prst="rect">
            <a:avLst/>
          </a:prstGeom>
          <a:noFill/>
        </p:spPr>
        <p:txBody>
          <a:bodyPr wrap="square">
            <a:spAutoFit/>
          </a:bodyPr>
          <a:lstStyle/>
          <a:p>
            <a:pPr algn="ctr">
              <a:defRPr sz="900">
                <a:solidFill>
                  <a:srgbClr val="DEEBF7"/>
                </a:solidFill>
                <a:latin typeface="Calibri"/>
              </a:defRPr>
            </a:pPr>
            <a:r>
              <a:rPr>
                <a:latin typeface="Trebuchet MS" panose="020B0603020202020204" pitchFamily="34" charset="0"/>
              </a:rPr>
              <a:t>Ergonomie &amp; Büroinfrastruktur</a:t>
            </a:r>
          </a:p>
        </p:txBody>
      </p:sp>
      <p:sp>
        <p:nvSpPr>
          <p:cNvPr id="19" name="TextBox 18"/>
          <p:cNvSpPr txBox="1"/>
          <p:nvPr/>
        </p:nvSpPr>
        <p:spPr>
          <a:xfrm>
            <a:off x="8140700" y="2286000"/>
            <a:ext cx="3073400" cy="2231380"/>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32x Bildschirme: </a:t>
            </a:r>
            <a:r>
              <a:rPr b="0">
                <a:solidFill>
                  <a:srgbClr val="262626"/>
                </a:solidFill>
                <a:latin typeface="Trebuchet MS" panose="020B0603020202020204" pitchFamily="34" charset="0"/>
              </a:rPr>
              <a:t>27'' WQHD (2560x1440), IPS Black Panel</a:t>
            </a:r>
          </a:p>
          <a:p>
            <a:pPr>
              <a:spcAft>
                <a:spcPts val="600"/>
              </a:spcAft>
              <a:defRPr sz="950" b="1">
                <a:solidFill>
                  <a:srgbClr val="1F497D"/>
                </a:solidFill>
                <a:latin typeface="Calibri"/>
              </a:defRPr>
            </a:pPr>
            <a:r>
              <a:rPr>
                <a:latin typeface="Trebuchet MS" panose="020B0603020202020204" pitchFamily="34" charset="0"/>
              </a:rPr>
              <a:t>Ergonomie: </a:t>
            </a:r>
            <a:r>
              <a:rPr b="0">
                <a:solidFill>
                  <a:srgbClr val="262626"/>
                </a:solidFill>
                <a:latin typeface="Trebuchet MS" panose="020B0603020202020204" pitchFamily="34" charset="0"/>
              </a:rPr>
              <a:t>Höhenverstellbar (150 mm), Pivot 90°, Swivel, Tilt</a:t>
            </a:r>
          </a:p>
          <a:p>
            <a:pPr>
              <a:spcAft>
                <a:spcPts val="600"/>
              </a:spcAft>
              <a:defRPr sz="950" b="1">
                <a:solidFill>
                  <a:srgbClr val="1F497D"/>
                </a:solidFill>
                <a:latin typeface="Calibri"/>
              </a:defRPr>
            </a:pPr>
            <a:r>
              <a:rPr>
                <a:latin typeface="Trebuchet MS" panose="020B0603020202020204" pitchFamily="34" charset="0"/>
              </a:rPr>
              <a:t>Augenschonung: </a:t>
            </a:r>
            <a:r>
              <a:rPr b="0">
                <a:solidFill>
                  <a:srgbClr val="262626"/>
                </a:solidFill>
                <a:latin typeface="Trebuchet MS" panose="020B0603020202020204" pitchFamily="34" charset="0"/>
              </a:rPr>
              <a:t>Hardware-Blaulichtfilter (ComfortView Plus)</a:t>
            </a:r>
          </a:p>
          <a:p>
            <a:pPr>
              <a:spcAft>
                <a:spcPts val="600"/>
              </a:spcAft>
              <a:defRPr sz="950" b="1">
                <a:solidFill>
                  <a:srgbClr val="1F497D"/>
                </a:solidFill>
                <a:latin typeface="Calibri"/>
              </a:defRPr>
            </a:pPr>
            <a:r>
              <a:rPr>
                <a:latin typeface="Trebuchet MS" panose="020B0603020202020204" pitchFamily="34" charset="0"/>
              </a:rPr>
              <a:t>1x zentrales MFP: </a:t>
            </a:r>
            <a:r>
              <a:rPr b="0">
                <a:solidFill>
                  <a:srgbClr val="262626"/>
                </a:solidFill>
                <a:latin typeface="Trebuchet MS" panose="020B0603020202020204" pitchFamily="34" charset="0"/>
              </a:rPr>
              <a:t>Lexmark CX930dse Farb-Multifunktionsdrucker</a:t>
            </a:r>
          </a:p>
          <a:p>
            <a:pPr>
              <a:spcAft>
                <a:spcPts val="600"/>
              </a:spcAft>
              <a:defRPr sz="950" b="1">
                <a:solidFill>
                  <a:srgbClr val="1F497D"/>
                </a:solidFill>
                <a:latin typeface="Calibri"/>
              </a:defRPr>
            </a:pPr>
            <a:r>
              <a:rPr>
                <a:latin typeface="Trebuchet MS" panose="020B0603020202020204" pitchFamily="34" charset="0"/>
              </a:rPr>
              <a:t>Druckleistung: </a:t>
            </a:r>
            <a:r>
              <a:rPr b="0">
                <a:solidFill>
                  <a:srgbClr val="262626"/>
                </a:solidFill>
                <a:latin typeface="Trebuchet MS" panose="020B0603020202020204" pitchFamily="34" charset="0"/>
              </a:rPr>
              <a:t>DIN A3/A4 Farblaser, 33 Seiten/Min., Duplex-Scan</a:t>
            </a:r>
          </a:p>
          <a:p>
            <a:pPr>
              <a:spcAft>
                <a:spcPts val="600"/>
              </a:spcAft>
              <a:defRPr sz="950" b="1">
                <a:solidFill>
                  <a:srgbClr val="1F497D"/>
                </a:solidFill>
                <a:latin typeface="Calibri"/>
              </a:defRPr>
            </a:pPr>
            <a:r>
              <a:rPr>
                <a:latin typeface="Trebuchet MS" panose="020B0603020202020204" pitchFamily="34" charset="0"/>
              </a:rPr>
              <a:t>Netzwerkanbindung: </a:t>
            </a:r>
            <a:r>
              <a:rPr b="0">
                <a:solidFill>
                  <a:srgbClr val="262626"/>
                </a:solidFill>
                <a:latin typeface="Trebuchet MS" panose="020B0603020202020204" pitchFamily="34" charset="0"/>
              </a:rPr>
              <a:t>Gigabit-LAN Cat.6A S/FTP halogenfrei</a:t>
            </a:r>
          </a:p>
        </p:txBody>
      </p:sp>
      <p:pic>
        <p:nvPicPr>
          <p:cNvPr id="21" name="NextLevelLogo_7">
            <a:extLst>
              <a:ext uri="{FF2B5EF4-FFF2-40B4-BE49-F238E27FC236}">
                <a16:creationId xmlns:a16="http://schemas.microsoft.com/office/drawing/2014/main" id="{3D44458C-66EC-D47B-89D8-EF93F87078E7}"/>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499" y="152399"/>
            <a:ext cx="7051546"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HARDWARE-AUSWAHL</a:t>
            </a:r>
          </a:p>
          <a:p>
            <a:pPr>
              <a:defRPr sz="2000" b="1">
                <a:solidFill>
                  <a:srgbClr val="FFFFFF"/>
                </a:solidFill>
                <a:latin typeface="Calibri"/>
              </a:defRPr>
            </a:pPr>
            <a:r>
              <a:rPr sz="2200" b="1">
                <a:solidFill>
                  <a:srgbClr val="2C3C43"/>
                </a:solidFill>
                <a:latin typeface="Trebuchet MS" panose="020B0603020202020204" pitchFamily="34" charset="0"/>
              </a:rPr>
              <a:t>Ausgewählte Marken-Hardware aus dem Fachhandel</a:t>
            </a:r>
          </a:p>
        </p:txBody>
      </p:sp>
      <p:sp>
        <p:nvSpPr>
          <p:cNvPr id="4" name="TextBox 3"/>
          <p:cNvSpPr txBox="1"/>
          <p:nvPr/>
        </p:nvSpPr>
        <p:spPr>
          <a:xfrm>
            <a:off x="698500" y="641350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8 von 16</a:t>
            </a:r>
          </a:p>
        </p:txBody>
      </p:sp>
      <p:sp>
        <p:nvSpPr>
          <p:cNvPr id="5" name="Rounded Rectangle 4"/>
          <p:cNvSpPr/>
          <p:nvPr/>
        </p:nvSpPr>
        <p:spPr>
          <a:xfrm>
            <a:off x="698500" y="1244600"/>
            <a:ext cx="5080000" cy="234950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ounded Rectangle 5"/>
          <p:cNvSpPr/>
          <p:nvPr/>
        </p:nvSpPr>
        <p:spPr>
          <a:xfrm>
            <a:off x="4191000" y="1371600"/>
            <a:ext cx="1460500" cy="330200"/>
          </a:xfrm>
          <a:prstGeom prst="round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rPr sz="1000">
                <a:latin typeface="Trebuchet MS" panose="020B0603020202020204" pitchFamily="34" charset="0"/>
              </a:rPr>
              <a:t>690,00 € Netto</a:t>
            </a:r>
          </a:p>
        </p:txBody>
      </p:sp>
      <p:sp>
        <p:nvSpPr>
          <p:cNvPr id="7" name="TextBox 6"/>
          <p:cNvSpPr txBox="1"/>
          <p:nvPr/>
        </p:nvSpPr>
        <p:spPr>
          <a:xfrm>
            <a:off x="889000" y="1371600"/>
            <a:ext cx="3175000" cy="415498"/>
          </a:xfrm>
          <a:prstGeom prst="rect">
            <a:avLst/>
          </a:prstGeom>
          <a:noFill/>
        </p:spPr>
        <p:txBody>
          <a:bodyPr wrap="square">
            <a:spAutoFit/>
          </a:bodyPr>
          <a:lstStyle/>
          <a:p>
            <a:pPr>
              <a:defRPr sz="950" b="1">
                <a:solidFill>
                  <a:srgbClr val="2F5597"/>
                </a:solidFill>
                <a:latin typeface="Calibri"/>
              </a:defRPr>
            </a:pPr>
            <a:r>
              <a:rPr sz="950">
                <a:latin typeface="Trebuchet MS" panose="020B0603020202020204" pitchFamily="34" charset="0"/>
              </a:rPr>
              <a:t>STANDARD-PC (12 STÜCK)</a:t>
            </a:r>
          </a:p>
          <a:p>
            <a:pPr>
              <a:defRPr sz="1200" b="1">
                <a:solidFill>
                  <a:srgbClr val="1F497D"/>
                </a:solidFill>
                <a:latin typeface="Calibri"/>
              </a:defRPr>
            </a:pPr>
            <a:r>
              <a:rPr sz="1150">
                <a:latin typeface="Trebuchet MS" panose="020B0603020202020204" pitchFamily="34" charset="0"/>
              </a:rPr>
              <a:t>Lenovo ThinkCentre M70s Gen 4</a:t>
            </a:r>
          </a:p>
        </p:txBody>
      </p:sp>
      <p:sp>
        <p:nvSpPr>
          <p:cNvPr id="8" name="TextBox 7"/>
          <p:cNvSpPr txBox="1"/>
          <p:nvPr/>
        </p:nvSpPr>
        <p:spPr>
          <a:xfrm>
            <a:off x="889000" y="2006600"/>
            <a:ext cx="4699000" cy="754053"/>
          </a:xfrm>
          <a:prstGeom prst="rect">
            <a:avLst/>
          </a:prstGeom>
          <a:noFill/>
        </p:spPr>
        <p:txBody>
          <a:bodyPr wrap="square">
            <a:spAutoFit/>
          </a:bodyPr>
          <a:lstStyle/>
          <a:p>
            <a:pPr>
              <a:spcAft>
                <a:spcPts val="200"/>
              </a:spcAft>
              <a:defRPr sz="950">
                <a:solidFill>
                  <a:srgbClr val="262626"/>
                </a:solidFill>
                <a:latin typeface="Calibri"/>
              </a:defRPr>
            </a:pPr>
            <a:r>
              <a:rPr>
                <a:latin typeface="Trebuchet MS" panose="020B0603020202020204" pitchFamily="34" charset="0"/>
              </a:rPr>
              <a:t>• Intel Core i5-13400 Prozessor, 16 GB DDR5 RAM, 512 GB NVMe</a:t>
            </a:r>
          </a:p>
          <a:p>
            <a:pPr>
              <a:spcAft>
                <a:spcPts val="200"/>
              </a:spcAft>
              <a:defRPr sz="950">
                <a:solidFill>
                  <a:srgbClr val="262626"/>
                </a:solidFill>
                <a:latin typeface="Calibri"/>
              </a:defRPr>
            </a:pPr>
            <a:r>
              <a:rPr>
                <a:latin typeface="Trebuchet MS" panose="020B0603020202020204" pitchFamily="34" charset="0"/>
              </a:rPr>
              <a:t>• Kompakter Small Form Factor (SFF), leise Lüfterkurve</a:t>
            </a:r>
          </a:p>
          <a:p>
            <a:pPr>
              <a:spcAft>
                <a:spcPts val="200"/>
              </a:spcAft>
              <a:defRPr sz="950">
                <a:solidFill>
                  <a:srgbClr val="262626"/>
                </a:solidFill>
                <a:latin typeface="Calibri"/>
              </a:defRPr>
            </a:pPr>
            <a:r>
              <a:rPr>
                <a:latin typeface="Trebuchet MS" panose="020B0603020202020204" pitchFamily="34" charset="0"/>
              </a:rPr>
              <a:t>• Zuverlässige Plattform für Bauleiter und Ausschreibungen</a:t>
            </a:r>
          </a:p>
          <a:p>
            <a:pPr>
              <a:spcAft>
                <a:spcPts val="200"/>
              </a:spcAft>
              <a:defRPr sz="950">
                <a:solidFill>
                  <a:srgbClr val="262626"/>
                </a:solidFill>
                <a:latin typeface="Calibri"/>
              </a:defRPr>
            </a:pPr>
            <a:r>
              <a:rPr>
                <a:latin typeface="Trebuchet MS" panose="020B0603020202020204" pitchFamily="34" charset="0"/>
              </a:rPr>
              <a:t>• 3 Jahre Vor-Ort-Herstellergarantie inklusive</a:t>
            </a:r>
          </a:p>
        </p:txBody>
      </p:sp>
      <p:sp>
        <p:nvSpPr>
          <p:cNvPr id="9" name="Rounded Rectangle 8"/>
          <p:cNvSpPr/>
          <p:nvPr/>
        </p:nvSpPr>
        <p:spPr>
          <a:xfrm>
            <a:off x="6159500" y="1244600"/>
            <a:ext cx="5080000" cy="234950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Rounded Rectangle 9"/>
          <p:cNvSpPr/>
          <p:nvPr/>
        </p:nvSpPr>
        <p:spPr>
          <a:xfrm>
            <a:off x="9652000" y="1371600"/>
            <a:ext cx="1460500" cy="330200"/>
          </a:xfrm>
          <a:prstGeom prst="round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rPr sz="1000">
                <a:latin typeface="Trebuchet MS" panose="020B0603020202020204" pitchFamily="34" charset="0"/>
              </a:rPr>
              <a:t>3.200,00 € Netto</a:t>
            </a:r>
          </a:p>
        </p:txBody>
      </p:sp>
      <p:sp>
        <p:nvSpPr>
          <p:cNvPr id="11" name="TextBox 10"/>
          <p:cNvSpPr txBox="1"/>
          <p:nvPr/>
        </p:nvSpPr>
        <p:spPr>
          <a:xfrm>
            <a:off x="6350000" y="1371600"/>
            <a:ext cx="3175000" cy="415498"/>
          </a:xfrm>
          <a:prstGeom prst="rect">
            <a:avLst/>
          </a:prstGeom>
          <a:noFill/>
        </p:spPr>
        <p:txBody>
          <a:bodyPr wrap="square">
            <a:spAutoFit/>
          </a:bodyPr>
          <a:lstStyle/>
          <a:p>
            <a:pPr>
              <a:defRPr sz="950" b="1">
                <a:solidFill>
                  <a:srgbClr val="2F5597"/>
                </a:solidFill>
                <a:latin typeface="Calibri"/>
              </a:defRPr>
            </a:pPr>
            <a:r>
              <a:rPr sz="950">
                <a:latin typeface="Trebuchet MS" panose="020B0603020202020204" pitchFamily="34" charset="0"/>
              </a:rPr>
              <a:t>CAD-WORKSTATION (4 STÜCK)</a:t>
            </a:r>
          </a:p>
          <a:p>
            <a:pPr>
              <a:defRPr sz="1200" b="1">
                <a:solidFill>
                  <a:srgbClr val="1F497D"/>
                </a:solidFill>
                <a:latin typeface="Calibri"/>
              </a:defRPr>
            </a:pPr>
            <a:r>
              <a:rPr sz="1150">
                <a:latin typeface="Trebuchet MS" panose="020B0603020202020204" pitchFamily="34" charset="0"/>
              </a:rPr>
              <a:t>Lenovo ThinkStation P3 Tower</a:t>
            </a:r>
          </a:p>
        </p:txBody>
      </p:sp>
      <p:sp>
        <p:nvSpPr>
          <p:cNvPr id="12" name="TextBox 11"/>
          <p:cNvSpPr txBox="1"/>
          <p:nvPr/>
        </p:nvSpPr>
        <p:spPr>
          <a:xfrm>
            <a:off x="6350000" y="2006600"/>
            <a:ext cx="4699000" cy="754053"/>
          </a:xfrm>
          <a:prstGeom prst="rect">
            <a:avLst/>
          </a:prstGeom>
          <a:noFill/>
        </p:spPr>
        <p:txBody>
          <a:bodyPr wrap="square">
            <a:spAutoFit/>
          </a:bodyPr>
          <a:lstStyle/>
          <a:p>
            <a:pPr>
              <a:spcAft>
                <a:spcPts val="200"/>
              </a:spcAft>
              <a:defRPr sz="950">
                <a:solidFill>
                  <a:srgbClr val="262626"/>
                </a:solidFill>
                <a:latin typeface="Calibri"/>
              </a:defRPr>
            </a:pPr>
            <a:r>
              <a:rPr>
                <a:latin typeface="Trebuchet MS" panose="020B0603020202020204" pitchFamily="34" charset="0"/>
              </a:rPr>
              <a:t>• Intel Core i7-13700, 64 GB DDR5 RAM, 1 TB High-Speed NVMe</a:t>
            </a:r>
          </a:p>
          <a:p>
            <a:pPr>
              <a:spcAft>
                <a:spcPts val="200"/>
              </a:spcAft>
              <a:defRPr sz="950">
                <a:solidFill>
                  <a:srgbClr val="262626"/>
                </a:solidFill>
                <a:latin typeface="Calibri"/>
              </a:defRPr>
            </a:pPr>
            <a:r>
              <a:rPr>
                <a:latin typeface="Trebuchet MS" panose="020B0603020202020204" pitchFamily="34" charset="0"/>
              </a:rPr>
              <a:t>• NVIDIA RTX 4000 Ada Generation (20 GB VRAM ECC)</a:t>
            </a:r>
          </a:p>
          <a:p>
            <a:pPr>
              <a:spcAft>
                <a:spcPts val="200"/>
              </a:spcAft>
              <a:defRPr sz="950">
                <a:solidFill>
                  <a:srgbClr val="262626"/>
                </a:solidFill>
                <a:latin typeface="Calibri"/>
              </a:defRPr>
            </a:pPr>
            <a:r>
              <a:rPr>
                <a:latin typeface="Trebuchet MS" panose="020B0603020202020204" pitchFamily="34" charset="0"/>
              </a:rPr>
              <a:t>• Zertifiziert für Revit, AutoCAD, Archicad und BIM-Viewer</a:t>
            </a:r>
          </a:p>
          <a:p>
            <a:pPr>
              <a:spcAft>
                <a:spcPts val="200"/>
              </a:spcAft>
              <a:defRPr sz="950">
                <a:solidFill>
                  <a:srgbClr val="262626"/>
                </a:solidFill>
                <a:latin typeface="Calibri"/>
              </a:defRPr>
            </a:pPr>
            <a:r>
              <a:rPr>
                <a:latin typeface="Trebuchet MS" panose="020B0603020202020204" pitchFamily="34" charset="0"/>
              </a:rPr>
              <a:t>• Optimiertes Airflow-Gehäuse mit geringer Geräuschentwicklung</a:t>
            </a:r>
          </a:p>
        </p:txBody>
      </p:sp>
      <p:sp>
        <p:nvSpPr>
          <p:cNvPr id="13" name="Rounded Rectangle 12"/>
          <p:cNvSpPr/>
          <p:nvPr/>
        </p:nvSpPr>
        <p:spPr>
          <a:xfrm>
            <a:off x="698500" y="3759200"/>
            <a:ext cx="5080000" cy="234950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Rounded Rectangle 13"/>
          <p:cNvSpPr/>
          <p:nvPr/>
        </p:nvSpPr>
        <p:spPr>
          <a:xfrm>
            <a:off x="4191000" y="3886200"/>
            <a:ext cx="1460500" cy="330200"/>
          </a:xfrm>
          <a:prstGeom prst="round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rPr sz="1000">
                <a:latin typeface="Trebuchet MS" panose="020B0603020202020204" pitchFamily="34" charset="0"/>
              </a:rPr>
              <a:t>310,00 € Netto</a:t>
            </a:r>
          </a:p>
        </p:txBody>
      </p:sp>
      <p:sp>
        <p:nvSpPr>
          <p:cNvPr id="15" name="TextBox 14"/>
          <p:cNvSpPr txBox="1"/>
          <p:nvPr/>
        </p:nvSpPr>
        <p:spPr>
          <a:xfrm>
            <a:off x="889000" y="3886200"/>
            <a:ext cx="3175000" cy="415498"/>
          </a:xfrm>
          <a:prstGeom prst="rect">
            <a:avLst/>
          </a:prstGeom>
          <a:noFill/>
        </p:spPr>
        <p:txBody>
          <a:bodyPr wrap="square">
            <a:spAutoFit/>
          </a:bodyPr>
          <a:lstStyle/>
          <a:p>
            <a:pPr>
              <a:defRPr sz="950" b="1">
                <a:solidFill>
                  <a:srgbClr val="2F5597"/>
                </a:solidFill>
                <a:latin typeface="Calibri"/>
              </a:defRPr>
            </a:pPr>
            <a:r>
              <a:rPr sz="950">
                <a:latin typeface="Trebuchet MS" panose="020B0603020202020204" pitchFamily="34" charset="0"/>
              </a:rPr>
              <a:t>ERGONOMIE-BILDSCHIRM (32 STÜCK)</a:t>
            </a:r>
          </a:p>
          <a:p>
            <a:pPr>
              <a:defRPr sz="1200" b="1">
                <a:solidFill>
                  <a:srgbClr val="1F497D"/>
                </a:solidFill>
                <a:latin typeface="Calibri"/>
              </a:defRPr>
            </a:pPr>
            <a:r>
              <a:rPr sz="1150">
                <a:latin typeface="Trebuchet MS" panose="020B0603020202020204" pitchFamily="34" charset="0"/>
              </a:rPr>
              <a:t>Dell UltraSharp U2724D (27'')</a:t>
            </a:r>
          </a:p>
        </p:txBody>
      </p:sp>
      <p:sp>
        <p:nvSpPr>
          <p:cNvPr id="16" name="TextBox 15"/>
          <p:cNvSpPr txBox="1"/>
          <p:nvPr/>
        </p:nvSpPr>
        <p:spPr>
          <a:xfrm>
            <a:off x="889000" y="4521200"/>
            <a:ext cx="4699000" cy="754053"/>
          </a:xfrm>
          <a:prstGeom prst="rect">
            <a:avLst/>
          </a:prstGeom>
          <a:noFill/>
        </p:spPr>
        <p:txBody>
          <a:bodyPr wrap="square">
            <a:spAutoFit/>
          </a:bodyPr>
          <a:lstStyle/>
          <a:p>
            <a:pPr>
              <a:spcAft>
                <a:spcPts val="200"/>
              </a:spcAft>
              <a:defRPr sz="950">
                <a:solidFill>
                  <a:srgbClr val="262626"/>
                </a:solidFill>
                <a:latin typeface="Calibri"/>
              </a:defRPr>
            </a:pPr>
            <a:r>
              <a:rPr>
                <a:latin typeface="Trebuchet MS" panose="020B0603020202020204" pitchFamily="34" charset="0"/>
              </a:rPr>
              <a:t>• 27 Zoll WQHD (2560x1440) mit IPS-Black-Panel (2000:1 Kontrast)</a:t>
            </a:r>
          </a:p>
          <a:p>
            <a:pPr>
              <a:spcAft>
                <a:spcPts val="200"/>
              </a:spcAft>
              <a:defRPr sz="950">
                <a:solidFill>
                  <a:srgbClr val="262626"/>
                </a:solidFill>
                <a:latin typeface="Calibri"/>
              </a:defRPr>
            </a:pPr>
            <a:r>
              <a:rPr>
                <a:latin typeface="Trebuchet MS" panose="020B0603020202020204" pitchFamily="34" charset="0"/>
              </a:rPr>
              <a:t>• 120 Hz Bildwiederholrate &amp; ComfortView Plus Hardware-Blaulichtfilter</a:t>
            </a:r>
          </a:p>
          <a:p>
            <a:pPr>
              <a:spcAft>
                <a:spcPts val="200"/>
              </a:spcAft>
              <a:defRPr sz="950">
                <a:solidFill>
                  <a:srgbClr val="262626"/>
                </a:solidFill>
                <a:latin typeface="Calibri"/>
              </a:defRPr>
            </a:pPr>
            <a:r>
              <a:rPr>
                <a:latin typeface="Trebuchet MS" panose="020B0603020202020204" pitchFamily="34" charset="0"/>
              </a:rPr>
              <a:t>• Volle Ergonomie: Höhenverstellbar, Pivot (90° drehbar), Swivel &amp; Tilt</a:t>
            </a:r>
          </a:p>
          <a:p>
            <a:pPr>
              <a:spcAft>
                <a:spcPts val="200"/>
              </a:spcAft>
              <a:defRPr sz="950">
                <a:solidFill>
                  <a:srgbClr val="262626"/>
                </a:solidFill>
                <a:latin typeface="Calibri"/>
              </a:defRPr>
            </a:pPr>
            <a:r>
              <a:rPr>
                <a:latin typeface="Trebuchet MS" panose="020B0603020202020204" pitchFamily="34" charset="0"/>
              </a:rPr>
              <a:t>• Je 2 Bildschirme pro Arbeitsplatz für hohe Arbeitsleistung</a:t>
            </a:r>
          </a:p>
        </p:txBody>
      </p:sp>
      <p:sp>
        <p:nvSpPr>
          <p:cNvPr id="17" name="Rounded Rectangle 16"/>
          <p:cNvSpPr/>
          <p:nvPr/>
        </p:nvSpPr>
        <p:spPr>
          <a:xfrm>
            <a:off x="6159500" y="3759200"/>
            <a:ext cx="5080000" cy="234950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 name="Rounded Rectangle 17"/>
          <p:cNvSpPr/>
          <p:nvPr/>
        </p:nvSpPr>
        <p:spPr>
          <a:xfrm>
            <a:off x="9652000" y="3886200"/>
            <a:ext cx="1460500" cy="330200"/>
          </a:xfrm>
          <a:prstGeom prst="round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rPr sz="1000">
                <a:latin typeface="Trebuchet MS" panose="020B0603020202020204" pitchFamily="34" charset="0"/>
              </a:rPr>
              <a:t>2.200,00 € Netto</a:t>
            </a:r>
          </a:p>
        </p:txBody>
      </p:sp>
      <p:sp>
        <p:nvSpPr>
          <p:cNvPr id="19" name="TextBox 18"/>
          <p:cNvSpPr txBox="1"/>
          <p:nvPr/>
        </p:nvSpPr>
        <p:spPr>
          <a:xfrm>
            <a:off x="6350000" y="3886200"/>
            <a:ext cx="3175000" cy="415498"/>
          </a:xfrm>
          <a:prstGeom prst="rect">
            <a:avLst/>
          </a:prstGeom>
          <a:noFill/>
        </p:spPr>
        <p:txBody>
          <a:bodyPr wrap="square">
            <a:spAutoFit/>
          </a:bodyPr>
          <a:lstStyle/>
          <a:p>
            <a:pPr>
              <a:defRPr sz="950" b="1">
                <a:solidFill>
                  <a:srgbClr val="2F5597"/>
                </a:solidFill>
                <a:latin typeface="Calibri"/>
              </a:defRPr>
            </a:pPr>
            <a:r>
              <a:rPr sz="950">
                <a:latin typeface="Trebuchet MS" panose="020B0603020202020204" pitchFamily="34" charset="0"/>
              </a:rPr>
              <a:t>ZENTRALER FARB-DRUCKER (1 STÜCK)</a:t>
            </a:r>
          </a:p>
          <a:p>
            <a:pPr>
              <a:defRPr sz="1200" b="1">
                <a:solidFill>
                  <a:srgbClr val="1F497D"/>
                </a:solidFill>
                <a:latin typeface="Calibri"/>
              </a:defRPr>
            </a:pPr>
            <a:r>
              <a:rPr sz="1150">
                <a:latin typeface="Trebuchet MS" panose="020B0603020202020204" pitchFamily="34" charset="0"/>
              </a:rPr>
              <a:t>Lexmark CX930dse A3/A4 MFP</a:t>
            </a:r>
          </a:p>
        </p:txBody>
      </p:sp>
      <p:sp>
        <p:nvSpPr>
          <p:cNvPr id="20" name="TextBox 19"/>
          <p:cNvSpPr txBox="1"/>
          <p:nvPr/>
        </p:nvSpPr>
        <p:spPr>
          <a:xfrm>
            <a:off x="6350000" y="4521200"/>
            <a:ext cx="4699000" cy="754053"/>
          </a:xfrm>
          <a:prstGeom prst="rect">
            <a:avLst/>
          </a:prstGeom>
          <a:noFill/>
        </p:spPr>
        <p:txBody>
          <a:bodyPr wrap="square">
            <a:spAutoFit/>
          </a:bodyPr>
          <a:lstStyle/>
          <a:p>
            <a:pPr>
              <a:spcAft>
                <a:spcPts val="200"/>
              </a:spcAft>
              <a:defRPr sz="950">
                <a:solidFill>
                  <a:srgbClr val="262626"/>
                </a:solidFill>
                <a:latin typeface="Calibri"/>
              </a:defRPr>
            </a:pPr>
            <a:r>
              <a:rPr>
                <a:latin typeface="Trebuchet MS" panose="020B0603020202020204" pitchFamily="34" charset="0"/>
              </a:rPr>
              <a:t>• DIN A3 und DIN A4 Farblaser für großformatige Baupläne</a:t>
            </a:r>
          </a:p>
          <a:p>
            <a:pPr>
              <a:spcAft>
                <a:spcPts val="200"/>
              </a:spcAft>
              <a:defRPr sz="950">
                <a:solidFill>
                  <a:srgbClr val="262626"/>
                </a:solidFill>
                <a:latin typeface="Calibri"/>
              </a:defRPr>
            </a:pPr>
            <a:r>
              <a:rPr>
                <a:latin typeface="Trebuchet MS" panose="020B0603020202020204" pitchFamily="34" charset="0"/>
              </a:rPr>
              <a:t>• Druck- und Kopiergeschwindigkeit bis zu 33 Seiten pro Minute</a:t>
            </a:r>
          </a:p>
          <a:p>
            <a:pPr>
              <a:spcAft>
                <a:spcPts val="200"/>
              </a:spcAft>
              <a:defRPr sz="950">
                <a:solidFill>
                  <a:srgbClr val="262626"/>
                </a:solidFill>
                <a:latin typeface="Calibri"/>
              </a:defRPr>
            </a:pPr>
            <a:r>
              <a:rPr>
                <a:latin typeface="Trebuchet MS" panose="020B0603020202020204" pitchFamily="34" charset="0"/>
              </a:rPr>
              <a:t>• Automatischer Duplex-Scan und hohe Papierkassetten-Kapazität</a:t>
            </a:r>
          </a:p>
          <a:p>
            <a:pPr>
              <a:spcAft>
                <a:spcPts val="200"/>
              </a:spcAft>
              <a:defRPr sz="950">
                <a:solidFill>
                  <a:srgbClr val="262626"/>
                </a:solidFill>
                <a:latin typeface="Calibri"/>
              </a:defRPr>
            </a:pPr>
            <a:r>
              <a:rPr>
                <a:latin typeface="Trebuchet MS" panose="020B0603020202020204" pitchFamily="34" charset="0"/>
              </a:rPr>
              <a:t>• Vollständig gigabit-netzwerkfähig mit PostScript-Unterstützung</a:t>
            </a:r>
          </a:p>
        </p:txBody>
      </p:sp>
      <p:pic>
        <p:nvPicPr>
          <p:cNvPr id="22" name="NextLevelLogo_8">
            <a:extLst>
              <a:ext uri="{FF2B5EF4-FFF2-40B4-BE49-F238E27FC236}">
                <a16:creationId xmlns:a16="http://schemas.microsoft.com/office/drawing/2014/main" id="{3C9CBA65-C386-0F27-8250-471C1F258044}"/>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399"/>
            <a:ext cx="6508513"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ENTSCHEIDUNGSMATRIX</a:t>
            </a:r>
          </a:p>
          <a:p>
            <a:pPr>
              <a:defRPr sz="2000" b="1">
                <a:solidFill>
                  <a:srgbClr val="FFFFFF"/>
                </a:solidFill>
                <a:latin typeface="Calibri"/>
              </a:defRPr>
            </a:pPr>
            <a:r>
              <a:rPr sz="2200" b="1">
                <a:solidFill>
                  <a:srgbClr val="2C3C43"/>
                </a:solidFill>
                <a:latin typeface="Trebuchet MS" panose="020B0603020202020204" pitchFamily="34" charset="0"/>
              </a:rPr>
              <a:t>Nutzwertanalysen: Objektiver Produktvergleich</a:t>
            </a:r>
          </a:p>
        </p:txBody>
      </p:sp>
      <p:sp>
        <p:nvSpPr>
          <p:cNvPr id="4" name="TextBox 3"/>
          <p:cNvSpPr txBox="1"/>
          <p:nvPr/>
        </p:nvSpPr>
        <p:spPr>
          <a:xfrm>
            <a:off x="698500" y="641350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9 von 16</a:t>
            </a:r>
          </a:p>
        </p:txBody>
      </p:sp>
      <p:sp>
        <p:nvSpPr>
          <p:cNvPr id="5" name="Rounded Rectangle 4"/>
          <p:cNvSpPr/>
          <p:nvPr/>
        </p:nvSpPr>
        <p:spPr>
          <a:xfrm>
            <a:off x="698500" y="1371600"/>
            <a:ext cx="50800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ectangle 5"/>
          <p:cNvSpPr/>
          <p:nvPr/>
        </p:nvSpPr>
        <p:spPr>
          <a:xfrm>
            <a:off x="698500" y="1371600"/>
            <a:ext cx="5080000" cy="54864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Nutzwertanalyse: CAD-Workstations</a:t>
            </a:r>
          </a:p>
        </p:txBody>
      </p:sp>
      <p:sp>
        <p:nvSpPr>
          <p:cNvPr id="7" name="TextBox 6"/>
          <p:cNvSpPr txBox="1"/>
          <p:nvPr/>
        </p:nvSpPr>
        <p:spPr>
          <a:xfrm>
            <a:off x="889000" y="2011680"/>
            <a:ext cx="4699000" cy="2877711"/>
          </a:xfrm>
          <a:prstGeom prst="rect">
            <a:avLst/>
          </a:prstGeom>
          <a:noFill/>
        </p:spPr>
        <p:txBody>
          <a:bodyPr wrap="square">
            <a:spAutoFit/>
          </a:bodyPr>
          <a:lstStyle/>
          <a:p>
            <a:pPr>
              <a:defRPr sz="1100" b="1">
                <a:solidFill>
                  <a:srgbClr val="1F497D"/>
                </a:solidFill>
              </a:defRPr>
            </a:pPr>
            <a:r>
              <a:rPr>
                <a:latin typeface="Trebuchet MS" panose="020B0603020202020204" pitchFamily="34" charset="0"/>
              </a:rPr>
              <a:t>Bewertete Modelle &amp; Punktwerte:</a:t>
            </a:r>
          </a:p>
          <a:p>
            <a:pPr>
              <a:defRPr sz="1050" b="1">
                <a:solidFill>
                  <a:srgbClr val="385723"/>
                </a:solidFill>
              </a:defRPr>
            </a:pPr>
            <a:r>
              <a:rPr>
                <a:latin typeface="Trebuchet MS" panose="020B0603020202020204" pitchFamily="34" charset="0"/>
              </a:rPr>
              <a:t>• 1. Platz (Sieger): Lenovo ThinkStation P3 ➔ 8,70 Punkte</a:t>
            </a:r>
          </a:p>
          <a:p>
            <a:pPr>
              <a:defRPr sz="1050" b="0">
                <a:solidFill>
                  <a:srgbClr val="595959"/>
                </a:solidFill>
              </a:defRPr>
            </a:pPr>
            <a:r>
              <a:rPr>
                <a:latin typeface="Trebuchet MS" panose="020B0603020202020204" pitchFamily="34" charset="0"/>
              </a:rPr>
              <a:t>• 2. Platz: Dell Precision 3660 ➔ 7,80 Punkte</a:t>
            </a:r>
          </a:p>
          <a:p>
            <a:pPr>
              <a:defRPr sz="1050" b="0">
                <a:solidFill>
                  <a:srgbClr val="595959"/>
                </a:solidFill>
              </a:defRPr>
            </a:pPr>
            <a:r>
              <a:rPr>
                <a:latin typeface="Trebuchet MS" panose="020B0603020202020204" pitchFamily="34" charset="0"/>
              </a:rPr>
              <a:t>• 3. Platz: HP Z2 Tower G9 ➔ 6,80 Punkte</a:t>
            </a:r>
          </a:p>
          <a:p>
            <a:br>
              <a:rPr>
                <a:latin typeface="Trebuchet MS" panose="020B0603020202020204" pitchFamily="34" charset="0"/>
              </a:rPr>
            </a:br>
            <a:r>
              <a:rPr>
                <a:latin typeface="Trebuchet MS" panose="020B0603020202020204" pitchFamily="34" charset="0"/>
              </a:rPr>
              <a:t>Gewichtete Kriterien:</a:t>
            </a:r>
          </a:p>
          <a:p>
            <a:pPr>
              <a:defRPr sz="950">
                <a:solidFill>
                  <a:srgbClr val="595959"/>
                </a:solidFill>
              </a:defRPr>
            </a:pPr>
            <a:r>
              <a:rPr>
                <a:latin typeface="Trebuchet MS" panose="020B0603020202020204" pitchFamily="34" charset="0"/>
              </a:rPr>
              <a:t>• 3D/BIM-Performance (40%) • Arbeitsspeicher &amp; Ausbau (15%)</a:t>
            </a:r>
            <a:br>
              <a:rPr>
                <a:latin typeface="Trebuchet MS" panose="020B0603020202020204" pitchFamily="34" charset="0"/>
              </a:rPr>
            </a:br>
            <a:r>
              <a:rPr>
                <a:latin typeface="Trebuchet MS" panose="020B0603020202020204" pitchFamily="34" charset="0"/>
              </a:rPr>
              <a:t>• Preis-Leistungs-Verhältnis (15%) • Garantie/Service (15%)</a:t>
            </a:r>
            <a:br>
              <a:rPr>
                <a:latin typeface="Trebuchet MS" panose="020B0603020202020204" pitchFamily="34" charset="0"/>
              </a:rPr>
            </a:br>
            <a:r>
              <a:rPr>
                <a:latin typeface="Trebuchet MS" panose="020B0603020202020204" pitchFamily="34" charset="0"/>
              </a:rPr>
              <a:t>• Lautstärke/Kühlung (10%) • Lieferzeit (5%)</a:t>
            </a:r>
          </a:p>
          <a:p>
            <a:br>
              <a:rPr>
                <a:latin typeface="Trebuchet MS" panose="020B0603020202020204" pitchFamily="34" charset="0"/>
              </a:rPr>
            </a:br>
            <a:r>
              <a:rPr>
                <a:latin typeface="Trebuchet MS" panose="020B0603020202020204" pitchFamily="34" charset="0"/>
              </a:rPr>
              <a:t>Begründung des Siegers:</a:t>
            </a:r>
          </a:p>
          <a:p>
            <a:pPr>
              <a:defRPr sz="950">
                <a:solidFill>
                  <a:srgbClr val="262626"/>
                </a:solidFill>
              </a:defRPr>
            </a:pPr>
            <a:r>
              <a:rPr>
                <a:latin typeface="Trebuchet MS" panose="020B0603020202020204" pitchFamily="34" charset="0"/>
              </a:rPr>
              <a:t>Für VektorPlan steht flüssiges 3D-BIM-Arbeiten an oberster Stelle. Die Lenovo P3 besitzt mit der modernen NVIDIA RTX 4000 Ada (20 GB VRAM) die doppelte Grafikleistung gegenüber der älteren RTX A4000 im Dell-System und gewinnt die Analyse mit 8,70 Punkten.</a:t>
            </a:r>
          </a:p>
        </p:txBody>
      </p:sp>
      <p:sp>
        <p:nvSpPr>
          <p:cNvPr id="8" name="Rounded Rectangle 7"/>
          <p:cNvSpPr/>
          <p:nvPr/>
        </p:nvSpPr>
        <p:spPr>
          <a:xfrm>
            <a:off x="6159500" y="1371600"/>
            <a:ext cx="50800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Rectangle 8"/>
          <p:cNvSpPr/>
          <p:nvPr/>
        </p:nvSpPr>
        <p:spPr>
          <a:xfrm>
            <a:off x="6159500" y="1371600"/>
            <a:ext cx="5080000" cy="54864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Nutzwertanalyse: 27'' WQHD-Monitore</a:t>
            </a:r>
          </a:p>
        </p:txBody>
      </p:sp>
      <p:sp>
        <p:nvSpPr>
          <p:cNvPr id="10" name="TextBox 9"/>
          <p:cNvSpPr txBox="1"/>
          <p:nvPr/>
        </p:nvSpPr>
        <p:spPr>
          <a:xfrm>
            <a:off x="6350000" y="2011680"/>
            <a:ext cx="4699000" cy="2731517"/>
          </a:xfrm>
          <a:prstGeom prst="rect">
            <a:avLst/>
          </a:prstGeom>
          <a:noFill/>
        </p:spPr>
        <p:txBody>
          <a:bodyPr wrap="square">
            <a:spAutoFit/>
          </a:bodyPr>
          <a:lstStyle/>
          <a:p>
            <a:pPr>
              <a:defRPr sz="1100" b="1">
                <a:solidFill>
                  <a:srgbClr val="1F497D"/>
                </a:solidFill>
              </a:defRPr>
            </a:pPr>
            <a:r>
              <a:rPr>
                <a:latin typeface="Trebuchet MS" panose="020B0603020202020204" pitchFamily="34" charset="0"/>
              </a:rPr>
              <a:t>Bewertete Modelle &amp; Punktwerte:</a:t>
            </a:r>
          </a:p>
          <a:p>
            <a:pPr>
              <a:defRPr sz="1050" b="1">
                <a:solidFill>
                  <a:srgbClr val="385723"/>
                </a:solidFill>
              </a:defRPr>
            </a:pPr>
            <a:r>
              <a:rPr>
                <a:latin typeface="Trebuchet MS" panose="020B0603020202020204" pitchFamily="34" charset="0"/>
              </a:rPr>
              <a:t>• 1. Platz (Sieger): Dell UltraSharp U2724D ➔ 9,10 Punkte</a:t>
            </a:r>
          </a:p>
          <a:p>
            <a:pPr>
              <a:defRPr sz="1050" b="0">
                <a:solidFill>
                  <a:srgbClr val="595959"/>
                </a:solidFill>
              </a:defRPr>
            </a:pPr>
            <a:r>
              <a:rPr>
                <a:latin typeface="Trebuchet MS" panose="020B0603020202020204" pitchFamily="34" charset="0"/>
              </a:rPr>
              <a:t>• 2. Platz: Lenovo ThinkVision P27h-30 ➔ 8,30 Punkte</a:t>
            </a:r>
          </a:p>
          <a:p>
            <a:pPr>
              <a:defRPr sz="1050" b="0">
                <a:solidFill>
                  <a:srgbClr val="595959"/>
                </a:solidFill>
              </a:defRPr>
            </a:pPr>
            <a:r>
              <a:rPr>
                <a:latin typeface="Trebuchet MS" panose="020B0603020202020204" pitchFamily="34" charset="0"/>
              </a:rPr>
              <a:t>• 3. Platz: EIZO FlexScan EV2781 ➔ 8,15 Punkte</a:t>
            </a:r>
          </a:p>
          <a:p>
            <a:br>
              <a:rPr>
                <a:latin typeface="Trebuchet MS" panose="020B0603020202020204" pitchFamily="34" charset="0"/>
              </a:rPr>
            </a:br>
            <a:r>
              <a:rPr>
                <a:latin typeface="Trebuchet MS" panose="020B0603020202020204" pitchFamily="34" charset="0"/>
              </a:rPr>
              <a:t>Gewichtete Kriterien:</a:t>
            </a:r>
          </a:p>
          <a:p>
            <a:pPr>
              <a:defRPr sz="950">
                <a:solidFill>
                  <a:srgbClr val="595959"/>
                </a:solidFill>
              </a:defRPr>
            </a:pPr>
            <a:r>
              <a:rPr>
                <a:latin typeface="Trebuchet MS" panose="020B0603020202020204" pitchFamily="34" charset="0"/>
              </a:rPr>
              <a:t>• Ergonomie (Höhe, Pivot, Tilt) (25%) • Bildqualität (IPS Black) (25%)</a:t>
            </a:r>
            <a:br>
              <a:rPr>
                <a:latin typeface="Trebuchet MS" panose="020B0603020202020204" pitchFamily="34" charset="0"/>
              </a:rPr>
            </a:br>
            <a:r>
              <a:rPr>
                <a:latin typeface="Trebuchet MS" panose="020B0603020202020204" pitchFamily="34" charset="0"/>
              </a:rPr>
              <a:t>• Preis / Menge (32 Stück) (25%) • Augenschonung/Filter (15%)</a:t>
            </a:r>
            <a:br>
              <a:rPr>
                <a:latin typeface="Trebuchet MS" panose="020B0603020202020204" pitchFamily="34" charset="0"/>
              </a:rPr>
            </a:br>
            <a:r>
              <a:rPr>
                <a:latin typeface="Trebuchet MS" panose="020B0603020202020204" pitchFamily="34" charset="0"/>
              </a:rPr>
              <a:t>• Garantie (5%) • Anschlüsse (5%)</a:t>
            </a:r>
          </a:p>
          <a:p>
            <a:br>
              <a:rPr>
                <a:latin typeface="Trebuchet MS" panose="020B0603020202020204" pitchFamily="34" charset="0"/>
              </a:rPr>
            </a:br>
            <a:r>
              <a:rPr>
                <a:latin typeface="Trebuchet MS" panose="020B0603020202020204" pitchFamily="34" charset="0"/>
              </a:rPr>
              <a:t>Begründung des Siegers:</a:t>
            </a:r>
          </a:p>
          <a:p>
            <a:pPr>
              <a:defRPr sz="950">
                <a:solidFill>
                  <a:srgbClr val="262626"/>
                </a:solidFill>
              </a:defRPr>
            </a:pPr>
            <a:r>
              <a:rPr>
                <a:latin typeface="Trebuchet MS" panose="020B0603020202020204" pitchFamily="34" charset="0"/>
              </a:rPr>
              <a:t>Bei 32 Monitoren spart der Dell U2724D (310 €) gegenüber dem teuren EIZO (480 €) ganze 5.440 € netto ein! Gleichzeitig bietet Dell modernste IPS-Black-Technologie (2000:1 Kontrast), 120 Hz und volle Ergonomie. Dell gewinnt mit 9,10 Punkten.</a:t>
            </a:r>
          </a:p>
        </p:txBody>
      </p:sp>
      <p:pic>
        <p:nvPicPr>
          <p:cNvPr id="12" name="NextLevelLogo_9">
            <a:extLst>
              <a:ext uri="{FF2B5EF4-FFF2-40B4-BE49-F238E27FC236}">
                <a16:creationId xmlns:a16="http://schemas.microsoft.com/office/drawing/2014/main" id="{5AA3B2A9-7ED1-85AF-3291-315FC15C85EE}"/>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499" y="152399"/>
            <a:ext cx="5820440"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KALKULATION</a:t>
            </a:r>
          </a:p>
          <a:p>
            <a:pPr>
              <a:defRPr sz="2000" b="1">
                <a:solidFill>
                  <a:srgbClr val="FFFFFF"/>
                </a:solidFill>
                <a:latin typeface="Calibri"/>
              </a:defRPr>
            </a:pPr>
            <a:r>
              <a:rPr sz="2200" b="1">
                <a:solidFill>
                  <a:srgbClr val="2C3C43"/>
                </a:solidFill>
                <a:latin typeface="Trebuchet MS" panose="020B0603020202020204" pitchFamily="34" charset="0"/>
              </a:rPr>
              <a:t>Kaufmännische Preiskalkulation &amp; Angebot</a:t>
            </a:r>
          </a:p>
        </p:txBody>
      </p:sp>
      <p:sp>
        <p:nvSpPr>
          <p:cNvPr id="4" name="TextBox 3"/>
          <p:cNvSpPr txBox="1"/>
          <p:nvPr/>
        </p:nvSpPr>
        <p:spPr>
          <a:xfrm>
            <a:off x="698500" y="641350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10 von 16</a:t>
            </a:r>
          </a:p>
        </p:txBody>
      </p:sp>
      <p:sp>
        <p:nvSpPr>
          <p:cNvPr id="5" name="Rounded Rectangle 4"/>
          <p:cNvSpPr/>
          <p:nvPr/>
        </p:nvSpPr>
        <p:spPr>
          <a:xfrm>
            <a:off x="698500" y="1234440"/>
            <a:ext cx="5080000" cy="4937760"/>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98500" y="1234440"/>
            <a:ext cx="5080000" cy="50292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Kaufmännische Vorwärtskalkulation (IHK-Schema)</a:t>
            </a:r>
          </a:p>
        </p:txBody>
      </p:sp>
      <p:graphicFrame>
        <p:nvGraphicFramePr>
          <p:cNvPr id="7" name="Table 6"/>
          <p:cNvGraphicFramePr>
            <a:graphicFrameLocks noGrp="1"/>
          </p:cNvGraphicFramePr>
          <p:nvPr>
            <p:extLst>
              <p:ext uri="{D42A27DB-BD31-4B8C-83A1-F6EECF244321}">
                <p14:modId xmlns:p14="http://schemas.microsoft.com/office/powerpoint/2010/main" val="2390803844"/>
              </p:ext>
            </p:extLst>
          </p:nvPr>
        </p:nvGraphicFramePr>
        <p:xfrm>
          <a:off x="825500" y="1874519"/>
          <a:ext cx="4826000" cy="4114800"/>
        </p:xfrm>
        <a:graphic>
          <a:graphicData uri="http://schemas.openxmlformats.org/drawingml/2006/table">
            <a:tbl>
              <a:tblPr firstRow="1" bandRow="1">
                <a:tableStyleId>{5C22544A-7EE6-4342-B048-85BDC9FD1C3A}</a:tableStyleId>
              </a:tblPr>
              <a:tblGrid>
                <a:gridCol w="1680481">
                  <a:extLst>
                    <a:ext uri="{9D8B030D-6E8A-4147-A177-3AD203B41FA5}">
                      <a16:colId xmlns:a16="http://schemas.microsoft.com/office/drawing/2014/main" val="20000"/>
                    </a:ext>
                  </a:extLst>
                </a:gridCol>
                <a:gridCol w="1895929">
                  <a:extLst>
                    <a:ext uri="{9D8B030D-6E8A-4147-A177-3AD203B41FA5}">
                      <a16:colId xmlns:a16="http://schemas.microsoft.com/office/drawing/2014/main" val="20001"/>
                    </a:ext>
                  </a:extLst>
                </a:gridCol>
                <a:gridCol w="1249590">
                  <a:extLst>
                    <a:ext uri="{9D8B030D-6E8A-4147-A177-3AD203B41FA5}">
                      <a16:colId xmlns:a16="http://schemas.microsoft.com/office/drawing/2014/main" val="20002"/>
                    </a:ext>
                  </a:extLst>
                </a:gridCol>
              </a:tblGrid>
              <a:tr h="411480">
                <a:tc>
                  <a:txBody>
                    <a:bodyPr/>
                    <a:lstStyle/>
                    <a:p>
                      <a:pPr>
                        <a:defRPr sz="950" b="1">
                          <a:solidFill>
                            <a:srgbClr val="1F497D"/>
                          </a:solidFill>
                          <a:latin typeface="Calibri"/>
                        </a:defRPr>
                      </a:pPr>
                      <a:r>
                        <a:t>Kalkulationsschritt</a:t>
                      </a:r>
                    </a:p>
                  </a:txBody>
                  <a:tcPr marL="36576" marR="36576" marT="27432" marB="27432">
                    <a:solidFill>
                      <a:srgbClr val="F0F3F8"/>
                    </a:solidFill>
                  </a:tcPr>
                </a:tc>
                <a:tc>
                  <a:txBody>
                    <a:bodyPr/>
                    <a:lstStyle/>
                    <a:p>
                      <a:pPr>
                        <a:defRPr sz="950" b="1">
                          <a:solidFill>
                            <a:srgbClr val="1F497D"/>
                          </a:solidFill>
                          <a:latin typeface="Calibri"/>
                        </a:defRPr>
                      </a:pPr>
                      <a:r>
                        <a:t>Bedeutung / Zuschlagssatz</a:t>
                      </a:r>
                    </a:p>
                  </a:txBody>
                  <a:tcPr marL="36576" marR="36576" marT="27432" marB="27432">
                    <a:solidFill>
                      <a:srgbClr val="F0F3F8"/>
                    </a:solidFill>
                  </a:tcPr>
                </a:tc>
                <a:tc>
                  <a:txBody>
                    <a:bodyPr/>
                    <a:lstStyle/>
                    <a:p>
                      <a:pPr algn="r">
                        <a:defRPr sz="950" b="1">
                          <a:solidFill>
                            <a:srgbClr val="1F497D"/>
                          </a:solidFill>
                          <a:latin typeface="Calibri"/>
                        </a:defRPr>
                      </a:pPr>
                      <a:r>
                        <a:t>Wert</a:t>
                      </a:r>
                    </a:p>
                  </a:txBody>
                  <a:tcPr marL="36576" marR="36576" marT="27432" marB="27432">
                    <a:solidFill>
                      <a:srgbClr val="F0F3F8"/>
                    </a:solidFill>
                  </a:tcPr>
                </a:tc>
                <a:extLst>
                  <a:ext uri="{0D108BD9-81ED-4DB2-BD59-A6C34878D82A}">
                    <a16:rowId xmlns:a16="http://schemas.microsoft.com/office/drawing/2014/main" val="10000"/>
                  </a:ext>
                </a:extLst>
              </a:tr>
              <a:tr h="411480">
                <a:tc>
                  <a:txBody>
                    <a:bodyPr/>
                    <a:lstStyle/>
                    <a:p>
                      <a:pPr>
                        <a:defRPr sz="900">
                          <a:solidFill>
                            <a:srgbClr val="262626"/>
                          </a:solidFill>
                          <a:latin typeface="Calibri"/>
                        </a:defRPr>
                      </a:pPr>
                      <a:r>
                        <a:t>Bezugspreis (BP)</a:t>
                      </a:r>
                    </a:p>
                  </a:txBody>
                  <a:tcPr marL="36576" marR="36576" marT="27432" marB="27432">
                    <a:solidFill>
                      <a:srgbClr val="F9FAFC"/>
                    </a:solidFill>
                  </a:tcPr>
                </a:tc>
                <a:tc>
                  <a:txBody>
                    <a:bodyPr/>
                    <a:lstStyle/>
                    <a:p>
                      <a:pPr>
                        <a:defRPr sz="900">
                          <a:solidFill>
                            <a:srgbClr val="262626"/>
                          </a:solidFill>
                          <a:latin typeface="Calibri"/>
                        </a:defRPr>
                      </a:pPr>
                      <a:r>
                        <a:t>Ausgangsbasis (Einkauf Fachhandel)</a:t>
                      </a:r>
                    </a:p>
                  </a:txBody>
                  <a:tcPr marL="36576" marR="36576" marT="27432" marB="27432">
                    <a:solidFill>
                      <a:srgbClr val="F9FAFC"/>
                    </a:solidFill>
                  </a:tcPr>
                </a:tc>
                <a:tc>
                  <a:txBody>
                    <a:bodyPr/>
                    <a:lstStyle/>
                    <a:p>
                      <a:pPr algn="r">
                        <a:defRPr sz="900">
                          <a:solidFill>
                            <a:srgbClr val="262626"/>
                          </a:solidFill>
                          <a:latin typeface="Calibri"/>
                        </a:defRPr>
                      </a:pPr>
                      <a:r>
                        <a:t>100,0 %</a:t>
                      </a:r>
                    </a:p>
                  </a:txBody>
                  <a:tcPr marL="36576" marR="36576" marT="27432" marB="27432">
                    <a:solidFill>
                      <a:srgbClr val="F9FAFC"/>
                    </a:solidFill>
                  </a:tcPr>
                </a:tc>
                <a:extLst>
                  <a:ext uri="{0D108BD9-81ED-4DB2-BD59-A6C34878D82A}">
                    <a16:rowId xmlns:a16="http://schemas.microsoft.com/office/drawing/2014/main" val="10001"/>
                  </a:ext>
                </a:extLst>
              </a:tr>
              <a:tr h="411480">
                <a:tc>
                  <a:txBody>
                    <a:bodyPr/>
                    <a:lstStyle/>
                    <a:p>
                      <a:pPr>
                        <a:defRPr sz="900">
                          <a:solidFill>
                            <a:srgbClr val="262626"/>
                          </a:solidFill>
                          <a:latin typeface="Calibri"/>
                        </a:defRPr>
                      </a:pPr>
                      <a:r>
                        <a:t>+ Handlungskostenzuschlag</a:t>
                      </a:r>
                    </a:p>
                  </a:txBody>
                  <a:tcPr marL="36576" marR="36576" marT="27432" marB="27432">
                    <a:solidFill>
                      <a:srgbClr val="FFFFFF"/>
                    </a:solidFill>
                  </a:tcPr>
                </a:tc>
                <a:tc>
                  <a:txBody>
                    <a:bodyPr/>
                    <a:lstStyle/>
                    <a:p>
                      <a:pPr>
                        <a:defRPr sz="900">
                          <a:solidFill>
                            <a:srgbClr val="262626"/>
                          </a:solidFill>
                          <a:latin typeface="Calibri"/>
                        </a:defRPr>
                      </a:pPr>
                      <a:r>
                        <a:t>25,0 % auf Bezugspreis</a:t>
                      </a:r>
                    </a:p>
                  </a:txBody>
                  <a:tcPr marL="36576" marR="36576" marT="27432" marB="27432">
                    <a:solidFill>
                      <a:srgbClr val="FFFFFF"/>
                    </a:solidFill>
                  </a:tcPr>
                </a:tc>
                <a:tc>
                  <a:txBody>
                    <a:bodyPr/>
                    <a:lstStyle/>
                    <a:p>
                      <a:pPr algn="r">
                        <a:defRPr sz="900">
                          <a:solidFill>
                            <a:srgbClr val="262626"/>
                          </a:solidFill>
                          <a:latin typeface="Calibri"/>
                        </a:defRPr>
                      </a:pPr>
                      <a:r>
                        <a:t>+ 25,0 %</a:t>
                      </a:r>
                    </a:p>
                  </a:txBody>
                  <a:tcPr marL="36576" marR="36576" marT="27432" marB="27432">
                    <a:solidFill>
                      <a:srgbClr val="FFFFFF"/>
                    </a:solidFill>
                  </a:tcPr>
                </a:tc>
                <a:extLst>
                  <a:ext uri="{0D108BD9-81ED-4DB2-BD59-A6C34878D82A}">
                    <a16:rowId xmlns:a16="http://schemas.microsoft.com/office/drawing/2014/main" val="10002"/>
                  </a:ext>
                </a:extLst>
              </a:tr>
              <a:tr h="411480">
                <a:tc>
                  <a:txBody>
                    <a:bodyPr/>
                    <a:lstStyle/>
                    <a:p>
                      <a:pPr>
                        <a:defRPr sz="900">
                          <a:solidFill>
                            <a:srgbClr val="262626"/>
                          </a:solidFill>
                          <a:latin typeface="Calibri"/>
                        </a:defRPr>
                      </a:pPr>
                      <a:r>
                        <a:t>= Selbstkostenpreis (SKP)</a:t>
                      </a:r>
                    </a:p>
                  </a:txBody>
                  <a:tcPr marL="36576" marR="36576" marT="27432" marB="27432">
                    <a:solidFill>
                      <a:srgbClr val="F9FAFC"/>
                    </a:solidFill>
                  </a:tcPr>
                </a:tc>
                <a:tc>
                  <a:txBody>
                    <a:bodyPr/>
                    <a:lstStyle/>
                    <a:p>
                      <a:pPr>
                        <a:defRPr sz="900">
                          <a:solidFill>
                            <a:srgbClr val="262626"/>
                          </a:solidFill>
                          <a:latin typeface="Calibri"/>
                        </a:defRPr>
                      </a:pPr>
                      <a:r>
                        <a:t>Kostendeckender Mindestpreis</a:t>
                      </a:r>
                    </a:p>
                  </a:txBody>
                  <a:tcPr marL="36576" marR="36576" marT="27432" marB="27432">
                    <a:solidFill>
                      <a:srgbClr val="F9FAFC"/>
                    </a:solidFill>
                  </a:tcPr>
                </a:tc>
                <a:tc>
                  <a:txBody>
                    <a:bodyPr/>
                    <a:lstStyle/>
                    <a:p>
                      <a:pPr algn="r">
                        <a:defRPr sz="900">
                          <a:solidFill>
                            <a:srgbClr val="262626"/>
                          </a:solidFill>
                          <a:latin typeface="Calibri"/>
                        </a:defRPr>
                      </a:pPr>
                      <a:r>
                        <a:t>= 125,0 %</a:t>
                      </a:r>
                    </a:p>
                  </a:txBody>
                  <a:tcPr marL="36576" marR="36576" marT="27432" marB="27432">
                    <a:solidFill>
                      <a:srgbClr val="F9FAFC"/>
                    </a:solidFill>
                  </a:tcPr>
                </a:tc>
                <a:extLst>
                  <a:ext uri="{0D108BD9-81ED-4DB2-BD59-A6C34878D82A}">
                    <a16:rowId xmlns:a16="http://schemas.microsoft.com/office/drawing/2014/main" val="10003"/>
                  </a:ext>
                </a:extLst>
              </a:tr>
              <a:tr h="411480">
                <a:tc>
                  <a:txBody>
                    <a:bodyPr/>
                    <a:lstStyle/>
                    <a:p>
                      <a:pPr>
                        <a:defRPr sz="900">
                          <a:solidFill>
                            <a:srgbClr val="262626"/>
                          </a:solidFill>
                          <a:latin typeface="Calibri"/>
                        </a:defRPr>
                      </a:pPr>
                      <a:r>
                        <a:t>+ Gewinnzuschlag</a:t>
                      </a:r>
                    </a:p>
                  </a:txBody>
                  <a:tcPr marL="36576" marR="36576" marT="27432" marB="27432">
                    <a:solidFill>
                      <a:srgbClr val="FFFFFF"/>
                    </a:solidFill>
                  </a:tcPr>
                </a:tc>
                <a:tc>
                  <a:txBody>
                    <a:bodyPr/>
                    <a:lstStyle/>
                    <a:p>
                      <a:pPr>
                        <a:defRPr sz="900">
                          <a:solidFill>
                            <a:srgbClr val="262626"/>
                          </a:solidFill>
                          <a:latin typeface="Calibri"/>
                        </a:defRPr>
                      </a:pPr>
                      <a:r>
                        <a:t>12,0 % auf Selbstkosten</a:t>
                      </a:r>
                    </a:p>
                  </a:txBody>
                  <a:tcPr marL="36576" marR="36576" marT="27432" marB="27432">
                    <a:solidFill>
                      <a:srgbClr val="FFFFFF"/>
                    </a:solidFill>
                  </a:tcPr>
                </a:tc>
                <a:tc>
                  <a:txBody>
                    <a:bodyPr/>
                    <a:lstStyle/>
                    <a:p>
                      <a:pPr algn="r">
                        <a:defRPr sz="900">
                          <a:solidFill>
                            <a:srgbClr val="262626"/>
                          </a:solidFill>
                          <a:latin typeface="Calibri"/>
                        </a:defRPr>
                      </a:pPr>
                      <a:r>
                        <a:t>+ 15,0 %</a:t>
                      </a:r>
                    </a:p>
                  </a:txBody>
                  <a:tcPr marL="36576" marR="36576" marT="27432" marB="27432">
                    <a:solidFill>
                      <a:srgbClr val="FFFFFF"/>
                    </a:solidFill>
                  </a:tcPr>
                </a:tc>
                <a:extLst>
                  <a:ext uri="{0D108BD9-81ED-4DB2-BD59-A6C34878D82A}">
                    <a16:rowId xmlns:a16="http://schemas.microsoft.com/office/drawing/2014/main" val="10004"/>
                  </a:ext>
                </a:extLst>
              </a:tr>
              <a:tr h="411480">
                <a:tc>
                  <a:txBody>
                    <a:bodyPr/>
                    <a:lstStyle/>
                    <a:p>
                      <a:pPr>
                        <a:defRPr sz="900">
                          <a:solidFill>
                            <a:srgbClr val="262626"/>
                          </a:solidFill>
                          <a:latin typeface="Calibri"/>
                        </a:defRPr>
                      </a:pPr>
                      <a:r>
                        <a:t>= Barverkaufspreis (BVP)</a:t>
                      </a:r>
                    </a:p>
                  </a:txBody>
                  <a:tcPr marL="36576" marR="36576" marT="27432" marB="27432">
                    <a:solidFill>
                      <a:srgbClr val="F9FAFC"/>
                    </a:solidFill>
                  </a:tcPr>
                </a:tc>
                <a:tc>
                  <a:txBody>
                    <a:bodyPr/>
                    <a:lstStyle/>
                    <a:p>
                      <a:pPr>
                        <a:defRPr sz="900">
                          <a:solidFill>
                            <a:srgbClr val="262626"/>
                          </a:solidFill>
                          <a:latin typeface="Calibri"/>
                        </a:defRPr>
                      </a:pPr>
                      <a:r>
                        <a:t>Preis bei Sofortzahlung</a:t>
                      </a:r>
                    </a:p>
                  </a:txBody>
                  <a:tcPr marL="36576" marR="36576" marT="27432" marB="27432">
                    <a:solidFill>
                      <a:srgbClr val="F9FAFC"/>
                    </a:solidFill>
                  </a:tcPr>
                </a:tc>
                <a:tc>
                  <a:txBody>
                    <a:bodyPr/>
                    <a:lstStyle/>
                    <a:p>
                      <a:pPr algn="r">
                        <a:defRPr sz="900">
                          <a:solidFill>
                            <a:srgbClr val="262626"/>
                          </a:solidFill>
                          <a:latin typeface="Calibri"/>
                        </a:defRPr>
                      </a:pPr>
                      <a:r>
                        <a:t>= 140,0 %</a:t>
                      </a:r>
                    </a:p>
                  </a:txBody>
                  <a:tcPr marL="36576" marR="36576" marT="27432" marB="27432">
                    <a:solidFill>
                      <a:srgbClr val="F9FAFC"/>
                    </a:solidFill>
                  </a:tcPr>
                </a:tc>
                <a:extLst>
                  <a:ext uri="{0D108BD9-81ED-4DB2-BD59-A6C34878D82A}">
                    <a16:rowId xmlns:a16="http://schemas.microsoft.com/office/drawing/2014/main" val="10005"/>
                  </a:ext>
                </a:extLst>
              </a:tr>
              <a:tr h="411480">
                <a:tc>
                  <a:txBody>
                    <a:bodyPr/>
                    <a:lstStyle/>
                    <a:p>
                      <a:pPr>
                        <a:defRPr sz="900">
                          <a:solidFill>
                            <a:srgbClr val="262626"/>
                          </a:solidFill>
                          <a:latin typeface="Calibri"/>
                        </a:defRPr>
                      </a:pPr>
                      <a:r>
                        <a:t>+ Kundenskonto</a:t>
                      </a:r>
                    </a:p>
                  </a:txBody>
                  <a:tcPr marL="36576" marR="36576" marT="27432" marB="27432">
                    <a:solidFill>
                      <a:srgbClr val="FFFFFF"/>
                    </a:solidFill>
                  </a:tcPr>
                </a:tc>
                <a:tc>
                  <a:txBody>
                    <a:bodyPr/>
                    <a:lstStyle/>
                    <a:p>
                      <a:pPr>
                        <a:defRPr sz="900">
                          <a:solidFill>
                            <a:srgbClr val="262626"/>
                          </a:solidFill>
                          <a:latin typeface="Calibri"/>
                        </a:defRPr>
                      </a:pPr>
                      <a:r>
                        <a:t>3,0 % im Hundert (ZVP = BVP ÷ 0,97)</a:t>
                      </a:r>
                    </a:p>
                  </a:txBody>
                  <a:tcPr marL="36576" marR="36576" marT="27432" marB="27432">
                    <a:solidFill>
                      <a:srgbClr val="FFFFFF"/>
                    </a:solidFill>
                  </a:tcPr>
                </a:tc>
                <a:tc>
                  <a:txBody>
                    <a:bodyPr/>
                    <a:lstStyle/>
                    <a:p>
                      <a:pPr algn="r">
                        <a:defRPr sz="900">
                          <a:solidFill>
                            <a:srgbClr val="262626"/>
                          </a:solidFill>
                          <a:latin typeface="Calibri"/>
                        </a:defRPr>
                      </a:pPr>
                      <a:r>
                        <a:t>+ 4,33 %</a:t>
                      </a:r>
                    </a:p>
                  </a:txBody>
                  <a:tcPr marL="36576" marR="36576" marT="27432" marB="27432">
                    <a:solidFill>
                      <a:srgbClr val="FFFFFF"/>
                    </a:solidFill>
                  </a:tcPr>
                </a:tc>
                <a:extLst>
                  <a:ext uri="{0D108BD9-81ED-4DB2-BD59-A6C34878D82A}">
                    <a16:rowId xmlns:a16="http://schemas.microsoft.com/office/drawing/2014/main" val="10006"/>
                  </a:ext>
                </a:extLst>
              </a:tr>
              <a:tr h="411480">
                <a:tc>
                  <a:txBody>
                    <a:bodyPr/>
                    <a:lstStyle/>
                    <a:p>
                      <a:pPr>
                        <a:defRPr sz="900" b="1">
                          <a:solidFill>
                            <a:srgbClr val="1F497D"/>
                          </a:solidFill>
                          <a:latin typeface="Calibri"/>
                        </a:defRPr>
                      </a:pPr>
                      <a:r>
                        <a:t>= Angebotspreis netto</a:t>
                      </a:r>
                    </a:p>
                  </a:txBody>
                  <a:tcPr marL="36576" marR="36576" marT="27432" marB="27432">
                    <a:solidFill>
                      <a:srgbClr val="FFFDF5"/>
                    </a:solidFill>
                  </a:tcPr>
                </a:tc>
                <a:tc>
                  <a:txBody>
                    <a:bodyPr/>
                    <a:lstStyle/>
                    <a:p>
                      <a:pPr>
                        <a:defRPr sz="900" b="1">
                          <a:solidFill>
                            <a:srgbClr val="1F497D"/>
                          </a:solidFill>
                          <a:latin typeface="Calibri"/>
                        </a:defRPr>
                      </a:pPr>
                      <a:r>
                        <a:t>Listenverkaufspreis an Kunden</a:t>
                      </a:r>
                    </a:p>
                  </a:txBody>
                  <a:tcPr marL="36576" marR="36576" marT="27432" marB="27432">
                    <a:solidFill>
                      <a:srgbClr val="FFFDF5"/>
                    </a:solidFill>
                  </a:tcPr>
                </a:tc>
                <a:tc>
                  <a:txBody>
                    <a:bodyPr/>
                    <a:lstStyle/>
                    <a:p>
                      <a:pPr algn="r">
                        <a:defRPr sz="900" b="1">
                          <a:solidFill>
                            <a:srgbClr val="1F497D"/>
                          </a:solidFill>
                          <a:latin typeface="Calibri"/>
                        </a:defRPr>
                      </a:pPr>
                      <a:r>
                        <a:t>= 67.179,32 €</a:t>
                      </a:r>
                    </a:p>
                  </a:txBody>
                  <a:tcPr marL="36576" marR="36576" marT="27432" marB="27432">
                    <a:solidFill>
                      <a:srgbClr val="FFFDF5"/>
                    </a:solidFill>
                  </a:tcPr>
                </a:tc>
                <a:extLst>
                  <a:ext uri="{0D108BD9-81ED-4DB2-BD59-A6C34878D82A}">
                    <a16:rowId xmlns:a16="http://schemas.microsoft.com/office/drawing/2014/main" val="10007"/>
                  </a:ext>
                </a:extLst>
              </a:tr>
              <a:tr h="411480">
                <a:tc>
                  <a:txBody>
                    <a:bodyPr/>
                    <a:lstStyle/>
                    <a:p>
                      <a:pPr>
                        <a:defRPr sz="900">
                          <a:solidFill>
                            <a:srgbClr val="262626"/>
                          </a:solidFill>
                          <a:latin typeface="Calibri"/>
                        </a:defRPr>
                      </a:pPr>
                      <a:r>
                        <a:t>+ 19% Gesetzliche USt.</a:t>
                      </a:r>
                    </a:p>
                  </a:txBody>
                  <a:tcPr marL="36576" marR="36576" marT="27432" marB="27432">
                    <a:solidFill>
                      <a:srgbClr val="FFFFFF"/>
                    </a:solidFill>
                  </a:tcPr>
                </a:tc>
                <a:tc>
                  <a:txBody>
                    <a:bodyPr/>
                    <a:lstStyle/>
                    <a:p>
                      <a:pPr>
                        <a:defRPr sz="900">
                          <a:solidFill>
                            <a:srgbClr val="262626"/>
                          </a:solidFill>
                          <a:latin typeface="Calibri"/>
                        </a:defRPr>
                      </a:pPr>
                      <a:r>
                        <a:t>Umsatzsteuer auf Gesamtangebot</a:t>
                      </a:r>
                    </a:p>
                  </a:txBody>
                  <a:tcPr marL="36576" marR="36576" marT="27432" marB="27432">
                    <a:solidFill>
                      <a:srgbClr val="FFFFFF"/>
                    </a:solidFill>
                  </a:tcPr>
                </a:tc>
                <a:tc>
                  <a:txBody>
                    <a:bodyPr/>
                    <a:lstStyle/>
                    <a:p>
                      <a:pPr algn="r">
                        <a:defRPr sz="900">
                          <a:solidFill>
                            <a:srgbClr val="262626"/>
                          </a:solidFill>
                          <a:latin typeface="Calibri"/>
                        </a:defRPr>
                      </a:pPr>
                      <a:r>
                        <a:t>+ 12.764,07 €</a:t>
                      </a:r>
                    </a:p>
                  </a:txBody>
                  <a:tcPr marL="36576" marR="36576" marT="27432" marB="27432">
                    <a:solidFill>
                      <a:srgbClr val="FFFFFF"/>
                    </a:solidFill>
                  </a:tcPr>
                </a:tc>
                <a:extLst>
                  <a:ext uri="{0D108BD9-81ED-4DB2-BD59-A6C34878D82A}">
                    <a16:rowId xmlns:a16="http://schemas.microsoft.com/office/drawing/2014/main" val="10008"/>
                  </a:ext>
                </a:extLst>
              </a:tr>
              <a:tr h="411480">
                <a:tc>
                  <a:txBody>
                    <a:bodyPr/>
                    <a:lstStyle/>
                    <a:p>
                      <a:pPr>
                        <a:defRPr sz="900" b="1">
                          <a:solidFill>
                            <a:srgbClr val="C00000"/>
                          </a:solidFill>
                          <a:latin typeface="Calibri"/>
                        </a:defRPr>
                      </a:pPr>
                      <a:r>
                        <a:t>= Gesamtangebot brutto</a:t>
                      </a:r>
                    </a:p>
                  </a:txBody>
                  <a:tcPr marL="36576" marR="36576" marT="27432" marB="27432">
                    <a:solidFill>
                      <a:srgbClr val="FFFDF5"/>
                    </a:solidFill>
                  </a:tcPr>
                </a:tc>
                <a:tc>
                  <a:txBody>
                    <a:bodyPr/>
                    <a:lstStyle/>
                    <a:p>
                      <a:pPr>
                        <a:defRPr sz="900" b="1">
                          <a:solidFill>
                            <a:srgbClr val="C00000"/>
                          </a:solidFill>
                          <a:latin typeface="Calibri"/>
                        </a:defRPr>
                      </a:pPr>
                      <a:r>
                        <a:t>Endbetrag für VektorPlan GmbH</a:t>
                      </a:r>
                    </a:p>
                  </a:txBody>
                  <a:tcPr marL="36576" marR="36576" marT="27432" marB="27432">
                    <a:solidFill>
                      <a:srgbClr val="FFFDF5"/>
                    </a:solidFill>
                  </a:tcPr>
                </a:tc>
                <a:tc>
                  <a:txBody>
                    <a:bodyPr/>
                    <a:lstStyle/>
                    <a:p>
                      <a:pPr algn="r">
                        <a:defRPr sz="900" b="1">
                          <a:solidFill>
                            <a:srgbClr val="C00000"/>
                          </a:solidFill>
                          <a:latin typeface="Calibri"/>
                        </a:defRPr>
                      </a:pPr>
                      <a:r>
                        <a:t>= 79.943,39 €</a:t>
                      </a:r>
                    </a:p>
                  </a:txBody>
                  <a:tcPr marL="36576" marR="36576" marT="27432" marB="27432">
                    <a:solidFill>
                      <a:srgbClr val="FFFDF5"/>
                    </a:solidFill>
                  </a:tcPr>
                </a:tc>
                <a:extLst>
                  <a:ext uri="{0D108BD9-81ED-4DB2-BD59-A6C34878D82A}">
                    <a16:rowId xmlns:a16="http://schemas.microsoft.com/office/drawing/2014/main" val="10009"/>
                  </a:ext>
                </a:extLst>
              </a:tr>
            </a:tbl>
          </a:graphicData>
        </a:graphic>
      </p:graphicFrame>
      <p:sp>
        <p:nvSpPr>
          <p:cNvPr id="8" name="Rounded Rectangle 7"/>
          <p:cNvSpPr/>
          <p:nvPr/>
        </p:nvSpPr>
        <p:spPr>
          <a:xfrm>
            <a:off x="6159500" y="1234440"/>
            <a:ext cx="5080000" cy="4937760"/>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59500" y="1234440"/>
            <a:ext cx="5080000" cy="50292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Kaufmännisches Angebot (Nr. NL-2026-VP-001)</a:t>
            </a:r>
          </a:p>
        </p:txBody>
      </p:sp>
      <p:graphicFrame>
        <p:nvGraphicFramePr>
          <p:cNvPr id="10" name="Table 9"/>
          <p:cNvGraphicFramePr>
            <a:graphicFrameLocks noGrp="1"/>
          </p:cNvGraphicFramePr>
          <p:nvPr>
            <p:extLst>
              <p:ext uri="{D42A27DB-BD31-4B8C-83A1-F6EECF244321}">
                <p14:modId xmlns:p14="http://schemas.microsoft.com/office/powerpoint/2010/main" val="3457827468"/>
              </p:ext>
            </p:extLst>
          </p:nvPr>
        </p:nvGraphicFramePr>
        <p:xfrm>
          <a:off x="6286500" y="1874519"/>
          <a:ext cx="4826000" cy="2194560"/>
        </p:xfrm>
        <a:graphic>
          <a:graphicData uri="http://schemas.openxmlformats.org/drawingml/2006/table">
            <a:tbl>
              <a:tblPr firstRow="1" bandRow="1">
                <a:tableStyleId>{5C22544A-7EE6-4342-B048-85BDC9FD1C3A}</a:tableStyleId>
              </a:tblPr>
              <a:tblGrid>
                <a:gridCol w="3533321">
                  <a:extLst>
                    <a:ext uri="{9D8B030D-6E8A-4147-A177-3AD203B41FA5}">
                      <a16:colId xmlns:a16="http://schemas.microsoft.com/office/drawing/2014/main" val="20000"/>
                    </a:ext>
                  </a:extLst>
                </a:gridCol>
                <a:gridCol w="1292679">
                  <a:extLst>
                    <a:ext uri="{9D8B030D-6E8A-4147-A177-3AD203B41FA5}">
                      <a16:colId xmlns:a16="http://schemas.microsoft.com/office/drawing/2014/main" val="20001"/>
                    </a:ext>
                  </a:extLst>
                </a:gridCol>
              </a:tblGrid>
              <a:tr h="313508">
                <a:tc>
                  <a:txBody>
                    <a:bodyPr/>
                    <a:lstStyle/>
                    <a:p>
                      <a:pPr>
                        <a:defRPr sz="950" b="1">
                          <a:solidFill>
                            <a:srgbClr val="1F497D"/>
                          </a:solidFill>
                          <a:latin typeface="Calibri"/>
                        </a:defRPr>
                      </a:pPr>
                      <a:r>
                        <a:t>Position / Leistungsbereich</a:t>
                      </a:r>
                    </a:p>
                  </a:txBody>
                  <a:tcPr marL="36576" marR="36576" marT="27432" marB="27432">
                    <a:solidFill>
                      <a:srgbClr val="F0F3F8"/>
                    </a:solidFill>
                  </a:tcPr>
                </a:tc>
                <a:tc>
                  <a:txBody>
                    <a:bodyPr/>
                    <a:lstStyle/>
                    <a:p>
                      <a:pPr algn="r">
                        <a:defRPr sz="950" b="1">
                          <a:solidFill>
                            <a:srgbClr val="1F497D"/>
                          </a:solidFill>
                          <a:latin typeface="Calibri"/>
                        </a:defRPr>
                      </a:pPr>
                      <a:r>
                        <a:t>Betrag Netto</a:t>
                      </a:r>
                    </a:p>
                  </a:txBody>
                  <a:tcPr marL="36576" marR="36576" marT="27432" marB="27432">
                    <a:solidFill>
                      <a:srgbClr val="F0F3F8"/>
                    </a:solidFill>
                  </a:tcPr>
                </a:tc>
                <a:extLst>
                  <a:ext uri="{0D108BD9-81ED-4DB2-BD59-A6C34878D82A}">
                    <a16:rowId xmlns:a16="http://schemas.microsoft.com/office/drawing/2014/main" val="10000"/>
                  </a:ext>
                </a:extLst>
              </a:tr>
              <a:tr h="313508">
                <a:tc>
                  <a:txBody>
                    <a:bodyPr/>
                    <a:lstStyle/>
                    <a:p>
                      <a:pPr>
                        <a:defRPr sz="950">
                          <a:latin typeface="Calibri"/>
                        </a:defRPr>
                      </a:pPr>
                      <a:r>
                        <a:t>1. Hardware (16 PCs, 32 Monitore, MFP, SSDs)</a:t>
                      </a:r>
                    </a:p>
                  </a:txBody>
                  <a:tcPr marL="36576" marR="36576" marT="27432" marB="27432">
                    <a:solidFill>
                      <a:srgbClr val="F9FAFC"/>
                    </a:solidFill>
                  </a:tcPr>
                </a:tc>
                <a:tc>
                  <a:txBody>
                    <a:bodyPr/>
                    <a:lstStyle/>
                    <a:p>
                      <a:pPr algn="r">
                        <a:defRPr sz="950">
                          <a:latin typeface="Calibri"/>
                        </a:defRPr>
                      </a:pPr>
                      <a:r>
                        <a:t>51.108,12 €</a:t>
                      </a:r>
                    </a:p>
                  </a:txBody>
                  <a:tcPr marL="36576" marR="36576" marT="27432" marB="27432">
                    <a:solidFill>
                      <a:srgbClr val="F9FAFC"/>
                    </a:solidFill>
                  </a:tcPr>
                </a:tc>
                <a:extLst>
                  <a:ext uri="{0D108BD9-81ED-4DB2-BD59-A6C34878D82A}">
                    <a16:rowId xmlns:a16="http://schemas.microsoft.com/office/drawing/2014/main" val="10001"/>
                  </a:ext>
                </a:extLst>
              </a:tr>
              <a:tr h="313508">
                <a:tc>
                  <a:txBody>
                    <a:bodyPr/>
                    <a:lstStyle/>
                    <a:p>
                      <a:pPr>
                        <a:defRPr sz="950">
                          <a:latin typeface="Calibri"/>
                        </a:defRPr>
                      </a:pPr>
                      <a:r>
                        <a:t>2. Software &amp; Lizenzen (1. Jahr: M365, Adobe, ESET)</a:t>
                      </a:r>
                    </a:p>
                  </a:txBody>
                  <a:tcPr marL="36576" marR="36576" marT="27432" marB="27432">
                    <a:solidFill>
                      <a:srgbClr val="FFFFFF"/>
                    </a:solidFill>
                  </a:tcPr>
                </a:tc>
                <a:tc>
                  <a:txBody>
                    <a:bodyPr/>
                    <a:lstStyle/>
                    <a:p>
                      <a:pPr algn="r">
                        <a:defRPr sz="950">
                          <a:latin typeface="Calibri"/>
                        </a:defRPr>
                      </a:pPr>
                      <a:r>
                        <a:t>10.021,20 €</a:t>
                      </a:r>
                    </a:p>
                  </a:txBody>
                  <a:tcPr marL="36576" marR="36576" marT="27432" marB="27432">
                    <a:solidFill>
                      <a:srgbClr val="FFFFFF"/>
                    </a:solidFill>
                  </a:tcPr>
                </a:tc>
                <a:extLst>
                  <a:ext uri="{0D108BD9-81ED-4DB2-BD59-A6C34878D82A}">
                    <a16:rowId xmlns:a16="http://schemas.microsoft.com/office/drawing/2014/main" val="10002"/>
                  </a:ext>
                </a:extLst>
              </a:tr>
              <a:tr h="313508">
                <a:tc>
                  <a:txBody>
                    <a:bodyPr/>
                    <a:lstStyle/>
                    <a:p>
                      <a:pPr>
                        <a:defRPr sz="950">
                          <a:latin typeface="Calibri"/>
                        </a:defRPr>
                      </a:pPr>
                      <a:r>
                        <a:t>3. Dienstleistungen (Staging, Montage, Abnahme)</a:t>
                      </a:r>
                    </a:p>
                  </a:txBody>
                  <a:tcPr marL="36576" marR="36576" marT="27432" marB="27432">
                    <a:solidFill>
                      <a:srgbClr val="F9FAFC"/>
                    </a:solidFill>
                  </a:tcPr>
                </a:tc>
                <a:tc>
                  <a:txBody>
                    <a:bodyPr/>
                    <a:lstStyle/>
                    <a:p>
                      <a:pPr algn="r">
                        <a:defRPr sz="950">
                          <a:latin typeface="Calibri"/>
                        </a:defRPr>
                      </a:pPr>
                      <a:r>
                        <a:t>6.050,00 €</a:t>
                      </a:r>
                    </a:p>
                  </a:txBody>
                  <a:tcPr marL="36576" marR="36576" marT="27432" marB="27432">
                    <a:solidFill>
                      <a:srgbClr val="F9FAFC"/>
                    </a:solidFill>
                  </a:tcPr>
                </a:tc>
                <a:extLst>
                  <a:ext uri="{0D108BD9-81ED-4DB2-BD59-A6C34878D82A}">
                    <a16:rowId xmlns:a16="http://schemas.microsoft.com/office/drawing/2014/main" val="10003"/>
                  </a:ext>
                </a:extLst>
              </a:tr>
              <a:tr h="313508">
                <a:tc>
                  <a:txBody>
                    <a:bodyPr/>
                    <a:lstStyle/>
                    <a:p>
                      <a:pPr>
                        <a:defRPr sz="950" b="1">
                          <a:solidFill>
                            <a:srgbClr val="1F497D"/>
                          </a:solidFill>
                          <a:latin typeface="Calibri"/>
                        </a:defRPr>
                      </a:pPr>
                      <a:r>
                        <a:t>Gesamtangebot Netto</a:t>
                      </a:r>
                    </a:p>
                  </a:txBody>
                  <a:tcPr marL="36576" marR="36576" marT="27432" marB="27432">
                    <a:solidFill>
                      <a:srgbClr val="FFFDF5"/>
                    </a:solidFill>
                  </a:tcPr>
                </a:tc>
                <a:tc>
                  <a:txBody>
                    <a:bodyPr/>
                    <a:lstStyle/>
                    <a:p>
                      <a:pPr algn="r">
                        <a:defRPr sz="950" b="1">
                          <a:solidFill>
                            <a:srgbClr val="1F497D"/>
                          </a:solidFill>
                          <a:latin typeface="Calibri"/>
                        </a:defRPr>
                      </a:pPr>
                      <a:r>
                        <a:t>67.179,32 €</a:t>
                      </a:r>
                    </a:p>
                  </a:txBody>
                  <a:tcPr marL="36576" marR="36576" marT="27432" marB="27432">
                    <a:solidFill>
                      <a:srgbClr val="FFFDF5"/>
                    </a:solidFill>
                  </a:tcPr>
                </a:tc>
                <a:extLst>
                  <a:ext uri="{0D108BD9-81ED-4DB2-BD59-A6C34878D82A}">
                    <a16:rowId xmlns:a16="http://schemas.microsoft.com/office/drawing/2014/main" val="10004"/>
                  </a:ext>
                </a:extLst>
              </a:tr>
              <a:tr h="313508">
                <a:tc>
                  <a:txBody>
                    <a:bodyPr/>
                    <a:lstStyle/>
                    <a:p>
                      <a:pPr>
                        <a:defRPr sz="950">
                          <a:latin typeface="Calibri"/>
                        </a:defRPr>
                      </a:pPr>
                      <a:r>
                        <a:t>+ 19% Gesetzliche Umsatzsteuer</a:t>
                      </a:r>
                    </a:p>
                  </a:txBody>
                  <a:tcPr marL="36576" marR="36576" marT="27432" marB="27432">
                    <a:solidFill>
                      <a:srgbClr val="F9FAFC"/>
                    </a:solidFill>
                  </a:tcPr>
                </a:tc>
                <a:tc>
                  <a:txBody>
                    <a:bodyPr/>
                    <a:lstStyle/>
                    <a:p>
                      <a:pPr algn="r">
                        <a:defRPr sz="950">
                          <a:latin typeface="Calibri"/>
                        </a:defRPr>
                      </a:pPr>
                      <a:r>
                        <a:t>12.764,07 €</a:t>
                      </a:r>
                    </a:p>
                  </a:txBody>
                  <a:tcPr marL="36576" marR="36576" marT="27432" marB="27432">
                    <a:solidFill>
                      <a:srgbClr val="F9FAFC"/>
                    </a:solidFill>
                  </a:tcPr>
                </a:tc>
                <a:extLst>
                  <a:ext uri="{0D108BD9-81ED-4DB2-BD59-A6C34878D82A}">
                    <a16:rowId xmlns:a16="http://schemas.microsoft.com/office/drawing/2014/main" val="10005"/>
                  </a:ext>
                </a:extLst>
              </a:tr>
              <a:tr h="313512">
                <a:tc>
                  <a:txBody>
                    <a:bodyPr/>
                    <a:lstStyle/>
                    <a:p>
                      <a:pPr>
                        <a:defRPr sz="950" b="1">
                          <a:solidFill>
                            <a:srgbClr val="C00000"/>
                          </a:solidFill>
                          <a:latin typeface="Calibri"/>
                        </a:defRPr>
                      </a:pPr>
                      <a:r>
                        <a:t>Gesamtangebot Brutto</a:t>
                      </a:r>
                    </a:p>
                  </a:txBody>
                  <a:tcPr marL="36576" marR="36576" marT="27432" marB="27432">
                    <a:solidFill>
                      <a:srgbClr val="FFFDF5"/>
                    </a:solidFill>
                  </a:tcPr>
                </a:tc>
                <a:tc>
                  <a:txBody>
                    <a:bodyPr/>
                    <a:lstStyle/>
                    <a:p>
                      <a:pPr algn="r">
                        <a:defRPr sz="950" b="1">
                          <a:solidFill>
                            <a:srgbClr val="C00000"/>
                          </a:solidFill>
                          <a:latin typeface="Calibri"/>
                        </a:defRPr>
                      </a:pPr>
                      <a:r>
                        <a:t>79.943,39 €</a:t>
                      </a:r>
                    </a:p>
                  </a:txBody>
                  <a:tcPr marL="36576" marR="36576" marT="27432" marB="27432">
                    <a:solidFill>
                      <a:srgbClr val="FFFDF5"/>
                    </a:solidFill>
                  </a:tcPr>
                </a:tc>
                <a:extLst>
                  <a:ext uri="{0D108BD9-81ED-4DB2-BD59-A6C34878D82A}">
                    <a16:rowId xmlns:a16="http://schemas.microsoft.com/office/drawing/2014/main" val="10006"/>
                  </a:ext>
                </a:extLst>
              </a:tr>
            </a:tbl>
          </a:graphicData>
        </a:graphic>
      </p:graphicFrame>
      <p:sp>
        <p:nvSpPr>
          <p:cNvPr id="11" name="Rounded Rectangle 10"/>
          <p:cNvSpPr/>
          <p:nvPr/>
        </p:nvSpPr>
        <p:spPr>
          <a:xfrm>
            <a:off x="6286500" y="4297680"/>
            <a:ext cx="4826000" cy="1737360"/>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88100" y="4389120"/>
            <a:ext cx="4622800" cy="915635"/>
          </a:xfrm>
          <a:prstGeom prst="rect">
            <a:avLst/>
          </a:prstGeom>
          <a:noFill/>
        </p:spPr>
        <p:txBody>
          <a:bodyPr wrap="square">
            <a:spAutoFit/>
          </a:bodyPr>
          <a:lstStyle/>
          <a:p>
            <a:pPr>
              <a:defRPr sz="1000" b="1">
                <a:solidFill>
                  <a:srgbClr val="1F497D"/>
                </a:solidFill>
                <a:latin typeface="Calibri"/>
              </a:defRPr>
            </a:pPr>
            <a:r>
              <a:rPr>
                <a:latin typeface="Trebuchet MS" panose="020B0603020202020204" pitchFamily="34" charset="0"/>
              </a:rPr>
              <a:t>Zahlungs- &amp; Lieferkonditionen:</a:t>
            </a:r>
          </a:p>
          <a:p>
            <a:pPr>
              <a:spcBef>
                <a:spcPts val="300"/>
              </a:spcBef>
              <a:defRPr sz="900">
                <a:solidFill>
                  <a:srgbClr val="262626"/>
                </a:solidFill>
                <a:latin typeface="Calibri"/>
              </a:defRPr>
            </a:pPr>
            <a:r>
              <a:rPr>
                <a:latin typeface="Trebuchet MS" panose="020B0603020202020204" pitchFamily="34" charset="0"/>
              </a:rPr>
              <a:t>• Zahlungsziel: 14 Tage mit 3 % Skonto (2.015,38 € Ersparnis) oder 30 Tage rein netto</a:t>
            </a:r>
          </a:p>
          <a:p>
            <a:pPr>
              <a:spcBef>
                <a:spcPts val="300"/>
              </a:spcBef>
              <a:defRPr sz="900">
                <a:solidFill>
                  <a:srgbClr val="262626"/>
                </a:solidFill>
                <a:latin typeface="Calibri"/>
              </a:defRPr>
            </a:pPr>
            <a:r>
              <a:rPr>
                <a:latin typeface="Trebuchet MS" panose="020B0603020202020204" pitchFamily="34" charset="0"/>
              </a:rPr>
              <a:t>• Garantie: 36 Monate Vor-Ort-Herstellerservice auf alle Arbeitsplätze</a:t>
            </a:r>
          </a:p>
          <a:p>
            <a:pPr>
              <a:spcBef>
                <a:spcPts val="300"/>
              </a:spcBef>
              <a:defRPr sz="900">
                <a:solidFill>
                  <a:srgbClr val="262626"/>
                </a:solidFill>
                <a:latin typeface="Calibri"/>
              </a:defRPr>
            </a:pPr>
            <a:r>
              <a:rPr>
                <a:latin typeface="Trebuchet MS" panose="020B0603020202020204" pitchFamily="34" charset="0"/>
              </a:rPr>
              <a:t>• Option IT-Leasing: Ab ca. 1.580 € monatlich (Voll amortisierbare Betriebsausgabe / OPEX)</a:t>
            </a:r>
          </a:p>
        </p:txBody>
      </p:sp>
      <p:pic>
        <p:nvPicPr>
          <p:cNvPr id="14" name="NextLevelLogo_10">
            <a:extLst>
              <a:ext uri="{FF2B5EF4-FFF2-40B4-BE49-F238E27FC236}">
                <a16:creationId xmlns:a16="http://schemas.microsoft.com/office/drawing/2014/main" id="{39300FDA-B570-37F6-3AF6-2D6FB691CBE9}"/>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499" y="152399"/>
            <a:ext cx="7402989"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KUNDENBERECHNUNGEN</a:t>
            </a:r>
          </a:p>
          <a:p>
            <a:pPr>
              <a:defRPr sz="2000" b="1">
                <a:solidFill>
                  <a:srgbClr val="FFFFFF"/>
                </a:solidFill>
                <a:latin typeface="Calibri"/>
              </a:defRPr>
            </a:pPr>
            <a:r>
              <a:rPr sz="2200" b="1">
                <a:solidFill>
                  <a:srgbClr val="2C3C43"/>
                </a:solidFill>
                <a:latin typeface="Trebuchet MS" panose="020B0603020202020204" pitchFamily="34" charset="0"/>
              </a:rPr>
              <a:t>Spezifische Berechnungen für den Kunden (Aufgabe B)</a:t>
            </a:r>
          </a:p>
        </p:txBody>
      </p:sp>
      <p:sp>
        <p:nvSpPr>
          <p:cNvPr id="4" name="TextBox 3"/>
          <p:cNvSpPr txBox="1"/>
          <p:nvPr/>
        </p:nvSpPr>
        <p:spPr>
          <a:xfrm>
            <a:off x="698500" y="641350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11 von 16</a:t>
            </a:r>
          </a:p>
        </p:txBody>
      </p:sp>
      <p:sp>
        <p:nvSpPr>
          <p:cNvPr id="5" name="Rounded Rectangle 4"/>
          <p:cNvSpPr/>
          <p:nvPr/>
        </p:nvSpPr>
        <p:spPr>
          <a:xfrm>
            <a:off x="698500" y="1188720"/>
            <a:ext cx="5080000" cy="5029200"/>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98500" y="1188720"/>
            <a:ext cx="5080000" cy="50292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B.1 Speicherplatzbedarf auf dem Fileserver</a:t>
            </a:r>
          </a:p>
        </p:txBody>
      </p:sp>
      <p:sp>
        <p:nvSpPr>
          <p:cNvPr id="7" name="Rounded Rectangle 6"/>
          <p:cNvSpPr/>
          <p:nvPr/>
        </p:nvSpPr>
        <p:spPr>
          <a:xfrm>
            <a:off x="850900" y="1810512"/>
            <a:ext cx="4775200" cy="777240"/>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200" b="1">
                <a:solidFill>
                  <a:srgbClr val="1F497D"/>
                </a:solidFill>
                <a:latin typeface="Calibri"/>
              </a:defRPr>
            </a:pPr>
            <a:r>
              <a:rPr>
                <a:latin typeface="Trebuchet MS" panose="020B0603020202020204" pitchFamily="34" charset="0"/>
              </a:rPr>
              <a:t>445 GiB</a:t>
            </a:r>
          </a:p>
          <a:p>
            <a:pPr algn="ctr">
              <a:defRPr sz="900">
                <a:solidFill>
                  <a:srgbClr val="505050"/>
                </a:solidFill>
                <a:latin typeface="Calibri"/>
              </a:defRPr>
            </a:pPr>
            <a:r>
              <a:rPr>
                <a:latin typeface="Trebuchet MS" panose="020B0603020202020204" pitchFamily="34" charset="0"/>
              </a:rPr>
              <a:t>Benötigte Brutto-Pufferkapazität für 1 Quartal (65 Arbeitstage)</a:t>
            </a:r>
          </a:p>
        </p:txBody>
      </p:sp>
      <p:graphicFrame>
        <p:nvGraphicFramePr>
          <p:cNvPr id="8" name="Table 7"/>
          <p:cNvGraphicFramePr>
            <a:graphicFrameLocks noGrp="1"/>
          </p:cNvGraphicFramePr>
          <p:nvPr>
            <p:extLst>
              <p:ext uri="{D42A27DB-BD31-4B8C-83A1-F6EECF244321}">
                <p14:modId xmlns:p14="http://schemas.microsoft.com/office/powerpoint/2010/main" val="2732957066"/>
              </p:ext>
            </p:extLst>
          </p:nvPr>
        </p:nvGraphicFramePr>
        <p:xfrm>
          <a:off x="825500" y="2697480"/>
          <a:ext cx="4826000" cy="2057400"/>
        </p:xfrm>
        <a:graphic>
          <a:graphicData uri="http://schemas.openxmlformats.org/drawingml/2006/table">
            <a:tbl>
              <a:tblPr firstRow="1" bandRow="1">
                <a:tableStyleId>{5C22544A-7EE6-4342-B048-85BDC9FD1C3A}</a:tableStyleId>
              </a:tblPr>
              <a:tblGrid>
                <a:gridCol w="1742722">
                  <a:extLst>
                    <a:ext uri="{9D8B030D-6E8A-4147-A177-3AD203B41FA5}">
                      <a16:colId xmlns:a16="http://schemas.microsoft.com/office/drawing/2014/main" val="20000"/>
                    </a:ext>
                  </a:extLst>
                </a:gridCol>
                <a:gridCol w="1832092">
                  <a:extLst>
                    <a:ext uri="{9D8B030D-6E8A-4147-A177-3AD203B41FA5}">
                      <a16:colId xmlns:a16="http://schemas.microsoft.com/office/drawing/2014/main" val="20001"/>
                    </a:ext>
                  </a:extLst>
                </a:gridCol>
                <a:gridCol w="1251186">
                  <a:extLst>
                    <a:ext uri="{9D8B030D-6E8A-4147-A177-3AD203B41FA5}">
                      <a16:colId xmlns:a16="http://schemas.microsoft.com/office/drawing/2014/main" val="20002"/>
                    </a:ext>
                  </a:extLst>
                </a:gridCol>
              </a:tblGrid>
              <a:tr h="293914">
                <a:tc>
                  <a:txBody>
                    <a:bodyPr/>
                    <a:lstStyle/>
                    <a:p>
                      <a:pPr>
                        <a:defRPr sz="900" b="1">
                          <a:solidFill>
                            <a:srgbClr val="1F497D"/>
                          </a:solidFill>
                          <a:latin typeface="Calibri"/>
                        </a:defRPr>
                      </a:pPr>
                      <a:r>
                        <a:t>Rechenschritt</a:t>
                      </a:r>
                    </a:p>
                  </a:txBody>
                  <a:tcPr marL="36576" marR="36576" marT="18288" marB="18288">
                    <a:solidFill>
                      <a:srgbClr val="F0F3F8"/>
                    </a:solidFill>
                  </a:tcPr>
                </a:tc>
                <a:tc>
                  <a:txBody>
                    <a:bodyPr/>
                    <a:lstStyle/>
                    <a:p>
                      <a:pPr>
                        <a:defRPr sz="900" b="1">
                          <a:solidFill>
                            <a:srgbClr val="1F497D"/>
                          </a:solidFill>
                          <a:latin typeface="Calibri"/>
                        </a:defRPr>
                      </a:pPr>
                      <a:r>
                        <a:t>Rechenweg / Operation</a:t>
                      </a:r>
                    </a:p>
                  </a:txBody>
                  <a:tcPr marL="36576" marR="36576" marT="18288" marB="18288">
                    <a:solidFill>
                      <a:srgbClr val="F0F3F8"/>
                    </a:solidFill>
                  </a:tcPr>
                </a:tc>
                <a:tc>
                  <a:txBody>
                    <a:bodyPr/>
                    <a:lstStyle/>
                    <a:p>
                      <a:pPr algn="r">
                        <a:defRPr sz="900" b="1">
                          <a:solidFill>
                            <a:srgbClr val="1F497D"/>
                          </a:solidFill>
                          <a:latin typeface="Calibri"/>
                        </a:defRPr>
                      </a:pPr>
                      <a:r>
                        <a:t>Ergebnis</a:t>
                      </a:r>
                    </a:p>
                  </a:txBody>
                  <a:tcPr marL="36576" marR="36576" marT="18288" marB="18288">
                    <a:solidFill>
                      <a:srgbClr val="F0F3F8"/>
                    </a:solidFill>
                  </a:tcPr>
                </a:tc>
                <a:extLst>
                  <a:ext uri="{0D108BD9-81ED-4DB2-BD59-A6C34878D82A}">
                    <a16:rowId xmlns:a16="http://schemas.microsoft.com/office/drawing/2014/main" val="10000"/>
                  </a:ext>
                </a:extLst>
              </a:tr>
              <a:tr h="293914">
                <a:tc>
                  <a:txBody>
                    <a:bodyPr/>
                    <a:lstStyle/>
                    <a:p>
                      <a:pPr>
                        <a:defRPr sz="850">
                          <a:solidFill>
                            <a:srgbClr val="262626"/>
                          </a:solidFill>
                          <a:latin typeface="Calibri"/>
                        </a:defRPr>
                      </a:pPr>
                      <a:r>
                        <a:t>Tagesaufkommen (16 APs)</a:t>
                      </a:r>
                    </a:p>
                  </a:txBody>
                  <a:tcPr marL="36576" marR="36576" marT="18288" marB="18288">
                    <a:solidFill>
                      <a:srgbClr val="FAFBFD"/>
                    </a:solidFill>
                  </a:tcPr>
                </a:tc>
                <a:tc>
                  <a:txBody>
                    <a:bodyPr/>
                    <a:lstStyle/>
                    <a:p>
                      <a:pPr>
                        <a:defRPr sz="850">
                          <a:solidFill>
                            <a:srgbClr val="262626"/>
                          </a:solidFill>
                          <a:latin typeface="Calibri"/>
                        </a:defRPr>
                      </a:pPr>
                      <a:r>
                        <a:t>16 Plätze × 350 MiB/Tag</a:t>
                      </a:r>
                    </a:p>
                  </a:txBody>
                  <a:tcPr marL="36576" marR="36576" marT="18288" marB="18288">
                    <a:solidFill>
                      <a:srgbClr val="FAFBFD"/>
                    </a:solidFill>
                  </a:tcPr>
                </a:tc>
                <a:tc>
                  <a:txBody>
                    <a:bodyPr/>
                    <a:lstStyle/>
                    <a:p>
                      <a:pPr algn="r">
                        <a:defRPr sz="850">
                          <a:solidFill>
                            <a:srgbClr val="262626"/>
                          </a:solidFill>
                          <a:latin typeface="Calibri"/>
                        </a:defRPr>
                      </a:pPr>
                      <a:r>
                        <a:t>5.600 MiB / T.</a:t>
                      </a:r>
                    </a:p>
                  </a:txBody>
                  <a:tcPr marL="36576" marR="36576" marT="18288" marB="18288">
                    <a:solidFill>
                      <a:srgbClr val="FAFBFD"/>
                    </a:solidFill>
                  </a:tcPr>
                </a:tc>
                <a:extLst>
                  <a:ext uri="{0D108BD9-81ED-4DB2-BD59-A6C34878D82A}">
                    <a16:rowId xmlns:a16="http://schemas.microsoft.com/office/drawing/2014/main" val="10001"/>
                  </a:ext>
                </a:extLst>
              </a:tr>
              <a:tr h="293914">
                <a:tc>
                  <a:txBody>
                    <a:bodyPr/>
                    <a:lstStyle/>
                    <a:p>
                      <a:pPr>
                        <a:defRPr sz="850">
                          <a:solidFill>
                            <a:srgbClr val="262626"/>
                          </a:solidFill>
                          <a:latin typeface="Calibri"/>
                        </a:defRPr>
                      </a:pPr>
                      <a:r>
                        <a:t>Quartalsdaten (65 AT)</a:t>
                      </a:r>
                    </a:p>
                  </a:txBody>
                  <a:tcPr marL="36576" marR="36576" marT="18288" marB="18288">
                    <a:solidFill>
                      <a:srgbClr val="FFFFFF"/>
                    </a:solidFill>
                  </a:tcPr>
                </a:tc>
                <a:tc>
                  <a:txBody>
                    <a:bodyPr/>
                    <a:lstStyle/>
                    <a:p>
                      <a:pPr>
                        <a:defRPr sz="850">
                          <a:solidFill>
                            <a:srgbClr val="262626"/>
                          </a:solidFill>
                          <a:latin typeface="Calibri"/>
                        </a:defRPr>
                      </a:pPr>
                      <a:r>
                        <a:t>5.600 MiB × 65 Tage</a:t>
                      </a:r>
                    </a:p>
                  </a:txBody>
                  <a:tcPr marL="36576" marR="36576" marT="18288" marB="18288">
                    <a:solidFill>
                      <a:srgbClr val="FFFFFF"/>
                    </a:solidFill>
                  </a:tcPr>
                </a:tc>
                <a:tc>
                  <a:txBody>
                    <a:bodyPr/>
                    <a:lstStyle/>
                    <a:p>
                      <a:pPr algn="r">
                        <a:defRPr sz="850">
                          <a:solidFill>
                            <a:srgbClr val="262626"/>
                          </a:solidFill>
                          <a:latin typeface="Calibri"/>
                        </a:defRPr>
                      </a:pPr>
                      <a:r>
                        <a:t>364.000 MiB</a:t>
                      </a:r>
                    </a:p>
                  </a:txBody>
                  <a:tcPr marL="36576" marR="36576" marT="18288" marB="18288">
                    <a:solidFill>
                      <a:srgbClr val="FFFFFF"/>
                    </a:solidFill>
                  </a:tcPr>
                </a:tc>
                <a:extLst>
                  <a:ext uri="{0D108BD9-81ED-4DB2-BD59-A6C34878D82A}">
                    <a16:rowId xmlns:a16="http://schemas.microsoft.com/office/drawing/2014/main" val="10002"/>
                  </a:ext>
                </a:extLst>
              </a:tr>
              <a:tr h="293914">
                <a:tc>
                  <a:txBody>
                    <a:bodyPr/>
                    <a:lstStyle/>
                    <a:p>
                      <a:pPr>
                        <a:defRPr sz="850">
                          <a:solidFill>
                            <a:srgbClr val="262626"/>
                          </a:solidFill>
                          <a:latin typeface="Calibri"/>
                        </a:defRPr>
                      </a:pPr>
                      <a:r>
                        <a:t>Binäre Umrechnung (IEC)</a:t>
                      </a:r>
                    </a:p>
                  </a:txBody>
                  <a:tcPr marL="36576" marR="36576" marT="18288" marB="18288">
                    <a:solidFill>
                      <a:srgbClr val="FAFBFD"/>
                    </a:solidFill>
                  </a:tcPr>
                </a:tc>
                <a:tc>
                  <a:txBody>
                    <a:bodyPr/>
                    <a:lstStyle/>
                    <a:p>
                      <a:pPr>
                        <a:defRPr sz="850">
                          <a:solidFill>
                            <a:srgbClr val="262626"/>
                          </a:solidFill>
                          <a:latin typeface="Calibri"/>
                        </a:defRPr>
                      </a:pPr>
                      <a:r>
                        <a:t>364.000 MiB ÷ 1.024</a:t>
                      </a:r>
                    </a:p>
                  </a:txBody>
                  <a:tcPr marL="36576" marR="36576" marT="18288" marB="18288">
                    <a:solidFill>
                      <a:srgbClr val="FAFBFD"/>
                    </a:solidFill>
                  </a:tcPr>
                </a:tc>
                <a:tc>
                  <a:txBody>
                    <a:bodyPr/>
                    <a:lstStyle/>
                    <a:p>
                      <a:pPr algn="r">
                        <a:defRPr sz="850">
                          <a:solidFill>
                            <a:srgbClr val="262626"/>
                          </a:solidFill>
                          <a:latin typeface="Calibri"/>
                        </a:defRPr>
                      </a:pPr>
                      <a:r>
                        <a:t>355,47 GiB</a:t>
                      </a:r>
                    </a:p>
                  </a:txBody>
                  <a:tcPr marL="36576" marR="36576" marT="18288" marB="18288">
                    <a:solidFill>
                      <a:srgbClr val="FAFBFD"/>
                    </a:solidFill>
                  </a:tcPr>
                </a:tc>
                <a:extLst>
                  <a:ext uri="{0D108BD9-81ED-4DB2-BD59-A6C34878D82A}">
                    <a16:rowId xmlns:a16="http://schemas.microsoft.com/office/drawing/2014/main" val="10003"/>
                  </a:ext>
                </a:extLst>
              </a:tr>
              <a:tr h="293914">
                <a:tc>
                  <a:txBody>
                    <a:bodyPr/>
                    <a:lstStyle/>
                    <a:p>
                      <a:pPr>
                        <a:defRPr sz="850">
                          <a:solidFill>
                            <a:srgbClr val="262626"/>
                          </a:solidFill>
                          <a:latin typeface="Calibri"/>
                        </a:defRPr>
                      </a:pPr>
                      <a:r>
                        <a:t>Aufrunden (Netto-Bedarf)</a:t>
                      </a:r>
                    </a:p>
                  </a:txBody>
                  <a:tcPr marL="36576" marR="36576" marT="18288" marB="18288">
                    <a:solidFill>
                      <a:srgbClr val="FFFFFF"/>
                    </a:solidFill>
                  </a:tcPr>
                </a:tc>
                <a:tc>
                  <a:txBody>
                    <a:bodyPr/>
                    <a:lstStyle/>
                    <a:p>
                      <a:pPr>
                        <a:defRPr sz="850">
                          <a:solidFill>
                            <a:srgbClr val="262626"/>
                          </a:solidFill>
                          <a:latin typeface="Calibri"/>
                        </a:defRPr>
                      </a:pPr>
                      <a:r>
                        <a:t>ROUNDUP(355,47; 0)</a:t>
                      </a:r>
                    </a:p>
                  </a:txBody>
                  <a:tcPr marL="36576" marR="36576" marT="18288" marB="18288">
                    <a:solidFill>
                      <a:srgbClr val="FFFFFF"/>
                    </a:solidFill>
                  </a:tcPr>
                </a:tc>
                <a:tc>
                  <a:txBody>
                    <a:bodyPr/>
                    <a:lstStyle/>
                    <a:p>
                      <a:pPr algn="r">
                        <a:defRPr sz="850">
                          <a:solidFill>
                            <a:srgbClr val="262626"/>
                          </a:solidFill>
                          <a:latin typeface="Calibri"/>
                        </a:defRPr>
                      </a:pPr>
                      <a:r>
                        <a:t>= 356 GiB Netto</a:t>
                      </a:r>
                    </a:p>
                  </a:txBody>
                  <a:tcPr marL="36576" marR="36576" marT="18288" marB="18288">
                    <a:solidFill>
                      <a:srgbClr val="FFFFFF"/>
                    </a:solidFill>
                  </a:tcPr>
                </a:tc>
                <a:extLst>
                  <a:ext uri="{0D108BD9-81ED-4DB2-BD59-A6C34878D82A}">
                    <a16:rowId xmlns:a16="http://schemas.microsoft.com/office/drawing/2014/main" val="10004"/>
                  </a:ext>
                </a:extLst>
              </a:tr>
              <a:tr h="293914">
                <a:tc>
                  <a:txBody>
                    <a:bodyPr/>
                    <a:lstStyle/>
                    <a:p>
                      <a:pPr>
                        <a:defRPr sz="850">
                          <a:solidFill>
                            <a:srgbClr val="262626"/>
                          </a:solidFill>
                          <a:latin typeface="Calibri"/>
                        </a:defRPr>
                      </a:pPr>
                      <a:r>
                        <a:t>+ 25 % Sicherheitszuschlag</a:t>
                      </a:r>
                    </a:p>
                  </a:txBody>
                  <a:tcPr marL="36576" marR="36576" marT="18288" marB="18288">
                    <a:solidFill>
                      <a:srgbClr val="FAFBFD"/>
                    </a:solidFill>
                  </a:tcPr>
                </a:tc>
                <a:tc>
                  <a:txBody>
                    <a:bodyPr/>
                    <a:lstStyle/>
                    <a:p>
                      <a:pPr>
                        <a:defRPr sz="850">
                          <a:solidFill>
                            <a:srgbClr val="262626"/>
                          </a:solidFill>
                          <a:latin typeface="Calibri"/>
                        </a:defRPr>
                      </a:pPr>
                      <a:r>
                        <a:t>356 GiB × 0,25 (Puffer)</a:t>
                      </a:r>
                    </a:p>
                  </a:txBody>
                  <a:tcPr marL="36576" marR="36576" marT="18288" marB="18288">
                    <a:solidFill>
                      <a:srgbClr val="FAFBFD"/>
                    </a:solidFill>
                  </a:tcPr>
                </a:tc>
                <a:tc>
                  <a:txBody>
                    <a:bodyPr/>
                    <a:lstStyle/>
                    <a:p>
                      <a:pPr algn="r">
                        <a:defRPr sz="850">
                          <a:solidFill>
                            <a:srgbClr val="262626"/>
                          </a:solidFill>
                          <a:latin typeface="Calibri"/>
                        </a:defRPr>
                      </a:pPr>
                      <a:r>
                        <a:t>+ 89 GiB Puffer</a:t>
                      </a:r>
                    </a:p>
                  </a:txBody>
                  <a:tcPr marL="36576" marR="36576" marT="18288" marB="18288">
                    <a:solidFill>
                      <a:srgbClr val="FAFBFD"/>
                    </a:solidFill>
                  </a:tcPr>
                </a:tc>
                <a:extLst>
                  <a:ext uri="{0D108BD9-81ED-4DB2-BD59-A6C34878D82A}">
                    <a16:rowId xmlns:a16="http://schemas.microsoft.com/office/drawing/2014/main" val="10005"/>
                  </a:ext>
                </a:extLst>
              </a:tr>
              <a:tr h="293916">
                <a:tc>
                  <a:txBody>
                    <a:bodyPr/>
                    <a:lstStyle/>
                    <a:p>
                      <a:pPr>
                        <a:defRPr sz="850" b="1">
                          <a:solidFill>
                            <a:srgbClr val="1F497D"/>
                          </a:solidFill>
                          <a:latin typeface="Calibri"/>
                        </a:defRPr>
                      </a:pPr>
                      <a:r>
                        <a:t>= Gesamtkapazität Q1</a:t>
                      </a:r>
                    </a:p>
                  </a:txBody>
                  <a:tcPr marL="36576" marR="36576" marT="18288" marB="18288">
                    <a:solidFill>
                      <a:srgbClr val="FFFAEB"/>
                    </a:solidFill>
                  </a:tcPr>
                </a:tc>
                <a:tc>
                  <a:txBody>
                    <a:bodyPr/>
                    <a:lstStyle/>
                    <a:p>
                      <a:pPr>
                        <a:defRPr sz="850" b="1">
                          <a:solidFill>
                            <a:srgbClr val="1F497D"/>
                          </a:solidFill>
                          <a:latin typeface="Calibri"/>
                        </a:defRPr>
                      </a:pPr>
                      <a:r>
                        <a:t>356 GiB Netto + 89 GiB</a:t>
                      </a:r>
                    </a:p>
                  </a:txBody>
                  <a:tcPr marL="36576" marR="36576" marT="18288" marB="18288">
                    <a:solidFill>
                      <a:srgbClr val="FFFAEB"/>
                    </a:solidFill>
                  </a:tcPr>
                </a:tc>
                <a:tc>
                  <a:txBody>
                    <a:bodyPr/>
                    <a:lstStyle/>
                    <a:p>
                      <a:pPr algn="r">
                        <a:defRPr sz="850" b="1">
                          <a:solidFill>
                            <a:srgbClr val="1F497D"/>
                          </a:solidFill>
                          <a:latin typeface="Calibri"/>
                        </a:defRPr>
                      </a:pPr>
                      <a:r>
                        <a:t>= 445 GiB Brutto</a:t>
                      </a:r>
                    </a:p>
                  </a:txBody>
                  <a:tcPr marL="36576" marR="36576" marT="18288" marB="18288">
                    <a:solidFill>
                      <a:srgbClr val="FFFAEB"/>
                    </a:solidFill>
                  </a:tcPr>
                </a:tc>
                <a:extLst>
                  <a:ext uri="{0D108BD9-81ED-4DB2-BD59-A6C34878D82A}">
                    <a16:rowId xmlns:a16="http://schemas.microsoft.com/office/drawing/2014/main" val="10006"/>
                  </a:ext>
                </a:extLst>
              </a:tr>
            </a:tbl>
          </a:graphicData>
        </a:graphic>
      </p:graphicFrame>
      <p:sp>
        <p:nvSpPr>
          <p:cNvPr id="9" name="Rounded Rectangle 8"/>
          <p:cNvSpPr/>
          <p:nvPr/>
        </p:nvSpPr>
        <p:spPr>
          <a:xfrm>
            <a:off x="850900" y="4892040"/>
            <a:ext cx="4775200" cy="114300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1F497D"/>
                </a:solidFill>
                <a:latin typeface="Calibri"/>
              </a:defRPr>
            </a:pPr>
            <a:r>
              <a:rPr>
                <a:latin typeface="Trebuchet MS" panose="020B0603020202020204" pitchFamily="34" charset="0"/>
              </a:rPr>
              <a:t>💡 Praxis-Empfehlung &amp; Dimensionierung:</a:t>
            </a:r>
          </a:p>
          <a:p>
            <a:pPr>
              <a:spcBef>
                <a:spcPts val="200"/>
              </a:spcBef>
              <a:defRPr sz="800">
                <a:solidFill>
                  <a:srgbClr val="262626"/>
                </a:solidFill>
                <a:latin typeface="Calibri"/>
              </a:defRPr>
            </a:pPr>
            <a:r>
              <a:rPr>
                <a:latin typeface="Trebuchet MS" panose="020B0603020202020204" pitchFamily="34" charset="0"/>
              </a:rPr>
              <a:t>• 25 % Sicherheitszuschlag federt CAD-Revisionsstände, Snapshots &amp; Render-Caches ab.</a:t>
            </a:r>
          </a:p>
          <a:p>
            <a:pPr>
              <a:spcBef>
                <a:spcPts val="200"/>
              </a:spcBef>
              <a:defRPr sz="800">
                <a:solidFill>
                  <a:srgbClr val="262626"/>
                </a:solidFill>
                <a:latin typeface="Calibri"/>
              </a:defRPr>
            </a:pPr>
            <a:r>
              <a:rPr>
                <a:latin typeface="Trebuchet MS" panose="020B0603020202020204" pitchFamily="34" charset="0"/>
              </a:rPr>
              <a:t>• Jahresbedarf: Ca. 1,78 TiB Brutto; Empfehlung: Fileserver mit mind. 4–6 TB Nutzspeicher.</a:t>
            </a:r>
          </a:p>
          <a:p>
            <a:pPr>
              <a:spcBef>
                <a:spcPts val="200"/>
              </a:spcBef>
              <a:defRPr sz="800">
                <a:solidFill>
                  <a:srgbClr val="262626"/>
                </a:solidFill>
                <a:latin typeface="Calibri"/>
              </a:defRPr>
            </a:pPr>
            <a:r>
              <a:rPr>
                <a:latin typeface="Trebuchet MS" panose="020B0603020202020204" pitchFamily="34" charset="0"/>
              </a:rPr>
              <a:t>• Datensicherheit: Tägliche Abendsicherung der 16 externen Samsung SSDs auf den Server.</a:t>
            </a:r>
          </a:p>
        </p:txBody>
      </p:sp>
      <p:sp>
        <p:nvSpPr>
          <p:cNvPr id="10" name="Rounded Rectangle 9"/>
          <p:cNvSpPr/>
          <p:nvPr/>
        </p:nvSpPr>
        <p:spPr>
          <a:xfrm>
            <a:off x="6159500" y="1188720"/>
            <a:ext cx="5080000" cy="5029200"/>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159500" y="1188720"/>
            <a:ext cx="5080000" cy="50292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B.2 Jährliche Energiekosten-Kalkulation</a:t>
            </a:r>
          </a:p>
        </p:txBody>
      </p:sp>
      <p:sp>
        <p:nvSpPr>
          <p:cNvPr id="12" name="Rounded Rectangle 11"/>
          <p:cNvSpPr/>
          <p:nvPr/>
        </p:nvSpPr>
        <p:spPr>
          <a:xfrm>
            <a:off x="6311900" y="1810512"/>
            <a:ext cx="4775200" cy="777240"/>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200" b="1">
                <a:solidFill>
                  <a:srgbClr val="1F497D"/>
                </a:solidFill>
                <a:latin typeface="Calibri"/>
              </a:defRPr>
            </a:pPr>
            <a:r>
              <a:rPr>
                <a:latin typeface="Trebuchet MS" panose="020B0603020202020204" pitchFamily="34" charset="0"/>
              </a:rPr>
              <a:t>1.771,26 €</a:t>
            </a:r>
          </a:p>
          <a:p>
            <a:pPr algn="ctr">
              <a:defRPr sz="900">
                <a:solidFill>
                  <a:srgbClr val="505050"/>
                </a:solidFill>
                <a:latin typeface="Calibri"/>
              </a:defRPr>
            </a:pPr>
            <a:r>
              <a:rPr>
                <a:latin typeface="Trebuchet MS" panose="020B0603020202020204" pitchFamily="34" charset="0"/>
              </a:rPr>
              <a:t>Gesamte jährliche Stromkosten aller 16 Arbeitsplätze (147,61 € / Monat)</a:t>
            </a:r>
          </a:p>
        </p:txBody>
      </p:sp>
      <p:graphicFrame>
        <p:nvGraphicFramePr>
          <p:cNvPr id="13" name="Table 12"/>
          <p:cNvGraphicFramePr>
            <a:graphicFrameLocks noGrp="1"/>
          </p:cNvGraphicFramePr>
          <p:nvPr>
            <p:extLst>
              <p:ext uri="{D42A27DB-BD31-4B8C-83A1-F6EECF244321}">
                <p14:modId xmlns:p14="http://schemas.microsoft.com/office/powerpoint/2010/main" val="3339557474"/>
              </p:ext>
            </p:extLst>
          </p:nvPr>
        </p:nvGraphicFramePr>
        <p:xfrm>
          <a:off x="6286500" y="2697480"/>
          <a:ext cx="4826000" cy="1371600"/>
        </p:xfrm>
        <a:graphic>
          <a:graphicData uri="http://schemas.openxmlformats.org/drawingml/2006/table">
            <a:tbl>
              <a:tblPr firstRow="1" bandRow="1">
                <a:tableStyleId>{5C22544A-7EE6-4342-B048-85BDC9FD1C3A}</a:tableStyleId>
              </a:tblPr>
              <a:tblGrid>
                <a:gridCol w="1653353">
                  <a:extLst>
                    <a:ext uri="{9D8B030D-6E8A-4147-A177-3AD203B41FA5}">
                      <a16:colId xmlns:a16="http://schemas.microsoft.com/office/drawing/2014/main" val="20000"/>
                    </a:ext>
                  </a:extLst>
                </a:gridCol>
                <a:gridCol w="714963">
                  <a:extLst>
                    <a:ext uri="{9D8B030D-6E8A-4147-A177-3AD203B41FA5}">
                      <a16:colId xmlns:a16="http://schemas.microsoft.com/office/drawing/2014/main" val="20001"/>
                    </a:ext>
                  </a:extLst>
                </a:gridCol>
                <a:gridCol w="714963">
                  <a:extLst>
                    <a:ext uri="{9D8B030D-6E8A-4147-A177-3AD203B41FA5}">
                      <a16:colId xmlns:a16="http://schemas.microsoft.com/office/drawing/2014/main" val="20002"/>
                    </a:ext>
                  </a:extLst>
                </a:gridCol>
                <a:gridCol w="893704">
                  <a:extLst>
                    <a:ext uri="{9D8B030D-6E8A-4147-A177-3AD203B41FA5}">
                      <a16:colId xmlns:a16="http://schemas.microsoft.com/office/drawing/2014/main" val="20003"/>
                    </a:ext>
                  </a:extLst>
                </a:gridCol>
                <a:gridCol w="849018">
                  <a:extLst>
                    <a:ext uri="{9D8B030D-6E8A-4147-A177-3AD203B41FA5}">
                      <a16:colId xmlns:a16="http://schemas.microsoft.com/office/drawing/2014/main" val="20004"/>
                    </a:ext>
                  </a:extLst>
                </a:gridCol>
              </a:tblGrid>
              <a:tr h="342900">
                <a:tc>
                  <a:txBody>
                    <a:bodyPr/>
                    <a:lstStyle/>
                    <a:p>
                      <a:pPr>
                        <a:defRPr sz="900" b="1">
                          <a:solidFill>
                            <a:srgbClr val="1F497D"/>
                          </a:solidFill>
                          <a:latin typeface="Calibri"/>
                        </a:defRPr>
                      </a:pPr>
                      <a:r>
                        <a:t>Arbeitsplatztyp</a:t>
                      </a:r>
                    </a:p>
                  </a:txBody>
                  <a:tcPr marL="36576" marR="36576" marT="18288" marB="18288">
                    <a:solidFill>
                      <a:srgbClr val="F0F3F8"/>
                    </a:solidFill>
                  </a:tcPr>
                </a:tc>
                <a:tc>
                  <a:txBody>
                    <a:bodyPr/>
                    <a:lstStyle/>
                    <a:p>
                      <a:pPr algn="r">
                        <a:defRPr sz="900" b="1">
                          <a:solidFill>
                            <a:srgbClr val="1F497D"/>
                          </a:solidFill>
                          <a:latin typeface="Calibri"/>
                        </a:defRPr>
                      </a:pPr>
                      <a:r>
                        <a:t>Leistung</a:t>
                      </a:r>
                    </a:p>
                  </a:txBody>
                  <a:tcPr marL="36576" marR="36576" marT="18288" marB="18288">
                    <a:solidFill>
                      <a:srgbClr val="F0F3F8"/>
                    </a:solidFill>
                  </a:tcPr>
                </a:tc>
                <a:tc>
                  <a:txBody>
                    <a:bodyPr/>
                    <a:lstStyle/>
                    <a:p>
                      <a:pPr algn="r">
                        <a:defRPr sz="900" b="1">
                          <a:solidFill>
                            <a:srgbClr val="1F497D"/>
                          </a:solidFill>
                          <a:latin typeface="Calibri"/>
                        </a:defRPr>
                      </a:pPr>
                      <a:r>
                        <a:t>Stunden</a:t>
                      </a:r>
                    </a:p>
                  </a:txBody>
                  <a:tcPr marL="36576" marR="36576" marT="18288" marB="18288">
                    <a:solidFill>
                      <a:srgbClr val="F0F3F8"/>
                    </a:solidFill>
                  </a:tcPr>
                </a:tc>
                <a:tc>
                  <a:txBody>
                    <a:bodyPr/>
                    <a:lstStyle/>
                    <a:p>
                      <a:pPr algn="r">
                        <a:defRPr sz="900" b="1">
                          <a:solidFill>
                            <a:srgbClr val="1F497D"/>
                          </a:solidFill>
                          <a:latin typeface="Calibri"/>
                        </a:defRPr>
                      </a:pPr>
                      <a:r>
                        <a:t>Verbrauch</a:t>
                      </a:r>
                    </a:p>
                  </a:txBody>
                  <a:tcPr marL="36576" marR="36576" marT="18288" marB="18288">
                    <a:solidFill>
                      <a:srgbClr val="F0F3F8"/>
                    </a:solidFill>
                  </a:tcPr>
                </a:tc>
                <a:tc>
                  <a:txBody>
                    <a:bodyPr/>
                    <a:lstStyle/>
                    <a:p>
                      <a:pPr algn="r">
                        <a:defRPr sz="900" b="1">
                          <a:solidFill>
                            <a:srgbClr val="1F497D"/>
                          </a:solidFill>
                          <a:latin typeface="Calibri"/>
                        </a:defRPr>
                      </a:pPr>
                      <a:r>
                        <a:t>Kosten/Jahr</a:t>
                      </a:r>
                    </a:p>
                  </a:txBody>
                  <a:tcPr marL="36576" marR="36576" marT="18288" marB="18288">
                    <a:solidFill>
                      <a:srgbClr val="F0F3F8"/>
                    </a:solidFill>
                  </a:tcPr>
                </a:tc>
                <a:extLst>
                  <a:ext uri="{0D108BD9-81ED-4DB2-BD59-A6C34878D82A}">
                    <a16:rowId xmlns:a16="http://schemas.microsoft.com/office/drawing/2014/main" val="10000"/>
                  </a:ext>
                </a:extLst>
              </a:tr>
              <a:tr h="342900">
                <a:tc>
                  <a:txBody>
                    <a:bodyPr/>
                    <a:lstStyle/>
                    <a:p>
                      <a:pPr>
                        <a:defRPr sz="850">
                          <a:solidFill>
                            <a:srgbClr val="262626"/>
                          </a:solidFill>
                          <a:latin typeface="Calibri"/>
                        </a:defRPr>
                      </a:pPr>
                      <a:r>
                        <a:t>12 Standard-PCs (à 140 W)</a:t>
                      </a:r>
                    </a:p>
                  </a:txBody>
                  <a:tcPr marL="36576" marR="36576" marT="18288" marB="18288">
                    <a:solidFill>
                      <a:srgbClr val="FAFBFD"/>
                    </a:solidFill>
                  </a:tcPr>
                </a:tc>
                <a:tc>
                  <a:txBody>
                    <a:bodyPr/>
                    <a:lstStyle/>
                    <a:p>
                      <a:pPr algn="r">
                        <a:defRPr sz="850">
                          <a:solidFill>
                            <a:srgbClr val="262626"/>
                          </a:solidFill>
                          <a:latin typeface="Calibri"/>
                        </a:defRPr>
                      </a:pPr>
                      <a:r>
                        <a:t>1,68 kW</a:t>
                      </a:r>
                    </a:p>
                  </a:txBody>
                  <a:tcPr marL="36576" marR="36576" marT="18288" marB="18288">
                    <a:solidFill>
                      <a:srgbClr val="FAFBFD"/>
                    </a:solidFill>
                  </a:tcPr>
                </a:tc>
                <a:tc>
                  <a:txBody>
                    <a:bodyPr/>
                    <a:lstStyle/>
                    <a:p>
                      <a:pPr algn="r">
                        <a:defRPr sz="850">
                          <a:solidFill>
                            <a:srgbClr val="262626"/>
                          </a:solidFill>
                          <a:latin typeface="Calibri"/>
                        </a:defRPr>
                      </a:pPr>
                      <a:r>
                        <a:t>1.870 h</a:t>
                      </a:r>
                    </a:p>
                  </a:txBody>
                  <a:tcPr marL="36576" marR="36576" marT="18288" marB="18288">
                    <a:solidFill>
                      <a:srgbClr val="FAFBFD"/>
                    </a:solidFill>
                  </a:tcPr>
                </a:tc>
                <a:tc>
                  <a:txBody>
                    <a:bodyPr/>
                    <a:lstStyle/>
                    <a:p>
                      <a:pPr algn="r">
                        <a:defRPr sz="850">
                          <a:solidFill>
                            <a:srgbClr val="262626"/>
                          </a:solidFill>
                          <a:latin typeface="Calibri"/>
                        </a:defRPr>
                      </a:pPr>
                      <a:r>
                        <a:t>3.141,6 kWh</a:t>
                      </a:r>
                    </a:p>
                  </a:txBody>
                  <a:tcPr marL="36576" marR="36576" marT="18288" marB="18288">
                    <a:solidFill>
                      <a:srgbClr val="FAFBFD"/>
                    </a:solidFill>
                  </a:tcPr>
                </a:tc>
                <a:tc>
                  <a:txBody>
                    <a:bodyPr/>
                    <a:lstStyle/>
                    <a:p>
                      <a:pPr algn="r">
                        <a:defRPr sz="850">
                          <a:solidFill>
                            <a:srgbClr val="262626"/>
                          </a:solidFill>
                          <a:latin typeface="Calibri"/>
                        </a:defRPr>
                      </a:pPr>
                      <a:r>
                        <a:t>1.005,31 €</a:t>
                      </a:r>
                    </a:p>
                  </a:txBody>
                  <a:tcPr marL="36576" marR="36576" marT="18288" marB="18288">
                    <a:solidFill>
                      <a:srgbClr val="FAFBFD"/>
                    </a:solidFill>
                  </a:tcPr>
                </a:tc>
                <a:extLst>
                  <a:ext uri="{0D108BD9-81ED-4DB2-BD59-A6C34878D82A}">
                    <a16:rowId xmlns:a16="http://schemas.microsoft.com/office/drawing/2014/main" val="10001"/>
                  </a:ext>
                </a:extLst>
              </a:tr>
              <a:tr h="342900">
                <a:tc>
                  <a:txBody>
                    <a:bodyPr/>
                    <a:lstStyle/>
                    <a:p>
                      <a:pPr>
                        <a:defRPr sz="850">
                          <a:solidFill>
                            <a:srgbClr val="262626"/>
                          </a:solidFill>
                          <a:latin typeface="Calibri"/>
                        </a:defRPr>
                      </a:pPr>
                      <a:r>
                        <a:t>4 CAD-Workstations (à 320 W)</a:t>
                      </a:r>
                    </a:p>
                  </a:txBody>
                  <a:tcPr marL="36576" marR="36576" marT="18288" marB="18288">
                    <a:solidFill>
                      <a:srgbClr val="FFFFFF"/>
                    </a:solidFill>
                  </a:tcPr>
                </a:tc>
                <a:tc>
                  <a:txBody>
                    <a:bodyPr/>
                    <a:lstStyle/>
                    <a:p>
                      <a:pPr algn="r">
                        <a:defRPr sz="850">
                          <a:solidFill>
                            <a:srgbClr val="262626"/>
                          </a:solidFill>
                          <a:latin typeface="Calibri"/>
                        </a:defRPr>
                      </a:pPr>
                      <a:r>
                        <a:t>1,28 kW</a:t>
                      </a:r>
                    </a:p>
                  </a:txBody>
                  <a:tcPr marL="36576" marR="36576" marT="18288" marB="18288">
                    <a:solidFill>
                      <a:srgbClr val="FFFFFF"/>
                    </a:solidFill>
                  </a:tcPr>
                </a:tc>
                <a:tc>
                  <a:txBody>
                    <a:bodyPr/>
                    <a:lstStyle/>
                    <a:p>
                      <a:pPr algn="r">
                        <a:defRPr sz="850">
                          <a:solidFill>
                            <a:srgbClr val="262626"/>
                          </a:solidFill>
                          <a:latin typeface="Calibri"/>
                        </a:defRPr>
                      </a:pPr>
                      <a:r>
                        <a:t>1.870 h</a:t>
                      </a:r>
                    </a:p>
                  </a:txBody>
                  <a:tcPr marL="36576" marR="36576" marT="18288" marB="18288">
                    <a:solidFill>
                      <a:srgbClr val="FFFFFF"/>
                    </a:solidFill>
                  </a:tcPr>
                </a:tc>
                <a:tc>
                  <a:txBody>
                    <a:bodyPr/>
                    <a:lstStyle/>
                    <a:p>
                      <a:pPr algn="r">
                        <a:defRPr sz="850">
                          <a:solidFill>
                            <a:srgbClr val="262626"/>
                          </a:solidFill>
                          <a:latin typeface="Calibri"/>
                        </a:defRPr>
                      </a:pPr>
                      <a:r>
                        <a:t>2.393,6 kWh</a:t>
                      </a:r>
                    </a:p>
                  </a:txBody>
                  <a:tcPr marL="36576" marR="36576" marT="18288" marB="18288">
                    <a:solidFill>
                      <a:srgbClr val="FFFFFF"/>
                    </a:solidFill>
                  </a:tcPr>
                </a:tc>
                <a:tc>
                  <a:txBody>
                    <a:bodyPr/>
                    <a:lstStyle/>
                    <a:p>
                      <a:pPr algn="r">
                        <a:defRPr sz="850">
                          <a:solidFill>
                            <a:srgbClr val="262626"/>
                          </a:solidFill>
                          <a:latin typeface="Calibri"/>
                        </a:defRPr>
                      </a:pPr>
                      <a:r>
                        <a:t>765,95 €</a:t>
                      </a:r>
                    </a:p>
                  </a:txBody>
                  <a:tcPr marL="36576" marR="36576" marT="18288" marB="18288">
                    <a:solidFill>
                      <a:srgbClr val="FFFFFF"/>
                    </a:solidFill>
                  </a:tcPr>
                </a:tc>
                <a:extLst>
                  <a:ext uri="{0D108BD9-81ED-4DB2-BD59-A6C34878D82A}">
                    <a16:rowId xmlns:a16="http://schemas.microsoft.com/office/drawing/2014/main" val="10002"/>
                  </a:ext>
                </a:extLst>
              </a:tr>
              <a:tr h="342900">
                <a:tc>
                  <a:txBody>
                    <a:bodyPr/>
                    <a:lstStyle/>
                    <a:p>
                      <a:pPr>
                        <a:defRPr sz="850" b="1">
                          <a:solidFill>
                            <a:srgbClr val="1F497D"/>
                          </a:solidFill>
                          <a:latin typeface="Calibri"/>
                        </a:defRPr>
                      </a:pPr>
                      <a:r>
                        <a:t>Gesamtsystem (16 Plätze)</a:t>
                      </a:r>
                    </a:p>
                  </a:txBody>
                  <a:tcPr marL="36576" marR="36576" marT="18288" marB="18288">
                    <a:solidFill>
                      <a:srgbClr val="FFFAEB"/>
                    </a:solidFill>
                  </a:tcPr>
                </a:tc>
                <a:tc>
                  <a:txBody>
                    <a:bodyPr/>
                    <a:lstStyle/>
                    <a:p>
                      <a:pPr algn="r">
                        <a:defRPr sz="850" b="1">
                          <a:solidFill>
                            <a:srgbClr val="1F497D"/>
                          </a:solidFill>
                          <a:latin typeface="Calibri"/>
                        </a:defRPr>
                      </a:pPr>
                      <a:r>
                        <a:t>2,96 kW</a:t>
                      </a:r>
                    </a:p>
                  </a:txBody>
                  <a:tcPr marL="36576" marR="36576" marT="18288" marB="18288">
                    <a:solidFill>
                      <a:srgbClr val="FFFAEB"/>
                    </a:solidFill>
                  </a:tcPr>
                </a:tc>
                <a:tc>
                  <a:txBody>
                    <a:bodyPr/>
                    <a:lstStyle/>
                    <a:p>
                      <a:pPr algn="r">
                        <a:defRPr sz="850" b="1">
                          <a:solidFill>
                            <a:srgbClr val="1F497D"/>
                          </a:solidFill>
                          <a:latin typeface="Calibri"/>
                        </a:defRPr>
                      </a:pPr>
                      <a:r>
                        <a:t>1.870 h</a:t>
                      </a:r>
                    </a:p>
                  </a:txBody>
                  <a:tcPr marL="36576" marR="36576" marT="18288" marB="18288">
                    <a:solidFill>
                      <a:srgbClr val="FFFAEB"/>
                    </a:solidFill>
                  </a:tcPr>
                </a:tc>
                <a:tc>
                  <a:txBody>
                    <a:bodyPr/>
                    <a:lstStyle/>
                    <a:p>
                      <a:pPr algn="r">
                        <a:defRPr sz="850" b="1">
                          <a:solidFill>
                            <a:srgbClr val="1F497D"/>
                          </a:solidFill>
                          <a:latin typeface="Calibri"/>
                        </a:defRPr>
                      </a:pPr>
                      <a:r>
                        <a:t>5.535,2 kWh</a:t>
                      </a:r>
                    </a:p>
                  </a:txBody>
                  <a:tcPr marL="36576" marR="36576" marT="18288" marB="18288">
                    <a:solidFill>
                      <a:srgbClr val="FFFAEB"/>
                    </a:solidFill>
                  </a:tcPr>
                </a:tc>
                <a:tc>
                  <a:txBody>
                    <a:bodyPr/>
                    <a:lstStyle/>
                    <a:p>
                      <a:pPr algn="r">
                        <a:defRPr sz="850" b="1">
                          <a:solidFill>
                            <a:srgbClr val="1F497D"/>
                          </a:solidFill>
                          <a:latin typeface="Calibri"/>
                        </a:defRPr>
                      </a:pPr>
                      <a:r>
                        <a:t>= 1.771,26 €</a:t>
                      </a:r>
                    </a:p>
                  </a:txBody>
                  <a:tcPr marL="36576" marR="36576" marT="18288" marB="18288">
                    <a:solidFill>
                      <a:srgbClr val="FFFAEB"/>
                    </a:solidFill>
                  </a:tcPr>
                </a:tc>
                <a:extLst>
                  <a:ext uri="{0D108BD9-81ED-4DB2-BD59-A6C34878D82A}">
                    <a16:rowId xmlns:a16="http://schemas.microsoft.com/office/drawing/2014/main" val="10003"/>
                  </a:ext>
                </a:extLst>
              </a:tr>
            </a:tbl>
          </a:graphicData>
        </a:graphic>
      </p:graphicFrame>
      <p:sp>
        <p:nvSpPr>
          <p:cNvPr id="14" name="Rounded Rectangle 13"/>
          <p:cNvSpPr/>
          <p:nvPr/>
        </p:nvSpPr>
        <p:spPr>
          <a:xfrm>
            <a:off x="6311900" y="4206240"/>
            <a:ext cx="4775200" cy="182880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1F497D"/>
                </a:solidFill>
                <a:latin typeface="Calibri"/>
              </a:defRPr>
            </a:pPr>
            <a:r>
              <a:rPr>
                <a:latin typeface="Trebuchet MS" panose="020B0603020202020204" pitchFamily="34" charset="0"/>
              </a:rPr>
              <a:t>⚡ Kennzahlen &amp; Energiespar-Empfehlungen:</a:t>
            </a:r>
          </a:p>
          <a:p>
            <a:pPr>
              <a:spcBef>
                <a:spcPts val="200"/>
              </a:spcBef>
              <a:defRPr sz="800">
                <a:solidFill>
                  <a:srgbClr val="262626"/>
                </a:solidFill>
                <a:latin typeface="Calibri"/>
              </a:defRPr>
            </a:pPr>
            <a:r>
              <a:rPr>
                <a:latin typeface="Trebuchet MS" panose="020B0603020202020204" pitchFamily="34" charset="0"/>
              </a:rPr>
              <a:t>• Parameter: 220 Arbeitstage · 8,5 h Laufzeit/Tag · Strompreis vertraglich 0,32 €/kWh.</a:t>
            </a:r>
          </a:p>
          <a:p>
            <a:pPr>
              <a:spcBef>
                <a:spcPts val="200"/>
              </a:spcBef>
              <a:defRPr sz="800">
                <a:solidFill>
                  <a:srgbClr val="262626"/>
                </a:solidFill>
                <a:latin typeface="Calibri"/>
              </a:defRPr>
            </a:pPr>
            <a:r>
              <a:rPr>
                <a:latin typeface="Trebuchet MS" panose="020B0603020202020204" pitchFamily="34" charset="0"/>
              </a:rPr>
              <a:t>• Geringe Kosten je Platz: Durchschnittlich nur ca. 110,70 € Stromkosten pro Arbeitsplatz im Jahr.</a:t>
            </a:r>
          </a:p>
          <a:p>
            <a:pPr>
              <a:spcBef>
                <a:spcPts val="200"/>
              </a:spcBef>
              <a:defRPr sz="800">
                <a:solidFill>
                  <a:srgbClr val="262626"/>
                </a:solidFill>
                <a:latin typeface="Calibri"/>
              </a:defRPr>
            </a:pPr>
            <a:r>
              <a:rPr>
                <a:latin typeface="Trebuchet MS" panose="020B0603020202020204" pitchFamily="34" charset="0"/>
              </a:rPr>
              <a:t>• Aufteilung: Standard-PCs machen 56,8 % des Verbrauchs aus, CAD-Workstations 43,2 %.</a:t>
            </a:r>
          </a:p>
          <a:p>
            <a:pPr>
              <a:spcBef>
                <a:spcPts val="200"/>
              </a:spcBef>
              <a:defRPr sz="800">
                <a:solidFill>
                  <a:srgbClr val="262626"/>
                </a:solidFill>
                <a:latin typeface="Calibri"/>
              </a:defRPr>
            </a:pPr>
            <a:r>
              <a:rPr>
                <a:latin typeface="Trebuchet MS" panose="020B0603020202020204" pitchFamily="34" charset="0"/>
              </a:rPr>
              <a:t>• Bis zu 15 % Einsparpotenzial (ca. 265 €/a) durch Windows-Ruhezustand nach 15 min Inaktivität.</a:t>
            </a:r>
          </a:p>
          <a:p>
            <a:pPr>
              <a:spcBef>
                <a:spcPts val="200"/>
              </a:spcBef>
              <a:defRPr sz="800">
                <a:solidFill>
                  <a:srgbClr val="262626"/>
                </a:solidFill>
                <a:latin typeface="Calibri"/>
              </a:defRPr>
            </a:pPr>
            <a:r>
              <a:rPr>
                <a:latin typeface="Trebuchet MS" panose="020B0603020202020204" pitchFamily="34" charset="0"/>
              </a:rPr>
              <a:t>• Schutz vor Standby-Verlusten: Master-Slave-Steckdosenleisten schalten Monitore nach Feierabend ab.</a:t>
            </a:r>
          </a:p>
        </p:txBody>
      </p:sp>
      <p:pic>
        <p:nvPicPr>
          <p:cNvPr id="16" name="NextLevelLogo_11">
            <a:extLst>
              <a:ext uri="{FF2B5EF4-FFF2-40B4-BE49-F238E27FC236}">
                <a16:creationId xmlns:a16="http://schemas.microsoft.com/office/drawing/2014/main" id="{7EBF85E1-ABEC-E74F-8C35-53A17E134104}"/>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499" y="152399"/>
            <a:ext cx="6807441"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QUALITÄT &amp; UMWELT</a:t>
            </a:r>
          </a:p>
          <a:p>
            <a:pPr>
              <a:defRPr sz="2000" b="1">
                <a:solidFill>
                  <a:srgbClr val="FFFFFF"/>
                </a:solidFill>
                <a:latin typeface="Calibri"/>
              </a:defRPr>
            </a:pPr>
            <a:r>
              <a:rPr sz="2200" b="1">
                <a:solidFill>
                  <a:srgbClr val="2C3C43"/>
                </a:solidFill>
                <a:latin typeface="Trebuchet MS" panose="020B0603020202020204" pitchFamily="34" charset="0"/>
              </a:rPr>
              <a:t>Qualitätssicherung: Wareneingang und Entsorgung</a:t>
            </a:r>
          </a:p>
        </p:txBody>
      </p:sp>
      <p:sp>
        <p:nvSpPr>
          <p:cNvPr id="4" name="TextBox 3"/>
          <p:cNvSpPr txBox="1"/>
          <p:nvPr/>
        </p:nvSpPr>
        <p:spPr>
          <a:xfrm>
            <a:off x="698500" y="641350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12 von 16</a:t>
            </a:r>
          </a:p>
        </p:txBody>
      </p:sp>
      <p:sp>
        <p:nvSpPr>
          <p:cNvPr id="5" name="Rounded Rectangle 4"/>
          <p:cNvSpPr/>
          <p:nvPr/>
        </p:nvSpPr>
        <p:spPr>
          <a:xfrm>
            <a:off x="6985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ectangle 5"/>
          <p:cNvSpPr/>
          <p:nvPr/>
        </p:nvSpPr>
        <p:spPr>
          <a:xfrm>
            <a:off x="698500" y="1371600"/>
            <a:ext cx="3378200" cy="64008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TextBox 6"/>
          <p:cNvSpPr txBox="1"/>
          <p:nvPr/>
        </p:nvSpPr>
        <p:spPr>
          <a:xfrm>
            <a:off x="850900" y="1481328"/>
            <a:ext cx="3073400" cy="276999"/>
          </a:xfrm>
          <a:prstGeom prst="rect">
            <a:avLst/>
          </a:prstGeom>
          <a:noFill/>
        </p:spPr>
        <p:txBody>
          <a:bodyPr wrap="square">
            <a:spAutoFit/>
          </a:bodyPr>
          <a:lstStyle/>
          <a:p>
            <a:pPr algn="ctr">
              <a:defRPr sz="1200" b="1">
                <a:solidFill>
                  <a:srgbClr val="FFFFFF"/>
                </a:solidFill>
                <a:latin typeface="Calibri"/>
              </a:defRPr>
            </a:pPr>
            <a:r>
              <a:rPr>
                <a:latin typeface="Trebuchet MS" panose="020B0603020202020204" pitchFamily="34" charset="0"/>
              </a:rPr>
              <a:t>Wareneingang § 377 HGB</a:t>
            </a:r>
          </a:p>
        </p:txBody>
      </p:sp>
      <p:sp>
        <p:nvSpPr>
          <p:cNvPr id="8" name="TextBox 7"/>
          <p:cNvSpPr txBox="1"/>
          <p:nvPr/>
        </p:nvSpPr>
        <p:spPr>
          <a:xfrm>
            <a:off x="850900" y="2148840"/>
            <a:ext cx="3073400" cy="2092881"/>
          </a:xfrm>
          <a:prstGeom prst="rect">
            <a:avLst/>
          </a:prstGeom>
          <a:noFill/>
        </p:spPr>
        <p:txBody>
          <a:bodyPr wrap="square">
            <a:spAutoFit/>
          </a:bodyPr>
          <a:lstStyle/>
          <a:p>
            <a:pPr>
              <a:spcAft>
                <a:spcPts val="800"/>
              </a:spcAft>
              <a:defRPr sz="1000" b="1">
                <a:solidFill>
                  <a:srgbClr val="1F497D"/>
                </a:solidFill>
                <a:latin typeface="Calibri"/>
              </a:defRPr>
            </a:pPr>
            <a:r>
              <a:rPr>
                <a:latin typeface="Trebuchet MS" panose="020B0603020202020204" pitchFamily="34" charset="0"/>
              </a:rPr>
              <a:t>Unverzügliche Prüfung: </a:t>
            </a:r>
            <a:r>
              <a:rPr b="0">
                <a:solidFill>
                  <a:srgbClr val="262626"/>
                </a:solidFill>
                <a:latin typeface="Trebuchet MS" panose="020B0603020202020204" pitchFamily="34" charset="0"/>
              </a:rPr>
              <a:t>Im kaufmännischen Geschäftsverkehr muss gelieferte Ware unverzüglich geprüft werden.</a:t>
            </a:r>
          </a:p>
          <a:p>
            <a:pPr>
              <a:spcAft>
                <a:spcPts val="800"/>
              </a:spcAft>
              <a:defRPr sz="1000" b="1">
                <a:solidFill>
                  <a:srgbClr val="1F497D"/>
                </a:solidFill>
                <a:latin typeface="Calibri"/>
              </a:defRPr>
            </a:pPr>
            <a:r>
              <a:rPr>
                <a:latin typeface="Trebuchet MS" panose="020B0603020202020204" pitchFamily="34" charset="0"/>
              </a:rPr>
              <a:t>Offene Mängel: </a:t>
            </a:r>
            <a:r>
              <a:rPr b="0">
                <a:solidFill>
                  <a:srgbClr val="262626"/>
                </a:solidFill>
                <a:latin typeface="Trebuchet MS" panose="020B0603020202020204" pitchFamily="34" charset="0"/>
              </a:rPr>
              <a:t>Sichtbare Schäden (z.B. beschädigter Karton) müssen sofort auf dem Frachtbrief vermerkt und gerügt werden.</a:t>
            </a:r>
          </a:p>
          <a:p>
            <a:pPr>
              <a:spcAft>
                <a:spcPts val="800"/>
              </a:spcAft>
              <a:defRPr sz="1000" b="1">
                <a:solidFill>
                  <a:srgbClr val="1F497D"/>
                </a:solidFill>
                <a:latin typeface="Calibri"/>
              </a:defRPr>
            </a:pPr>
            <a:r>
              <a:rPr>
                <a:latin typeface="Trebuchet MS" panose="020B0603020202020204" pitchFamily="34" charset="0"/>
              </a:rPr>
              <a:t>Verdeckte Mängel: </a:t>
            </a:r>
            <a:r>
              <a:rPr b="0">
                <a:solidFill>
                  <a:srgbClr val="262626"/>
                </a:solidFill>
                <a:latin typeface="Trebuchet MS" panose="020B0603020202020204" pitchFamily="34" charset="0"/>
              </a:rPr>
              <a:t>Schäden im Inneren müssen unverzüglich nach Entdeckung angezeigt werden.</a:t>
            </a:r>
          </a:p>
          <a:p>
            <a:pPr>
              <a:spcAft>
                <a:spcPts val="800"/>
              </a:spcAft>
              <a:defRPr sz="1000" b="1">
                <a:solidFill>
                  <a:srgbClr val="1F497D"/>
                </a:solidFill>
                <a:latin typeface="Calibri"/>
              </a:defRPr>
            </a:pPr>
            <a:r>
              <a:rPr>
                <a:latin typeface="Trebuchet MS" panose="020B0603020202020204" pitchFamily="34" charset="0"/>
              </a:rPr>
              <a:t>Rechtsfolge: </a:t>
            </a:r>
            <a:r>
              <a:rPr b="0">
                <a:solidFill>
                  <a:srgbClr val="262626"/>
                </a:solidFill>
                <a:latin typeface="Trebuchet MS" panose="020B0603020202020204" pitchFamily="34" charset="0"/>
              </a:rPr>
              <a:t>Ohne rechtzeitige Rüge gilt die Ware als genehmigt (§ 377 Abs. 2 HGB) – Verlust von Rechten!</a:t>
            </a:r>
          </a:p>
        </p:txBody>
      </p:sp>
      <p:sp>
        <p:nvSpPr>
          <p:cNvPr id="9" name="Rounded Rectangle 8"/>
          <p:cNvSpPr/>
          <p:nvPr/>
        </p:nvSpPr>
        <p:spPr>
          <a:xfrm>
            <a:off x="43434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Rectangle 9"/>
          <p:cNvSpPr/>
          <p:nvPr/>
        </p:nvSpPr>
        <p:spPr>
          <a:xfrm>
            <a:off x="4343400" y="1371600"/>
            <a:ext cx="3378200" cy="64008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TextBox 10"/>
          <p:cNvSpPr txBox="1"/>
          <p:nvPr/>
        </p:nvSpPr>
        <p:spPr>
          <a:xfrm>
            <a:off x="4495800" y="1481328"/>
            <a:ext cx="3073400" cy="276999"/>
          </a:xfrm>
          <a:prstGeom prst="rect">
            <a:avLst/>
          </a:prstGeom>
          <a:noFill/>
        </p:spPr>
        <p:txBody>
          <a:bodyPr wrap="square">
            <a:spAutoFit/>
          </a:bodyPr>
          <a:lstStyle/>
          <a:p>
            <a:pPr algn="ctr">
              <a:defRPr sz="1200" b="1">
                <a:solidFill>
                  <a:srgbClr val="FFFFFF"/>
                </a:solidFill>
                <a:latin typeface="Calibri"/>
              </a:defRPr>
            </a:pPr>
            <a:r>
              <a:rPr>
                <a:latin typeface="Trebuchet MS" panose="020B0603020202020204" pitchFamily="34" charset="0"/>
              </a:rPr>
              <a:t>Praxisfall: Mängelrüge</a:t>
            </a:r>
          </a:p>
        </p:txBody>
      </p:sp>
      <p:sp>
        <p:nvSpPr>
          <p:cNvPr id="12" name="TextBox 11"/>
          <p:cNvSpPr txBox="1"/>
          <p:nvPr/>
        </p:nvSpPr>
        <p:spPr>
          <a:xfrm>
            <a:off x="4495800" y="2148840"/>
            <a:ext cx="3073400" cy="1785104"/>
          </a:xfrm>
          <a:prstGeom prst="rect">
            <a:avLst/>
          </a:prstGeom>
          <a:noFill/>
        </p:spPr>
        <p:txBody>
          <a:bodyPr wrap="square">
            <a:spAutoFit/>
          </a:bodyPr>
          <a:lstStyle/>
          <a:p>
            <a:pPr>
              <a:spcAft>
                <a:spcPts val="800"/>
              </a:spcAft>
              <a:defRPr sz="1000" b="1">
                <a:solidFill>
                  <a:srgbClr val="1F497D"/>
                </a:solidFill>
                <a:latin typeface="Calibri"/>
              </a:defRPr>
            </a:pPr>
            <a:r>
              <a:rPr>
                <a:latin typeface="Trebuchet MS" panose="020B0603020202020204" pitchFamily="34" charset="0"/>
              </a:rPr>
              <a:t>Mangel 1: </a:t>
            </a:r>
            <a:r>
              <a:rPr b="0">
                <a:solidFill>
                  <a:srgbClr val="262626"/>
                </a:solidFill>
                <a:latin typeface="Trebuchet MS" panose="020B0603020202020204" pitchFamily="34" charset="0"/>
              </a:rPr>
              <a:t>Gehäuseschaden an einer Lenovo ThinkStation P3 (Transportschaden/Delle).</a:t>
            </a:r>
          </a:p>
          <a:p>
            <a:pPr>
              <a:spcAft>
                <a:spcPts val="800"/>
              </a:spcAft>
              <a:defRPr sz="1000" b="1">
                <a:solidFill>
                  <a:srgbClr val="1F497D"/>
                </a:solidFill>
                <a:latin typeface="Calibri"/>
              </a:defRPr>
            </a:pPr>
            <a:r>
              <a:rPr>
                <a:latin typeface="Trebuchet MS" panose="020B0603020202020204" pitchFamily="34" charset="0"/>
              </a:rPr>
              <a:t>Mangel 2: </a:t>
            </a:r>
            <a:r>
              <a:rPr b="0">
                <a:solidFill>
                  <a:srgbClr val="262626"/>
                </a:solidFill>
                <a:latin typeface="Trebuchet MS" panose="020B0603020202020204" pitchFamily="34" charset="0"/>
              </a:rPr>
              <a:t>Fehllieferung eines Monitors (Full-HD statt bestelltem WQHD-Display).</a:t>
            </a:r>
          </a:p>
          <a:p>
            <a:pPr>
              <a:spcAft>
                <a:spcPts val="800"/>
              </a:spcAft>
              <a:defRPr sz="1000" b="1">
                <a:solidFill>
                  <a:srgbClr val="1F497D"/>
                </a:solidFill>
                <a:latin typeface="Calibri"/>
              </a:defRPr>
            </a:pPr>
            <a:r>
              <a:rPr>
                <a:latin typeface="Trebuchet MS" panose="020B0603020202020204" pitchFamily="34" charset="0"/>
              </a:rPr>
              <a:t>Schriftliche Rüge: </a:t>
            </a:r>
            <a:r>
              <a:rPr b="0">
                <a:solidFill>
                  <a:srgbClr val="262626"/>
                </a:solidFill>
                <a:latin typeface="Trebuchet MS" panose="020B0603020202020204" pitchFamily="34" charset="0"/>
              </a:rPr>
              <a:t>Kaufmännisches Rüge-Schreiben nach DIN 5008 an den Distributor.</a:t>
            </a:r>
          </a:p>
          <a:p>
            <a:pPr>
              <a:spcAft>
                <a:spcPts val="800"/>
              </a:spcAft>
              <a:defRPr sz="1000" b="1">
                <a:solidFill>
                  <a:srgbClr val="1F497D"/>
                </a:solidFill>
                <a:latin typeface="Calibri"/>
              </a:defRPr>
            </a:pPr>
            <a:r>
              <a:rPr>
                <a:latin typeface="Trebuchet MS" panose="020B0603020202020204" pitchFamily="34" charset="0"/>
              </a:rPr>
              <a:t>Fristsetzung: </a:t>
            </a:r>
            <a:r>
              <a:rPr b="0">
                <a:solidFill>
                  <a:srgbClr val="262626"/>
                </a:solidFill>
                <a:latin typeface="Trebuchet MS" panose="020B0603020202020204" pitchFamily="34" charset="0"/>
              </a:rPr>
              <a:t>Konkrete Frist zur kostenfreien Nachlieferung einwandfreier Ware binnen 14 Tagen.</a:t>
            </a:r>
          </a:p>
        </p:txBody>
      </p:sp>
      <p:sp>
        <p:nvSpPr>
          <p:cNvPr id="13" name="Rounded Rectangle 12"/>
          <p:cNvSpPr/>
          <p:nvPr/>
        </p:nvSpPr>
        <p:spPr>
          <a:xfrm>
            <a:off x="79883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Rectangle 13"/>
          <p:cNvSpPr/>
          <p:nvPr/>
        </p:nvSpPr>
        <p:spPr>
          <a:xfrm>
            <a:off x="7988300" y="1371600"/>
            <a:ext cx="3378200" cy="64008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TextBox 14"/>
          <p:cNvSpPr txBox="1"/>
          <p:nvPr/>
        </p:nvSpPr>
        <p:spPr>
          <a:xfrm>
            <a:off x="8140700" y="1481328"/>
            <a:ext cx="3073400" cy="276999"/>
          </a:xfrm>
          <a:prstGeom prst="rect">
            <a:avLst/>
          </a:prstGeom>
          <a:noFill/>
        </p:spPr>
        <p:txBody>
          <a:bodyPr wrap="square">
            <a:spAutoFit/>
          </a:bodyPr>
          <a:lstStyle/>
          <a:p>
            <a:pPr algn="ctr">
              <a:defRPr sz="1200" b="1">
                <a:solidFill>
                  <a:srgbClr val="FFFFFF"/>
                </a:solidFill>
                <a:latin typeface="Calibri"/>
              </a:defRPr>
            </a:pPr>
            <a:r>
              <a:rPr>
                <a:latin typeface="Trebuchet MS" panose="020B0603020202020204" pitchFamily="34" charset="0"/>
              </a:rPr>
              <a:t>Altdrucker-Entsorgung</a:t>
            </a:r>
          </a:p>
        </p:txBody>
      </p:sp>
      <p:sp>
        <p:nvSpPr>
          <p:cNvPr id="16" name="TextBox 15"/>
          <p:cNvSpPr txBox="1"/>
          <p:nvPr/>
        </p:nvSpPr>
        <p:spPr>
          <a:xfrm>
            <a:off x="8140700" y="2148840"/>
            <a:ext cx="3073400" cy="2092881"/>
          </a:xfrm>
          <a:prstGeom prst="rect">
            <a:avLst/>
          </a:prstGeom>
          <a:noFill/>
        </p:spPr>
        <p:txBody>
          <a:bodyPr wrap="square">
            <a:spAutoFit/>
          </a:bodyPr>
          <a:lstStyle/>
          <a:p>
            <a:pPr>
              <a:spcAft>
                <a:spcPts val="800"/>
              </a:spcAft>
              <a:defRPr sz="1000" b="1">
                <a:solidFill>
                  <a:srgbClr val="1F497D"/>
                </a:solidFill>
                <a:latin typeface="Calibri"/>
              </a:defRPr>
            </a:pPr>
            <a:r>
              <a:rPr>
                <a:latin typeface="Trebuchet MS" panose="020B0603020202020204" pitchFamily="34" charset="0"/>
              </a:rPr>
              <a:t>ElektroG / WEEE: </a:t>
            </a:r>
            <a:r>
              <a:rPr b="0">
                <a:solidFill>
                  <a:srgbClr val="262626"/>
                </a:solidFill>
                <a:latin typeface="Trebuchet MS" panose="020B0603020202020204" pitchFamily="34" charset="0"/>
              </a:rPr>
              <a:t>Fachgerechte Entsorgung als B2B-Altgerät bei einem zertifizierten Entsorgungsfachbetrieb.</a:t>
            </a:r>
          </a:p>
          <a:p>
            <a:pPr>
              <a:spcAft>
                <a:spcPts val="800"/>
              </a:spcAft>
              <a:defRPr sz="1000" b="1">
                <a:solidFill>
                  <a:srgbClr val="1F497D"/>
                </a:solidFill>
                <a:latin typeface="Calibri"/>
              </a:defRPr>
            </a:pPr>
            <a:r>
              <a:rPr>
                <a:latin typeface="Trebuchet MS" panose="020B0603020202020204" pitchFamily="34" charset="0"/>
              </a:rPr>
              <a:t>Toner-Kassetten: </a:t>
            </a:r>
            <a:r>
              <a:rPr b="0">
                <a:solidFill>
                  <a:srgbClr val="262626"/>
                </a:solidFill>
                <a:latin typeface="Trebuchet MS" panose="020B0603020202020204" pitchFamily="34" charset="0"/>
              </a:rPr>
              <a:t>Resttoner und Kassetten separat über geschlossene Recyclingprogramme entsorgen.</a:t>
            </a:r>
          </a:p>
          <a:p>
            <a:pPr>
              <a:spcAft>
                <a:spcPts val="800"/>
              </a:spcAft>
              <a:defRPr sz="1000" b="1">
                <a:solidFill>
                  <a:srgbClr val="1F497D"/>
                </a:solidFill>
                <a:latin typeface="Calibri"/>
              </a:defRPr>
            </a:pPr>
            <a:r>
              <a:rPr>
                <a:latin typeface="Trebuchet MS" panose="020B0603020202020204" pitchFamily="34" charset="0"/>
              </a:rPr>
              <a:t>Feinstaubschutz: </a:t>
            </a:r>
            <a:r>
              <a:rPr b="0">
                <a:solidFill>
                  <a:srgbClr val="262626"/>
                </a:solidFill>
                <a:latin typeface="Trebuchet MS" panose="020B0603020202020204" pitchFamily="34" charset="0"/>
              </a:rPr>
              <a:t>Sicherheitshandschuhe und Maske beim Ausbau verwenden.</a:t>
            </a:r>
          </a:p>
          <a:p>
            <a:pPr>
              <a:spcAft>
                <a:spcPts val="800"/>
              </a:spcAft>
              <a:defRPr sz="1000" b="1">
                <a:solidFill>
                  <a:srgbClr val="1F497D"/>
                </a:solidFill>
                <a:latin typeface="Calibri"/>
              </a:defRPr>
            </a:pPr>
            <a:r>
              <a:rPr>
                <a:latin typeface="Trebuchet MS" panose="020B0603020202020204" pitchFamily="34" charset="0"/>
              </a:rPr>
              <a:t>Datenlöschung (BSI): </a:t>
            </a:r>
            <a:r>
              <a:rPr b="0">
                <a:solidFill>
                  <a:srgbClr val="262626"/>
                </a:solidFill>
                <a:latin typeface="Trebuchet MS" panose="020B0603020202020204" pitchFamily="34" charset="0"/>
              </a:rPr>
              <a:t>Interne Speicher/Festplatten vor der Entsorgung 3-fach sicher überschreiben.</a:t>
            </a:r>
          </a:p>
        </p:txBody>
      </p:sp>
      <p:pic>
        <p:nvPicPr>
          <p:cNvPr id="18" name="NextLevelLogo_12">
            <a:extLst>
              <a:ext uri="{FF2B5EF4-FFF2-40B4-BE49-F238E27FC236}">
                <a16:creationId xmlns:a16="http://schemas.microsoft.com/office/drawing/2014/main" id="{AFA25D3B-3A4A-1B6F-FA07-2B7B0E3B1326}"/>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399"/>
            <a:ext cx="5112297"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ROLLOUT</a:t>
            </a:r>
          </a:p>
          <a:p>
            <a:pPr>
              <a:defRPr sz="2000" b="1">
                <a:solidFill>
                  <a:srgbClr val="FFFFFF"/>
                </a:solidFill>
                <a:latin typeface="Calibri"/>
              </a:defRPr>
            </a:pPr>
            <a:r>
              <a:rPr sz="2200" b="1">
                <a:solidFill>
                  <a:srgbClr val="2C3C43"/>
                </a:solidFill>
                <a:latin typeface="Trebuchet MS" panose="020B0603020202020204" pitchFamily="34" charset="0"/>
              </a:rPr>
              <a:t>Rollout-Phasen und Übergabe vor Ort</a:t>
            </a:r>
          </a:p>
        </p:txBody>
      </p:sp>
      <p:sp>
        <p:nvSpPr>
          <p:cNvPr id="4" name="TextBox 3"/>
          <p:cNvSpPr txBox="1"/>
          <p:nvPr/>
        </p:nvSpPr>
        <p:spPr>
          <a:xfrm>
            <a:off x="698500" y="641350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13 von 16</a:t>
            </a:r>
          </a:p>
        </p:txBody>
      </p:sp>
      <p:sp>
        <p:nvSpPr>
          <p:cNvPr id="5" name="Rounded Rectangle 4"/>
          <p:cNvSpPr/>
          <p:nvPr/>
        </p:nvSpPr>
        <p:spPr>
          <a:xfrm>
            <a:off x="698500" y="1371600"/>
            <a:ext cx="24765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Oval 5"/>
          <p:cNvSpPr/>
          <p:nvPr/>
        </p:nvSpPr>
        <p:spPr>
          <a:xfrm>
            <a:off x="1568450" y="1554480"/>
            <a:ext cx="736600" cy="736600"/>
          </a:xfrm>
          <a:prstGeom prst="ellipse">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rPr>
                <a:latin typeface="Trebuchet MS" panose="020B0603020202020204" pitchFamily="34" charset="0"/>
              </a:rPr>
              <a:t>01</a:t>
            </a:r>
          </a:p>
        </p:txBody>
      </p:sp>
      <p:sp>
        <p:nvSpPr>
          <p:cNvPr id="7" name="TextBox 6"/>
          <p:cNvSpPr txBox="1"/>
          <p:nvPr/>
        </p:nvSpPr>
        <p:spPr>
          <a:xfrm>
            <a:off x="800100" y="2468880"/>
            <a:ext cx="2273300" cy="415498"/>
          </a:xfrm>
          <a:prstGeom prst="rect">
            <a:avLst/>
          </a:prstGeom>
          <a:noFill/>
        </p:spPr>
        <p:txBody>
          <a:bodyPr wrap="square">
            <a:spAutoFit/>
          </a:bodyPr>
          <a:lstStyle/>
          <a:p>
            <a:pPr algn="ctr">
              <a:defRPr sz="1150" b="1">
                <a:solidFill>
                  <a:srgbClr val="1F497D"/>
                </a:solidFill>
                <a:latin typeface="Calibri"/>
              </a:defRPr>
            </a:pPr>
            <a:r>
              <a:rPr>
                <a:latin typeface="Trebuchet MS" panose="020B0603020202020204" pitchFamily="34" charset="0"/>
              </a:rPr>
              <a:t>Phase 1: Vorinstallation</a:t>
            </a:r>
          </a:p>
          <a:p>
            <a:pPr algn="ctr">
              <a:defRPr sz="950">
                <a:solidFill>
                  <a:srgbClr val="595959"/>
                </a:solidFill>
              </a:defRPr>
            </a:pPr>
            <a:r>
              <a:rPr>
                <a:latin typeface="Trebuchet MS" panose="020B0603020202020204" pitchFamily="34" charset="0"/>
              </a:rPr>
              <a:t>Im Systemhaus-Labor</a:t>
            </a:r>
          </a:p>
        </p:txBody>
      </p:sp>
      <p:sp>
        <p:nvSpPr>
          <p:cNvPr id="8" name="TextBox 7"/>
          <p:cNvSpPr txBox="1"/>
          <p:nvPr/>
        </p:nvSpPr>
        <p:spPr>
          <a:xfrm>
            <a:off x="800100" y="3200400"/>
            <a:ext cx="2273300" cy="1346522"/>
          </a:xfrm>
          <a:prstGeom prst="rect">
            <a:avLst/>
          </a:prstGeom>
          <a:noFill/>
        </p:spPr>
        <p:txBody>
          <a:bodyPr wrap="square">
            <a:spAutoFit/>
          </a:bodyPr>
          <a:lstStyle/>
          <a:p>
            <a:pPr>
              <a:spcAft>
                <a:spcPts val="600"/>
              </a:spcAft>
              <a:defRPr sz="950">
                <a:solidFill>
                  <a:srgbClr val="262626"/>
                </a:solidFill>
                <a:latin typeface="Calibri"/>
              </a:defRPr>
            </a:pPr>
            <a:r>
              <a:rPr>
                <a:latin typeface="Trebuchet MS" panose="020B0603020202020204" pitchFamily="34" charset="0"/>
              </a:rPr>
              <a:t>• Betriebssystem-Betankung über Standard-Image</a:t>
            </a:r>
          </a:p>
          <a:p>
            <a:pPr>
              <a:spcAft>
                <a:spcPts val="600"/>
              </a:spcAft>
              <a:defRPr sz="950">
                <a:solidFill>
                  <a:srgbClr val="262626"/>
                </a:solidFill>
                <a:latin typeface="Calibri"/>
              </a:defRPr>
            </a:pPr>
            <a:r>
              <a:rPr>
                <a:latin typeface="Trebuchet MS" panose="020B0603020202020204" pitchFamily="34" charset="0"/>
              </a:rPr>
              <a:t>• Installation M365, Adobe Acrobat &amp; ESET EDR</a:t>
            </a:r>
          </a:p>
          <a:p>
            <a:pPr>
              <a:spcAft>
                <a:spcPts val="600"/>
              </a:spcAft>
              <a:defRPr sz="950">
                <a:solidFill>
                  <a:srgbClr val="262626"/>
                </a:solidFill>
                <a:latin typeface="Calibri"/>
              </a:defRPr>
            </a:pPr>
            <a:r>
              <a:rPr>
                <a:latin typeface="Trebuchet MS" panose="020B0603020202020204" pitchFamily="34" charset="0"/>
              </a:rPr>
              <a:t>• Einspielen aller Windows- &amp; Treiber-Updates</a:t>
            </a:r>
          </a:p>
          <a:p>
            <a:pPr>
              <a:spcAft>
                <a:spcPts val="600"/>
              </a:spcAft>
              <a:defRPr sz="950">
                <a:solidFill>
                  <a:srgbClr val="262626"/>
                </a:solidFill>
                <a:latin typeface="Calibri"/>
              </a:defRPr>
            </a:pPr>
            <a:r>
              <a:rPr>
                <a:latin typeface="Trebuchet MS" panose="020B0603020202020204" pitchFamily="34" charset="0"/>
              </a:rPr>
              <a:t>• 24h-Dauertest der CAD-Workstations</a:t>
            </a:r>
          </a:p>
        </p:txBody>
      </p:sp>
      <p:sp>
        <p:nvSpPr>
          <p:cNvPr id="9" name="Rounded Rectangle 8"/>
          <p:cNvSpPr/>
          <p:nvPr/>
        </p:nvSpPr>
        <p:spPr>
          <a:xfrm>
            <a:off x="3429000" y="1371600"/>
            <a:ext cx="24765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Oval 9"/>
          <p:cNvSpPr/>
          <p:nvPr/>
        </p:nvSpPr>
        <p:spPr>
          <a:xfrm>
            <a:off x="4298950" y="1554480"/>
            <a:ext cx="736600" cy="736600"/>
          </a:xfrm>
          <a:prstGeom prst="ellipse">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rPr>
                <a:latin typeface="Trebuchet MS" panose="020B0603020202020204" pitchFamily="34" charset="0"/>
              </a:rPr>
              <a:t>02</a:t>
            </a:r>
          </a:p>
        </p:txBody>
      </p:sp>
      <p:sp>
        <p:nvSpPr>
          <p:cNvPr id="11" name="TextBox 10"/>
          <p:cNvSpPr txBox="1"/>
          <p:nvPr/>
        </p:nvSpPr>
        <p:spPr>
          <a:xfrm>
            <a:off x="3530600" y="2468880"/>
            <a:ext cx="2273300" cy="415498"/>
          </a:xfrm>
          <a:prstGeom prst="rect">
            <a:avLst/>
          </a:prstGeom>
          <a:noFill/>
        </p:spPr>
        <p:txBody>
          <a:bodyPr wrap="square">
            <a:spAutoFit/>
          </a:bodyPr>
          <a:lstStyle/>
          <a:p>
            <a:pPr algn="ctr">
              <a:defRPr sz="1150" b="1">
                <a:solidFill>
                  <a:srgbClr val="1F497D"/>
                </a:solidFill>
                <a:latin typeface="Calibri"/>
              </a:defRPr>
            </a:pPr>
            <a:r>
              <a:rPr>
                <a:latin typeface="Trebuchet MS" panose="020B0603020202020204" pitchFamily="34" charset="0"/>
              </a:rPr>
              <a:t>Phase 2: Logistik</a:t>
            </a:r>
          </a:p>
          <a:p>
            <a:pPr algn="ctr">
              <a:defRPr sz="950">
                <a:solidFill>
                  <a:srgbClr val="595959"/>
                </a:solidFill>
              </a:defRPr>
            </a:pPr>
            <a:r>
              <a:rPr>
                <a:latin typeface="Trebuchet MS" panose="020B0603020202020204" pitchFamily="34" charset="0"/>
              </a:rPr>
              <a:t>Sicherer Transport</a:t>
            </a:r>
          </a:p>
        </p:txBody>
      </p:sp>
      <p:sp>
        <p:nvSpPr>
          <p:cNvPr id="12" name="TextBox 11"/>
          <p:cNvSpPr txBox="1"/>
          <p:nvPr/>
        </p:nvSpPr>
        <p:spPr>
          <a:xfrm>
            <a:off x="3530600" y="3200400"/>
            <a:ext cx="2273300" cy="1200329"/>
          </a:xfrm>
          <a:prstGeom prst="rect">
            <a:avLst/>
          </a:prstGeom>
          <a:noFill/>
        </p:spPr>
        <p:txBody>
          <a:bodyPr wrap="square">
            <a:spAutoFit/>
          </a:bodyPr>
          <a:lstStyle/>
          <a:p>
            <a:pPr>
              <a:spcAft>
                <a:spcPts val="600"/>
              </a:spcAft>
              <a:defRPr sz="950">
                <a:solidFill>
                  <a:srgbClr val="262626"/>
                </a:solidFill>
                <a:latin typeface="Calibri"/>
              </a:defRPr>
            </a:pPr>
            <a:r>
              <a:rPr>
                <a:latin typeface="Trebuchet MS" panose="020B0603020202020204" pitchFamily="34" charset="0"/>
              </a:rPr>
              <a:t>• ESD- und stoßsichere Verpackung</a:t>
            </a:r>
          </a:p>
          <a:p>
            <a:pPr>
              <a:spcAft>
                <a:spcPts val="600"/>
              </a:spcAft>
              <a:defRPr sz="950">
                <a:solidFill>
                  <a:srgbClr val="262626"/>
                </a:solidFill>
                <a:latin typeface="Calibri"/>
              </a:defRPr>
            </a:pPr>
            <a:r>
              <a:rPr>
                <a:latin typeface="Trebuchet MS" panose="020B0603020202020204" pitchFamily="34" charset="0"/>
              </a:rPr>
              <a:t>• Terminierte Anlieferung bei VektorPlan</a:t>
            </a:r>
          </a:p>
          <a:p>
            <a:pPr>
              <a:spcAft>
                <a:spcPts val="600"/>
              </a:spcAft>
              <a:defRPr sz="950">
                <a:solidFill>
                  <a:srgbClr val="262626"/>
                </a:solidFill>
                <a:latin typeface="Calibri"/>
              </a:defRPr>
            </a:pPr>
            <a:r>
              <a:rPr>
                <a:latin typeface="Trebuchet MS" panose="020B0603020202020204" pitchFamily="34" charset="0"/>
              </a:rPr>
              <a:t>• Verteilung auf die 2 Großraumbüros</a:t>
            </a:r>
          </a:p>
          <a:p>
            <a:pPr>
              <a:spcAft>
                <a:spcPts val="600"/>
              </a:spcAft>
              <a:defRPr sz="950">
                <a:solidFill>
                  <a:srgbClr val="262626"/>
                </a:solidFill>
                <a:latin typeface="Calibri"/>
              </a:defRPr>
            </a:pPr>
            <a:r>
              <a:rPr>
                <a:latin typeface="Trebuchet MS" panose="020B0603020202020204" pitchFamily="34" charset="0"/>
              </a:rPr>
              <a:t>• Umweltgerechte Entsorgung von Kartonagen</a:t>
            </a:r>
          </a:p>
        </p:txBody>
      </p:sp>
      <p:sp>
        <p:nvSpPr>
          <p:cNvPr id="13" name="Rounded Rectangle 12"/>
          <p:cNvSpPr/>
          <p:nvPr/>
        </p:nvSpPr>
        <p:spPr>
          <a:xfrm>
            <a:off x="6159500" y="1371600"/>
            <a:ext cx="24765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Oval 13"/>
          <p:cNvSpPr/>
          <p:nvPr/>
        </p:nvSpPr>
        <p:spPr>
          <a:xfrm>
            <a:off x="7029450" y="1554480"/>
            <a:ext cx="736600" cy="736600"/>
          </a:xfrm>
          <a:prstGeom prst="ellipse">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rPr>
                <a:latin typeface="Trebuchet MS" panose="020B0603020202020204" pitchFamily="34" charset="0"/>
              </a:rPr>
              <a:t>03</a:t>
            </a:r>
          </a:p>
        </p:txBody>
      </p:sp>
      <p:sp>
        <p:nvSpPr>
          <p:cNvPr id="15" name="TextBox 14"/>
          <p:cNvSpPr txBox="1"/>
          <p:nvPr/>
        </p:nvSpPr>
        <p:spPr>
          <a:xfrm>
            <a:off x="6261100" y="2468880"/>
            <a:ext cx="2273300" cy="415498"/>
          </a:xfrm>
          <a:prstGeom prst="rect">
            <a:avLst/>
          </a:prstGeom>
          <a:noFill/>
        </p:spPr>
        <p:txBody>
          <a:bodyPr wrap="square">
            <a:spAutoFit/>
          </a:bodyPr>
          <a:lstStyle/>
          <a:p>
            <a:pPr algn="ctr">
              <a:defRPr sz="1150" b="1">
                <a:solidFill>
                  <a:srgbClr val="1F497D"/>
                </a:solidFill>
                <a:latin typeface="Calibri"/>
              </a:defRPr>
            </a:pPr>
            <a:r>
              <a:rPr>
                <a:latin typeface="Trebuchet MS" panose="020B0603020202020204" pitchFamily="34" charset="0"/>
              </a:rPr>
              <a:t>Phase 3: Montage</a:t>
            </a:r>
          </a:p>
          <a:p>
            <a:pPr algn="ctr">
              <a:defRPr sz="950">
                <a:solidFill>
                  <a:srgbClr val="595959"/>
                </a:solidFill>
              </a:defRPr>
            </a:pPr>
            <a:r>
              <a:rPr>
                <a:latin typeface="Trebuchet MS" panose="020B0603020202020204" pitchFamily="34" charset="0"/>
              </a:rPr>
              <a:t>ArbStättV-Ergonomie</a:t>
            </a:r>
          </a:p>
        </p:txBody>
      </p:sp>
      <p:sp>
        <p:nvSpPr>
          <p:cNvPr id="16" name="TextBox 15"/>
          <p:cNvSpPr txBox="1"/>
          <p:nvPr/>
        </p:nvSpPr>
        <p:spPr>
          <a:xfrm>
            <a:off x="6261100" y="3200400"/>
            <a:ext cx="2273300" cy="1492716"/>
          </a:xfrm>
          <a:prstGeom prst="rect">
            <a:avLst/>
          </a:prstGeom>
          <a:noFill/>
        </p:spPr>
        <p:txBody>
          <a:bodyPr wrap="square">
            <a:spAutoFit/>
          </a:bodyPr>
          <a:lstStyle/>
          <a:p>
            <a:pPr>
              <a:spcAft>
                <a:spcPts val="600"/>
              </a:spcAft>
              <a:defRPr sz="950">
                <a:solidFill>
                  <a:srgbClr val="262626"/>
                </a:solidFill>
                <a:latin typeface="Calibri"/>
              </a:defRPr>
            </a:pPr>
            <a:r>
              <a:rPr>
                <a:latin typeface="Trebuchet MS" panose="020B0603020202020204" pitchFamily="34" charset="0"/>
              </a:rPr>
              <a:t>• Aufbau der 32 höhenverstellbaren Monitore</a:t>
            </a:r>
          </a:p>
          <a:p>
            <a:pPr>
              <a:spcAft>
                <a:spcPts val="600"/>
              </a:spcAft>
              <a:defRPr sz="950">
                <a:solidFill>
                  <a:srgbClr val="262626"/>
                </a:solidFill>
                <a:latin typeface="Calibri"/>
              </a:defRPr>
            </a:pPr>
            <a:r>
              <a:rPr>
                <a:latin typeface="Trebuchet MS" panose="020B0603020202020204" pitchFamily="34" charset="0"/>
              </a:rPr>
              <a:t>• Ausrichtung: Oberkante auf Augenhöhe (50-70 cm)</a:t>
            </a:r>
          </a:p>
          <a:p>
            <a:pPr>
              <a:spcAft>
                <a:spcPts val="600"/>
              </a:spcAft>
              <a:defRPr sz="950">
                <a:solidFill>
                  <a:srgbClr val="262626"/>
                </a:solidFill>
                <a:latin typeface="Calibri"/>
              </a:defRPr>
            </a:pPr>
            <a:r>
              <a:rPr>
                <a:latin typeface="Trebuchet MS" panose="020B0603020202020204" pitchFamily="34" charset="0"/>
              </a:rPr>
              <a:t>• Saubere Bündelung aller Kabel unter Tischen</a:t>
            </a:r>
          </a:p>
          <a:p>
            <a:pPr>
              <a:spcAft>
                <a:spcPts val="600"/>
              </a:spcAft>
              <a:defRPr sz="950">
                <a:solidFill>
                  <a:srgbClr val="262626"/>
                </a:solidFill>
                <a:latin typeface="Calibri"/>
              </a:defRPr>
            </a:pPr>
            <a:r>
              <a:rPr>
                <a:latin typeface="Trebuchet MS" panose="020B0603020202020204" pitchFamily="34" charset="0"/>
              </a:rPr>
              <a:t>• Patchkabel an Switchports anschließen</a:t>
            </a:r>
          </a:p>
        </p:txBody>
      </p:sp>
      <p:sp>
        <p:nvSpPr>
          <p:cNvPr id="17" name="Rounded Rectangle 16"/>
          <p:cNvSpPr/>
          <p:nvPr/>
        </p:nvSpPr>
        <p:spPr>
          <a:xfrm>
            <a:off x="8890000" y="1371600"/>
            <a:ext cx="24765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 name="Oval 17"/>
          <p:cNvSpPr/>
          <p:nvPr/>
        </p:nvSpPr>
        <p:spPr>
          <a:xfrm>
            <a:off x="9759950" y="1554480"/>
            <a:ext cx="736600" cy="736600"/>
          </a:xfrm>
          <a:prstGeom prst="ellipse">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rPr>
                <a:latin typeface="Trebuchet MS" panose="020B0603020202020204" pitchFamily="34" charset="0"/>
              </a:rPr>
              <a:t>04</a:t>
            </a:r>
          </a:p>
        </p:txBody>
      </p:sp>
      <p:sp>
        <p:nvSpPr>
          <p:cNvPr id="19" name="TextBox 18"/>
          <p:cNvSpPr txBox="1"/>
          <p:nvPr/>
        </p:nvSpPr>
        <p:spPr>
          <a:xfrm>
            <a:off x="8991600" y="2468880"/>
            <a:ext cx="2273300" cy="415498"/>
          </a:xfrm>
          <a:prstGeom prst="rect">
            <a:avLst/>
          </a:prstGeom>
          <a:noFill/>
        </p:spPr>
        <p:txBody>
          <a:bodyPr wrap="square">
            <a:spAutoFit/>
          </a:bodyPr>
          <a:lstStyle/>
          <a:p>
            <a:pPr algn="ctr">
              <a:defRPr sz="1150" b="1">
                <a:solidFill>
                  <a:srgbClr val="1F497D"/>
                </a:solidFill>
                <a:latin typeface="Calibri"/>
              </a:defRPr>
            </a:pPr>
            <a:r>
              <a:rPr>
                <a:latin typeface="Trebuchet MS" panose="020B0603020202020204" pitchFamily="34" charset="0"/>
              </a:rPr>
              <a:t>Phase 4: Abnahme</a:t>
            </a:r>
          </a:p>
          <a:p>
            <a:pPr algn="ctr">
              <a:defRPr sz="950">
                <a:solidFill>
                  <a:srgbClr val="595959"/>
                </a:solidFill>
              </a:defRPr>
            </a:pPr>
            <a:r>
              <a:rPr>
                <a:latin typeface="Trebuchet MS" panose="020B0603020202020204" pitchFamily="34" charset="0"/>
              </a:rPr>
              <a:t>Funktion &amp; Unterschrift</a:t>
            </a:r>
          </a:p>
        </p:txBody>
      </p:sp>
      <p:sp>
        <p:nvSpPr>
          <p:cNvPr id="20" name="TextBox 19"/>
          <p:cNvSpPr txBox="1"/>
          <p:nvPr/>
        </p:nvSpPr>
        <p:spPr>
          <a:xfrm>
            <a:off x="8991600" y="3200400"/>
            <a:ext cx="2273300" cy="1346522"/>
          </a:xfrm>
          <a:prstGeom prst="rect">
            <a:avLst/>
          </a:prstGeom>
          <a:noFill/>
        </p:spPr>
        <p:txBody>
          <a:bodyPr wrap="square">
            <a:spAutoFit/>
          </a:bodyPr>
          <a:lstStyle/>
          <a:p>
            <a:pPr>
              <a:spcAft>
                <a:spcPts val="600"/>
              </a:spcAft>
              <a:defRPr sz="950">
                <a:solidFill>
                  <a:srgbClr val="262626"/>
                </a:solidFill>
                <a:latin typeface="Calibri"/>
              </a:defRPr>
            </a:pPr>
            <a:r>
              <a:rPr>
                <a:latin typeface="Trebuchet MS" panose="020B0603020202020204" pitchFamily="34" charset="0"/>
              </a:rPr>
              <a:t>• Prüfung Netzwerkzugriff &amp; Server-Freigaben</a:t>
            </a:r>
          </a:p>
          <a:p>
            <a:pPr>
              <a:spcAft>
                <a:spcPts val="600"/>
              </a:spcAft>
              <a:defRPr sz="950">
                <a:solidFill>
                  <a:srgbClr val="262626"/>
                </a:solidFill>
                <a:latin typeface="Calibri"/>
              </a:defRPr>
            </a:pPr>
            <a:r>
              <a:rPr>
                <a:latin typeface="Trebuchet MS" panose="020B0603020202020204" pitchFamily="34" charset="0"/>
              </a:rPr>
              <a:t>• CAD-Testrendering &amp; A3-Druckertest</a:t>
            </a:r>
          </a:p>
          <a:p>
            <a:pPr>
              <a:spcAft>
                <a:spcPts val="600"/>
              </a:spcAft>
              <a:defRPr sz="950">
                <a:solidFill>
                  <a:srgbClr val="262626"/>
                </a:solidFill>
                <a:latin typeface="Calibri"/>
              </a:defRPr>
            </a:pPr>
            <a:r>
              <a:rPr>
                <a:latin typeface="Trebuchet MS" panose="020B0603020202020204" pitchFamily="34" charset="0"/>
              </a:rPr>
              <a:t>• Gemeinsame Begehung mit Kundenleitung</a:t>
            </a:r>
          </a:p>
          <a:p>
            <a:pPr>
              <a:spcAft>
                <a:spcPts val="600"/>
              </a:spcAft>
              <a:defRPr sz="950">
                <a:solidFill>
                  <a:srgbClr val="262626"/>
                </a:solidFill>
                <a:latin typeface="Calibri"/>
              </a:defRPr>
            </a:pPr>
            <a:r>
              <a:rPr>
                <a:latin typeface="Trebuchet MS" panose="020B0603020202020204" pitchFamily="34" charset="0"/>
              </a:rPr>
              <a:t>• Vorbehaltlose Unterzeichnung des Protokolls</a:t>
            </a:r>
          </a:p>
        </p:txBody>
      </p:sp>
      <p:pic>
        <p:nvPicPr>
          <p:cNvPr id="22" name="NextLevelLogo_13">
            <a:extLst>
              <a:ext uri="{FF2B5EF4-FFF2-40B4-BE49-F238E27FC236}">
                <a16:creationId xmlns:a16="http://schemas.microsoft.com/office/drawing/2014/main" id="{2F6BC0DD-2521-0E25-D39C-4B989862CC52}"/>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399"/>
            <a:ext cx="6317114"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PROJEKTERGEBNIS</a:t>
            </a:r>
          </a:p>
          <a:p>
            <a:pPr>
              <a:defRPr sz="2000" b="1">
                <a:solidFill>
                  <a:srgbClr val="FFFFFF"/>
                </a:solidFill>
                <a:latin typeface="Calibri"/>
              </a:defRPr>
            </a:pPr>
            <a:r>
              <a:rPr sz="2200" b="1">
                <a:solidFill>
                  <a:srgbClr val="2C3C43"/>
                </a:solidFill>
                <a:latin typeface="Trebuchet MS" panose="020B0603020202020204" pitchFamily="34" charset="0"/>
              </a:rPr>
              <a:t>Soll-Ist-Vergleich: Termin, Kosten und Qualität</a:t>
            </a:r>
          </a:p>
        </p:txBody>
      </p:sp>
      <p:sp>
        <p:nvSpPr>
          <p:cNvPr id="4" name="TextBox 3"/>
          <p:cNvSpPr txBox="1"/>
          <p:nvPr/>
        </p:nvSpPr>
        <p:spPr>
          <a:xfrm>
            <a:off x="698500" y="641350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14 von 16</a:t>
            </a:r>
          </a:p>
        </p:txBody>
      </p:sp>
      <p:sp>
        <p:nvSpPr>
          <p:cNvPr id="5" name="Rounded Rectangle 4"/>
          <p:cNvSpPr/>
          <p:nvPr/>
        </p:nvSpPr>
        <p:spPr>
          <a:xfrm>
            <a:off x="6985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ounded Rectangle 5"/>
          <p:cNvSpPr/>
          <p:nvPr/>
        </p:nvSpPr>
        <p:spPr>
          <a:xfrm>
            <a:off x="825500" y="1554480"/>
            <a:ext cx="3124200" cy="109728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TextBox 6"/>
          <p:cNvSpPr txBox="1"/>
          <p:nvPr/>
        </p:nvSpPr>
        <p:spPr>
          <a:xfrm>
            <a:off x="825500" y="1600200"/>
            <a:ext cx="3124200" cy="615553"/>
          </a:xfrm>
          <a:prstGeom prst="rect">
            <a:avLst/>
          </a:prstGeom>
          <a:noFill/>
        </p:spPr>
        <p:txBody>
          <a:bodyPr wrap="square">
            <a:spAutoFit/>
          </a:bodyPr>
          <a:lstStyle/>
          <a:p>
            <a:pPr algn="ctr">
              <a:defRPr sz="2400" b="1">
                <a:solidFill>
                  <a:srgbClr val="385723"/>
                </a:solidFill>
                <a:latin typeface="Calibri"/>
              </a:defRPr>
            </a:pPr>
            <a:r>
              <a:rPr>
                <a:latin typeface="Trebuchet MS" panose="020B0603020202020204" pitchFamily="34" charset="0"/>
              </a:rPr>
              <a:t>46 / 48 Tage</a:t>
            </a:r>
          </a:p>
          <a:p>
            <a:pPr algn="ctr">
              <a:defRPr sz="1000" b="1">
                <a:solidFill>
                  <a:srgbClr val="1F497D"/>
                </a:solidFill>
                <a:latin typeface="Calibri"/>
              </a:defRPr>
            </a:pPr>
            <a:r>
              <a:rPr>
                <a:latin typeface="Trebuchet MS" panose="020B0603020202020204" pitchFamily="34" charset="0"/>
              </a:rPr>
              <a:t>- 2 Tage Vorsprung</a:t>
            </a:r>
          </a:p>
        </p:txBody>
      </p:sp>
      <p:sp>
        <p:nvSpPr>
          <p:cNvPr id="8" name="TextBox 7"/>
          <p:cNvSpPr txBox="1"/>
          <p:nvPr/>
        </p:nvSpPr>
        <p:spPr>
          <a:xfrm>
            <a:off x="825500" y="2743200"/>
            <a:ext cx="3124200" cy="276999"/>
          </a:xfrm>
          <a:prstGeom prst="rect">
            <a:avLst/>
          </a:prstGeom>
          <a:noFill/>
        </p:spPr>
        <p:txBody>
          <a:bodyPr wrap="square">
            <a:spAutoFit/>
          </a:bodyPr>
          <a:lstStyle/>
          <a:p>
            <a:pPr>
              <a:defRPr sz="1200" b="1">
                <a:solidFill>
                  <a:srgbClr val="1F497D"/>
                </a:solidFill>
                <a:latin typeface="Calibri"/>
              </a:defRPr>
            </a:pPr>
            <a:r>
              <a:rPr>
                <a:latin typeface="Trebuchet MS" panose="020B0603020202020204" pitchFamily="34" charset="0"/>
              </a:rPr>
              <a:t>Zeitplanung (Termintreue)</a:t>
            </a:r>
          </a:p>
        </p:txBody>
      </p:sp>
      <p:sp>
        <p:nvSpPr>
          <p:cNvPr id="9" name="TextBox 8"/>
          <p:cNvSpPr txBox="1"/>
          <p:nvPr/>
        </p:nvSpPr>
        <p:spPr>
          <a:xfrm>
            <a:off x="825500" y="3154680"/>
            <a:ext cx="3124200" cy="1346522"/>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Geplante Projektdauer: </a:t>
            </a:r>
            <a:r>
              <a:rPr b="0">
                <a:solidFill>
                  <a:srgbClr val="262626"/>
                </a:solidFill>
                <a:latin typeface="Trebuchet MS" panose="020B0603020202020204" pitchFamily="34" charset="0"/>
              </a:rPr>
              <a:t>48 Arbeitstage laut Meilensteinplan</a:t>
            </a:r>
          </a:p>
          <a:p>
            <a:pPr>
              <a:spcAft>
                <a:spcPts val="600"/>
              </a:spcAft>
              <a:defRPr sz="950" b="1">
                <a:solidFill>
                  <a:srgbClr val="1F497D"/>
                </a:solidFill>
                <a:latin typeface="Calibri"/>
              </a:defRPr>
            </a:pPr>
            <a:r>
              <a:rPr>
                <a:latin typeface="Trebuchet MS" panose="020B0603020202020204" pitchFamily="34" charset="0"/>
              </a:rPr>
              <a:t>Tatsächliche Dauer: </a:t>
            </a:r>
            <a:r>
              <a:rPr b="0">
                <a:solidFill>
                  <a:srgbClr val="262626"/>
                </a:solidFill>
                <a:latin typeface="Trebuchet MS" panose="020B0603020202020204" pitchFamily="34" charset="0"/>
              </a:rPr>
              <a:t>Erfolgreicher Abschluss in 46 Arbeitstagen</a:t>
            </a:r>
          </a:p>
          <a:p>
            <a:pPr>
              <a:spcAft>
                <a:spcPts val="600"/>
              </a:spcAft>
              <a:defRPr sz="950" b="1">
                <a:solidFill>
                  <a:srgbClr val="1F497D"/>
                </a:solidFill>
                <a:latin typeface="Calibri"/>
              </a:defRPr>
            </a:pPr>
            <a:r>
              <a:rPr>
                <a:latin typeface="Trebuchet MS" panose="020B0603020202020204" pitchFamily="34" charset="0"/>
              </a:rPr>
              <a:t>Erfolgsfaktor: </a:t>
            </a:r>
            <a:r>
              <a:rPr b="0">
                <a:solidFill>
                  <a:srgbClr val="262626"/>
                </a:solidFill>
                <a:latin typeface="Trebuchet MS" panose="020B0603020202020204" pitchFamily="34" charset="0"/>
              </a:rPr>
              <a:t>Vorab-Staging im Labor sparte Montagezeit</a:t>
            </a:r>
          </a:p>
          <a:p>
            <a:pPr>
              <a:spcAft>
                <a:spcPts val="600"/>
              </a:spcAft>
              <a:defRPr sz="950" b="1">
                <a:solidFill>
                  <a:srgbClr val="1F497D"/>
                </a:solidFill>
                <a:latin typeface="Calibri"/>
              </a:defRPr>
            </a:pPr>
            <a:r>
              <a:rPr>
                <a:latin typeface="Trebuchet MS" panose="020B0603020202020204" pitchFamily="34" charset="0"/>
              </a:rPr>
              <a:t>Ergebnis: </a:t>
            </a:r>
            <a:r>
              <a:rPr b="0">
                <a:solidFill>
                  <a:srgbClr val="262626"/>
                </a:solidFill>
                <a:latin typeface="Trebuchet MS" panose="020B0603020202020204" pitchFamily="34" charset="0"/>
              </a:rPr>
              <a:t>Alle Meilensteine wurden pünktlich erreicht</a:t>
            </a:r>
          </a:p>
        </p:txBody>
      </p:sp>
      <p:sp>
        <p:nvSpPr>
          <p:cNvPr id="10" name="Rounded Rectangle 9"/>
          <p:cNvSpPr/>
          <p:nvPr/>
        </p:nvSpPr>
        <p:spPr>
          <a:xfrm>
            <a:off x="43434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Rounded Rectangle 10"/>
          <p:cNvSpPr/>
          <p:nvPr/>
        </p:nvSpPr>
        <p:spPr>
          <a:xfrm>
            <a:off x="4470400" y="1554480"/>
            <a:ext cx="3124200" cy="109728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 name="TextBox 11"/>
          <p:cNvSpPr txBox="1"/>
          <p:nvPr/>
        </p:nvSpPr>
        <p:spPr>
          <a:xfrm>
            <a:off x="4470400" y="1600200"/>
            <a:ext cx="3124200" cy="615553"/>
          </a:xfrm>
          <a:prstGeom prst="rect">
            <a:avLst/>
          </a:prstGeom>
          <a:noFill/>
        </p:spPr>
        <p:txBody>
          <a:bodyPr wrap="square">
            <a:spAutoFit/>
          </a:bodyPr>
          <a:lstStyle/>
          <a:p>
            <a:pPr algn="ctr">
              <a:defRPr sz="2400" b="1">
                <a:solidFill>
                  <a:srgbClr val="1F497D"/>
                </a:solidFill>
                <a:latin typeface="Calibri"/>
              </a:defRPr>
            </a:pPr>
            <a:r>
              <a:rPr>
                <a:latin typeface="Trebuchet MS" panose="020B0603020202020204" pitchFamily="34" charset="0"/>
              </a:rPr>
              <a:t>67.179 €</a:t>
            </a:r>
          </a:p>
          <a:p>
            <a:pPr algn="ctr">
              <a:defRPr sz="1000" b="1">
                <a:solidFill>
                  <a:srgbClr val="1F497D"/>
                </a:solidFill>
                <a:latin typeface="Calibri"/>
              </a:defRPr>
            </a:pPr>
            <a:r>
              <a:rPr>
                <a:latin typeface="Trebuchet MS" panose="020B0603020202020204" pitchFamily="34" charset="0"/>
              </a:rPr>
              <a:t>Im Budgetrahmen</a:t>
            </a:r>
          </a:p>
        </p:txBody>
      </p:sp>
      <p:sp>
        <p:nvSpPr>
          <p:cNvPr id="13" name="TextBox 12"/>
          <p:cNvSpPr txBox="1"/>
          <p:nvPr/>
        </p:nvSpPr>
        <p:spPr>
          <a:xfrm>
            <a:off x="4470400" y="2743200"/>
            <a:ext cx="3124200" cy="276999"/>
          </a:xfrm>
          <a:prstGeom prst="rect">
            <a:avLst/>
          </a:prstGeom>
          <a:noFill/>
        </p:spPr>
        <p:txBody>
          <a:bodyPr wrap="square">
            <a:spAutoFit/>
          </a:bodyPr>
          <a:lstStyle/>
          <a:p>
            <a:pPr>
              <a:defRPr sz="1200" b="1">
                <a:solidFill>
                  <a:srgbClr val="1F497D"/>
                </a:solidFill>
                <a:latin typeface="Calibri"/>
              </a:defRPr>
            </a:pPr>
            <a:r>
              <a:rPr>
                <a:latin typeface="Trebuchet MS" panose="020B0603020202020204" pitchFamily="34" charset="0"/>
              </a:rPr>
              <a:t>Kostenbudget (Finanzen)</a:t>
            </a:r>
          </a:p>
        </p:txBody>
      </p:sp>
      <p:sp>
        <p:nvSpPr>
          <p:cNvPr id="14" name="TextBox 13"/>
          <p:cNvSpPr txBox="1"/>
          <p:nvPr/>
        </p:nvSpPr>
        <p:spPr>
          <a:xfrm>
            <a:off x="4470400" y="3154680"/>
            <a:ext cx="3124200" cy="1492716"/>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Kundenbudget (Obergrenze): </a:t>
            </a:r>
            <a:r>
              <a:rPr b="0">
                <a:solidFill>
                  <a:srgbClr val="262626"/>
                </a:solidFill>
                <a:latin typeface="Trebuchet MS" panose="020B0603020202020204" pitchFamily="34" charset="0"/>
              </a:rPr>
              <a:t>Maximal 70.000,00 € Netto</a:t>
            </a:r>
          </a:p>
          <a:p>
            <a:pPr>
              <a:spcAft>
                <a:spcPts val="600"/>
              </a:spcAft>
              <a:defRPr sz="950" b="1">
                <a:solidFill>
                  <a:srgbClr val="1F497D"/>
                </a:solidFill>
                <a:latin typeface="Calibri"/>
              </a:defRPr>
            </a:pPr>
            <a:r>
              <a:rPr>
                <a:latin typeface="Trebuchet MS" panose="020B0603020202020204" pitchFamily="34" charset="0"/>
              </a:rPr>
              <a:t>Tatsächliche Angebotssumme: </a:t>
            </a:r>
            <a:r>
              <a:rPr b="0">
                <a:solidFill>
                  <a:srgbClr val="262626"/>
                </a:solidFill>
                <a:latin typeface="Trebuchet MS" panose="020B0603020202020204" pitchFamily="34" charset="0"/>
              </a:rPr>
              <a:t>67.179,32 € Netto (inkl. Services)</a:t>
            </a:r>
          </a:p>
          <a:p>
            <a:pPr>
              <a:spcAft>
                <a:spcPts val="600"/>
              </a:spcAft>
              <a:defRPr sz="950" b="1">
                <a:solidFill>
                  <a:srgbClr val="1F497D"/>
                </a:solidFill>
                <a:latin typeface="Calibri"/>
              </a:defRPr>
            </a:pPr>
            <a:r>
              <a:rPr>
                <a:latin typeface="Trebuchet MS" panose="020B0603020202020204" pitchFamily="34" charset="0"/>
              </a:rPr>
              <a:t>Kostenvorteil für Kunden: </a:t>
            </a:r>
            <a:r>
              <a:rPr b="0">
                <a:solidFill>
                  <a:srgbClr val="262626"/>
                </a:solidFill>
                <a:latin typeface="Trebuchet MS" panose="020B0603020202020204" pitchFamily="34" charset="0"/>
              </a:rPr>
              <a:t>Ca. 2.820 € Ersparnis gegenüber Limit</a:t>
            </a:r>
          </a:p>
          <a:p>
            <a:pPr>
              <a:spcAft>
                <a:spcPts val="600"/>
              </a:spcAft>
              <a:defRPr sz="950" b="1">
                <a:solidFill>
                  <a:srgbClr val="1F497D"/>
                </a:solidFill>
                <a:latin typeface="Calibri"/>
              </a:defRPr>
            </a:pPr>
            <a:r>
              <a:rPr>
                <a:latin typeface="Trebuchet MS" panose="020B0603020202020204" pitchFamily="34" charset="0"/>
              </a:rPr>
              <a:t>Transparenz: </a:t>
            </a:r>
            <a:r>
              <a:rPr b="0">
                <a:solidFill>
                  <a:srgbClr val="262626"/>
                </a:solidFill>
                <a:latin typeface="Trebuchet MS" panose="020B0603020202020204" pitchFamily="34" charset="0"/>
              </a:rPr>
              <a:t>Vollständige Vorwärtskalkulation vorgelegt</a:t>
            </a:r>
          </a:p>
        </p:txBody>
      </p:sp>
      <p:sp>
        <p:nvSpPr>
          <p:cNvPr id="15" name="Rounded Rectangle 14"/>
          <p:cNvSpPr/>
          <p:nvPr/>
        </p:nvSpPr>
        <p:spPr>
          <a:xfrm>
            <a:off x="79883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Rounded Rectangle 15"/>
          <p:cNvSpPr/>
          <p:nvPr/>
        </p:nvSpPr>
        <p:spPr>
          <a:xfrm>
            <a:off x="8115300" y="1554480"/>
            <a:ext cx="3124200" cy="109728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16"/>
          <p:cNvSpPr txBox="1"/>
          <p:nvPr/>
        </p:nvSpPr>
        <p:spPr>
          <a:xfrm>
            <a:off x="8115300" y="1600200"/>
            <a:ext cx="3124200" cy="615553"/>
          </a:xfrm>
          <a:prstGeom prst="rect">
            <a:avLst/>
          </a:prstGeom>
          <a:noFill/>
        </p:spPr>
        <p:txBody>
          <a:bodyPr wrap="square">
            <a:spAutoFit/>
          </a:bodyPr>
          <a:lstStyle/>
          <a:p>
            <a:pPr algn="ctr">
              <a:defRPr sz="2400" b="1">
                <a:solidFill>
                  <a:srgbClr val="2F5597"/>
                </a:solidFill>
                <a:latin typeface="Calibri"/>
              </a:defRPr>
            </a:pPr>
            <a:r>
              <a:rPr>
                <a:latin typeface="Trebuchet MS" panose="020B0603020202020204" pitchFamily="34" charset="0"/>
              </a:rPr>
              <a:t>100%</a:t>
            </a:r>
          </a:p>
          <a:p>
            <a:pPr algn="ctr">
              <a:defRPr sz="1000" b="1">
                <a:solidFill>
                  <a:srgbClr val="1F497D"/>
                </a:solidFill>
                <a:latin typeface="Calibri"/>
              </a:defRPr>
            </a:pPr>
            <a:r>
              <a:rPr>
                <a:latin typeface="Trebuchet MS" panose="020B0603020202020204" pitchFamily="34" charset="0"/>
              </a:rPr>
              <a:t>Vorbehaltlos abgenommen</a:t>
            </a:r>
          </a:p>
        </p:txBody>
      </p:sp>
      <p:sp>
        <p:nvSpPr>
          <p:cNvPr id="18" name="TextBox 17"/>
          <p:cNvSpPr txBox="1"/>
          <p:nvPr/>
        </p:nvSpPr>
        <p:spPr>
          <a:xfrm>
            <a:off x="8115300" y="2743200"/>
            <a:ext cx="3124200" cy="276999"/>
          </a:xfrm>
          <a:prstGeom prst="rect">
            <a:avLst/>
          </a:prstGeom>
          <a:noFill/>
        </p:spPr>
        <p:txBody>
          <a:bodyPr wrap="square">
            <a:spAutoFit/>
          </a:bodyPr>
          <a:lstStyle/>
          <a:p>
            <a:pPr>
              <a:defRPr sz="1200" b="1">
                <a:solidFill>
                  <a:srgbClr val="1F497D"/>
                </a:solidFill>
                <a:latin typeface="Calibri"/>
              </a:defRPr>
            </a:pPr>
            <a:r>
              <a:rPr>
                <a:latin typeface="Trebuchet MS" panose="020B0603020202020204" pitchFamily="34" charset="0"/>
              </a:rPr>
              <a:t>Qualität &amp; Kundenzufriedenheit</a:t>
            </a:r>
          </a:p>
        </p:txBody>
      </p:sp>
      <p:sp>
        <p:nvSpPr>
          <p:cNvPr id="19" name="TextBox 18"/>
          <p:cNvSpPr txBox="1"/>
          <p:nvPr/>
        </p:nvSpPr>
        <p:spPr>
          <a:xfrm>
            <a:off x="8115300" y="3154680"/>
            <a:ext cx="3124200" cy="1492716"/>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Lieferumfang: </a:t>
            </a:r>
            <a:r>
              <a:rPr b="0">
                <a:solidFill>
                  <a:srgbClr val="262626"/>
                </a:solidFill>
                <a:latin typeface="Trebuchet MS" panose="020B0603020202020204" pitchFamily="34" charset="0"/>
              </a:rPr>
              <a:t>16 von 16 Arbeitsplätzen voll funktionsfähig</a:t>
            </a:r>
          </a:p>
          <a:p>
            <a:pPr>
              <a:spcAft>
                <a:spcPts val="600"/>
              </a:spcAft>
              <a:defRPr sz="950" b="1">
                <a:solidFill>
                  <a:srgbClr val="1F497D"/>
                </a:solidFill>
                <a:latin typeface="Calibri"/>
              </a:defRPr>
            </a:pPr>
            <a:r>
              <a:rPr>
                <a:latin typeface="Trebuchet MS" panose="020B0603020202020204" pitchFamily="34" charset="0"/>
              </a:rPr>
              <a:t>Mängelmanagement: </a:t>
            </a:r>
            <a:r>
              <a:rPr b="0">
                <a:solidFill>
                  <a:srgbClr val="262626"/>
                </a:solidFill>
                <a:latin typeface="Trebuchet MS" panose="020B0603020202020204" pitchFamily="34" charset="0"/>
              </a:rPr>
              <a:t>Transportschäden fristgerecht getauscht</a:t>
            </a:r>
          </a:p>
          <a:p>
            <a:pPr>
              <a:spcAft>
                <a:spcPts val="600"/>
              </a:spcAft>
              <a:defRPr sz="950" b="1">
                <a:solidFill>
                  <a:srgbClr val="1F497D"/>
                </a:solidFill>
                <a:latin typeface="Calibri"/>
              </a:defRPr>
            </a:pPr>
            <a:r>
              <a:rPr>
                <a:latin typeface="Trebuchet MS" panose="020B0603020202020204" pitchFamily="34" charset="0"/>
              </a:rPr>
              <a:t>Ergonomie: </a:t>
            </a:r>
            <a:r>
              <a:rPr b="0">
                <a:solidFill>
                  <a:srgbClr val="262626"/>
                </a:solidFill>
                <a:latin typeface="Trebuchet MS" panose="020B0603020202020204" pitchFamily="34" charset="0"/>
              </a:rPr>
              <a:t>ArbStättV-konforme Arbeitsplatzgestaltung</a:t>
            </a:r>
          </a:p>
          <a:p>
            <a:pPr>
              <a:spcAft>
                <a:spcPts val="600"/>
              </a:spcAft>
              <a:defRPr sz="950" b="1">
                <a:solidFill>
                  <a:srgbClr val="1F497D"/>
                </a:solidFill>
                <a:latin typeface="Calibri"/>
              </a:defRPr>
            </a:pPr>
            <a:r>
              <a:rPr>
                <a:latin typeface="Trebuchet MS" panose="020B0603020202020204" pitchFamily="34" charset="0"/>
              </a:rPr>
              <a:t>Abnahmeprotokoll: </a:t>
            </a:r>
            <a:r>
              <a:rPr b="0">
                <a:solidFill>
                  <a:srgbClr val="262626"/>
                </a:solidFill>
                <a:latin typeface="Trebuchet MS" panose="020B0603020202020204" pitchFamily="34" charset="0"/>
              </a:rPr>
              <a:t>Durch VektorPlan GmbH ohne Mängel rügellos gezeichnet</a:t>
            </a:r>
          </a:p>
        </p:txBody>
      </p:sp>
      <p:pic>
        <p:nvPicPr>
          <p:cNvPr id="21" name="NextLevelLogo_14">
            <a:extLst>
              <a:ext uri="{FF2B5EF4-FFF2-40B4-BE49-F238E27FC236}">
                <a16:creationId xmlns:a16="http://schemas.microsoft.com/office/drawing/2014/main" id="{CA8D6CDD-4DA2-FF21-4BBD-9F8B783F7498}"/>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499" y="152399"/>
            <a:ext cx="5381730"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REFLEXION</a:t>
            </a:r>
          </a:p>
          <a:p>
            <a:pPr>
              <a:defRPr sz="2000" b="1">
                <a:solidFill>
                  <a:srgbClr val="FFFFFF"/>
                </a:solidFill>
                <a:latin typeface="Calibri"/>
              </a:defRPr>
            </a:pPr>
            <a:r>
              <a:rPr sz="2200" b="1">
                <a:solidFill>
                  <a:srgbClr val="2C3C43"/>
                </a:solidFill>
                <a:latin typeface="Trebuchet MS" panose="020B0603020202020204" pitchFamily="34" charset="0"/>
              </a:rPr>
              <a:t>Lessons Learned &amp; Fazit unseres Teams</a:t>
            </a:r>
          </a:p>
        </p:txBody>
      </p:sp>
      <p:sp>
        <p:nvSpPr>
          <p:cNvPr id="4" name="TextBox 3"/>
          <p:cNvSpPr txBox="1"/>
          <p:nvPr/>
        </p:nvSpPr>
        <p:spPr>
          <a:xfrm>
            <a:off x="698500" y="641350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15 von 16</a:t>
            </a:r>
          </a:p>
        </p:txBody>
      </p:sp>
      <p:sp>
        <p:nvSpPr>
          <p:cNvPr id="5" name="Rounded Rectangle 4"/>
          <p:cNvSpPr/>
          <p:nvPr/>
        </p:nvSpPr>
        <p:spPr>
          <a:xfrm>
            <a:off x="698500" y="1371600"/>
            <a:ext cx="50800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ectangle 5"/>
          <p:cNvSpPr/>
          <p:nvPr/>
        </p:nvSpPr>
        <p:spPr>
          <a:xfrm>
            <a:off x="698500" y="1371600"/>
            <a:ext cx="5080000" cy="5486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Was lief besonders gut im Projekt?</a:t>
            </a:r>
          </a:p>
        </p:txBody>
      </p:sp>
      <p:sp>
        <p:nvSpPr>
          <p:cNvPr id="7" name="TextBox 6"/>
          <p:cNvSpPr txBox="1"/>
          <p:nvPr/>
        </p:nvSpPr>
        <p:spPr>
          <a:xfrm>
            <a:off x="889000" y="2103120"/>
            <a:ext cx="4699000" cy="2000548"/>
          </a:xfrm>
          <a:prstGeom prst="rect">
            <a:avLst/>
          </a:prstGeom>
          <a:noFill/>
        </p:spPr>
        <p:txBody>
          <a:bodyPr wrap="square" lIns="0" tIns="0" rIns="0" bIns="0">
            <a:spAutoFit/>
          </a:bodyPr>
          <a:lstStyle/>
          <a:p>
            <a:pPr>
              <a:spcAft>
                <a:spcPts val="1000"/>
              </a:spcAft>
              <a:defRPr sz="1050" b="1">
                <a:solidFill>
                  <a:srgbClr val="385723"/>
                </a:solidFill>
                <a:latin typeface="Calibri"/>
              </a:defRPr>
            </a:pPr>
            <a:r>
              <a:rPr>
                <a:latin typeface="Trebuchet MS" panose="020B0603020202020204" pitchFamily="34" charset="0"/>
              </a:rPr>
              <a:t>✔ Nutzwertanalyse als Entscheidungshilfe: </a:t>
            </a:r>
            <a:r>
              <a:rPr b="0">
                <a:solidFill>
                  <a:srgbClr val="262626"/>
                </a:solidFill>
                <a:latin typeface="Trebuchet MS" panose="020B0603020202020204" pitchFamily="34" charset="0"/>
              </a:rPr>
              <a:t>Die mathematische Bewertung sicherte die optimale CAD-Grafikkarte (RTX 4000 Ada) und den besten Monitor.</a:t>
            </a:r>
          </a:p>
          <a:p>
            <a:pPr>
              <a:spcAft>
                <a:spcPts val="1000"/>
              </a:spcAft>
              <a:defRPr sz="1050" b="1">
                <a:solidFill>
                  <a:srgbClr val="385723"/>
                </a:solidFill>
                <a:latin typeface="Calibri"/>
              </a:defRPr>
            </a:pPr>
            <a:r>
              <a:rPr>
                <a:latin typeface="Trebuchet MS" panose="020B0603020202020204" pitchFamily="34" charset="0"/>
              </a:rPr>
              <a:t>✔ Strikte Wareneingangsprüfung (§ 377 HGB): </a:t>
            </a:r>
            <a:r>
              <a:rPr b="0">
                <a:solidFill>
                  <a:srgbClr val="262626"/>
                </a:solidFill>
                <a:latin typeface="Trebuchet MS" panose="020B0603020202020204" pitchFamily="34" charset="0"/>
              </a:rPr>
              <a:t>Weil wir die Pakete sofort kontrolliert haben, konnten wir den Gehäuseschaden und Falschlieferung rügen, ohne Gewährleistung zu verlieren.</a:t>
            </a:r>
          </a:p>
          <a:p>
            <a:pPr>
              <a:spcAft>
                <a:spcPts val="1000"/>
              </a:spcAft>
              <a:defRPr sz="1050" b="1">
                <a:solidFill>
                  <a:srgbClr val="385723"/>
                </a:solidFill>
                <a:latin typeface="Calibri"/>
              </a:defRPr>
            </a:pPr>
            <a:r>
              <a:rPr>
                <a:latin typeface="Trebuchet MS" panose="020B0603020202020204" pitchFamily="34" charset="0"/>
              </a:rPr>
              <a:t>✔ Gute Teamarbeit &amp; klare Rollen: </a:t>
            </a:r>
            <a:r>
              <a:rPr b="0">
                <a:solidFill>
                  <a:srgbClr val="262626"/>
                </a:solidFill>
                <a:latin typeface="Trebuchet MS" panose="020B0603020202020204" pitchFamily="34" charset="0"/>
              </a:rPr>
              <a:t>Die klare Aufteilung auf Jan, Mathias, Marian, Marco und Siyar verhinderte Doppelarbeit.</a:t>
            </a:r>
          </a:p>
          <a:p>
            <a:pPr>
              <a:spcAft>
                <a:spcPts val="1000"/>
              </a:spcAft>
              <a:defRPr sz="1050" b="1">
                <a:solidFill>
                  <a:srgbClr val="385723"/>
                </a:solidFill>
                <a:latin typeface="Calibri"/>
              </a:defRPr>
            </a:pPr>
            <a:r>
              <a:rPr>
                <a:latin typeface="Trebuchet MS" panose="020B0603020202020204" pitchFamily="34" charset="0"/>
              </a:rPr>
              <a:t>✔ Vorab-Installation im Systemhaus: </a:t>
            </a:r>
            <a:r>
              <a:rPr b="0">
                <a:solidFill>
                  <a:srgbClr val="262626"/>
                </a:solidFill>
                <a:latin typeface="Trebuchet MS" panose="020B0603020202020204" pitchFamily="34" charset="0"/>
              </a:rPr>
              <a:t>Weil alle Rechner im Labor vorgeflasht wurden, dauerte der Aufbau beim Kunden nur 3 statt 5 Tage.</a:t>
            </a:r>
          </a:p>
        </p:txBody>
      </p:sp>
      <p:sp>
        <p:nvSpPr>
          <p:cNvPr id="8" name="Rounded Rectangle 7"/>
          <p:cNvSpPr/>
          <p:nvPr/>
        </p:nvSpPr>
        <p:spPr>
          <a:xfrm>
            <a:off x="6159500" y="1371600"/>
            <a:ext cx="50800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Rectangle 8"/>
          <p:cNvSpPr/>
          <p:nvPr/>
        </p:nvSpPr>
        <p:spPr>
          <a:xfrm>
            <a:off x="6159500" y="1371600"/>
            <a:ext cx="5080000" cy="54864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Was nehmen wir für nächste Projekte mit?</a:t>
            </a:r>
          </a:p>
        </p:txBody>
      </p:sp>
      <p:sp>
        <p:nvSpPr>
          <p:cNvPr id="10" name="TextBox 9"/>
          <p:cNvSpPr txBox="1"/>
          <p:nvPr/>
        </p:nvSpPr>
        <p:spPr>
          <a:xfrm>
            <a:off x="6350000" y="2103120"/>
            <a:ext cx="4699000" cy="1838965"/>
          </a:xfrm>
          <a:prstGeom prst="rect">
            <a:avLst/>
          </a:prstGeom>
          <a:noFill/>
        </p:spPr>
        <p:txBody>
          <a:bodyPr wrap="square" lIns="0" tIns="0" rIns="0" bIns="0">
            <a:spAutoFit/>
          </a:bodyPr>
          <a:lstStyle/>
          <a:p>
            <a:pPr>
              <a:spcAft>
                <a:spcPts val="1000"/>
              </a:spcAft>
              <a:defRPr sz="1050" b="1">
                <a:solidFill>
                  <a:srgbClr val="1F497D"/>
                </a:solidFill>
                <a:latin typeface="Calibri"/>
              </a:defRPr>
            </a:pPr>
            <a:r>
              <a:rPr>
                <a:latin typeface="Trebuchet MS" panose="020B0603020202020204" pitchFamily="34" charset="0"/>
              </a:rPr>
              <a:t>➔ Netzwerk-Check noch früher machen: </a:t>
            </a:r>
            <a:r>
              <a:rPr b="0">
                <a:solidFill>
                  <a:srgbClr val="262626"/>
                </a:solidFill>
                <a:latin typeface="Trebuchet MS" panose="020B0603020202020204" pitchFamily="34" charset="0"/>
              </a:rPr>
              <a:t>Die Switch-Ports und Dosen vor Ort sollten wir künftig schon vor der Bestellung gemeinsam mit dem Kunden begehen.</a:t>
            </a:r>
          </a:p>
          <a:p>
            <a:pPr>
              <a:spcAft>
                <a:spcPts val="1000"/>
              </a:spcAft>
              <a:defRPr sz="1050" b="1">
                <a:solidFill>
                  <a:srgbClr val="1F497D"/>
                </a:solidFill>
                <a:latin typeface="Calibri"/>
              </a:defRPr>
            </a:pPr>
            <a:r>
              <a:rPr>
                <a:latin typeface="Trebuchet MS" panose="020B0603020202020204" pitchFamily="34" charset="0"/>
              </a:rPr>
              <a:t>➔ Pufferzeiten für Retouren einplanen: </a:t>
            </a:r>
            <a:r>
              <a:rPr b="0">
                <a:solidFill>
                  <a:srgbClr val="262626"/>
                </a:solidFill>
                <a:latin typeface="Trebuchet MS" panose="020B0603020202020204" pitchFamily="34" charset="0"/>
              </a:rPr>
              <a:t>Für RMA-Austauschprozesse sollte im Netzplan immer ein festes Zeitfenster von 3-5 Tagen reserviert sein.</a:t>
            </a:r>
          </a:p>
          <a:p>
            <a:pPr>
              <a:spcAft>
                <a:spcPts val="1000"/>
              </a:spcAft>
              <a:defRPr sz="1050" b="1">
                <a:solidFill>
                  <a:srgbClr val="1F497D"/>
                </a:solidFill>
                <a:latin typeface="Calibri"/>
              </a:defRPr>
            </a:pPr>
            <a:r>
              <a:rPr>
                <a:latin typeface="Trebuchet MS" panose="020B0603020202020204" pitchFamily="34" charset="0"/>
              </a:rPr>
              <a:t>➔ Inbetriebnahme-Checkliste beibehalten: </a:t>
            </a:r>
            <a:r>
              <a:rPr b="0">
                <a:solidFill>
                  <a:srgbClr val="262626"/>
                </a:solidFill>
                <a:latin typeface="Trebuchet MS" panose="020B0603020202020204" pitchFamily="34" charset="0"/>
              </a:rPr>
              <a:t>Unsere erstellte Checkliste nach ArbStättV war Gold wert und wird als Standardvorlage übernommen.</a:t>
            </a:r>
          </a:p>
          <a:p>
            <a:pPr>
              <a:spcAft>
                <a:spcPts val="1000"/>
              </a:spcAft>
              <a:defRPr sz="1050" b="1">
                <a:solidFill>
                  <a:srgbClr val="1F497D"/>
                </a:solidFill>
                <a:latin typeface="Calibri"/>
              </a:defRPr>
            </a:pPr>
            <a:r>
              <a:rPr>
                <a:latin typeface="Trebuchet MS" panose="020B0603020202020204" pitchFamily="34" charset="0"/>
              </a:rPr>
              <a:t>➔ Mitarbeiter-Einweisung standardisieren: </a:t>
            </a:r>
            <a:r>
              <a:rPr b="0">
                <a:solidFill>
                  <a:srgbClr val="262626"/>
                </a:solidFill>
                <a:latin typeface="Trebuchet MS" panose="020B0603020202020204" pitchFamily="34" charset="0"/>
              </a:rPr>
              <a:t>Kurze Bedienungsanleitungen für den A3-Drucker direkt als PDF auf allen Desktops hinterlegen.</a:t>
            </a:r>
          </a:p>
        </p:txBody>
      </p:sp>
      <p:pic>
        <p:nvPicPr>
          <p:cNvPr id="12" name="NextLevelLogo_15">
            <a:extLst>
              <a:ext uri="{FF2B5EF4-FFF2-40B4-BE49-F238E27FC236}">
                <a16:creationId xmlns:a16="http://schemas.microsoft.com/office/drawing/2014/main" id="{74C68879-6DF5-091A-01B5-CFE03EEE2398}"/>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
          <p:cNvSpPr/>
          <p:nvPr/>
        </p:nvSpPr>
        <p:spPr>
          <a:xfrm>
            <a:off x="698500" y="508000"/>
            <a:ext cx="10604500" cy="5588000"/>
          </a:xfrm>
          <a:prstGeom prst="roundRect">
            <a:avLst/>
          </a:prstGeom>
          <a:solidFill>
            <a:srgbClr val="FFFFFF"/>
          </a:solidFill>
          <a:ln w="25400">
            <a:solidFill>
              <a:srgbClr val="90C2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 name="TextBox 3"/>
          <p:cNvSpPr txBox="1"/>
          <p:nvPr/>
        </p:nvSpPr>
        <p:spPr>
          <a:xfrm>
            <a:off x="889000" y="698500"/>
            <a:ext cx="10223500" cy="684803"/>
          </a:xfrm>
          <a:prstGeom prst="rect">
            <a:avLst/>
          </a:prstGeom>
          <a:noFill/>
        </p:spPr>
        <p:txBody>
          <a:bodyPr wrap="square">
            <a:spAutoFit/>
          </a:bodyPr>
          <a:lstStyle/>
          <a:p>
            <a:pPr algn="ctr">
              <a:defRPr sz="3200" b="1">
                <a:solidFill>
                  <a:srgbClr val="FFFFFF"/>
                </a:solidFill>
                <a:latin typeface="Calibri"/>
              </a:defRPr>
            </a:pPr>
            <a:r>
              <a:rPr sz="2500" b="1">
                <a:solidFill>
                  <a:srgbClr val="54A021"/>
                </a:solidFill>
                <a:latin typeface="Trebuchet MS" panose="020B0603020202020204" pitchFamily="34" charset="0"/>
              </a:rPr>
              <a:t>Vielen Dank für Ihre Aufmerksamkeit!</a:t>
            </a:r>
          </a:p>
          <a:p>
            <a:pPr algn="ctr">
              <a:defRPr sz="1500">
                <a:solidFill>
                  <a:srgbClr val="DEEBF7"/>
                </a:solidFill>
              </a:defRPr>
            </a:pPr>
            <a:r>
              <a:rPr sz="1350">
                <a:solidFill>
                  <a:srgbClr val="2C3C43"/>
                </a:solidFill>
                <a:latin typeface="Trebuchet MS" panose="020B0603020202020204" pitchFamily="34" charset="0"/>
              </a:rPr>
              <a:t>Wir freuen uns auf Ihre Fragen und die anschließende Diskussion.</a:t>
            </a:r>
          </a:p>
        </p:txBody>
      </p:sp>
      <p:sp>
        <p:nvSpPr>
          <p:cNvPr id="5" name="Rectangle 4"/>
          <p:cNvSpPr/>
          <p:nvPr/>
        </p:nvSpPr>
        <p:spPr>
          <a:xfrm>
            <a:off x="2032000" y="1676400"/>
            <a:ext cx="7937500" cy="12700"/>
          </a:xfrm>
          <a:prstGeom prst="rect">
            <a:avLst/>
          </a:prstGeom>
          <a:solidFill>
            <a:srgbClr val="B4C6E7"/>
          </a:solidFill>
          <a:ln w="12700">
            <a:solidFill>
              <a:srgbClr val="90C2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TextBox 5"/>
          <p:cNvSpPr txBox="1"/>
          <p:nvPr/>
        </p:nvSpPr>
        <p:spPr>
          <a:xfrm>
            <a:off x="889000" y="1803400"/>
            <a:ext cx="10223500" cy="461665"/>
          </a:xfrm>
          <a:prstGeom prst="rect">
            <a:avLst/>
          </a:prstGeom>
          <a:noFill/>
        </p:spPr>
        <p:txBody>
          <a:bodyPr wrap="square">
            <a:spAutoFit/>
          </a:bodyPr>
          <a:lstStyle/>
          <a:p>
            <a:pPr algn="ctr">
              <a:defRPr sz="1600" b="1">
                <a:solidFill>
                  <a:srgbClr val="FFFFFF"/>
                </a:solidFill>
                <a:latin typeface="Calibri"/>
              </a:defRPr>
            </a:pPr>
            <a:r>
              <a:rPr sz="1300" b="1">
                <a:solidFill>
                  <a:srgbClr val="2C3C43"/>
                </a:solidFill>
                <a:latin typeface="Trebuchet MS" panose="020B0603020202020204" pitchFamily="34" charset="0"/>
              </a:rPr>
              <a:t>NextLevel IT Solutions GmbH</a:t>
            </a:r>
          </a:p>
          <a:p>
            <a:pPr algn="ctr">
              <a:defRPr sz="1100">
                <a:solidFill>
                  <a:srgbClr val="DEEBF7"/>
                </a:solidFill>
              </a:defRPr>
            </a:pPr>
            <a:r>
              <a:rPr sz="1100">
                <a:solidFill>
                  <a:srgbClr val="505550"/>
                </a:solidFill>
                <a:latin typeface="Trebuchet MS" panose="020B0603020202020204" pitchFamily="34" charset="0"/>
              </a:rPr>
              <a:t>Technikstraße 42  •  50667 Köln  •  Tel: 0221 / 123 456-0  •  E-Mail: info@nextlevel-it.de</a:t>
            </a:r>
          </a:p>
        </p:txBody>
      </p:sp>
      <p:sp>
        <p:nvSpPr>
          <p:cNvPr id="7" name="Rounded Rectangle 6"/>
          <p:cNvSpPr/>
          <p:nvPr/>
        </p:nvSpPr>
        <p:spPr>
          <a:xfrm>
            <a:off x="952500" y="2540000"/>
            <a:ext cx="10096500" cy="3238500"/>
          </a:xfrm>
          <a:prstGeom prst="roundRect">
            <a:avLst/>
          </a:prstGeom>
          <a:solidFill>
            <a:srgbClr val="F6F9F4"/>
          </a:solidFill>
          <a:ln w="15240">
            <a:solidFill>
              <a:srgbClr val="90C2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TextBox 7"/>
          <p:cNvSpPr txBox="1"/>
          <p:nvPr/>
        </p:nvSpPr>
        <p:spPr>
          <a:xfrm>
            <a:off x="1143000" y="2667000"/>
            <a:ext cx="9715500" cy="1841530"/>
          </a:xfrm>
          <a:prstGeom prst="rect">
            <a:avLst/>
          </a:prstGeom>
          <a:noFill/>
        </p:spPr>
        <p:txBody>
          <a:bodyPr wrap="square">
            <a:spAutoFit/>
          </a:bodyPr>
          <a:lstStyle/>
          <a:p>
            <a:pPr algn="ctr">
              <a:spcAft>
                <a:spcPts val="1000"/>
              </a:spcAft>
              <a:defRPr sz="1100" b="1">
                <a:solidFill>
                  <a:srgbClr val="DEEBF7"/>
                </a:solidFill>
                <a:latin typeface="Calibri"/>
              </a:defRPr>
            </a:pPr>
            <a:r>
              <a:rPr lang="de-DE" sz="1200" b="1">
                <a:solidFill>
                  <a:srgbClr val="54A021"/>
                </a:solidFill>
                <a:latin typeface="Trebuchet MS" panose="020B0603020202020204" pitchFamily="34" charset="0"/>
              </a:rPr>
              <a:t>PROJEKTTEAM (HANDLUNGSAUFGABE 2026)
• Jan Kluth – Projektleiter: Gesamtkoordination, Meilensteinüberwachung &amp; Präsentation
• Mathias Vonau – Technischer Planer: Anforderungsanalyse, Lastenheft &amp; Vorinstallation / Staging
• Marian Bolecke – Beschaffung &amp; Kalkulation: Reale Marktrecherche &amp; Vorwärtskalkulation
• Marco Schmidt – QM &amp; Logistik: Wareneingangsprüfung (§ 377 HGB) &amp; Altdrucker-Entsorgung
• Siyar – Berechnungen &amp; Doku: Server-Speicherbedarf (445 GiB) &amp; Energiekosten (1.771 €)</a:t>
            </a:r>
            <a:endParaRPr sz="1200" b="1">
              <a:solidFill>
                <a:srgbClr val="54A021"/>
              </a:solidFill>
              <a:latin typeface="Trebuchet MS" panose="020B0603020202020204" pitchFamily="34" charset="0"/>
            </a:endParaRPr>
          </a:p>
        </p:txBody>
      </p:sp>
      <p:pic>
        <p:nvPicPr>
          <p:cNvPr id="10" name="NextLevelLogo_16">
            <a:extLst>
              <a:ext uri="{FF2B5EF4-FFF2-40B4-BE49-F238E27FC236}">
                <a16:creationId xmlns:a16="http://schemas.microsoft.com/office/drawing/2014/main" id="{674D93C0-9CB0-8B8C-11F0-51463F913536}"/>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theme/theme1.xml><?xml version="1.0" encoding="utf-8"?>
<a:theme xmlns:a="http://schemas.openxmlformats.org/drawingml/2006/main" name="Facette">
  <a:themeElements>
    <a:clrScheme name="Facette">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te">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te">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0</TotalTime>
  <Words>4797</Words>
  <Application>Microsoft Office PowerPoint</Application>
  <PresentationFormat>Breitbild</PresentationFormat>
  <Paragraphs>549</Paragraphs>
  <Slides>16</Slides>
  <Notes>16</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16</vt:i4>
      </vt:variant>
    </vt:vector>
  </HeadingPairs>
  <TitlesOfParts>
    <vt:vector size="20" baseType="lpstr">
      <vt:lpstr>Arial</vt:lpstr>
      <vt:lpstr>Trebuchet MS</vt:lpstr>
      <vt:lpstr>Wingdings 3</vt:lpstr>
      <vt:lpstr>Facette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Jan Kluth</cp:lastModifiedBy>
  <cp:revision>15</cp:revision>
  <dcterms:created xsi:type="dcterms:W3CDTF">2013-01-27T09:14:16Z</dcterms:created>
  <dcterms:modified xsi:type="dcterms:W3CDTF">2026-09-07T12:30:28Z</dcterms:modified>
  <cp:category/>
</cp:coreProperties>
</file>