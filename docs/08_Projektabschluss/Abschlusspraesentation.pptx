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Guten Tag zusammen und herzlich willkommen zu unserer Projektpräsentation!</a:t>
            </a:r>
          </a:p>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Hier sehen Sie unsere Agenda für die heutigen 10 Minuten:</a:t>
            </a:r>
          </a:p>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Schauen wir auf die Ausgangssituation: Unser Kunde, die VektorPlan GmbH, modernisiert zwei Großraumbüros und richtet eine Plotterstation ein.</a:t>
            </a:r>
          </a:p>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ein solches Projekt in Time und in Budget bleibt, haben wir die Rollen nach individuellen Stärken aufgeteilt:</a:t>
            </a:r>
          </a:p>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Hallo zusammen, hier sehen Sie unseren Projektstrukturplan nach DIN 69901.</a:t>
            </a:r>
          </a:p>
          <a:p/>
          <a:p>
            <a:r>
              <a:t>Wir haben die Aufgabenstellung unseres Lehrers exakt und methodisch sauber umgesetzt: Das gesamte Projektvolumen ist in fünf klare Säulen gegliedert – jede Säule wird von einem festen Mitglied unseres Kernteams geleitet (Marian für Hardware, ich für Software, Siyar für Netzwerk &amp; Server, Marco für QM &amp; Logistik und Jan für Rollout &amp; PM).</a:t>
            </a:r>
          </a:p>
          <a:p/>
          <a:p>
            <a:r>
              <a:t>Insgesamt sind genau 30 messbare Arbeitspakete (6 je Teilprojekt) definiert. Dadurch weiß jeder Schüler im Team genau, was seine Aufgaben sind – von den Lenovo Standard-PCs über die Lizenzdokumentation, die Serverberechnungen (445 GiB &amp; 1.771 €), die Mängelrüge bis zum Abnahmeprotokoll.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Auf dieser Folie sehen Sie unseren Netzplan nach DIN 69900.</a:t>
            </a:r>
          </a:p>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Vielen Dank Mathias! Schauen wir uns die Hardware-Anforderungen im Detail an.</a:t>
            </a:r>
          </a:p>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die konkreten Markenprodukte, die wir im IT-Fachhandel recherchiert haben:</a:t>
            </a:r>
          </a:p>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Um Bauchgefühl auszuschließen, haben wir zwei gewichtete Nutzwertanalysen durchgeführt:</a:t>
            </a:r>
          </a:p>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unsere kaufmännische Vorwärtskalkulation nach klassischem IHK-Schema:</a:t>
            </a:r>
          </a:p>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Siyar (Berechnungen &amp; Controlling)</a:t>
            </a:r>
          </a:p>
          <a:p/>
          <a:p>
            <a:r>
              <a:t>Hallo zusammen! Ich freue mich, Ihnen die beiden technischen Berechnungen vorzustellen, um die uns die Geschäftsführung von VektorPlan im Vorfeld gebeten hatte. Wir haben die Zahlen bewusst nicht geschätzt, sondern mathematisch exakt nach IHK-Standard durchgerechnet.</a:t>
            </a:r>
          </a:p>
          <a:p/>
          <a:p>
            <a:r>
              <a:t>Schauen wir zuerst auf die linke Seite – den Speicherplatzbedarf auf dem Fileserver:</a:t>
            </a:r>
          </a:p>
          <a:p>
            <a:r>
              <a:t>An jedem der 16 Arbeitsplätze entstehen pro Tag rund 350 Megabyte an neuen Projekt- und Plandaten. Über ein volles Quartal mit 65 Arbeitstagen summiert sich das auf 364.000 Megabyte. Weil Dateisysteme aber binär arbeiten, teilen wir durch 1.024 und kommen auf 355,47 GiB – aufgerundet also 356 GiB Netto.</a:t>
            </a:r>
          </a:p>
          <a:p>
            <a:r>
              <a:t>Jetzt kommt das Entscheidende: Bei einem Konstruktionsbüro gibt es viele Revisionsstände und CAD-Snapshots. Deshalb haben wir den geforderten Sicherheitszuschlag von 25 Prozent – also 89 GiB – aufgeschlagen. Das Ergebnis sehen Sie oben fett: Genau 445 GiB Bruttokapazität muss der Server für das erste Quartal bereitstellen. Unsere Empfehlung: Ein RAID-10-System mit 4 bis 6 Terabyte, dann hat VektorPlan für die nächsten 3 Jahre absolute Ruhe.</a:t>
            </a:r>
          </a:p>
          <a:p/>
          <a:p>
            <a:r>
              <a:t>Jetzt zur rechten Seite – den jährlichen Energiekosten:</a:t>
            </a:r>
          </a:p>
          <a:p>
            <a:r>
              <a:t>Wir haben gemessen: Ein Standard-PC mit seinen zwei 27-Zoll-Monitoren zieht im Schnitt 140 Watt. Eine hochgezüchtete CAD-Workstation mit der RTX 4000 Ada braucht etwa 320 Watt. Zusammen ergibt das für alle 16 Plätze eine Büro-Gesamtleistung von 2,96 Kilowatt.</a:t>
            </a:r>
          </a:p>
          <a:p>
            <a:r>
              <a:t>Bei 220 Arbeitstagen und 8,5 Stunden Arbeitszeit pro Tag kommen wir auf 5.535 Kilowattstunden Stromverbrauch im Jahr. Beim Strompreis von 32 Cent pro Kilowattstunde sind das exakt 1.771,26 Euro pro Jahr. Umgerechnet bedeutet das: Nur rund 148 Euro im Monat für das gesamte Büro – oder gerade mal 110 Euro pro Mitarbeiter im ganzen Jahr! Und wer nachts per Gruppenrichtlinie und Master-Slave-Leisten abschaltet, spart locker nochmal 15 Prozent ein.</a:t>
            </a:r>
          </a:p>
          <a:p/>
          <a:p>
            <a:r>
              <a:t>Damit steht das IT-Fundament auch rechnerisch felsenfest – und ich übergebe direkt an Marco für das Qualitätsmanagement!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Danke Siyar! Als Qualitätsmanager trage ich die Verantwortung für Wareneingang und Compliance.</a:t>
            </a:r>
          </a:p>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Hier sehen Sie die 4 Phasen unseres Rollouts:</a:t>
            </a:r>
          </a:p>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Kommen wir zum Projektergebnis im Soll-Ist-Vergleich:</a:t>
            </a:r>
          </a:p>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Was sind unsere Lessons Learned aus diesem Projekt?</a:t>
            </a:r>
          </a:p>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sind wir am Ende unserer Präsentation angelangt.</a:t>
            </a:r>
          </a:p>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1097280" y="1371600"/>
            <a:ext cx="10058400" cy="2743200"/>
          </a:xfrm>
          <a:prstGeom prst="rect">
            <a:avLst/>
          </a:prstGeom>
          <a:noFill/>
        </p:spPr>
        <p:txBody>
          <a:bodyPr wrap="square">
            <a:spAutoFit/>
          </a:bodyPr>
          <a:lstStyle/>
          <a:p>
            <a:pPr>
              <a:defRPr sz="1400" b="1">
                <a:solidFill>
                  <a:srgbClr val="B4C6E7"/>
                </a:solidFill>
                <a:latin typeface="Calibri"/>
              </a:defRPr>
            </a:pPr>
            <a:r>
              <a:t>Handlungsaufgabe: IT-Systemhaus</a:t>
            </a:r>
          </a:p>
          <a:p>
            <a:pPr>
              <a:defRPr sz="3600" b="1">
                <a:solidFill>
                  <a:srgbClr val="FFFFFF"/>
                </a:solidFill>
                <a:latin typeface="Calibri"/>
              </a:defRPr>
            </a:pPr>
            <a:r>
              <a:t>Ausstattung eines Planungs- &amp;</a:t>
            </a:r>
            <a:br/>
            <a:r>
              <a:t>Konstruktionsbüros</a:t>
            </a:r>
          </a:p>
          <a:p>
            <a:pPr>
              <a:defRPr sz="1400">
                <a:solidFill>
                  <a:srgbClr val="DEEBF7"/>
                </a:solidFill>
                <a:latin typeface="Calibri"/>
              </a:defRPr>
            </a:pPr>
            <a:r>
              <a:t>Kunde: VektorPlan GmbH (Düsseldorf)  |  Auftragnehmer: NextLevel IT Solutions GmbH (Köln)</a:t>
            </a:r>
          </a:p>
        </p:txBody>
      </p:sp>
      <p:sp>
        <p:nvSpPr>
          <p:cNvPr id="4" name="Rounded Rectangle 3"/>
          <p:cNvSpPr/>
          <p:nvPr/>
        </p:nvSpPr>
        <p:spPr>
          <a:xfrm>
            <a:off x="1097280" y="4389120"/>
            <a:ext cx="9966960" cy="1463040"/>
          </a:xfrm>
          <a:prstGeom prst="roundRect">
            <a:avLst/>
          </a:prstGeom>
          <a:solidFill>
            <a:srgbClr val="2F5597"/>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1280160" y="4526280"/>
            <a:ext cx="9601200" cy="1188720"/>
          </a:xfrm>
          <a:prstGeom prst="rect">
            <a:avLst/>
          </a:prstGeom>
          <a:noFill/>
        </p:spPr>
        <p:txBody>
          <a:bodyPr wrap="none">
            <a:spAutoFit/>
          </a:bodyPr>
          <a:lstStyle/>
          <a:p>
            <a:pPr>
              <a:defRPr sz="1150" b="1">
                <a:solidFill>
                  <a:srgbClr val="DEEBF7"/>
                </a:solidFill>
                <a:latin typeface="Calibri"/>
              </a:defRPr>
            </a:pPr>
            <a:r>
              <a:t>Projektteam NextLevel IT Solutions:</a:t>
            </a:r>
          </a:p>
          <a:p>
            <a:pPr>
              <a:defRPr sz="1200">
                <a:solidFill>
                  <a:srgbClr val="FFFFFF"/>
                </a:solidFill>
                <a:latin typeface="Calibri"/>
              </a:defRPr>
            </a:pPr>
            <a:r>
              <a:t>Jan Kluth (Projektleiter)  •  Mathias Vonau (Techn. Planer)  •  Marian Bolecke (Beschaffung &amp; Kalkulation)</a:t>
            </a:r>
            <a:br/>
            <a:r>
              <a:t>Marco Schmidt (Qualitätsmanagement &amp; Logistik)  •  Siyar (Berechnungen &amp; Dokumentation)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PROJEKTÜBERSICHT</a:t>
            </a:r>
          </a:p>
          <a:p>
            <a:pPr>
              <a:defRPr sz="2000" b="1">
                <a:solidFill>
                  <a:srgbClr val="FFFFFF"/>
                </a:solidFill>
                <a:latin typeface="Calibri"/>
              </a:defRPr>
            </a:pPr>
            <a:r>
              <a:t>Agenda unseres Projektablaufs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2 von 16</a:t>
            </a:r>
          </a:p>
        </p:txBody>
      </p:sp>
      <p:sp>
        <p:nvSpPr>
          <p:cNvPr id="5" name="Rounded Rectangle 4"/>
          <p:cNvSpPr/>
          <p:nvPr/>
        </p:nvSpPr>
        <p:spPr>
          <a:xfrm>
            <a:off x="73152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822960" y="1316736"/>
            <a:ext cx="5029200" cy="594360"/>
          </a:xfrm>
          <a:prstGeom prst="rect">
            <a:avLst/>
          </a:prstGeom>
          <a:noFill/>
        </p:spPr>
        <p:txBody>
          <a:bodyPr wrap="square">
            <a:spAutoFit/>
          </a:bodyPr>
          <a:lstStyle/>
          <a:p>
            <a:pPr>
              <a:defRPr sz="1100" b="1">
                <a:solidFill>
                  <a:srgbClr val="1F497D"/>
                </a:solidFill>
                <a:latin typeface="Calibri"/>
              </a:defRPr>
            </a:pPr>
            <a:r>
              <a:t>1. Projektauftrag &amp; Kundenbedarf</a:t>
            </a:r>
          </a:p>
          <a:p>
            <a:pPr>
              <a:defRPr sz="950">
                <a:solidFill>
                  <a:srgbClr val="595959"/>
                </a:solidFill>
                <a:latin typeface="Calibri"/>
              </a:defRPr>
            </a:pPr>
            <a:r>
              <a:t>Ausgangslage der VektorPlan GmbH und geforderte 16 Arbeitsplätze</a:t>
            </a:r>
          </a:p>
        </p:txBody>
      </p:sp>
      <p:sp>
        <p:nvSpPr>
          <p:cNvPr id="7" name="Rounded Rectangle 6"/>
          <p:cNvSpPr/>
          <p:nvPr/>
        </p:nvSpPr>
        <p:spPr>
          <a:xfrm>
            <a:off x="73152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822960" y="2029967"/>
            <a:ext cx="5029200" cy="594360"/>
          </a:xfrm>
          <a:prstGeom prst="rect">
            <a:avLst/>
          </a:prstGeom>
          <a:noFill/>
        </p:spPr>
        <p:txBody>
          <a:bodyPr wrap="square">
            <a:spAutoFit/>
          </a:bodyPr>
          <a:lstStyle/>
          <a:p>
            <a:pPr>
              <a:defRPr sz="1100" b="1">
                <a:solidFill>
                  <a:srgbClr val="1F497D"/>
                </a:solidFill>
                <a:latin typeface="Calibri"/>
              </a:defRPr>
            </a:pPr>
            <a:r>
              <a:t>2. Team &amp; Rollenverteilung</a:t>
            </a:r>
          </a:p>
          <a:p>
            <a:pPr>
              <a:defRPr sz="950">
                <a:solidFill>
                  <a:srgbClr val="595959"/>
                </a:solidFill>
                <a:latin typeface="Calibri"/>
              </a:defRPr>
            </a:pPr>
            <a:r>
              <a:t>Verteilung der Aufgabenbereiche auf unser 5-köpfiges Projektteam</a:t>
            </a:r>
          </a:p>
        </p:txBody>
      </p:sp>
      <p:sp>
        <p:nvSpPr>
          <p:cNvPr id="9" name="Rounded Rectangle 8"/>
          <p:cNvSpPr/>
          <p:nvPr/>
        </p:nvSpPr>
        <p:spPr>
          <a:xfrm>
            <a:off x="73152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TextBox 9"/>
          <p:cNvSpPr txBox="1"/>
          <p:nvPr/>
        </p:nvSpPr>
        <p:spPr>
          <a:xfrm>
            <a:off x="822960" y="2743200"/>
            <a:ext cx="5029200" cy="594360"/>
          </a:xfrm>
          <a:prstGeom prst="rect">
            <a:avLst/>
          </a:prstGeom>
          <a:noFill/>
        </p:spPr>
        <p:txBody>
          <a:bodyPr wrap="square">
            <a:spAutoFit/>
          </a:bodyPr>
          <a:lstStyle/>
          <a:p>
            <a:pPr>
              <a:defRPr sz="1100" b="1">
                <a:solidFill>
                  <a:srgbClr val="1F497D"/>
                </a:solidFill>
                <a:latin typeface="Calibri"/>
              </a:defRPr>
            </a:pPr>
            <a:r>
              <a:t>3. Projektstrukturplan (PSP)</a:t>
            </a:r>
          </a:p>
          <a:p>
            <a:pPr>
              <a:defRPr sz="950">
                <a:solidFill>
                  <a:srgbClr val="595959"/>
                </a:solidFill>
                <a:latin typeface="Calibri"/>
              </a:defRPr>
            </a:pPr>
            <a:r>
              <a:t>Objektorientierte Gliederung nach DIN 69901 in 5 Hauptbereiche</a:t>
            </a:r>
          </a:p>
        </p:txBody>
      </p:sp>
      <p:sp>
        <p:nvSpPr>
          <p:cNvPr id="11" name="Rounded Rectangle 10"/>
          <p:cNvSpPr/>
          <p:nvPr/>
        </p:nvSpPr>
        <p:spPr>
          <a:xfrm>
            <a:off x="73152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822960" y="3456432"/>
            <a:ext cx="5029200" cy="594360"/>
          </a:xfrm>
          <a:prstGeom prst="rect">
            <a:avLst/>
          </a:prstGeom>
          <a:noFill/>
        </p:spPr>
        <p:txBody>
          <a:bodyPr wrap="square">
            <a:spAutoFit/>
          </a:bodyPr>
          <a:lstStyle/>
          <a:p>
            <a:pPr>
              <a:defRPr sz="1100" b="1">
                <a:solidFill>
                  <a:srgbClr val="1F497D"/>
                </a:solidFill>
                <a:latin typeface="Calibri"/>
              </a:defRPr>
            </a:pPr>
            <a:r>
              <a:t>4. Netzplan &amp; Kritischer Pfad</a:t>
            </a:r>
          </a:p>
          <a:p>
            <a:pPr>
              <a:defRPr sz="950">
                <a:solidFill>
                  <a:srgbClr val="595959"/>
                </a:solidFill>
                <a:latin typeface="Calibri"/>
              </a:defRPr>
            </a:pPr>
            <a:r>
              <a:t>Termin- und Pufferberechnung nach DIN 69900 (Dauer: 46 Arbeitstage)</a:t>
            </a:r>
          </a:p>
        </p:txBody>
      </p:sp>
      <p:sp>
        <p:nvSpPr>
          <p:cNvPr id="13" name="Rounded Rectangle 12"/>
          <p:cNvSpPr/>
          <p:nvPr/>
        </p:nvSpPr>
        <p:spPr>
          <a:xfrm>
            <a:off x="73152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822960" y="4169663"/>
            <a:ext cx="5029200" cy="594360"/>
          </a:xfrm>
          <a:prstGeom prst="rect">
            <a:avLst/>
          </a:prstGeom>
          <a:noFill/>
        </p:spPr>
        <p:txBody>
          <a:bodyPr wrap="square">
            <a:spAutoFit/>
          </a:bodyPr>
          <a:lstStyle/>
          <a:p>
            <a:pPr>
              <a:defRPr sz="1100" b="1">
                <a:solidFill>
                  <a:srgbClr val="1F497D"/>
                </a:solidFill>
                <a:latin typeface="Calibri"/>
              </a:defRPr>
            </a:pPr>
            <a:r>
              <a:t>5. Hardware- &amp; Software-Spezifikationen</a:t>
            </a:r>
          </a:p>
          <a:p>
            <a:pPr>
              <a:defRPr sz="950">
                <a:solidFill>
                  <a:srgbClr val="595959"/>
                </a:solidFill>
                <a:latin typeface="Calibri"/>
              </a:defRPr>
            </a:pPr>
            <a:r>
              <a:t>Unterschiede Standard-Büro vs. High-End CAD/BIM-Workstations</a:t>
            </a:r>
          </a:p>
        </p:txBody>
      </p:sp>
      <p:sp>
        <p:nvSpPr>
          <p:cNvPr id="15" name="Rounded Rectangle 14"/>
          <p:cNvSpPr/>
          <p:nvPr/>
        </p:nvSpPr>
        <p:spPr>
          <a:xfrm>
            <a:off x="73152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TextBox 15"/>
          <p:cNvSpPr txBox="1"/>
          <p:nvPr/>
        </p:nvSpPr>
        <p:spPr>
          <a:xfrm>
            <a:off x="822960" y="4882896"/>
            <a:ext cx="5029200" cy="594360"/>
          </a:xfrm>
          <a:prstGeom prst="rect">
            <a:avLst/>
          </a:prstGeom>
          <a:noFill/>
        </p:spPr>
        <p:txBody>
          <a:bodyPr wrap="square">
            <a:spAutoFit/>
          </a:bodyPr>
          <a:lstStyle/>
          <a:p>
            <a:pPr>
              <a:defRPr sz="1100" b="1">
                <a:solidFill>
                  <a:srgbClr val="1F497D"/>
                </a:solidFill>
                <a:latin typeface="Calibri"/>
              </a:defRPr>
            </a:pPr>
            <a:r>
              <a:t>6. Marktrecherche &amp; Produktauswahl</a:t>
            </a:r>
          </a:p>
          <a:p>
            <a:pPr>
              <a:defRPr sz="950">
                <a:solidFill>
                  <a:srgbClr val="595959"/>
                </a:solidFill>
                <a:latin typeface="Calibri"/>
              </a:defRPr>
            </a:pPr>
            <a:r>
              <a:t>Reale Produkte namhafter Hersteller aus dem deutschen IT-Fachhandel</a:t>
            </a:r>
          </a:p>
        </p:txBody>
      </p:sp>
      <p:sp>
        <p:nvSpPr>
          <p:cNvPr id="17" name="Rounded Rectangle 16"/>
          <p:cNvSpPr/>
          <p:nvPr/>
        </p:nvSpPr>
        <p:spPr>
          <a:xfrm>
            <a:off x="73152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TextBox 17"/>
          <p:cNvSpPr txBox="1"/>
          <p:nvPr/>
        </p:nvSpPr>
        <p:spPr>
          <a:xfrm>
            <a:off x="822960" y="5596128"/>
            <a:ext cx="5029200" cy="594360"/>
          </a:xfrm>
          <a:prstGeom prst="rect">
            <a:avLst/>
          </a:prstGeom>
          <a:noFill/>
        </p:spPr>
        <p:txBody>
          <a:bodyPr wrap="square">
            <a:spAutoFit/>
          </a:bodyPr>
          <a:lstStyle/>
          <a:p>
            <a:pPr>
              <a:defRPr sz="1100" b="1">
                <a:solidFill>
                  <a:srgbClr val="1F497D"/>
                </a:solidFill>
                <a:latin typeface="Calibri"/>
              </a:defRPr>
            </a:pPr>
            <a:r>
              <a:t>7. Nutzwertanalysen (Workstation &amp; Monitor)</a:t>
            </a:r>
          </a:p>
          <a:p>
            <a:pPr>
              <a:defRPr sz="950">
                <a:solidFill>
                  <a:srgbClr val="595959"/>
                </a:solidFill>
                <a:latin typeface="Calibri"/>
              </a:defRPr>
            </a:pPr>
            <a:r>
              <a:t>Entscheidungsmatrizen: Lenovo ThinkStation P3 &amp; Dell UltraSharp U2724D</a:t>
            </a:r>
          </a:p>
        </p:txBody>
      </p:sp>
      <p:sp>
        <p:nvSpPr>
          <p:cNvPr id="19" name="Rounded Rectangle 18"/>
          <p:cNvSpPr/>
          <p:nvPr/>
        </p:nvSpPr>
        <p:spPr>
          <a:xfrm>
            <a:off x="617220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0" name="TextBox 19"/>
          <p:cNvSpPr txBox="1"/>
          <p:nvPr/>
        </p:nvSpPr>
        <p:spPr>
          <a:xfrm>
            <a:off x="6263640" y="1316736"/>
            <a:ext cx="5029200" cy="594360"/>
          </a:xfrm>
          <a:prstGeom prst="rect">
            <a:avLst/>
          </a:prstGeom>
          <a:noFill/>
        </p:spPr>
        <p:txBody>
          <a:bodyPr wrap="square">
            <a:spAutoFit/>
          </a:bodyPr>
          <a:lstStyle/>
          <a:p>
            <a:pPr>
              <a:defRPr sz="1100" b="1">
                <a:solidFill>
                  <a:srgbClr val="1F497D"/>
                </a:solidFill>
                <a:latin typeface="Calibri"/>
              </a:defRPr>
            </a:pPr>
            <a:r>
              <a:t>8. Preiskalkulation &amp; Kaufmännisches Angebot</a:t>
            </a:r>
          </a:p>
          <a:p>
            <a:pPr>
              <a:defRPr sz="950">
                <a:solidFill>
                  <a:srgbClr val="595959"/>
                </a:solidFill>
                <a:latin typeface="Calibri"/>
              </a:defRPr>
            </a:pPr>
            <a:r>
              <a:t>Vorwärtskalkulation (Handlungskosten, Gewinn, Skonto) &amp; Gesamtsumme</a:t>
            </a:r>
          </a:p>
        </p:txBody>
      </p:sp>
      <p:sp>
        <p:nvSpPr>
          <p:cNvPr id="21" name="Rounded Rectangle 20"/>
          <p:cNvSpPr/>
          <p:nvPr/>
        </p:nvSpPr>
        <p:spPr>
          <a:xfrm>
            <a:off x="617220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6263640" y="2029967"/>
            <a:ext cx="5029200" cy="594360"/>
          </a:xfrm>
          <a:prstGeom prst="rect">
            <a:avLst/>
          </a:prstGeom>
          <a:noFill/>
        </p:spPr>
        <p:txBody>
          <a:bodyPr wrap="square">
            <a:spAutoFit/>
          </a:bodyPr>
          <a:lstStyle/>
          <a:p>
            <a:pPr>
              <a:defRPr sz="1100" b="1">
                <a:solidFill>
                  <a:srgbClr val="1F497D"/>
                </a:solidFill>
                <a:latin typeface="Calibri"/>
              </a:defRPr>
            </a:pPr>
            <a:r>
              <a:t>9. Kundenberechnungen (Aufgabe B)</a:t>
            </a:r>
          </a:p>
          <a:p>
            <a:pPr>
              <a:defRPr sz="950">
                <a:solidFill>
                  <a:srgbClr val="595959"/>
                </a:solidFill>
                <a:latin typeface="Calibri"/>
              </a:defRPr>
            </a:pPr>
            <a:r>
              <a:t>Speicherplatzbedarf für Q1 (445 GiB) und jährliche Stromkosten (1.771 €)</a:t>
            </a:r>
          </a:p>
        </p:txBody>
      </p:sp>
      <p:sp>
        <p:nvSpPr>
          <p:cNvPr id="23" name="Rounded Rectangle 22"/>
          <p:cNvSpPr/>
          <p:nvPr/>
        </p:nvSpPr>
        <p:spPr>
          <a:xfrm>
            <a:off x="617220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4" name="TextBox 23"/>
          <p:cNvSpPr txBox="1"/>
          <p:nvPr/>
        </p:nvSpPr>
        <p:spPr>
          <a:xfrm>
            <a:off x="6263640" y="2743200"/>
            <a:ext cx="5029200" cy="594360"/>
          </a:xfrm>
          <a:prstGeom prst="rect">
            <a:avLst/>
          </a:prstGeom>
          <a:noFill/>
        </p:spPr>
        <p:txBody>
          <a:bodyPr wrap="square">
            <a:spAutoFit/>
          </a:bodyPr>
          <a:lstStyle/>
          <a:p>
            <a:pPr>
              <a:defRPr sz="1100" b="1">
                <a:solidFill>
                  <a:srgbClr val="1F497D"/>
                </a:solidFill>
                <a:latin typeface="Calibri"/>
              </a:defRPr>
            </a:pPr>
            <a:r>
              <a:t>10. Wareneingangsprüfung &amp; Mängelrüge</a:t>
            </a:r>
          </a:p>
          <a:p>
            <a:pPr>
              <a:defRPr sz="950">
                <a:solidFill>
                  <a:srgbClr val="595959"/>
                </a:solidFill>
                <a:latin typeface="Calibri"/>
              </a:defRPr>
            </a:pPr>
            <a:r>
              <a:t>Rechtliche Schritte nach § 377 HGB bei Transportschaden &amp; Falschlieferung</a:t>
            </a:r>
          </a:p>
        </p:txBody>
      </p:sp>
      <p:sp>
        <p:nvSpPr>
          <p:cNvPr id="25" name="Rounded Rectangle 24"/>
          <p:cNvSpPr/>
          <p:nvPr/>
        </p:nvSpPr>
        <p:spPr>
          <a:xfrm>
            <a:off x="617220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TextBox 25"/>
          <p:cNvSpPr txBox="1"/>
          <p:nvPr/>
        </p:nvSpPr>
        <p:spPr>
          <a:xfrm>
            <a:off x="6263640" y="3456432"/>
            <a:ext cx="5029200" cy="594360"/>
          </a:xfrm>
          <a:prstGeom prst="rect">
            <a:avLst/>
          </a:prstGeom>
          <a:noFill/>
        </p:spPr>
        <p:txBody>
          <a:bodyPr wrap="square">
            <a:spAutoFit/>
          </a:bodyPr>
          <a:lstStyle/>
          <a:p>
            <a:pPr>
              <a:defRPr sz="1100" b="1">
                <a:solidFill>
                  <a:srgbClr val="1F497D"/>
                </a:solidFill>
                <a:latin typeface="Calibri"/>
              </a:defRPr>
            </a:pPr>
            <a:r>
              <a:t>11. Umweltgerechte Altdrucker-Entsorgung</a:t>
            </a:r>
          </a:p>
          <a:p>
            <a:pPr>
              <a:defRPr sz="950">
                <a:solidFill>
                  <a:srgbClr val="595959"/>
                </a:solidFill>
                <a:latin typeface="Calibri"/>
              </a:defRPr>
            </a:pPr>
            <a:r>
              <a:t>ElektroG, WEEE-Richtlinie, Toner-Recycling und BSI-konforme Datenlöschung</a:t>
            </a:r>
          </a:p>
        </p:txBody>
      </p:sp>
      <p:sp>
        <p:nvSpPr>
          <p:cNvPr id="27" name="Rounded Rectangle 26"/>
          <p:cNvSpPr/>
          <p:nvPr/>
        </p:nvSpPr>
        <p:spPr>
          <a:xfrm>
            <a:off x="617220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8" name="TextBox 27"/>
          <p:cNvSpPr txBox="1"/>
          <p:nvPr/>
        </p:nvSpPr>
        <p:spPr>
          <a:xfrm>
            <a:off x="6263640" y="4169663"/>
            <a:ext cx="5029200" cy="594360"/>
          </a:xfrm>
          <a:prstGeom prst="rect">
            <a:avLst/>
          </a:prstGeom>
          <a:noFill/>
        </p:spPr>
        <p:txBody>
          <a:bodyPr wrap="square">
            <a:spAutoFit/>
          </a:bodyPr>
          <a:lstStyle/>
          <a:p>
            <a:pPr>
              <a:defRPr sz="1100" b="1">
                <a:solidFill>
                  <a:srgbClr val="1F497D"/>
                </a:solidFill>
                <a:latin typeface="Calibri"/>
              </a:defRPr>
            </a:pPr>
            <a:r>
              <a:t>12. Rollout, Montage &amp; Abnahme vor Ort</a:t>
            </a:r>
          </a:p>
          <a:p>
            <a:pPr>
              <a:defRPr sz="950">
                <a:solidFill>
                  <a:srgbClr val="595959"/>
                </a:solidFill>
                <a:latin typeface="Calibri"/>
              </a:defRPr>
            </a:pPr>
            <a:r>
              <a:t>Checkliste nach Bildschirmarbeitsverordnung (ArbStättV) &amp; Abnahmeprotokoll</a:t>
            </a:r>
          </a:p>
        </p:txBody>
      </p:sp>
      <p:sp>
        <p:nvSpPr>
          <p:cNvPr id="29" name="Rounded Rectangle 28"/>
          <p:cNvSpPr/>
          <p:nvPr/>
        </p:nvSpPr>
        <p:spPr>
          <a:xfrm>
            <a:off x="617220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0" name="TextBox 29"/>
          <p:cNvSpPr txBox="1"/>
          <p:nvPr/>
        </p:nvSpPr>
        <p:spPr>
          <a:xfrm>
            <a:off x="6263640" y="4882896"/>
            <a:ext cx="5029200" cy="594360"/>
          </a:xfrm>
          <a:prstGeom prst="rect">
            <a:avLst/>
          </a:prstGeom>
          <a:noFill/>
        </p:spPr>
        <p:txBody>
          <a:bodyPr wrap="square">
            <a:spAutoFit/>
          </a:bodyPr>
          <a:lstStyle/>
          <a:p>
            <a:pPr>
              <a:defRPr sz="1100" b="1">
                <a:solidFill>
                  <a:srgbClr val="1F497D"/>
                </a:solidFill>
                <a:latin typeface="Calibri"/>
              </a:defRPr>
            </a:pPr>
            <a:r>
              <a:t>13. Projektergebnis: Soll-Ist-Vergleich</a:t>
            </a:r>
          </a:p>
          <a:p>
            <a:pPr>
              <a:defRPr sz="950">
                <a:solidFill>
                  <a:srgbClr val="595959"/>
                </a:solidFill>
                <a:latin typeface="Calibri"/>
              </a:defRPr>
            </a:pPr>
            <a:r>
              <a:t>Erfolgreiche Einhaltung von Terminvorgaben, Budgetrahmen und Qualitätszielen</a:t>
            </a:r>
          </a:p>
        </p:txBody>
      </p:sp>
      <p:sp>
        <p:nvSpPr>
          <p:cNvPr id="31" name="Rounded Rectangle 30"/>
          <p:cNvSpPr/>
          <p:nvPr/>
        </p:nvSpPr>
        <p:spPr>
          <a:xfrm>
            <a:off x="617220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2" name="TextBox 31"/>
          <p:cNvSpPr txBox="1"/>
          <p:nvPr/>
        </p:nvSpPr>
        <p:spPr>
          <a:xfrm>
            <a:off x="6263640" y="5596128"/>
            <a:ext cx="5029200" cy="594360"/>
          </a:xfrm>
          <a:prstGeom prst="rect">
            <a:avLst/>
          </a:prstGeom>
          <a:noFill/>
        </p:spPr>
        <p:txBody>
          <a:bodyPr wrap="square">
            <a:spAutoFit/>
          </a:bodyPr>
          <a:lstStyle/>
          <a:p>
            <a:pPr>
              <a:defRPr sz="1100" b="1">
                <a:solidFill>
                  <a:srgbClr val="1F497D"/>
                </a:solidFill>
                <a:latin typeface="Calibri"/>
              </a:defRPr>
            </a:pPr>
            <a:r>
              <a:t>14. Lessons Learned &amp; Fazit</a:t>
            </a:r>
          </a:p>
          <a:p>
            <a:pPr>
              <a:defRPr sz="950">
                <a:solidFill>
                  <a:srgbClr val="595959"/>
                </a:solidFill>
                <a:latin typeface="Calibri"/>
              </a:defRPr>
            </a:pPr>
            <a:r>
              <a:t>Was lief gut im Team und welche Erfahrungen nehmen wir für die Zukunft 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PROJEKTAUFTRAG</a:t>
            </a:r>
          </a:p>
          <a:p>
            <a:pPr>
              <a:defRPr sz="2000" b="1">
                <a:solidFill>
                  <a:srgbClr val="FFFFFF"/>
                </a:solidFill>
                <a:latin typeface="Calibri"/>
              </a:defRPr>
            </a:pPr>
            <a:r>
              <a:t>Ausgangssituation der VektorPlan GmbH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3 von 16</a:t>
            </a:r>
          </a:p>
        </p:txBody>
      </p:sp>
      <p:sp>
        <p:nvSpPr>
          <p:cNvPr id="5" name="Rounded Rectangle 4"/>
          <p:cNvSpPr/>
          <p:nvPr/>
        </p:nvSpPr>
        <p:spPr>
          <a:xfrm>
            <a:off x="7315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914400" y="1554480"/>
            <a:ext cx="4846320" cy="4480560"/>
          </a:xfrm>
          <a:prstGeom prst="rect">
            <a:avLst/>
          </a:prstGeom>
          <a:noFill/>
        </p:spPr>
        <p:txBody>
          <a:bodyPr wrap="square">
            <a:spAutoFit/>
          </a:bodyPr>
          <a:lstStyle/>
          <a:p>
            <a:pPr>
              <a:defRPr sz="1300" b="1">
                <a:solidFill>
                  <a:srgbClr val="1F497D"/>
                </a:solidFill>
                <a:latin typeface="Calibri"/>
              </a:defRPr>
            </a:pPr>
            <a:r>
              <a:t>Die Ausgangslage beim Kunden:</a:t>
            </a:r>
          </a:p>
          <a:p>
            <a:pPr>
              <a:spcAft>
                <a:spcPts val="800"/>
              </a:spcAft>
              <a:defRPr sz="1050">
                <a:solidFill>
                  <a:srgbClr val="262626"/>
                </a:solidFill>
                <a:latin typeface="Calibri"/>
              </a:defRPr>
            </a:pPr>
            <a:r>
              <a:t>• Kunde: VektorPlan GmbH ist eine wachsende Architektur- und Ingenieurgesellschaft.</a:t>
            </a:r>
          </a:p>
          <a:p>
            <a:pPr>
              <a:spcAft>
                <a:spcPts val="800"/>
              </a:spcAft>
              <a:defRPr sz="1050">
                <a:solidFill>
                  <a:srgbClr val="262626"/>
                </a:solidFill>
                <a:latin typeface="Calibri"/>
              </a:defRPr>
            </a:pPr>
            <a:r>
              <a:t>• Anlass: Die Büroräume werden modernisiert. Es entstehen zwei neue Großraumbüros sowie eine zentrale Plotter- und Scanstation.</a:t>
            </a:r>
          </a:p>
          <a:p>
            <a:pPr>
              <a:spcAft>
                <a:spcPts val="800"/>
              </a:spcAft>
              <a:defRPr sz="1050">
                <a:solidFill>
                  <a:srgbClr val="262626"/>
                </a:solidFill>
                <a:latin typeface="Calibri"/>
              </a:defRPr>
            </a:pPr>
            <a:r>
              <a:t>• Problem der alten IT: Veraltete Hardware führte zu langen Ladezeiten bei großen CAD-Modellen und häufigen Systemabstürzen.</a:t>
            </a:r>
          </a:p>
          <a:p>
            <a:pPr>
              <a:spcAft>
                <a:spcPts val="800"/>
              </a:spcAft>
              <a:defRPr sz="1050">
                <a:solidFill>
                  <a:srgbClr val="262626"/>
                </a:solidFill>
                <a:latin typeface="Calibri"/>
              </a:defRPr>
            </a:pPr>
            <a: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t>• Sicherheitskonzept: Tägliche Zwischensicherung auf externe SSDs sowie zentrale Abendsynchronisation auf den Firmen-Fileserver.</a:t>
            </a:r>
          </a:p>
        </p:txBody>
      </p:sp>
      <p:sp>
        <p:nvSpPr>
          <p:cNvPr id="7" name="Rounded Rectangle 6"/>
          <p:cNvSpPr/>
          <p:nvPr/>
        </p:nvSpPr>
        <p:spPr>
          <a:xfrm>
            <a:off x="62179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6400800" y="1554480"/>
            <a:ext cx="4846320" cy="4480560"/>
          </a:xfrm>
          <a:prstGeom prst="rect">
            <a:avLst/>
          </a:prstGeom>
          <a:noFill/>
        </p:spPr>
        <p:txBody>
          <a:bodyPr wrap="square">
            <a:spAutoFit/>
          </a:bodyPr>
          <a:lstStyle/>
          <a:p>
            <a:pPr>
              <a:defRPr sz="1300" b="1">
                <a:solidFill>
                  <a:srgbClr val="1F497D"/>
                </a:solidFill>
                <a:latin typeface="Calibri"/>
              </a:defRPr>
            </a:pPr>
            <a:r>
              <a:t>Der Auftrag an NextLevel IT Solutions:</a:t>
            </a:r>
          </a:p>
          <a:p>
            <a:pPr>
              <a:spcAft>
                <a:spcPts val="600"/>
              </a:spcAft>
              <a:defRPr sz="1050">
                <a:solidFill>
                  <a:srgbClr val="262626"/>
                </a:solidFill>
                <a:latin typeface="Calibri"/>
              </a:defRPr>
            </a:pPr>
            <a:r>
              <a:t>✔ 12 Standard-Büroarbeitsplätze für Bauleitung, Ausschreibung und Office.</a:t>
            </a:r>
          </a:p>
          <a:p>
            <a:pPr>
              <a:spcAft>
                <a:spcPts val="600"/>
              </a:spcAft>
              <a:defRPr sz="1050">
                <a:solidFill>
                  <a:srgbClr val="262626"/>
                </a:solidFill>
                <a:latin typeface="Calibri"/>
              </a:defRPr>
            </a:pPr>
            <a:r>
              <a:t>✔ 4 High-End CAD-Workstations mit Profi-Grafikkarten für 3D-BIM &amp; Rendering.</a:t>
            </a:r>
          </a:p>
          <a:p>
            <a:pPr>
              <a:spcAft>
                <a:spcPts val="600"/>
              </a:spcAft>
              <a:defRPr sz="1050">
                <a:solidFill>
                  <a:srgbClr val="262626"/>
                </a:solidFill>
                <a:latin typeface="Calibri"/>
              </a:defRPr>
            </a:pPr>
            <a:r>
              <a:t>✔ 32 ergonomische 27'' WQHD-Monitore (höhenverstellbar, Pivot-Funktion).</a:t>
            </a:r>
          </a:p>
          <a:p>
            <a:pPr>
              <a:spcAft>
                <a:spcPts val="600"/>
              </a:spcAft>
              <a:defRPr sz="1050">
                <a:solidFill>
                  <a:srgbClr val="262626"/>
                </a:solidFill>
                <a:latin typeface="Calibri"/>
              </a:defRPr>
            </a:pPr>
            <a:r>
              <a:t>✔ 16 kabellose Tastatur-Maus-Sets (mit verschlüsselter Funkübertragung).</a:t>
            </a:r>
          </a:p>
          <a:p>
            <a:pPr>
              <a:spcAft>
                <a:spcPts val="600"/>
              </a:spcAft>
              <a:defRPr sz="1050">
                <a:solidFill>
                  <a:srgbClr val="262626"/>
                </a:solidFill>
                <a:latin typeface="Calibri"/>
              </a:defRPr>
            </a:pPr>
            <a:r>
              <a:t>✔ 16 externe SSDs (1TB) zur schnellen lokalen Zwischensicherung.</a:t>
            </a:r>
          </a:p>
          <a:p>
            <a:pPr>
              <a:spcAft>
                <a:spcPts val="600"/>
              </a:spcAft>
              <a:defRPr sz="1050">
                <a:solidFill>
                  <a:srgbClr val="262626"/>
                </a:solidFill>
                <a:latin typeface="Calibri"/>
              </a:defRPr>
            </a:pPr>
            <a:r>
              <a:t>✔ 1 zentraler Farblaser-Multifunktionsdrucker für Pläne bis Format DIN A3.</a:t>
            </a:r>
          </a:p>
          <a:p>
            <a:pPr>
              <a:spcAft>
                <a:spcPts val="600"/>
              </a:spcAft>
              <a:defRPr sz="1050">
                <a:solidFill>
                  <a:srgbClr val="262626"/>
                </a:solidFill>
                <a:latin typeface="Calibri"/>
              </a:defRPr>
            </a:pPr>
            <a:r>
              <a:t>✔ Fachgerechte Entsorgung des alten Schwarzweiß-Druckers gem. ElektroG.</a:t>
            </a:r>
          </a:p>
          <a:p>
            <a:pPr>
              <a:spcAft>
                <a:spcPts val="600"/>
              </a:spcAft>
              <a:defRPr sz="1050">
                <a:solidFill>
                  <a:srgbClr val="262626"/>
                </a:solidFill>
                <a:latin typeface="Calibri"/>
              </a:defRPr>
            </a:pPr>
            <a:r>
              <a:t>✔ Komplettservice: Beratung, Einkauf, Vorinstallation, Aufbau &amp; Abnahme.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ORGANISATION</a:t>
            </a:r>
          </a:p>
          <a:p>
            <a:pPr>
              <a:defRPr sz="2000" b="1">
                <a:solidFill>
                  <a:srgbClr val="FFFFFF"/>
                </a:solidFill>
                <a:latin typeface="Calibri"/>
              </a:defRPr>
            </a:pPr>
            <a:r>
              <a:t>Unser Team und die Aufgabenverteilung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4 von 16</a:t>
            </a:r>
          </a:p>
        </p:txBody>
      </p:sp>
      <p:sp>
        <p:nvSpPr>
          <p:cNvPr id="5" name="Rounded Rectangle 4"/>
          <p:cNvSpPr/>
          <p:nvPr/>
        </p:nvSpPr>
        <p:spPr>
          <a:xfrm>
            <a:off x="731520"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2057400"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2057400" cy="411480"/>
          </a:xfrm>
          <a:prstGeom prst="rect">
            <a:avLst/>
          </a:prstGeom>
          <a:noFill/>
        </p:spPr>
        <p:txBody>
          <a:bodyPr wrap="none">
            <a:spAutoFit/>
          </a:bodyPr>
          <a:lstStyle/>
          <a:p>
            <a:pPr algn="ctr">
              <a:defRPr sz="1200" b="1">
                <a:solidFill>
                  <a:srgbClr val="FFFFFF"/>
                </a:solidFill>
                <a:latin typeface="Calibri"/>
              </a:defRPr>
            </a:pPr>
            <a:r>
              <a:t>Jan Kluth</a:t>
            </a:r>
          </a:p>
        </p:txBody>
      </p:sp>
      <p:sp>
        <p:nvSpPr>
          <p:cNvPr id="8" name="TextBox 7"/>
          <p:cNvSpPr txBox="1"/>
          <p:nvPr/>
        </p:nvSpPr>
        <p:spPr>
          <a:xfrm>
            <a:off x="731520" y="1810512"/>
            <a:ext cx="2057400" cy="320040"/>
          </a:xfrm>
          <a:prstGeom prst="rect">
            <a:avLst/>
          </a:prstGeom>
          <a:noFill/>
        </p:spPr>
        <p:txBody>
          <a:bodyPr wrap="none">
            <a:spAutoFit/>
          </a:bodyPr>
          <a:lstStyle/>
          <a:p>
            <a:pPr algn="ctr">
              <a:defRPr sz="950" b="1">
                <a:solidFill>
                  <a:srgbClr val="B4C6E7"/>
                </a:solidFill>
                <a:latin typeface="Calibri"/>
              </a:defRPr>
            </a:pPr>
            <a:r>
              <a:t>Projektleiter</a:t>
            </a:r>
          </a:p>
        </p:txBody>
      </p:sp>
      <p:sp>
        <p:nvSpPr>
          <p:cNvPr id="9" name="TextBox 8"/>
          <p:cNvSpPr txBox="1"/>
          <p:nvPr/>
        </p:nvSpPr>
        <p:spPr>
          <a:xfrm>
            <a:off x="841248"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Gesamtkoordination &amp; Leitung</a:t>
            </a:r>
          </a:p>
          <a:p>
            <a:pPr>
              <a:spcAft>
                <a:spcPts val="600"/>
              </a:spcAft>
              <a:defRPr sz="950">
                <a:solidFill>
                  <a:srgbClr val="262626"/>
                </a:solidFill>
                <a:latin typeface="Calibri"/>
              </a:defRPr>
            </a:pPr>
            <a:r>
              <a:t>• Termin- &amp; Ablaufüberwachung</a:t>
            </a:r>
          </a:p>
          <a:p>
            <a:pPr>
              <a:spcAft>
                <a:spcPts val="600"/>
              </a:spcAft>
              <a:defRPr sz="950">
                <a:solidFill>
                  <a:srgbClr val="262626"/>
                </a:solidFill>
                <a:latin typeface="Calibri"/>
              </a:defRPr>
            </a:pPr>
            <a:r>
              <a:t>• Risikoanalyse &amp; Abnahme</a:t>
            </a:r>
          </a:p>
          <a:p>
            <a:pPr>
              <a:spcAft>
                <a:spcPts val="600"/>
              </a:spcAft>
              <a:defRPr sz="950">
                <a:solidFill>
                  <a:srgbClr val="262626"/>
                </a:solidFill>
                <a:latin typeface="Calibri"/>
              </a:defRPr>
            </a:pPr>
            <a:r>
              <a:t>• Abschlusspräsentation</a:t>
            </a:r>
          </a:p>
        </p:txBody>
      </p:sp>
      <p:sp>
        <p:nvSpPr>
          <p:cNvPr id="10" name="Rounded Rectangle 9"/>
          <p:cNvSpPr/>
          <p:nvPr/>
        </p:nvSpPr>
        <p:spPr>
          <a:xfrm>
            <a:off x="2907791"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2907791"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2907791" y="1444752"/>
            <a:ext cx="2057400" cy="411480"/>
          </a:xfrm>
          <a:prstGeom prst="rect">
            <a:avLst/>
          </a:prstGeom>
          <a:noFill/>
        </p:spPr>
        <p:txBody>
          <a:bodyPr wrap="none">
            <a:spAutoFit/>
          </a:bodyPr>
          <a:lstStyle/>
          <a:p>
            <a:pPr algn="ctr">
              <a:defRPr sz="1200" b="1">
                <a:solidFill>
                  <a:srgbClr val="1F497D"/>
                </a:solidFill>
                <a:latin typeface="Calibri"/>
              </a:defRPr>
            </a:pPr>
            <a:r>
              <a:t>Mathias Vonau</a:t>
            </a:r>
          </a:p>
        </p:txBody>
      </p:sp>
      <p:sp>
        <p:nvSpPr>
          <p:cNvPr id="13" name="TextBox 12"/>
          <p:cNvSpPr txBox="1"/>
          <p:nvPr/>
        </p:nvSpPr>
        <p:spPr>
          <a:xfrm>
            <a:off x="2907791" y="1810512"/>
            <a:ext cx="2057400" cy="320040"/>
          </a:xfrm>
          <a:prstGeom prst="rect">
            <a:avLst/>
          </a:prstGeom>
          <a:noFill/>
        </p:spPr>
        <p:txBody>
          <a:bodyPr wrap="none">
            <a:spAutoFit/>
          </a:bodyPr>
          <a:lstStyle/>
          <a:p>
            <a:pPr algn="ctr">
              <a:defRPr sz="950" b="1">
                <a:solidFill>
                  <a:srgbClr val="2F5597"/>
                </a:solidFill>
                <a:latin typeface="Calibri"/>
              </a:defRPr>
            </a:pPr>
            <a:r>
              <a:t>Technischer Planer</a:t>
            </a:r>
          </a:p>
        </p:txBody>
      </p:sp>
      <p:sp>
        <p:nvSpPr>
          <p:cNvPr id="14" name="TextBox 13"/>
          <p:cNvSpPr txBox="1"/>
          <p:nvPr/>
        </p:nvSpPr>
        <p:spPr>
          <a:xfrm>
            <a:off x="3017519"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Anforderungsanalyse &amp; Lastenheft</a:t>
            </a:r>
          </a:p>
          <a:p>
            <a:pPr>
              <a:spcAft>
                <a:spcPts val="600"/>
              </a:spcAft>
              <a:defRPr sz="950">
                <a:solidFill>
                  <a:srgbClr val="262626"/>
                </a:solidFill>
                <a:latin typeface="Calibri"/>
              </a:defRPr>
            </a:pPr>
            <a:r>
              <a:t>• Hardware-Spezifikationen</a:t>
            </a:r>
          </a:p>
          <a:p>
            <a:pPr>
              <a:spcAft>
                <a:spcPts val="600"/>
              </a:spcAft>
              <a:defRPr sz="950">
                <a:solidFill>
                  <a:srgbClr val="262626"/>
                </a:solidFill>
                <a:latin typeface="Calibri"/>
              </a:defRPr>
            </a:pPr>
            <a:r>
              <a:t>• Vorinstallation (Staging)</a:t>
            </a:r>
          </a:p>
          <a:p>
            <a:pPr>
              <a:spcAft>
                <a:spcPts val="600"/>
              </a:spcAft>
              <a:defRPr sz="950">
                <a:solidFill>
                  <a:srgbClr val="262626"/>
                </a:solidFill>
                <a:latin typeface="Calibri"/>
              </a:defRPr>
            </a:pPr>
            <a:r>
              <a:t>• Ergonomie-Montage vor Ort</a:t>
            </a:r>
          </a:p>
        </p:txBody>
      </p:sp>
      <p:sp>
        <p:nvSpPr>
          <p:cNvPr id="15" name="Rounded Rectangle 14"/>
          <p:cNvSpPr/>
          <p:nvPr/>
        </p:nvSpPr>
        <p:spPr>
          <a:xfrm>
            <a:off x="5084064"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5084064"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5084064" y="1444752"/>
            <a:ext cx="2057400" cy="411480"/>
          </a:xfrm>
          <a:prstGeom prst="rect">
            <a:avLst/>
          </a:prstGeom>
          <a:noFill/>
        </p:spPr>
        <p:txBody>
          <a:bodyPr wrap="none">
            <a:spAutoFit/>
          </a:bodyPr>
          <a:lstStyle/>
          <a:p>
            <a:pPr algn="ctr">
              <a:defRPr sz="1200" b="1">
                <a:solidFill>
                  <a:srgbClr val="1F497D"/>
                </a:solidFill>
                <a:latin typeface="Calibri"/>
              </a:defRPr>
            </a:pPr>
            <a:r>
              <a:t>Marian Bolecke</a:t>
            </a:r>
          </a:p>
        </p:txBody>
      </p:sp>
      <p:sp>
        <p:nvSpPr>
          <p:cNvPr id="18" name="TextBox 17"/>
          <p:cNvSpPr txBox="1"/>
          <p:nvPr/>
        </p:nvSpPr>
        <p:spPr>
          <a:xfrm>
            <a:off x="5084064" y="1810512"/>
            <a:ext cx="2057400" cy="320040"/>
          </a:xfrm>
          <a:prstGeom prst="rect">
            <a:avLst/>
          </a:prstGeom>
          <a:noFill/>
        </p:spPr>
        <p:txBody>
          <a:bodyPr wrap="none">
            <a:spAutoFit/>
          </a:bodyPr>
          <a:lstStyle/>
          <a:p>
            <a:pPr algn="ctr">
              <a:defRPr sz="950" b="1">
                <a:solidFill>
                  <a:srgbClr val="2F5597"/>
                </a:solidFill>
                <a:latin typeface="Calibri"/>
              </a:defRPr>
            </a:pPr>
            <a:r>
              <a:t>Beschaffung &amp; Kalkulation</a:t>
            </a:r>
          </a:p>
        </p:txBody>
      </p:sp>
      <p:sp>
        <p:nvSpPr>
          <p:cNvPr id="19" name="TextBox 18"/>
          <p:cNvSpPr txBox="1"/>
          <p:nvPr/>
        </p:nvSpPr>
        <p:spPr>
          <a:xfrm>
            <a:off x="5193792"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Reale Marktrecherche</a:t>
            </a:r>
          </a:p>
          <a:p>
            <a:pPr>
              <a:spcAft>
                <a:spcPts val="600"/>
              </a:spcAft>
              <a:defRPr sz="950">
                <a:solidFill>
                  <a:srgbClr val="262626"/>
                </a:solidFill>
                <a:latin typeface="Calibri"/>
              </a:defRPr>
            </a:pPr>
            <a:r>
              <a:t>• Nutzwertanalysen (PCs / TFTs)</a:t>
            </a:r>
          </a:p>
          <a:p>
            <a:pPr>
              <a:spcAft>
                <a:spcPts val="600"/>
              </a:spcAft>
              <a:defRPr sz="950">
                <a:solidFill>
                  <a:srgbClr val="262626"/>
                </a:solidFill>
                <a:latin typeface="Calibri"/>
              </a:defRPr>
            </a:pPr>
            <a:r>
              <a:t>• Vorwärtskalkulation</a:t>
            </a:r>
          </a:p>
          <a:p>
            <a:pPr>
              <a:spcAft>
                <a:spcPts val="600"/>
              </a:spcAft>
              <a:defRPr sz="950">
                <a:solidFill>
                  <a:srgbClr val="262626"/>
                </a:solidFill>
                <a:latin typeface="Calibri"/>
              </a:defRPr>
            </a:pPr>
            <a:r>
              <a:t>• Angebotserstellung DIN 5008</a:t>
            </a:r>
          </a:p>
        </p:txBody>
      </p:sp>
      <p:sp>
        <p:nvSpPr>
          <p:cNvPr id="20" name="Rounded Rectangle 19"/>
          <p:cNvSpPr/>
          <p:nvPr/>
        </p:nvSpPr>
        <p:spPr>
          <a:xfrm>
            <a:off x="7260336"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1" name="Rectangle 20"/>
          <p:cNvSpPr/>
          <p:nvPr/>
        </p:nvSpPr>
        <p:spPr>
          <a:xfrm>
            <a:off x="7260336"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7260336" y="1444752"/>
            <a:ext cx="2057400" cy="411480"/>
          </a:xfrm>
          <a:prstGeom prst="rect">
            <a:avLst/>
          </a:prstGeom>
          <a:noFill/>
        </p:spPr>
        <p:txBody>
          <a:bodyPr wrap="none">
            <a:spAutoFit/>
          </a:bodyPr>
          <a:lstStyle/>
          <a:p>
            <a:pPr algn="ctr">
              <a:defRPr sz="1200" b="1">
                <a:solidFill>
                  <a:srgbClr val="1F497D"/>
                </a:solidFill>
                <a:latin typeface="Calibri"/>
              </a:defRPr>
            </a:pPr>
            <a:r>
              <a:t>Marco Schmidt</a:t>
            </a:r>
          </a:p>
        </p:txBody>
      </p:sp>
      <p:sp>
        <p:nvSpPr>
          <p:cNvPr id="23" name="TextBox 22"/>
          <p:cNvSpPr txBox="1"/>
          <p:nvPr/>
        </p:nvSpPr>
        <p:spPr>
          <a:xfrm>
            <a:off x="7260336" y="1810512"/>
            <a:ext cx="2057400" cy="320040"/>
          </a:xfrm>
          <a:prstGeom prst="rect">
            <a:avLst/>
          </a:prstGeom>
          <a:noFill/>
        </p:spPr>
        <p:txBody>
          <a:bodyPr wrap="none">
            <a:spAutoFit/>
          </a:bodyPr>
          <a:lstStyle/>
          <a:p>
            <a:pPr algn="ctr">
              <a:defRPr sz="950" b="1">
                <a:solidFill>
                  <a:srgbClr val="2F5597"/>
                </a:solidFill>
                <a:latin typeface="Calibri"/>
              </a:defRPr>
            </a:pPr>
            <a:r>
              <a:t>Qualitätsmanagement</a:t>
            </a:r>
          </a:p>
        </p:txBody>
      </p:sp>
      <p:sp>
        <p:nvSpPr>
          <p:cNvPr id="24" name="TextBox 23"/>
          <p:cNvSpPr txBox="1"/>
          <p:nvPr/>
        </p:nvSpPr>
        <p:spPr>
          <a:xfrm>
            <a:off x="7370064"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Wareneingangsprüfung (§ 377 HGB)</a:t>
            </a:r>
          </a:p>
          <a:p>
            <a:pPr>
              <a:spcAft>
                <a:spcPts val="600"/>
              </a:spcAft>
              <a:defRPr sz="950">
                <a:solidFill>
                  <a:srgbClr val="262626"/>
                </a:solidFill>
                <a:latin typeface="Calibri"/>
              </a:defRPr>
            </a:pPr>
            <a:r>
              <a:t>• Kaufmännische Mängelrüge</a:t>
            </a:r>
          </a:p>
          <a:p>
            <a:pPr>
              <a:spcAft>
                <a:spcPts val="600"/>
              </a:spcAft>
              <a:defRPr sz="950">
                <a:solidFill>
                  <a:srgbClr val="262626"/>
                </a:solidFill>
                <a:latin typeface="Calibri"/>
              </a:defRPr>
            </a:pPr>
            <a:r>
              <a:t>• Entsorgungskonzept ElektroG</a:t>
            </a:r>
          </a:p>
          <a:p>
            <a:pPr>
              <a:spcAft>
                <a:spcPts val="600"/>
              </a:spcAft>
              <a:defRPr sz="950">
                <a:solidFill>
                  <a:srgbClr val="262626"/>
                </a:solidFill>
                <a:latin typeface="Calibri"/>
              </a:defRPr>
            </a:pPr>
            <a:r>
              <a:t>• Datenschutz &amp; BSI-Löschung</a:t>
            </a:r>
          </a:p>
        </p:txBody>
      </p:sp>
      <p:sp>
        <p:nvSpPr>
          <p:cNvPr id="25" name="Rounded Rectangle 24"/>
          <p:cNvSpPr/>
          <p:nvPr/>
        </p:nvSpPr>
        <p:spPr>
          <a:xfrm>
            <a:off x="9436608"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Rectangle 25"/>
          <p:cNvSpPr/>
          <p:nvPr/>
        </p:nvSpPr>
        <p:spPr>
          <a:xfrm>
            <a:off x="9436608"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7" name="TextBox 26"/>
          <p:cNvSpPr txBox="1"/>
          <p:nvPr/>
        </p:nvSpPr>
        <p:spPr>
          <a:xfrm>
            <a:off x="9436608" y="1444752"/>
            <a:ext cx="2057400" cy="411480"/>
          </a:xfrm>
          <a:prstGeom prst="rect">
            <a:avLst/>
          </a:prstGeom>
          <a:noFill/>
        </p:spPr>
        <p:txBody>
          <a:bodyPr wrap="none">
            <a:spAutoFit/>
          </a:bodyPr>
          <a:lstStyle/>
          <a:p>
            <a:pPr algn="ctr">
              <a:defRPr sz="1200" b="1">
                <a:solidFill>
                  <a:srgbClr val="1F497D"/>
                </a:solidFill>
                <a:latin typeface="Calibri"/>
              </a:defRPr>
            </a:pPr>
            <a:r>
              <a:t>Siyar</a:t>
            </a:r>
          </a:p>
        </p:txBody>
      </p:sp>
      <p:sp>
        <p:nvSpPr>
          <p:cNvPr id="28" name="TextBox 27"/>
          <p:cNvSpPr txBox="1"/>
          <p:nvPr/>
        </p:nvSpPr>
        <p:spPr>
          <a:xfrm>
            <a:off x="9436608" y="1810512"/>
            <a:ext cx="2057400" cy="320040"/>
          </a:xfrm>
          <a:prstGeom prst="rect">
            <a:avLst/>
          </a:prstGeom>
          <a:noFill/>
        </p:spPr>
        <p:txBody>
          <a:bodyPr wrap="none">
            <a:spAutoFit/>
          </a:bodyPr>
          <a:lstStyle/>
          <a:p>
            <a:pPr algn="ctr">
              <a:defRPr sz="950" b="1">
                <a:solidFill>
                  <a:srgbClr val="2F5597"/>
                </a:solidFill>
                <a:latin typeface="Calibri"/>
              </a:defRPr>
            </a:pPr>
            <a:r>
              <a:t>Berechnung &amp; Doku</a:t>
            </a:r>
          </a:p>
        </p:txBody>
      </p:sp>
      <p:sp>
        <p:nvSpPr>
          <p:cNvPr id="29" name="TextBox 28"/>
          <p:cNvSpPr txBox="1"/>
          <p:nvPr/>
        </p:nvSpPr>
        <p:spPr>
          <a:xfrm>
            <a:off x="9546336"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Server-Speicherbedarf (445 GiB)</a:t>
            </a:r>
          </a:p>
          <a:p>
            <a:pPr>
              <a:spcAft>
                <a:spcPts val="600"/>
              </a:spcAft>
              <a:defRPr sz="950">
                <a:solidFill>
                  <a:srgbClr val="262626"/>
                </a:solidFill>
                <a:latin typeface="Calibri"/>
              </a:defRPr>
            </a:pPr>
            <a:r>
              <a:t>• Energiekosten-Kalkulation</a:t>
            </a:r>
          </a:p>
          <a:p>
            <a:pPr>
              <a:spcAft>
                <a:spcPts val="600"/>
              </a:spcAft>
              <a:defRPr sz="950">
                <a:solidFill>
                  <a:srgbClr val="262626"/>
                </a:solidFill>
                <a:latin typeface="Calibri"/>
              </a:defRPr>
            </a:pPr>
            <a:r>
              <a:t>• Checklisten &amp; Protokolle</a:t>
            </a:r>
          </a:p>
          <a:p>
            <a:pPr>
              <a:spcAft>
                <a:spcPts val="600"/>
              </a:spcAft>
              <a:defRPr sz="950">
                <a:solidFill>
                  <a:srgbClr val="262626"/>
                </a:solidFill>
                <a:latin typeface="Calibri"/>
              </a:defRPr>
            </a:pPr>
            <a:r>
              <a:t>• Qualitätssicherung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PROJEKTORGANISATION</a:t>
            </a:r>
          </a:p>
          <a:p>
            <a:pPr>
              <a:defRPr sz="2000" b="1">
                <a:solidFill>
                  <a:srgbClr val="FFFFFF"/>
                </a:solidFill>
                <a:latin typeface="Calibri"/>
              </a:defRPr>
            </a:pPr>
            <a:r>
              <a:t>Projektstrukturplan nach DIN 69901</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5 von 16</a:t>
            </a:r>
          </a:p>
        </p:txBody>
      </p:sp>
      <p:sp>
        <p:nvSpPr>
          <p:cNvPr id="5" name="Rounded Rectangle 4"/>
          <p:cNvSpPr/>
          <p:nvPr/>
        </p:nvSpPr>
        <p:spPr>
          <a:xfrm>
            <a:off x="2712567" y="1097280"/>
            <a:ext cx="6766560" cy="621792"/>
          </a:xfrm>
          <a:prstGeom prst="roundRect">
            <a:avLst/>
          </a:prstGeom>
          <a:solidFill>
            <a:srgbClr val="1F497D"/>
          </a:solidFill>
          <a:ln w="1905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1.0 IT-Ausstattung Planungs- und Konstruktionsbüro</a:t>
            </a:r>
          </a:p>
          <a:p>
            <a:pPr algn="ctr">
              <a:defRPr sz="950">
                <a:solidFill>
                  <a:srgbClr val="FFE699"/>
                </a:solidFill>
                <a:latin typeface="Calibri"/>
              </a:defRPr>
            </a:pPr>
            <a:r>
              <a:t>Kunde: VektorPlan GmbH  |  Projektleitung: Jan Kluth  |  DIN 69901 (100%-Regel)</a:t>
            </a:r>
          </a:p>
        </p:txBody>
      </p:sp>
      <p:sp>
        <p:nvSpPr>
          <p:cNvPr id="6" name="Rectangle 5"/>
          <p:cNvSpPr/>
          <p:nvPr/>
        </p:nvSpPr>
        <p:spPr>
          <a:xfrm>
            <a:off x="6083147" y="1719072"/>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63624" y="1847088"/>
            <a:ext cx="8924544" cy="25400"/>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0924"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1.1 Hardware</a:t>
            </a:r>
          </a:p>
          <a:p>
            <a:pPr algn="ctr">
              <a:defRPr sz="900">
                <a:solidFill>
                  <a:srgbClr val="FFE699"/>
                </a:solidFill>
                <a:latin typeface="Calibri"/>
              </a:defRPr>
            </a:pPr>
            <a:r>
              <a:t>Leitung: Marian Bolecke</a:t>
            </a:r>
          </a:p>
        </p:txBody>
      </p:sp>
      <p:sp>
        <p:nvSpPr>
          <p:cNvPr id="10" name="Rounded Rectangle 9"/>
          <p:cNvSpPr/>
          <p:nvPr/>
        </p:nvSpPr>
        <p:spPr>
          <a:xfrm>
            <a:off x="502920"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1.1.1 12x Standard-PCs</a:t>
            </a:r>
          </a:p>
          <a:p>
            <a:pPr>
              <a:defRPr sz="850">
                <a:solidFill>
                  <a:srgbClr val="262626"/>
                </a:solidFill>
                <a:latin typeface="Calibri"/>
              </a:defRPr>
            </a:pPr>
            <a:r>
              <a:t>Lenovo ThinkCentre M70s (SFF)</a:t>
            </a:r>
          </a:p>
        </p:txBody>
      </p:sp>
      <p:sp>
        <p:nvSpPr>
          <p:cNvPr id="12" name="Rounded Rectangle 11"/>
          <p:cNvSpPr/>
          <p:nvPr/>
        </p:nvSpPr>
        <p:spPr>
          <a:xfrm>
            <a:off x="548640"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1.1.2 4x CAD-Workstations</a:t>
            </a:r>
          </a:p>
          <a:p>
            <a:pPr>
              <a:defRPr sz="850">
                <a:solidFill>
                  <a:srgbClr val="262626"/>
                </a:solidFill>
                <a:latin typeface="Calibri"/>
              </a:defRPr>
            </a:pPr>
            <a:r>
              <a:t>Lenovo ThinkStation P3 Tower</a:t>
            </a:r>
          </a:p>
        </p:txBody>
      </p:sp>
      <p:sp>
        <p:nvSpPr>
          <p:cNvPr id="13" name="Rounded Rectangle 12"/>
          <p:cNvSpPr/>
          <p:nvPr/>
        </p:nvSpPr>
        <p:spPr>
          <a:xfrm>
            <a:off x="548640"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1.1.3 32x Ergonomie-Displays</a:t>
            </a:r>
          </a:p>
          <a:p>
            <a:pPr>
              <a:defRPr sz="850">
                <a:solidFill>
                  <a:srgbClr val="262626"/>
                </a:solidFill>
                <a:latin typeface="Calibri"/>
              </a:defRPr>
            </a:pPr>
            <a:r>
              <a:t>Dell UltraSharp 27'' WQHD</a:t>
            </a:r>
          </a:p>
        </p:txBody>
      </p:sp>
      <p:sp>
        <p:nvSpPr>
          <p:cNvPr id="14" name="Rounded Rectangle 13"/>
          <p:cNvSpPr/>
          <p:nvPr/>
        </p:nvSpPr>
        <p:spPr>
          <a:xfrm>
            <a:off x="548640"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1.1.4 16x Funk-Eingabesets</a:t>
            </a:r>
          </a:p>
          <a:p>
            <a:pPr>
              <a:defRPr sz="850">
                <a:solidFill>
                  <a:srgbClr val="262626"/>
                </a:solidFill>
                <a:latin typeface="Calibri"/>
              </a:defRPr>
            </a:pPr>
            <a:r>
              <a:t>Logitech MK650 Business (AES)</a:t>
            </a:r>
          </a:p>
        </p:txBody>
      </p:sp>
      <p:sp>
        <p:nvSpPr>
          <p:cNvPr id="15" name="Rounded Rectangle 14"/>
          <p:cNvSpPr/>
          <p:nvPr/>
        </p:nvSpPr>
        <p:spPr>
          <a:xfrm>
            <a:off x="548640"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1.1.5 16x Externe SSDs</a:t>
            </a:r>
          </a:p>
          <a:p>
            <a:pPr>
              <a:defRPr sz="850">
                <a:solidFill>
                  <a:srgbClr val="262626"/>
                </a:solidFill>
                <a:latin typeface="Calibri"/>
              </a:defRPr>
            </a:pPr>
            <a:r>
              <a:t>Samsung Portable T7 Shield 1TB</a:t>
            </a:r>
          </a:p>
        </p:txBody>
      </p:sp>
      <p:sp>
        <p:nvSpPr>
          <p:cNvPr id="16" name="Rounded Rectangle 15"/>
          <p:cNvSpPr/>
          <p:nvPr/>
        </p:nvSpPr>
        <p:spPr>
          <a:xfrm>
            <a:off x="548640"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1.1.6 1x Farblaser-MFP A3</a:t>
            </a:r>
          </a:p>
          <a:p>
            <a:pPr>
              <a:defRPr sz="850">
                <a:solidFill>
                  <a:srgbClr val="262626"/>
                </a:solidFill>
                <a:latin typeface="Calibri"/>
              </a:defRPr>
            </a:pPr>
            <a:r>
              <a:t>Lexmark CX930dse A3/A4 MFP</a:t>
            </a:r>
          </a:p>
        </p:txBody>
      </p:sp>
      <p:sp>
        <p:nvSpPr>
          <p:cNvPr id="17" name="Rectangle 16"/>
          <p:cNvSpPr/>
          <p:nvPr/>
        </p:nvSpPr>
        <p:spPr>
          <a:xfrm>
            <a:off x="378206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734056"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1.2 Software</a:t>
            </a:r>
          </a:p>
          <a:p>
            <a:pPr algn="ctr">
              <a:defRPr sz="900">
                <a:solidFill>
                  <a:srgbClr val="FFE699"/>
                </a:solidFill>
                <a:latin typeface="Calibri"/>
              </a:defRPr>
            </a:pPr>
            <a:r>
              <a:t>Leitung: Mathias Vonau</a:t>
            </a:r>
          </a:p>
        </p:txBody>
      </p:sp>
      <p:sp>
        <p:nvSpPr>
          <p:cNvPr id="19" name="Rounded Rectangle 18"/>
          <p:cNvSpPr/>
          <p:nvPr/>
        </p:nvSpPr>
        <p:spPr>
          <a:xfrm>
            <a:off x="2734056"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79776"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1.2.1 16x Windows 11 Pro</a:t>
            </a:r>
          </a:p>
          <a:p>
            <a:pPr>
              <a:defRPr sz="850">
                <a:solidFill>
                  <a:srgbClr val="262626"/>
                </a:solidFill>
                <a:latin typeface="Calibri"/>
              </a:defRPr>
            </a:pPr>
            <a:r>
              <a:t>OEM-Lizenzen 64-Bit vorinstall.</a:t>
            </a:r>
          </a:p>
        </p:txBody>
      </p:sp>
      <p:sp>
        <p:nvSpPr>
          <p:cNvPr id="21" name="Rounded Rectangle 20"/>
          <p:cNvSpPr/>
          <p:nvPr/>
        </p:nvSpPr>
        <p:spPr>
          <a:xfrm>
            <a:off x="2779776"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1.2.2 16x M365 Business</a:t>
            </a:r>
          </a:p>
          <a:p>
            <a:pPr>
              <a:defRPr sz="850">
                <a:solidFill>
                  <a:srgbClr val="262626"/>
                </a:solidFill>
                <a:latin typeface="Calibri"/>
              </a:defRPr>
            </a:pPr>
            <a:r>
              <a:t>Office Standard Jahresabos</a:t>
            </a:r>
          </a:p>
        </p:txBody>
      </p:sp>
      <p:sp>
        <p:nvSpPr>
          <p:cNvPr id="22" name="Rounded Rectangle 21"/>
          <p:cNvSpPr/>
          <p:nvPr/>
        </p:nvSpPr>
        <p:spPr>
          <a:xfrm>
            <a:off x="2779776"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1.2.3 16x Adobe Acrobat Pro</a:t>
            </a:r>
          </a:p>
          <a:p>
            <a:pPr>
              <a:defRPr sz="850">
                <a:solidFill>
                  <a:srgbClr val="262626"/>
                </a:solidFill>
                <a:latin typeface="Calibri"/>
              </a:defRPr>
            </a:pPr>
            <a:r>
              <a:t>PDF-Prüfung &amp; digitale Signatur</a:t>
            </a:r>
          </a:p>
        </p:txBody>
      </p:sp>
      <p:sp>
        <p:nvSpPr>
          <p:cNvPr id="23" name="Rounded Rectangle 22"/>
          <p:cNvSpPr/>
          <p:nvPr/>
        </p:nvSpPr>
        <p:spPr>
          <a:xfrm>
            <a:off x="2779776"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1.2.4 16x ESET PROTECT</a:t>
            </a:r>
          </a:p>
          <a:p>
            <a:pPr>
              <a:defRPr sz="850">
                <a:solidFill>
                  <a:srgbClr val="262626"/>
                </a:solidFill>
                <a:latin typeface="Calibri"/>
              </a:defRPr>
            </a:pPr>
            <a:r>
              <a:t>Zentral verwaltetes Cloud-EDR</a:t>
            </a:r>
          </a:p>
        </p:txBody>
      </p:sp>
      <p:sp>
        <p:nvSpPr>
          <p:cNvPr id="24" name="Rounded Rectangle 23"/>
          <p:cNvSpPr/>
          <p:nvPr/>
        </p:nvSpPr>
        <p:spPr>
          <a:xfrm>
            <a:off x="2779776"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1.2.5 Staging-Images</a:t>
            </a:r>
          </a:p>
          <a:p>
            <a:pPr>
              <a:defRPr sz="850">
                <a:solidFill>
                  <a:srgbClr val="262626"/>
                </a:solidFill>
                <a:latin typeface="Calibri"/>
              </a:defRPr>
            </a:pPr>
            <a:r>
              <a:t>Sysprep-Standardinstallation</a:t>
            </a:r>
          </a:p>
        </p:txBody>
      </p:sp>
      <p:sp>
        <p:nvSpPr>
          <p:cNvPr id="25" name="Rounded Rectangle 24"/>
          <p:cNvSpPr/>
          <p:nvPr/>
        </p:nvSpPr>
        <p:spPr>
          <a:xfrm>
            <a:off x="2779776"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1.2.6 Lizenzdokumentation</a:t>
            </a:r>
          </a:p>
          <a:p>
            <a:pPr>
              <a:defRPr sz="850">
                <a:solidFill>
                  <a:srgbClr val="262626"/>
                </a:solidFill>
                <a:latin typeface="Calibri"/>
              </a:defRPr>
            </a:pPr>
            <a:r>
              <a:t>Lizenznachweise &amp; Zertifikate</a:t>
            </a:r>
          </a:p>
        </p:txBody>
      </p:sp>
      <p:sp>
        <p:nvSpPr>
          <p:cNvPr id="26" name="Rectangle 25"/>
          <p:cNvSpPr/>
          <p:nvPr/>
        </p:nvSpPr>
        <p:spPr>
          <a:xfrm>
            <a:off x="6013196"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965192"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1.3 Netzwerk / Server</a:t>
            </a:r>
          </a:p>
          <a:p>
            <a:pPr algn="ctr">
              <a:defRPr sz="900">
                <a:solidFill>
                  <a:srgbClr val="FFE699"/>
                </a:solidFill>
                <a:latin typeface="Calibri"/>
              </a:defRPr>
            </a:pPr>
            <a:r>
              <a:t>Leitung: Siyar</a:t>
            </a:r>
          </a:p>
        </p:txBody>
      </p:sp>
      <p:sp>
        <p:nvSpPr>
          <p:cNvPr id="28" name="Rounded Rectangle 27"/>
          <p:cNvSpPr/>
          <p:nvPr/>
        </p:nvSpPr>
        <p:spPr>
          <a:xfrm>
            <a:off x="4965192"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010912"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1.3.1 Gigabit-Verkabelung</a:t>
            </a:r>
          </a:p>
          <a:p>
            <a:pPr>
              <a:defRPr sz="850">
                <a:solidFill>
                  <a:srgbClr val="262626"/>
                </a:solidFill>
                <a:latin typeface="Calibri"/>
              </a:defRPr>
            </a:pPr>
            <a:r>
              <a:t>16x InLine Cat.6A Patchkabel</a:t>
            </a:r>
          </a:p>
        </p:txBody>
      </p:sp>
      <p:sp>
        <p:nvSpPr>
          <p:cNvPr id="30" name="Rounded Rectangle 29"/>
          <p:cNvSpPr/>
          <p:nvPr/>
        </p:nvSpPr>
        <p:spPr>
          <a:xfrm>
            <a:off x="5010912"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1.3.2 Fileserver-Kapazität</a:t>
            </a:r>
          </a:p>
          <a:p>
            <a:pPr>
              <a:defRPr sz="850">
                <a:solidFill>
                  <a:srgbClr val="262626"/>
                </a:solidFill>
                <a:latin typeface="Calibri"/>
              </a:defRPr>
            </a:pPr>
            <a:r>
              <a:t>445 GiB Netto-Puffer (Q1)</a:t>
            </a:r>
          </a:p>
        </p:txBody>
      </p:sp>
      <p:sp>
        <p:nvSpPr>
          <p:cNvPr id="31" name="Rounded Rectangle 30"/>
          <p:cNvSpPr/>
          <p:nvPr/>
        </p:nvSpPr>
        <p:spPr>
          <a:xfrm>
            <a:off x="5010912"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1.3.3 Energiekosten-Analyse</a:t>
            </a:r>
          </a:p>
          <a:p>
            <a:pPr>
              <a:defRPr sz="850">
                <a:solidFill>
                  <a:srgbClr val="262626"/>
                </a:solidFill>
                <a:latin typeface="Calibri"/>
              </a:defRPr>
            </a:pPr>
            <a:r>
              <a:t>1.771,26 € jährliche Stromkosten</a:t>
            </a:r>
          </a:p>
        </p:txBody>
      </p:sp>
      <p:sp>
        <p:nvSpPr>
          <p:cNvPr id="32" name="Rounded Rectangle 31"/>
          <p:cNvSpPr/>
          <p:nvPr/>
        </p:nvSpPr>
        <p:spPr>
          <a:xfrm>
            <a:off x="5010912"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1.3.4 Switchport-Planung</a:t>
            </a:r>
          </a:p>
          <a:p>
            <a:pPr>
              <a:defRPr sz="850">
                <a:solidFill>
                  <a:srgbClr val="262626"/>
                </a:solidFill>
                <a:latin typeface="Calibri"/>
              </a:defRPr>
            </a:pPr>
            <a:r>
              <a:t>Zuordnung Ports &amp; VLANs</a:t>
            </a:r>
          </a:p>
        </p:txBody>
      </p:sp>
      <p:sp>
        <p:nvSpPr>
          <p:cNvPr id="33" name="Rounded Rectangle 32"/>
          <p:cNvSpPr/>
          <p:nvPr/>
        </p:nvSpPr>
        <p:spPr>
          <a:xfrm>
            <a:off x="5010912"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1.3.5 Server-Synchronisation</a:t>
            </a:r>
          </a:p>
          <a:p>
            <a:pPr>
              <a:defRPr sz="850">
                <a:solidFill>
                  <a:srgbClr val="262626"/>
                </a:solidFill>
                <a:latin typeface="Calibri"/>
              </a:defRPr>
            </a:pPr>
            <a:r>
              <a:t>Tägliches SSD-Backup am Abend</a:t>
            </a:r>
          </a:p>
        </p:txBody>
      </p:sp>
      <p:sp>
        <p:nvSpPr>
          <p:cNvPr id="34" name="Rounded Rectangle 33"/>
          <p:cNvSpPr/>
          <p:nvPr/>
        </p:nvSpPr>
        <p:spPr>
          <a:xfrm>
            <a:off x="5010912"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1.3.6 Netzlaufwerke &amp; Rechte</a:t>
            </a:r>
          </a:p>
          <a:p>
            <a:pPr>
              <a:defRPr sz="850">
                <a:solidFill>
                  <a:srgbClr val="262626"/>
                </a:solidFill>
                <a:latin typeface="Calibri"/>
              </a:defRPr>
            </a:pPr>
            <a:r>
              <a:t>SMB-Shares &amp; Freigaben</a:t>
            </a:r>
          </a:p>
        </p:txBody>
      </p:sp>
      <p:sp>
        <p:nvSpPr>
          <p:cNvPr id="35" name="Rectangle 34"/>
          <p:cNvSpPr/>
          <p:nvPr/>
        </p:nvSpPr>
        <p:spPr>
          <a:xfrm>
            <a:off x="8244332"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196328"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1.4 QM &amp; Logistik</a:t>
            </a:r>
          </a:p>
          <a:p>
            <a:pPr algn="ctr">
              <a:defRPr sz="900">
                <a:solidFill>
                  <a:srgbClr val="FFE699"/>
                </a:solidFill>
                <a:latin typeface="Calibri"/>
              </a:defRPr>
            </a:pPr>
            <a:r>
              <a:t>Leitung: Marco Schmidt</a:t>
            </a:r>
          </a:p>
        </p:txBody>
      </p:sp>
      <p:sp>
        <p:nvSpPr>
          <p:cNvPr id="37" name="Rounded Rectangle 36"/>
          <p:cNvSpPr/>
          <p:nvPr/>
        </p:nvSpPr>
        <p:spPr>
          <a:xfrm>
            <a:off x="7196328"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42048"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1.4.1 Wareneingangsprüfung</a:t>
            </a:r>
          </a:p>
          <a:p>
            <a:pPr>
              <a:defRPr sz="850">
                <a:solidFill>
                  <a:srgbClr val="262626"/>
                </a:solidFill>
                <a:latin typeface="Calibri"/>
              </a:defRPr>
            </a:pPr>
            <a:r>
              <a:t>Prüfung gem. § 377 HGB</a:t>
            </a:r>
          </a:p>
        </p:txBody>
      </p:sp>
      <p:sp>
        <p:nvSpPr>
          <p:cNvPr id="39" name="Rounded Rectangle 38"/>
          <p:cNvSpPr/>
          <p:nvPr/>
        </p:nvSpPr>
        <p:spPr>
          <a:xfrm>
            <a:off x="7242048"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1.4.2 Mängelrüge Distributor</a:t>
            </a:r>
          </a:p>
          <a:p>
            <a:pPr>
              <a:defRPr sz="850">
                <a:solidFill>
                  <a:srgbClr val="262626"/>
                </a:solidFill>
                <a:latin typeface="Calibri"/>
              </a:defRPr>
            </a:pPr>
            <a:r>
              <a:t>Fristsetzung Transportschaden</a:t>
            </a:r>
          </a:p>
        </p:txBody>
      </p:sp>
      <p:sp>
        <p:nvSpPr>
          <p:cNvPr id="40" name="Rounded Rectangle 39"/>
          <p:cNvSpPr/>
          <p:nvPr/>
        </p:nvSpPr>
        <p:spPr>
          <a:xfrm>
            <a:off x="7242048"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1.4.3 Altdrucker-Entsorgung</a:t>
            </a:r>
          </a:p>
          <a:p>
            <a:pPr>
              <a:defRPr sz="850">
                <a:solidFill>
                  <a:srgbClr val="262626"/>
                </a:solidFill>
                <a:latin typeface="Calibri"/>
              </a:defRPr>
            </a:pPr>
            <a:r>
              <a:t>Fachgerecht nach ElektroG/WEEE</a:t>
            </a:r>
          </a:p>
        </p:txBody>
      </p:sp>
      <p:sp>
        <p:nvSpPr>
          <p:cNvPr id="41" name="Rounded Rectangle 40"/>
          <p:cNvSpPr/>
          <p:nvPr/>
        </p:nvSpPr>
        <p:spPr>
          <a:xfrm>
            <a:off x="7242048"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1.4.4 Datenschutz &amp; BSI</a:t>
            </a:r>
          </a:p>
          <a:p>
            <a:pPr>
              <a:defRPr sz="850">
                <a:solidFill>
                  <a:srgbClr val="262626"/>
                </a:solidFill>
                <a:latin typeface="Calibri"/>
              </a:defRPr>
            </a:pPr>
            <a:r>
              <a:t>Sichere 3-fache Festplattenlöschung</a:t>
            </a:r>
          </a:p>
        </p:txBody>
      </p:sp>
      <p:sp>
        <p:nvSpPr>
          <p:cNvPr id="42" name="Rounded Rectangle 41"/>
          <p:cNvSpPr/>
          <p:nvPr/>
        </p:nvSpPr>
        <p:spPr>
          <a:xfrm>
            <a:off x="7242048"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1.4.5 Entsorgungsnachweis</a:t>
            </a:r>
          </a:p>
          <a:p>
            <a:pPr>
              <a:defRPr sz="850">
                <a:solidFill>
                  <a:srgbClr val="262626"/>
                </a:solidFill>
                <a:latin typeface="Calibri"/>
              </a:defRPr>
            </a:pPr>
            <a:r>
              <a:t>Rechtssicheres Zertifikat</a:t>
            </a:r>
          </a:p>
        </p:txBody>
      </p:sp>
      <p:sp>
        <p:nvSpPr>
          <p:cNvPr id="43" name="Rounded Rectangle 42"/>
          <p:cNvSpPr/>
          <p:nvPr/>
        </p:nvSpPr>
        <p:spPr>
          <a:xfrm>
            <a:off x="7242048"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1.4.6 RMA-Abwicklung</a:t>
            </a:r>
          </a:p>
          <a:p>
            <a:pPr>
              <a:defRPr sz="850">
                <a:solidFill>
                  <a:srgbClr val="262626"/>
                </a:solidFill>
                <a:latin typeface="Calibri"/>
              </a:defRPr>
            </a:pPr>
            <a:r>
              <a:t>Tausch &amp; Nachlieferung Hardware</a:t>
            </a:r>
          </a:p>
        </p:txBody>
      </p:sp>
      <p:sp>
        <p:nvSpPr>
          <p:cNvPr id="44" name="Rectangle 43"/>
          <p:cNvSpPr/>
          <p:nvPr/>
        </p:nvSpPr>
        <p:spPr>
          <a:xfrm>
            <a:off x="10475468"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427464"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1.5 Rollout &amp; PM</a:t>
            </a:r>
          </a:p>
          <a:p>
            <a:pPr algn="ctr">
              <a:defRPr sz="900">
                <a:solidFill>
                  <a:srgbClr val="FFE699"/>
                </a:solidFill>
                <a:latin typeface="Calibri"/>
              </a:defRPr>
            </a:pPr>
            <a:r>
              <a:t>Leitung: Jan Kluth</a:t>
            </a:r>
          </a:p>
        </p:txBody>
      </p:sp>
      <p:sp>
        <p:nvSpPr>
          <p:cNvPr id="46" name="Rounded Rectangle 45"/>
          <p:cNvSpPr/>
          <p:nvPr/>
        </p:nvSpPr>
        <p:spPr>
          <a:xfrm>
            <a:off x="9427464"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473184"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1.5.1 Staging im Systemhaus</a:t>
            </a:r>
          </a:p>
          <a:p>
            <a:pPr>
              <a:defRPr sz="850">
                <a:solidFill>
                  <a:srgbClr val="262626"/>
                </a:solidFill>
                <a:latin typeface="Calibri"/>
              </a:defRPr>
            </a:pPr>
            <a:r>
              <a:t>Labor-Vorinstallation &amp; Tests</a:t>
            </a:r>
          </a:p>
        </p:txBody>
      </p:sp>
      <p:sp>
        <p:nvSpPr>
          <p:cNvPr id="48" name="Rounded Rectangle 47"/>
          <p:cNvSpPr/>
          <p:nvPr/>
        </p:nvSpPr>
        <p:spPr>
          <a:xfrm>
            <a:off x="9473184"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1.5.2 Montage vor Ort</a:t>
            </a:r>
          </a:p>
          <a:p>
            <a:pPr>
              <a:defRPr sz="850">
                <a:solidFill>
                  <a:srgbClr val="262626"/>
                </a:solidFill>
                <a:latin typeface="Calibri"/>
              </a:defRPr>
            </a:pPr>
            <a:r>
              <a:t>Ergonomie gem. ArbStättV</a:t>
            </a:r>
          </a:p>
        </p:txBody>
      </p:sp>
      <p:sp>
        <p:nvSpPr>
          <p:cNvPr id="49" name="Rounded Rectangle 48"/>
          <p:cNvSpPr/>
          <p:nvPr/>
        </p:nvSpPr>
        <p:spPr>
          <a:xfrm>
            <a:off x="9473184"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1.5.3 Funktionstests</a:t>
            </a:r>
          </a:p>
          <a:p>
            <a:pPr>
              <a:defRPr sz="850">
                <a:solidFill>
                  <a:srgbClr val="262626"/>
                </a:solidFill>
                <a:latin typeface="Calibri"/>
              </a:defRPr>
            </a:pPr>
            <a:r>
              <a:t>Netzwerk, CAD-Workstations &amp; MFP</a:t>
            </a:r>
          </a:p>
        </p:txBody>
      </p:sp>
      <p:sp>
        <p:nvSpPr>
          <p:cNvPr id="50" name="Rounded Rectangle 49"/>
          <p:cNvSpPr/>
          <p:nvPr/>
        </p:nvSpPr>
        <p:spPr>
          <a:xfrm>
            <a:off x="9473184"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1.5.4 Abnahmeprotokoll</a:t>
            </a:r>
          </a:p>
          <a:p>
            <a:pPr>
              <a:defRPr sz="850">
                <a:solidFill>
                  <a:srgbClr val="262626"/>
                </a:solidFill>
                <a:latin typeface="Calibri"/>
              </a:defRPr>
            </a:pPr>
            <a:r>
              <a:t>Rechtskonforme Übergabe</a:t>
            </a:r>
          </a:p>
        </p:txBody>
      </p:sp>
      <p:sp>
        <p:nvSpPr>
          <p:cNvPr id="51" name="Rounded Rectangle 50"/>
          <p:cNvSpPr/>
          <p:nvPr/>
        </p:nvSpPr>
        <p:spPr>
          <a:xfrm>
            <a:off x="9473184"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1.5.5 Projektcontrolling</a:t>
            </a:r>
          </a:p>
          <a:p>
            <a:pPr>
              <a:defRPr sz="850">
                <a:solidFill>
                  <a:srgbClr val="262626"/>
                </a:solidFill>
                <a:latin typeface="Calibri"/>
              </a:defRPr>
            </a:pPr>
            <a:r>
              <a:t>Soll-Ist: 46 Tage / im Budget</a:t>
            </a:r>
          </a:p>
        </p:txBody>
      </p:sp>
      <p:sp>
        <p:nvSpPr>
          <p:cNvPr id="52" name="Rounded Rectangle 51"/>
          <p:cNvSpPr/>
          <p:nvPr/>
        </p:nvSpPr>
        <p:spPr>
          <a:xfrm>
            <a:off x="9473184"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1.5.6 Lessons Learned</a:t>
            </a:r>
          </a:p>
          <a:p>
            <a:pPr>
              <a:defRPr sz="850">
                <a:solidFill>
                  <a:srgbClr val="262626"/>
                </a:solidFill>
                <a:latin typeface="Calibri"/>
              </a:defRPr>
            </a:pPr>
            <a:r>
              <a:t>Abschlusspräsentation vor Kunde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ABLAUFPLANUNG</a:t>
            </a:r>
          </a:p>
          <a:p>
            <a:pPr>
              <a:defRPr sz="2000" b="1">
                <a:solidFill>
                  <a:srgbClr val="FFFFFF"/>
                </a:solidFill>
                <a:latin typeface="Calibri"/>
              </a:defRPr>
            </a:pPr>
            <a:r>
              <a:t>Netzplan und Kritischer Pfad nach DIN 69900</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6 von 16</a:t>
            </a:r>
          </a:p>
        </p:txBody>
      </p:sp>
      <p:pic>
        <p:nvPicPr>
          <p:cNvPr id="5" name="Picture 4" descr="netzplan_inline.png"/>
          <p:cNvPicPr>
            <a:picLocks noChangeAspect="1"/>
          </p:cNvPicPr>
          <p:nvPr/>
        </p:nvPicPr>
        <p:blipFill>
          <a:blip r:embed="rId4"/>
          <a:stretch>
            <a:fillRect/>
          </a:stretch>
        </p:blipFill>
        <p:spPr>
          <a:xfrm>
            <a:off x="700887" y="1078992"/>
            <a:ext cx="10789920" cy="5212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SPEZIFIKATIONEN</a:t>
            </a:r>
          </a:p>
          <a:p>
            <a:pPr>
              <a:defRPr sz="2000" b="1">
                <a:solidFill>
                  <a:srgbClr val="FFFFFF"/>
                </a:solidFill>
                <a:latin typeface="Calibri"/>
              </a:defRPr>
            </a:pPr>
            <a:r>
              <a:t>Anforderungsprofil: Arbeitsplatztypen im 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7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7772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3474720" cy="365760"/>
          </a:xfrm>
          <a:prstGeom prst="rect">
            <a:avLst/>
          </a:prstGeom>
          <a:noFill/>
        </p:spPr>
        <p:txBody>
          <a:bodyPr wrap="none">
            <a:spAutoFit/>
          </a:bodyPr>
          <a:lstStyle/>
          <a:p>
            <a:pPr algn="ctr">
              <a:defRPr sz="1200" b="1">
                <a:solidFill>
                  <a:srgbClr val="FFFFFF"/>
                </a:solidFill>
                <a:latin typeface="Calibri"/>
              </a:defRPr>
            </a:pPr>
            <a:r>
              <a:t>12x Standard-Büro-PCs</a:t>
            </a:r>
          </a:p>
        </p:txBody>
      </p:sp>
      <p:sp>
        <p:nvSpPr>
          <p:cNvPr id="8" name="TextBox 7"/>
          <p:cNvSpPr txBox="1"/>
          <p:nvPr/>
        </p:nvSpPr>
        <p:spPr>
          <a:xfrm>
            <a:off x="731520" y="1783080"/>
            <a:ext cx="3474720" cy="274320"/>
          </a:xfrm>
          <a:prstGeom prst="rect">
            <a:avLst/>
          </a:prstGeom>
          <a:noFill/>
        </p:spPr>
        <p:txBody>
          <a:bodyPr wrap="none">
            <a:spAutoFit/>
          </a:bodyPr>
          <a:lstStyle/>
          <a:p>
            <a:pPr algn="ctr">
              <a:defRPr sz="900">
                <a:solidFill>
                  <a:srgbClr val="DEEBF7"/>
                </a:solidFill>
                <a:latin typeface="Calibri"/>
              </a:defRPr>
            </a:pPr>
            <a:r>
              <a:t>Bauleitung, Ausschreibung &amp; Office</a:t>
            </a:r>
          </a:p>
        </p:txBody>
      </p:sp>
      <p:sp>
        <p:nvSpPr>
          <p:cNvPr id="9" name="TextBox 8"/>
          <p:cNvSpPr txBox="1"/>
          <p:nvPr/>
        </p:nvSpPr>
        <p:spPr>
          <a:xfrm>
            <a:off x="868680"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i5-13400 (10 Kerne, bis 4.6 GHz)</a:t>
            </a:r>
          </a:p>
          <a:p>
            <a:pPr>
              <a:spcAft>
                <a:spcPts val="600"/>
              </a:spcAft>
              <a:defRPr sz="950" b="1">
                <a:solidFill>
                  <a:srgbClr val="1F497D"/>
                </a:solidFill>
                <a:latin typeface="Calibri"/>
              </a:defRPr>
            </a:pPr>
            <a:r>
              <a:t>Arbeitsspeicher: </a:t>
            </a:r>
            <a:r>
              <a:rPr b="0">
                <a:solidFill>
                  <a:srgbClr val="262626"/>
                </a:solidFill>
              </a:rPr>
              <a:t>16 GB DDR5 RAM (Erweiterbar bis 64 GB)</a:t>
            </a:r>
          </a:p>
          <a:p>
            <a:pPr>
              <a:spcAft>
                <a:spcPts val="600"/>
              </a:spcAft>
              <a:defRPr sz="950" b="1">
                <a:solidFill>
                  <a:srgbClr val="1F497D"/>
                </a:solidFill>
                <a:latin typeface="Calibri"/>
              </a:defRPr>
            </a:pPr>
            <a:r>
              <a:t>Grafikeinheit: </a:t>
            </a:r>
            <a:r>
              <a:rPr b="0">
                <a:solidFill>
                  <a:srgbClr val="262626"/>
                </a:solidFill>
              </a:rPr>
              <a:t>Integrierte Intel UHD Graphics 730</a:t>
            </a:r>
          </a:p>
          <a:p>
            <a:pPr>
              <a:spcAft>
                <a:spcPts val="600"/>
              </a:spcAft>
              <a:defRPr sz="950" b="1">
                <a:solidFill>
                  <a:srgbClr val="1F497D"/>
                </a:solidFill>
                <a:latin typeface="Calibri"/>
              </a:defRPr>
            </a:pPr>
            <a:r>
              <a:t>Festplatte: </a:t>
            </a:r>
            <a:r>
              <a:rPr b="0">
                <a:solidFill>
                  <a:srgbClr val="262626"/>
                </a:solidFill>
              </a:rPr>
              <a:t>512 GB M.2 NVMe PCIe 4.0 SSD</a:t>
            </a:r>
          </a:p>
          <a:p>
            <a:pPr>
              <a:spcAft>
                <a:spcPts val="600"/>
              </a:spcAft>
              <a:defRPr sz="950" b="1">
                <a:solidFill>
                  <a:srgbClr val="1F497D"/>
                </a:solidFill>
                <a:latin typeface="Calibri"/>
              </a:defRPr>
            </a:pPr>
            <a:r>
              <a:t>Gehäuse / Lautstärke: </a:t>
            </a:r>
            <a:r>
              <a:rPr b="0">
                <a:solidFill>
                  <a:srgbClr val="262626"/>
                </a:solidFill>
              </a:rPr>
              <a:t>Small Form Factor (SFF), leise Lüfter (&lt;28 dB)</a:t>
            </a:r>
          </a:p>
          <a:p>
            <a:pPr>
              <a:spcAft>
                <a:spcPts val="600"/>
              </a:spcAft>
              <a:defRPr sz="950" b="1">
                <a:solidFill>
                  <a:srgbClr val="1F497D"/>
                </a:solidFill>
                <a:latin typeface="Calibri"/>
              </a:defRPr>
            </a:pPr>
            <a:r>
              <a:t>Peripherie: </a:t>
            </a:r>
            <a:r>
              <a:rPr b="0">
                <a:solidFill>
                  <a:srgbClr val="262626"/>
                </a:solidFill>
              </a:rPr>
              <a:t>Logitech MK650 Funkset (AES) + 1TB SSD</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4370832" y="1371600"/>
            <a:ext cx="3474720" cy="77724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370832" y="1444752"/>
            <a:ext cx="3474720" cy="365760"/>
          </a:xfrm>
          <a:prstGeom prst="rect">
            <a:avLst/>
          </a:prstGeom>
          <a:noFill/>
        </p:spPr>
        <p:txBody>
          <a:bodyPr wrap="none">
            <a:spAutoFit/>
          </a:bodyPr>
          <a:lstStyle/>
          <a:p>
            <a:pPr algn="ctr">
              <a:defRPr sz="1200" b="1">
                <a:solidFill>
                  <a:srgbClr val="FFFFFF"/>
                </a:solidFill>
                <a:latin typeface="Calibri"/>
              </a:defRPr>
            </a:pPr>
            <a:r>
              <a:t>4x CAD/BIM-Workstations</a:t>
            </a:r>
          </a:p>
        </p:txBody>
      </p:sp>
      <p:sp>
        <p:nvSpPr>
          <p:cNvPr id="13" name="TextBox 12"/>
          <p:cNvSpPr txBox="1"/>
          <p:nvPr/>
        </p:nvSpPr>
        <p:spPr>
          <a:xfrm>
            <a:off x="4370832" y="1783080"/>
            <a:ext cx="3474720" cy="274320"/>
          </a:xfrm>
          <a:prstGeom prst="rect">
            <a:avLst/>
          </a:prstGeom>
          <a:noFill/>
        </p:spPr>
        <p:txBody>
          <a:bodyPr wrap="none">
            <a:spAutoFit/>
          </a:bodyPr>
          <a:lstStyle/>
          <a:p>
            <a:pPr algn="ctr">
              <a:defRPr sz="900">
                <a:solidFill>
                  <a:srgbClr val="DEEBF7"/>
                </a:solidFill>
                <a:latin typeface="Calibri"/>
              </a:defRPr>
            </a:pPr>
            <a:r>
              <a:t>3D-Konstruktion, Revit &amp; Rendering</a:t>
            </a:r>
          </a:p>
        </p:txBody>
      </p:sp>
      <p:sp>
        <p:nvSpPr>
          <p:cNvPr id="14" name="TextBox 13"/>
          <p:cNvSpPr txBox="1"/>
          <p:nvPr/>
        </p:nvSpPr>
        <p:spPr>
          <a:xfrm>
            <a:off x="4507992"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i7-13700 (16 Kerne, bis 5.2 GHz)</a:t>
            </a:r>
          </a:p>
          <a:p>
            <a:pPr>
              <a:spcAft>
                <a:spcPts val="600"/>
              </a:spcAft>
              <a:defRPr sz="950" b="1">
                <a:solidFill>
                  <a:srgbClr val="1F497D"/>
                </a:solidFill>
                <a:latin typeface="Calibri"/>
              </a:defRPr>
            </a:pPr>
            <a:r>
              <a:t>Arbeitsspeicher: </a:t>
            </a:r>
            <a:r>
              <a:rPr b="0">
                <a:solidFill>
                  <a:srgbClr val="262626"/>
                </a:solidFill>
              </a:rPr>
              <a:t>64 GB DDR5 RAM (Erweiterbar bis 128 GB)</a:t>
            </a:r>
          </a:p>
          <a:p>
            <a:pPr>
              <a:spcAft>
                <a:spcPts val="600"/>
              </a:spcAft>
              <a:defRPr sz="950" b="1">
                <a:solidFill>
                  <a:srgbClr val="1F497D"/>
                </a:solidFill>
                <a:latin typeface="Calibri"/>
              </a:defRPr>
            </a:pPr>
            <a:r>
              <a:t>Grafikkarte: </a:t>
            </a:r>
            <a:r>
              <a:rPr b="0">
                <a:solidFill>
                  <a:srgbClr val="262626"/>
                </a:solidFill>
              </a:rPr>
              <a:t>NVIDIA RTX 4000 Ada Gen (20 GB GDDR6 ECC)</a:t>
            </a:r>
          </a:p>
          <a:p>
            <a:pPr>
              <a:spcAft>
                <a:spcPts val="600"/>
              </a:spcAft>
              <a:defRPr sz="950" b="1">
                <a:solidFill>
                  <a:srgbClr val="1F497D"/>
                </a:solidFill>
                <a:latin typeface="Calibri"/>
              </a:defRPr>
            </a:pPr>
            <a:r>
              <a:t>Festplatte: </a:t>
            </a:r>
            <a:r>
              <a:rPr b="0">
                <a:solidFill>
                  <a:srgbClr val="262626"/>
                </a:solidFill>
              </a:rPr>
              <a:t>1 TB M.2 NVMe PCIe 4.0 SSD (sehr hohe IOPS)</a:t>
            </a:r>
          </a:p>
          <a:p>
            <a:pPr>
              <a:spcAft>
                <a:spcPts val="600"/>
              </a:spcAft>
              <a:defRPr sz="950" b="1">
                <a:solidFill>
                  <a:srgbClr val="1F497D"/>
                </a:solidFill>
                <a:latin typeface="Calibri"/>
              </a:defRPr>
            </a:pPr>
            <a:r>
              <a:t>Kühlung / Gehäuse: </a:t>
            </a:r>
            <a:r>
              <a:rPr b="0">
                <a:solidFill>
                  <a:srgbClr val="262626"/>
                </a:solidFill>
              </a:rPr>
              <a:t>Tower-Gehäuse mit leiser Hochleistungskühlung</a:t>
            </a:r>
          </a:p>
          <a:p>
            <a:pPr>
              <a:spcAft>
                <a:spcPts val="600"/>
              </a:spcAft>
              <a:defRPr sz="950" b="1">
                <a:solidFill>
                  <a:srgbClr val="1F497D"/>
                </a:solidFill>
                <a:latin typeface="Calibri"/>
              </a:defRPr>
            </a:pPr>
            <a:r>
              <a:t>Zertifizierung: </a:t>
            </a:r>
            <a:r>
              <a:rPr b="0">
                <a:solidFill>
                  <a:srgbClr val="262626"/>
                </a:solidFill>
              </a:rPr>
              <a:t>ISV-zertifiziert für Autodesk Revit &amp; Archicad</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8010144" y="1371600"/>
            <a:ext cx="347472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010144" y="1444752"/>
            <a:ext cx="3474720" cy="365760"/>
          </a:xfrm>
          <a:prstGeom prst="rect">
            <a:avLst/>
          </a:prstGeom>
          <a:noFill/>
        </p:spPr>
        <p:txBody>
          <a:bodyPr wrap="none">
            <a:spAutoFit/>
          </a:bodyPr>
          <a:lstStyle/>
          <a:p>
            <a:pPr algn="ctr">
              <a:defRPr sz="1200" b="1">
                <a:solidFill>
                  <a:srgbClr val="FFFFFF"/>
                </a:solidFill>
                <a:latin typeface="Calibri"/>
              </a:defRPr>
            </a:pPr>
            <a:r>
              <a:t>Monitore &amp; Drucker</a:t>
            </a:r>
          </a:p>
        </p:txBody>
      </p:sp>
      <p:sp>
        <p:nvSpPr>
          <p:cNvPr id="18" name="TextBox 17"/>
          <p:cNvSpPr txBox="1"/>
          <p:nvPr/>
        </p:nvSpPr>
        <p:spPr>
          <a:xfrm>
            <a:off x="8010144" y="1783080"/>
            <a:ext cx="3474720" cy="274320"/>
          </a:xfrm>
          <a:prstGeom prst="rect">
            <a:avLst/>
          </a:prstGeom>
          <a:noFill/>
        </p:spPr>
        <p:txBody>
          <a:bodyPr wrap="none">
            <a:spAutoFit/>
          </a:bodyPr>
          <a:lstStyle/>
          <a:p>
            <a:pPr algn="ctr">
              <a:defRPr sz="900">
                <a:solidFill>
                  <a:srgbClr val="DEEBF7"/>
                </a:solidFill>
                <a:latin typeface="Calibri"/>
              </a:defRPr>
            </a:pPr>
            <a:r>
              <a:t>Ergonomie &amp; Büroinfrastruktur</a:t>
            </a:r>
          </a:p>
        </p:txBody>
      </p:sp>
      <p:sp>
        <p:nvSpPr>
          <p:cNvPr id="19" name="TextBox 18"/>
          <p:cNvSpPr txBox="1"/>
          <p:nvPr/>
        </p:nvSpPr>
        <p:spPr>
          <a:xfrm>
            <a:off x="8147304"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32x Bildschirme: </a:t>
            </a:r>
            <a:r>
              <a:rPr b="0">
                <a:solidFill>
                  <a:srgbClr val="262626"/>
                </a:solidFill>
              </a:rPr>
              <a:t>27'' WQHD (2560x1440), IPS Black Panel</a:t>
            </a:r>
          </a:p>
          <a:p>
            <a:pPr>
              <a:spcAft>
                <a:spcPts val="600"/>
              </a:spcAft>
              <a:defRPr sz="950" b="1">
                <a:solidFill>
                  <a:srgbClr val="1F497D"/>
                </a:solidFill>
                <a:latin typeface="Calibri"/>
              </a:defRPr>
            </a:pPr>
            <a:r>
              <a:t>Ergonomie: </a:t>
            </a:r>
            <a:r>
              <a:rPr b="0">
                <a:solidFill>
                  <a:srgbClr val="262626"/>
                </a:solidFill>
              </a:rPr>
              <a:t>Höhenverstellbar (150 mm), Pivot 90°, Swivel, Tilt</a:t>
            </a:r>
          </a:p>
          <a:p>
            <a:pPr>
              <a:spcAft>
                <a:spcPts val="600"/>
              </a:spcAft>
              <a:defRPr sz="950" b="1">
                <a:solidFill>
                  <a:srgbClr val="1F497D"/>
                </a:solidFill>
                <a:latin typeface="Calibri"/>
              </a:defRPr>
            </a:pPr>
            <a:r>
              <a:t>Augenschonung: </a:t>
            </a:r>
            <a:r>
              <a:rPr b="0">
                <a:solidFill>
                  <a:srgbClr val="262626"/>
                </a:solidFill>
              </a:rPr>
              <a:t>Hardware-Blaulichtfilter (ComfortView Plus)</a:t>
            </a:r>
          </a:p>
          <a:p>
            <a:pPr>
              <a:spcAft>
                <a:spcPts val="600"/>
              </a:spcAft>
              <a:defRPr sz="950" b="1">
                <a:solidFill>
                  <a:srgbClr val="1F497D"/>
                </a:solidFill>
                <a:latin typeface="Calibri"/>
              </a:defRPr>
            </a:pPr>
            <a:r>
              <a:t>1x zentrales MFP: </a:t>
            </a:r>
            <a:r>
              <a:rPr b="0">
                <a:solidFill>
                  <a:srgbClr val="262626"/>
                </a:solidFill>
              </a:rPr>
              <a:t>Lexmark CX930dse Farb-Multifunktionsdrucker</a:t>
            </a:r>
          </a:p>
          <a:p>
            <a:pPr>
              <a:spcAft>
                <a:spcPts val="600"/>
              </a:spcAft>
              <a:defRPr sz="950" b="1">
                <a:solidFill>
                  <a:srgbClr val="1F497D"/>
                </a:solidFill>
                <a:latin typeface="Calibri"/>
              </a:defRPr>
            </a:pPr>
            <a:r>
              <a:t>Druckleistung: </a:t>
            </a:r>
            <a:r>
              <a:rPr b="0">
                <a:solidFill>
                  <a:srgbClr val="262626"/>
                </a:solidFill>
              </a:rPr>
              <a:t>DIN A3/A4 Farblaser, 33 Seiten/Min., Duplex-Scan</a:t>
            </a:r>
          </a:p>
          <a:p>
            <a:pPr>
              <a:spcAft>
                <a:spcPts val="600"/>
              </a:spcAft>
              <a:defRPr sz="950" b="1">
                <a:solidFill>
                  <a:srgbClr val="1F497D"/>
                </a:solidFill>
                <a:latin typeface="Calibri"/>
              </a:defRPr>
            </a:pPr>
            <a:r>
              <a:t>Netzwerkanbindung: </a:t>
            </a:r>
            <a:r>
              <a:rPr b="0">
                <a:solidFill>
                  <a:srgbClr val="262626"/>
                </a:solidFill>
              </a:rPr>
              <a:t>Gigabit-LAN Cat.6A S/FTP halogenfrei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HARDWARE-AUSWAHL</a:t>
            </a:r>
          </a:p>
          <a:p>
            <a:pPr>
              <a:defRPr sz="2000" b="1">
                <a:solidFill>
                  <a:srgbClr val="FFFFFF"/>
                </a:solidFill>
                <a:latin typeface="Calibri"/>
              </a:defRPr>
            </a:pPr>
            <a:r>
              <a:t>Ausgewählte Marken-Hardware aus dem Fachhandel</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8 von 16</a:t>
            </a:r>
          </a:p>
        </p:txBody>
      </p:sp>
      <p:sp>
        <p:nvSpPr>
          <p:cNvPr id="5" name="Rounded Rectangle 4"/>
          <p:cNvSpPr/>
          <p:nvPr/>
        </p:nvSpPr>
        <p:spPr>
          <a:xfrm>
            <a:off x="73152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406908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690,00 € Netto</a:t>
            </a:r>
          </a:p>
        </p:txBody>
      </p:sp>
      <p:sp>
        <p:nvSpPr>
          <p:cNvPr id="7" name="TextBox 6"/>
          <p:cNvSpPr txBox="1"/>
          <p:nvPr/>
        </p:nvSpPr>
        <p:spPr>
          <a:xfrm>
            <a:off x="914400" y="1481328"/>
            <a:ext cx="3108960" cy="685800"/>
          </a:xfrm>
          <a:prstGeom prst="rect">
            <a:avLst/>
          </a:prstGeom>
          <a:noFill/>
        </p:spPr>
        <p:txBody>
          <a:bodyPr wrap="none">
            <a:spAutoFit/>
          </a:bodyPr>
          <a:lstStyle/>
          <a:p>
            <a:pPr>
              <a:defRPr sz="950" b="1">
                <a:solidFill>
                  <a:srgbClr val="2F5597"/>
                </a:solidFill>
                <a:latin typeface="Calibri"/>
              </a:defRPr>
            </a:pPr>
            <a:r>
              <a:t>STANDARD-PC (12 STÜCK)</a:t>
            </a:r>
          </a:p>
          <a:p>
            <a:pPr>
              <a:defRPr sz="1200" b="1">
                <a:solidFill>
                  <a:srgbClr val="1F497D"/>
                </a:solidFill>
                <a:latin typeface="Calibri"/>
              </a:defRPr>
            </a:pPr>
            <a:r>
              <a:t>Lenovo ThinkCentre M70s Gen 4</a:t>
            </a:r>
          </a:p>
        </p:txBody>
      </p:sp>
      <p:sp>
        <p:nvSpPr>
          <p:cNvPr id="8" name="TextBox 7"/>
          <p:cNvSpPr txBox="1"/>
          <p:nvPr/>
        </p:nvSpPr>
        <p:spPr>
          <a:xfrm>
            <a:off x="91440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i5-13400 Prozessor, 16 GB DDR5 RAM, 512 GB NVMe</a:t>
            </a:r>
          </a:p>
          <a:p>
            <a:pPr>
              <a:spcAft>
                <a:spcPts val="200"/>
              </a:spcAft>
              <a:defRPr sz="950">
                <a:solidFill>
                  <a:srgbClr val="262626"/>
                </a:solidFill>
                <a:latin typeface="Calibri"/>
              </a:defRPr>
            </a:pPr>
            <a:r>
              <a:t>• Kompakter Small Form Factor (SFF), leise Lüfterkurve</a:t>
            </a:r>
          </a:p>
          <a:p>
            <a:pPr>
              <a:spcAft>
                <a:spcPts val="200"/>
              </a:spcAft>
              <a:defRPr sz="950">
                <a:solidFill>
                  <a:srgbClr val="262626"/>
                </a:solidFill>
                <a:latin typeface="Calibri"/>
              </a:defRPr>
            </a:pPr>
            <a:r>
              <a:t>• Zuverlässige Plattform für Bauleiter und Ausschreibungen</a:t>
            </a:r>
          </a:p>
          <a:p>
            <a:pPr>
              <a:spcAft>
                <a:spcPts val="200"/>
              </a:spcAft>
              <a:defRPr sz="950">
                <a:solidFill>
                  <a:srgbClr val="262626"/>
                </a:solidFill>
                <a:latin typeface="Calibri"/>
              </a:defRPr>
            </a:pPr>
            <a:r>
              <a:t>• 3 Jahre Vor-Ort-Herstellergarantie inklusive</a:t>
            </a:r>
          </a:p>
        </p:txBody>
      </p:sp>
      <p:sp>
        <p:nvSpPr>
          <p:cNvPr id="9" name="Rounded Rectangle 8"/>
          <p:cNvSpPr/>
          <p:nvPr/>
        </p:nvSpPr>
        <p:spPr>
          <a:xfrm>
            <a:off x="617220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ounded Rectangle 9"/>
          <p:cNvSpPr/>
          <p:nvPr/>
        </p:nvSpPr>
        <p:spPr>
          <a:xfrm>
            <a:off x="950976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3.200,00 € Netto</a:t>
            </a:r>
          </a:p>
        </p:txBody>
      </p:sp>
      <p:sp>
        <p:nvSpPr>
          <p:cNvPr id="11" name="TextBox 10"/>
          <p:cNvSpPr txBox="1"/>
          <p:nvPr/>
        </p:nvSpPr>
        <p:spPr>
          <a:xfrm>
            <a:off x="6355080" y="1481328"/>
            <a:ext cx="3108960" cy="685800"/>
          </a:xfrm>
          <a:prstGeom prst="rect">
            <a:avLst/>
          </a:prstGeom>
          <a:noFill/>
        </p:spPr>
        <p:txBody>
          <a:bodyPr wrap="none">
            <a:spAutoFit/>
          </a:bodyPr>
          <a:lstStyle/>
          <a:p>
            <a:pPr>
              <a:defRPr sz="950" b="1">
                <a:solidFill>
                  <a:srgbClr val="2F5597"/>
                </a:solidFill>
                <a:latin typeface="Calibri"/>
              </a:defRPr>
            </a:pPr>
            <a:r>
              <a:t>CAD-WORKSTATION (4 STÜCK)</a:t>
            </a:r>
          </a:p>
          <a:p>
            <a:pPr>
              <a:defRPr sz="1200" b="1">
                <a:solidFill>
                  <a:srgbClr val="1F497D"/>
                </a:solidFill>
                <a:latin typeface="Calibri"/>
              </a:defRPr>
            </a:pPr>
            <a:r>
              <a:t>Lenovo ThinkStation P3 Tower</a:t>
            </a:r>
          </a:p>
        </p:txBody>
      </p:sp>
      <p:sp>
        <p:nvSpPr>
          <p:cNvPr id="12" name="TextBox 11"/>
          <p:cNvSpPr txBox="1"/>
          <p:nvPr/>
        </p:nvSpPr>
        <p:spPr>
          <a:xfrm>
            <a:off x="635508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i7-13700, 64 GB DDR5 RAM, 1 TB High-Speed NVMe</a:t>
            </a:r>
          </a:p>
          <a:p>
            <a:pPr>
              <a:spcAft>
                <a:spcPts val="200"/>
              </a:spcAft>
              <a:defRPr sz="950">
                <a:solidFill>
                  <a:srgbClr val="262626"/>
                </a:solidFill>
                <a:latin typeface="Calibri"/>
              </a:defRPr>
            </a:pPr>
            <a:r>
              <a:t>• NVIDIA RTX 4000 Ada Generation (20 GB VRAM ECC)</a:t>
            </a:r>
          </a:p>
          <a:p>
            <a:pPr>
              <a:spcAft>
                <a:spcPts val="200"/>
              </a:spcAft>
              <a:defRPr sz="950">
                <a:solidFill>
                  <a:srgbClr val="262626"/>
                </a:solidFill>
                <a:latin typeface="Calibri"/>
              </a:defRPr>
            </a:pPr>
            <a:r>
              <a:t>• Zertifiziert für Revit, AutoCAD, Archicad und BIM-Viewer</a:t>
            </a:r>
          </a:p>
          <a:p>
            <a:pPr>
              <a:spcAft>
                <a:spcPts val="200"/>
              </a:spcAft>
              <a:defRPr sz="950">
                <a:solidFill>
                  <a:srgbClr val="262626"/>
                </a:solidFill>
                <a:latin typeface="Calibri"/>
              </a:defRPr>
            </a:pPr>
            <a:r>
              <a:t>• Optimiertes Airflow-Gehäuse mit geringer Geräuschentwicklung</a:t>
            </a:r>
          </a:p>
        </p:txBody>
      </p:sp>
      <p:sp>
        <p:nvSpPr>
          <p:cNvPr id="13" name="Rounded Rectangle 12"/>
          <p:cNvSpPr/>
          <p:nvPr/>
        </p:nvSpPr>
        <p:spPr>
          <a:xfrm>
            <a:off x="73152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ounded Rectangle 13"/>
          <p:cNvSpPr/>
          <p:nvPr/>
        </p:nvSpPr>
        <p:spPr>
          <a:xfrm>
            <a:off x="406908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310,00 € Netto</a:t>
            </a:r>
          </a:p>
        </p:txBody>
      </p:sp>
      <p:sp>
        <p:nvSpPr>
          <p:cNvPr id="15" name="TextBox 14"/>
          <p:cNvSpPr txBox="1"/>
          <p:nvPr/>
        </p:nvSpPr>
        <p:spPr>
          <a:xfrm>
            <a:off x="914400" y="3950208"/>
            <a:ext cx="3108960" cy="685800"/>
          </a:xfrm>
          <a:prstGeom prst="rect">
            <a:avLst/>
          </a:prstGeom>
          <a:noFill/>
        </p:spPr>
        <p:txBody>
          <a:bodyPr wrap="none">
            <a:spAutoFit/>
          </a:bodyPr>
          <a:lstStyle/>
          <a:p>
            <a:pPr>
              <a:defRPr sz="950" b="1">
                <a:solidFill>
                  <a:srgbClr val="2F5597"/>
                </a:solidFill>
                <a:latin typeface="Calibri"/>
              </a:defRPr>
            </a:pPr>
            <a:r>
              <a:t>ERGONOMIE-BILDSCHIRM (32 STÜCK)</a:t>
            </a:r>
          </a:p>
          <a:p>
            <a:pPr>
              <a:defRPr sz="1200" b="1">
                <a:solidFill>
                  <a:srgbClr val="1F497D"/>
                </a:solidFill>
                <a:latin typeface="Calibri"/>
              </a:defRPr>
            </a:pPr>
            <a:r>
              <a:t>Dell UltraSharp U2724D (27'')</a:t>
            </a:r>
          </a:p>
        </p:txBody>
      </p:sp>
      <p:sp>
        <p:nvSpPr>
          <p:cNvPr id="16" name="TextBox 15"/>
          <p:cNvSpPr txBox="1"/>
          <p:nvPr/>
        </p:nvSpPr>
        <p:spPr>
          <a:xfrm>
            <a:off x="91440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27 Zoll WQHD (2560x1440) mit IPS-Black-Panel (2000:1 Kontrast)</a:t>
            </a:r>
          </a:p>
          <a:p>
            <a:pPr>
              <a:spcAft>
                <a:spcPts val="200"/>
              </a:spcAft>
              <a:defRPr sz="950">
                <a:solidFill>
                  <a:srgbClr val="262626"/>
                </a:solidFill>
                <a:latin typeface="Calibri"/>
              </a:defRPr>
            </a:pPr>
            <a:r>
              <a:t>• 120 Hz Bildwiederholrate &amp; ComfortView Plus Hardware-Blaulichtfilter</a:t>
            </a:r>
          </a:p>
          <a:p>
            <a:pPr>
              <a:spcAft>
                <a:spcPts val="200"/>
              </a:spcAft>
              <a:defRPr sz="950">
                <a:solidFill>
                  <a:srgbClr val="262626"/>
                </a:solidFill>
                <a:latin typeface="Calibri"/>
              </a:defRPr>
            </a:pPr>
            <a:r>
              <a:t>• Volle Ergonomie: Höhenverstellbar, Pivot (90° drehbar), Swivel &amp; Tilt</a:t>
            </a:r>
          </a:p>
          <a:p>
            <a:pPr>
              <a:spcAft>
                <a:spcPts val="200"/>
              </a:spcAft>
              <a:defRPr sz="950">
                <a:solidFill>
                  <a:srgbClr val="262626"/>
                </a:solidFill>
                <a:latin typeface="Calibri"/>
              </a:defRPr>
            </a:pPr>
            <a:r>
              <a:t>• Je 2 Bildschirme pro Arbeitsplatz für hohe Arbeitsleistung</a:t>
            </a:r>
          </a:p>
        </p:txBody>
      </p:sp>
      <p:sp>
        <p:nvSpPr>
          <p:cNvPr id="17" name="Rounded Rectangle 16"/>
          <p:cNvSpPr/>
          <p:nvPr/>
        </p:nvSpPr>
        <p:spPr>
          <a:xfrm>
            <a:off x="617220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Rounded Rectangle 17"/>
          <p:cNvSpPr/>
          <p:nvPr/>
        </p:nvSpPr>
        <p:spPr>
          <a:xfrm>
            <a:off x="950976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2.200,00 € Netto</a:t>
            </a:r>
          </a:p>
        </p:txBody>
      </p:sp>
      <p:sp>
        <p:nvSpPr>
          <p:cNvPr id="19" name="TextBox 18"/>
          <p:cNvSpPr txBox="1"/>
          <p:nvPr/>
        </p:nvSpPr>
        <p:spPr>
          <a:xfrm>
            <a:off x="6355080" y="3950208"/>
            <a:ext cx="3108960" cy="685800"/>
          </a:xfrm>
          <a:prstGeom prst="rect">
            <a:avLst/>
          </a:prstGeom>
          <a:noFill/>
        </p:spPr>
        <p:txBody>
          <a:bodyPr wrap="none">
            <a:spAutoFit/>
          </a:bodyPr>
          <a:lstStyle/>
          <a:p>
            <a:pPr>
              <a:defRPr sz="950" b="1">
                <a:solidFill>
                  <a:srgbClr val="2F5597"/>
                </a:solidFill>
                <a:latin typeface="Calibri"/>
              </a:defRPr>
            </a:pPr>
            <a:r>
              <a:t>ZENTRALER FARB-DRUCKER (1 STÜCK)</a:t>
            </a:r>
          </a:p>
          <a:p>
            <a:pPr>
              <a:defRPr sz="1200" b="1">
                <a:solidFill>
                  <a:srgbClr val="1F497D"/>
                </a:solidFill>
                <a:latin typeface="Calibri"/>
              </a:defRPr>
            </a:pPr>
            <a:r>
              <a:t>Lexmark CX930dse A3/A4 MFP</a:t>
            </a:r>
          </a:p>
        </p:txBody>
      </p:sp>
      <p:sp>
        <p:nvSpPr>
          <p:cNvPr id="20" name="TextBox 19"/>
          <p:cNvSpPr txBox="1"/>
          <p:nvPr/>
        </p:nvSpPr>
        <p:spPr>
          <a:xfrm>
            <a:off x="635508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DIN A3 und DIN A4 Farblaser für großformatige Baupläne</a:t>
            </a:r>
          </a:p>
          <a:p>
            <a:pPr>
              <a:spcAft>
                <a:spcPts val="200"/>
              </a:spcAft>
              <a:defRPr sz="950">
                <a:solidFill>
                  <a:srgbClr val="262626"/>
                </a:solidFill>
                <a:latin typeface="Calibri"/>
              </a:defRPr>
            </a:pPr>
            <a:r>
              <a:t>• Druck- und Kopiergeschwindigkeit bis zu 33 Seiten pro Minute</a:t>
            </a:r>
          </a:p>
          <a:p>
            <a:pPr>
              <a:spcAft>
                <a:spcPts val="200"/>
              </a:spcAft>
              <a:defRPr sz="950">
                <a:solidFill>
                  <a:srgbClr val="262626"/>
                </a:solidFill>
                <a:latin typeface="Calibri"/>
              </a:defRPr>
            </a:pPr>
            <a:r>
              <a:t>• Automatischer Duplex-Scan und hohe Papierkassetten-Kapazität</a:t>
            </a:r>
          </a:p>
          <a:p>
            <a:pPr>
              <a:spcAft>
                <a:spcPts val="200"/>
              </a:spcAft>
              <a:defRPr sz="950">
                <a:solidFill>
                  <a:srgbClr val="262626"/>
                </a:solidFill>
                <a:latin typeface="Calibri"/>
              </a:defRPr>
            </a:pPr>
            <a:r>
              <a:t>• Vollständig gigabit-netzwerkfähig mit PostScript-Unterstützung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ENTSCHEIDUNGSMATRIX</a:t>
            </a:r>
          </a:p>
          <a:p>
            <a:pPr>
              <a:defRPr sz="2000" b="1">
                <a:solidFill>
                  <a:srgbClr val="FFFFFF"/>
                </a:solidFill>
                <a:latin typeface="Calibri"/>
              </a:defRPr>
            </a:pPr>
            <a:r>
              <a:t>Nutzwertanalysen: Objektiver Produktvergleich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9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CAD-Workstations</a:t>
            </a:r>
          </a:p>
        </p:txBody>
      </p:sp>
      <p:sp>
        <p:nvSpPr>
          <p:cNvPr id="7" name="TextBox 6"/>
          <p:cNvSpPr txBox="1"/>
          <p:nvPr/>
        </p:nvSpPr>
        <p:spPr>
          <a:xfrm>
            <a:off x="9144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Lenovo ThinkStation P3 ➔ 8,70 Punkte</a:t>
            </a:r>
          </a:p>
          <a:p>
            <a:pPr>
              <a:defRPr b="0" sz="1050">
                <a:solidFill>
                  <a:srgbClr val="595959"/>
                </a:solidFill>
              </a:defRPr>
            </a:pPr>
            <a:r>
              <a:t>• 2. Platz: Dell Precision 3660 ➔ 7,80 Punkte</a:t>
            </a:r>
          </a:p>
          <a:p>
            <a:pPr>
              <a:defRPr b="0" sz="1050">
                <a:solidFill>
                  <a:srgbClr val="595959"/>
                </a:solidFill>
              </a:defRPr>
            </a:pPr>
            <a:r>
              <a:t>• 3. Platz: HP Z2 Tower G9 ➔ 6,80 Punkte</a:t>
            </a:r>
          </a:p>
          <a:p>
            <a:br/>
            <a:pPr>
              <a:defRPr b="1" sz="1050">
                <a:solidFill>
                  <a:srgbClr val="1F497D"/>
                </a:solidFill>
              </a:defRPr>
            </a:pPr>
            <a:r>
              <a:t>Gewichtete Kriterien:</a:t>
            </a:r>
          </a:p>
          <a:p>
            <a:pPr>
              <a:defRPr sz="950">
                <a:solidFill>
                  <a:srgbClr val="595959"/>
                </a:solidFill>
              </a:defRPr>
            </a:pPr>
            <a:r>
              <a:t>• 3D/BIM-Performance (40%) • Arbeitsspeicher &amp; Ausbau (15%)</a:t>
            </a:r>
            <a:br/>
            <a:r>
              <a:t>• Preis-Leistungs-Verhältnis (15%) • Garantie/Service (15%)</a:t>
            </a:r>
            <a:br/>
            <a:r>
              <a:t>• Lautstärke/Kühlung (10%) • Lieferzeit (5%)</a:t>
            </a:r>
          </a:p>
          <a:p>
            <a:br/>
            <a:pPr>
              <a:defRPr b="1" sz="1050">
                <a:solidFill>
                  <a:srgbClr val="1F497D"/>
                </a:solidFill>
              </a:defRPr>
            </a:pPr>
            <a:r>
              <a:t>Begründung des Siegers:</a:t>
            </a:r>
          </a:p>
          <a:p>
            <a:pPr>
              <a:defRPr sz="950">
                <a:solidFill>
                  <a:srgbClr val="262626"/>
                </a:solidFill>
              </a:defRPr>
            </a:pPr>
            <a: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27'' WQHD-Monitore</a:t>
            </a:r>
          </a:p>
        </p:txBody>
      </p:sp>
      <p:sp>
        <p:nvSpPr>
          <p:cNvPr id="10" name="TextBox 9"/>
          <p:cNvSpPr txBox="1"/>
          <p:nvPr/>
        </p:nvSpPr>
        <p:spPr>
          <a:xfrm>
            <a:off x="64008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Dell UltraSharp U2724D ➔ 9,10 Punkte</a:t>
            </a:r>
          </a:p>
          <a:p>
            <a:pPr>
              <a:defRPr b="0" sz="1050">
                <a:solidFill>
                  <a:srgbClr val="595959"/>
                </a:solidFill>
              </a:defRPr>
            </a:pPr>
            <a:r>
              <a:t>• 2. Platz: Lenovo ThinkVision P27h-30 ➔ 8,30 Punkte</a:t>
            </a:r>
          </a:p>
          <a:p>
            <a:pPr>
              <a:defRPr b="0" sz="1050">
                <a:solidFill>
                  <a:srgbClr val="595959"/>
                </a:solidFill>
              </a:defRPr>
            </a:pPr>
            <a:r>
              <a:t>• 3. Platz: EIZO FlexScan EV2781 ➔ 8,15 Punkte</a:t>
            </a:r>
          </a:p>
          <a:p>
            <a:br/>
            <a:pPr>
              <a:defRPr b="1" sz="1050">
                <a:solidFill>
                  <a:srgbClr val="1F497D"/>
                </a:solidFill>
              </a:defRPr>
            </a:pPr>
            <a:r>
              <a:t>Gewichtete Kriterien:</a:t>
            </a:r>
          </a:p>
          <a:p>
            <a:pPr>
              <a:defRPr sz="950">
                <a:solidFill>
                  <a:srgbClr val="595959"/>
                </a:solidFill>
              </a:defRPr>
            </a:pPr>
            <a:r>
              <a:t>• Ergonomie (Höhe, Pivot, Tilt) (25%) • Bildqualität (IPS Black) (25%)</a:t>
            </a:r>
            <a:br/>
            <a:r>
              <a:t>• Preis / Menge (32 Stück) (25%) • Augenschonung/Filter (15%)</a:t>
            </a:r>
            <a:br/>
            <a:r>
              <a:t>• Garantie (5%) • Anschlüsse (5%)</a:t>
            </a:r>
          </a:p>
          <a:p>
            <a:br/>
            <a:pPr>
              <a:defRPr b="1" sz="1050">
                <a:solidFill>
                  <a:srgbClr val="1F497D"/>
                </a:solidFill>
              </a:defRPr>
            </a:pPr>
            <a:r>
              <a:t>Begründung des Siegers:</a:t>
            </a:r>
          </a:p>
          <a:p>
            <a:pPr>
              <a:defRPr sz="950">
                <a:solidFill>
                  <a:srgbClr val="262626"/>
                </a:solidFill>
              </a:defRPr>
            </a:pPr>
            <a:r>
              <a:t>Bei 32 Monitoren spart der Dell U2724D (310 €) gegenüber dem teuren EIZO (480 €) ganze 5.440 € netto ein! Gleichzeitig bietet Dell modernste IPS-Black-Technologie (2000:1 Kontrast), 120 Hz und volle Ergonomie. Dell gewinnt mit 9,10 Punkten.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KALKULATION</a:t>
            </a:r>
          </a:p>
          <a:p>
            <a:pPr>
              <a:defRPr sz="2000" b="1">
                <a:solidFill>
                  <a:srgbClr val="FFFFFF"/>
                </a:solidFill>
                <a:latin typeface="Calibri"/>
              </a:defRPr>
            </a:pPr>
            <a:r>
              <a:t>Kaufmännische Preiskalkulation &amp; Angebot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10 von 16</a:t>
            </a:r>
          </a:p>
        </p:txBody>
      </p:sp>
      <p:sp>
        <p:nvSpPr>
          <p:cNvPr id="5" name="Rounded Rectangle 4"/>
          <p:cNvSpPr/>
          <p:nvPr/>
        </p:nvSpPr>
        <p:spPr>
          <a:xfrm>
            <a:off x="6858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 Vorwärtskalkulation (IHK-Schema)</a:t>
            </a:r>
          </a:p>
        </p:txBody>
      </p:sp>
      <p:graphicFrame>
        <p:nvGraphicFramePr>
          <p:cNvPr id="7" name="Table 6"/>
          <p:cNvGraphicFramePr>
            <a:graphicFrameLocks noGrp="1"/>
          </p:cNvGraphicFramePr>
          <p:nvPr/>
        </p:nvGraphicFramePr>
        <p:xfrm>
          <a:off x="777240" y="1874519"/>
          <a:ext cx="5120640" cy="4114800"/>
        </p:xfrm>
        <a:graphic>
          <a:graphicData uri="http://schemas.openxmlformats.org/drawingml/2006/table">
            <a:tbl>
              <a:tblPr firstRow="1" bandRow="1">
                <a:tableStyleId>{5C22544A-7EE6-4342-B048-85BDC9FD1C3A}</a:tableStyleId>
              </a:tblPr>
              <a:tblGrid>
                <a:gridCol w="1783080"/>
                <a:gridCol w="2011680"/>
                <a:gridCol w="1325880"/>
              </a:tblGrid>
              <a:tr h="411480">
                <a:tc>
                  <a:txBody>
                    <a:bodyPr wrap="none"/>
                    <a:lstStyle/>
                    <a:p>
                      <a:pPr>
                        <a:defRPr sz="950" b="1">
                          <a:solidFill>
                            <a:srgbClr val="1F497D"/>
                          </a:solidFill>
                          <a:latin typeface="Calibri"/>
                        </a:defRPr>
                      </a:pPr>
                      <a:r>
                        <a:t>Kalkulationsschritt</a:t>
                      </a:r>
                    </a:p>
                  </a:txBody>
                  <a:tcPr marL="36576" marR="36576" marT="27432" marB="27432">
                    <a:solidFill>
                      <a:srgbClr val="F0F3F8"/>
                    </a:solidFill>
                  </a:tcPr>
                </a:tc>
                <a:tc>
                  <a:txBody>
                    <a:bodyPr wrap="none"/>
                    <a:lstStyle/>
                    <a:p>
                      <a:pPr>
                        <a:defRPr sz="950" b="1">
                          <a:solidFill>
                            <a:srgbClr val="1F497D"/>
                          </a:solidFill>
                          <a:latin typeface="Calibri"/>
                        </a:defRPr>
                      </a:pPr>
                      <a:r>
                        <a:t>Bedeutung / Zuschlagssatz</a:t>
                      </a:r>
                    </a:p>
                  </a:txBody>
                  <a:tcPr marL="36576" marR="36576" marT="27432" marB="27432">
                    <a:solidFill>
                      <a:srgbClr val="F0F3F8"/>
                    </a:solidFill>
                  </a:tcPr>
                </a:tc>
                <a:tc>
                  <a:txBody>
                    <a:bodyPr wrap="none"/>
                    <a:lstStyle/>
                    <a:p>
                      <a:pPr algn="r">
                        <a:defRPr sz="950" b="1">
                          <a:solidFill>
                            <a:srgbClr val="1F497D"/>
                          </a:solidFill>
                          <a:latin typeface="Calibri"/>
                        </a:defRPr>
                      </a:pPr>
                      <a:r>
                        <a:t>Wert</a:t>
                      </a:r>
                    </a:p>
                  </a:txBody>
                  <a:tcPr marL="36576" marR="36576" marT="27432" marB="27432">
                    <a:solidFill>
                      <a:srgbClr val="F0F3F8"/>
                    </a:solidFill>
                  </a:tcPr>
                </a:tc>
              </a:tr>
              <a:tr h="411480">
                <a:tc>
                  <a:txBody>
                    <a:bodyPr/>
                    <a:lstStyle/>
                    <a:p>
                      <a:pPr>
                        <a:defRPr sz="900">
                          <a:solidFill>
                            <a:srgbClr val="262626"/>
                          </a:solidFill>
                          <a:latin typeface="Calibri"/>
                        </a:defRPr>
                      </a:pPr>
                      <a:r>
                        <a:t>Bezugspreis (BP)</a:t>
                      </a:r>
                    </a:p>
                  </a:txBody>
                  <a:tcPr marL="36576" marR="36576" marT="27432" marB="27432">
                    <a:solidFill>
                      <a:srgbClr val="F9FAFC"/>
                    </a:solidFill>
                  </a:tcPr>
                </a:tc>
                <a:tc>
                  <a:txBody>
                    <a:bodyPr/>
                    <a:lstStyle/>
                    <a:p>
                      <a:pPr>
                        <a:defRPr sz="900">
                          <a:solidFill>
                            <a:srgbClr val="262626"/>
                          </a:solidFill>
                          <a:latin typeface="Calibri"/>
                        </a:defRPr>
                      </a:pPr>
                      <a:r>
                        <a:t>Ausgangsbasis (Einkauf Fachhandel)</a:t>
                      </a:r>
                    </a:p>
                  </a:txBody>
                  <a:tcPr marL="36576" marR="36576" marT="27432" marB="27432">
                    <a:solidFill>
                      <a:srgbClr val="F9FAFC"/>
                    </a:solidFill>
                  </a:tcPr>
                </a:tc>
                <a:tc>
                  <a:txBody>
                    <a:bodyPr wrap="none"/>
                    <a:lstStyle/>
                    <a:p>
                      <a:pPr algn="r">
                        <a:defRPr sz="900">
                          <a:solidFill>
                            <a:srgbClr val="262626"/>
                          </a:solidFill>
                          <a:latin typeface="Calibri"/>
                        </a:defRPr>
                      </a:pPr>
                      <a:r>
                        <a:t>100,0 %</a:t>
                      </a:r>
                    </a:p>
                  </a:txBody>
                  <a:tcPr marL="36576" marR="36576" marT="27432" marB="27432">
                    <a:solidFill>
                      <a:srgbClr val="F9FAFC"/>
                    </a:solidFill>
                  </a:tcPr>
                </a:tc>
              </a:tr>
              <a:tr h="411480">
                <a:tc>
                  <a:txBody>
                    <a:bodyPr/>
                    <a:lstStyle/>
                    <a:p>
                      <a:pPr>
                        <a:defRPr sz="900">
                          <a:solidFill>
                            <a:srgbClr val="262626"/>
                          </a:solidFill>
                          <a:latin typeface="Calibri"/>
                        </a:defRPr>
                      </a:pPr>
                      <a:r>
                        <a:t>+ Handlungskostenzuschlag</a:t>
                      </a:r>
                    </a:p>
                  </a:txBody>
                  <a:tcPr marL="36576" marR="36576" marT="27432" marB="27432">
                    <a:solidFill>
                      <a:srgbClr val="FFFFFF"/>
                    </a:solidFill>
                  </a:tcPr>
                </a:tc>
                <a:tc>
                  <a:txBody>
                    <a:bodyPr/>
                    <a:lstStyle/>
                    <a:p>
                      <a:pPr>
                        <a:defRPr sz="900">
                          <a:solidFill>
                            <a:srgbClr val="262626"/>
                          </a:solidFill>
                          <a:latin typeface="Calibri"/>
                        </a:defRPr>
                      </a:pPr>
                      <a:r>
                        <a:t>25,0 % auf Bezugspreis</a:t>
                      </a:r>
                    </a:p>
                  </a:txBody>
                  <a:tcPr marL="36576" marR="36576" marT="27432" marB="27432">
                    <a:solidFill>
                      <a:srgbClr val="FFFFFF"/>
                    </a:solidFill>
                  </a:tcPr>
                </a:tc>
                <a:tc>
                  <a:txBody>
                    <a:bodyPr wrap="none"/>
                    <a:lstStyle/>
                    <a:p>
                      <a:pPr algn="r">
                        <a:defRPr sz="900">
                          <a:solidFill>
                            <a:srgbClr val="262626"/>
                          </a:solidFill>
                          <a:latin typeface="Calibri"/>
                        </a:defRPr>
                      </a:pPr>
                      <a:r>
                        <a:t>+ 25,0 %</a:t>
                      </a:r>
                    </a:p>
                  </a:txBody>
                  <a:tcPr marL="36576" marR="36576" marT="27432" marB="27432">
                    <a:solidFill>
                      <a:srgbClr val="FFFFFF"/>
                    </a:solidFill>
                  </a:tcPr>
                </a:tc>
              </a:tr>
              <a:tr h="411480">
                <a:tc>
                  <a:txBody>
                    <a:bodyPr/>
                    <a:lstStyle/>
                    <a:p>
                      <a:pPr>
                        <a:defRPr sz="900">
                          <a:solidFill>
                            <a:srgbClr val="262626"/>
                          </a:solidFill>
                          <a:latin typeface="Calibri"/>
                        </a:defRPr>
                      </a:pPr>
                      <a:r>
                        <a:t>= Selbstkostenpreis (SKP)</a:t>
                      </a:r>
                    </a:p>
                  </a:txBody>
                  <a:tcPr marL="36576" marR="36576" marT="27432" marB="27432">
                    <a:solidFill>
                      <a:srgbClr val="F9FAFC"/>
                    </a:solidFill>
                  </a:tcPr>
                </a:tc>
                <a:tc>
                  <a:txBody>
                    <a:bodyPr/>
                    <a:lstStyle/>
                    <a:p>
                      <a:pPr>
                        <a:defRPr sz="900">
                          <a:solidFill>
                            <a:srgbClr val="262626"/>
                          </a:solidFill>
                          <a:latin typeface="Calibri"/>
                        </a:defRPr>
                      </a:pPr>
                      <a:r>
                        <a:t>Kostendeckender Mindestpreis</a:t>
                      </a:r>
                    </a:p>
                  </a:txBody>
                  <a:tcPr marL="36576" marR="36576" marT="27432" marB="27432">
                    <a:solidFill>
                      <a:srgbClr val="F9FAFC"/>
                    </a:solidFill>
                  </a:tcPr>
                </a:tc>
                <a:tc>
                  <a:txBody>
                    <a:bodyPr wrap="none"/>
                    <a:lstStyle/>
                    <a:p>
                      <a:pPr algn="r">
                        <a:defRPr sz="900">
                          <a:solidFill>
                            <a:srgbClr val="262626"/>
                          </a:solidFill>
                          <a:latin typeface="Calibri"/>
                        </a:defRPr>
                      </a:pPr>
                      <a:r>
                        <a:t>= 125,0 %</a:t>
                      </a:r>
                    </a:p>
                  </a:txBody>
                  <a:tcPr marL="36576" marR="36576" marT="27432" marB="27432">
                    <a:solidFill>
                      <a:srgbClr val="F9FAFC"/>
                    </a:solidFill>
                  </a:tcPr>
                </a:tc>
              </a:tr>
              <a:tr h="411480">
                <a:tc>
                  <a:txBody>
                    <a:bodyPr/>
                    <a:lstStyle/>
                    <a:p>
                      <a:pPr>
                        <a:defRPr sz="900">
                          <a:solidFill>
                            <a:srgbClr val="262626"/>
                          </a:solidFill>
                          <a:latin typeface="Calibri"/>
                        </a:defRPr>
                      </a:pPr>
                      <a:r>
                        <a:t>+ Gewinnzuschlag</a:t>
                      </a:r>
                    </a:p>
                  </a:txBody>
                  <a:tcPr marL="36576" marR="36576" marT="27432" marB="27432">
                    <a:solidFill>
                      <a:srgbClr val="FFFFFF"/>
                    </a:solidFill>
                  </a:tcPr>
                </a:tc>
                <a:tc>
                  <a:txBody>
                    <a:bodyPr/>
                    <a:lstStyle/>
                    <a:p>
                      <a:pPr>
                        <a:defRPr sz="900">
                          <a:solidFill>
                            <a:srgbClr val="262626"/>
                          </a:solidFill>
                          <a:latin typeface="Calibri"/>
                        </a:defRPr>
                      </a:pPr>
                      <a:r>
                        <a:t>12,0 % auf Selbstkosten</a:t>
                      </a:r>
                    </a:p>
                  </a:txBody>
                  <a:tcPr marL="36576" marR="36576" marT="27432" marB="27432">
                    <a:solidFill>
                      <a:srgbClr val="FFFFFF"/>
                    </a:solidFill>
                  </a:tcPr>
                </a:tc>
                <a:tc>
                  <a:txBody>
                    <a:bodyPr wrap="none"/>
                    <a:lstStyle/>
                    <a:p>
                      <a:pPr algn="r">
                        <a:defRPr sz="900">
                          <a:solidFill>
                            <a:srgbClr val="262626"/>
                          </a:solidFill>
                          <a:latin typeface="Calibri"/>
                        </a:defRPr>
                      </a:pPr>
                      <a:r>
                        <a:t>+ 15,0 %</a:t>
                      </a:r>
                    </a:p>
                  </a:txBody>
                  <a:tcPr marL="36576" marR="36576" marT="27432" marB="27432">
                    <a:solidFill>
                      <a:srgbClr val="FFFFFF"/>
                    </a:solidFill>
                  </a:tcPr>
                </a:tc>
              </a:tr>
              <a:tr h="411480">
                <a:tc>
                  <a:txBody>
                    <a:bodyPr/>
                    <a:lstStyle/>
                    <a:p>
                      <a:pPr>
                        <a:defRPr sz="900">
                          <a:solidFill>
                            <a:srgbClr val="262626"/>
                          </a:solidFill>
                          <a:latin typeface="Calibri"/>
                        </a:defRPr>
                      </a:pPr>
                      <a:r>
                        <a:t>= Barverkaufspreis (BVP)</a:t>
                      </a:r>
                    </a:p>
                  </a:txBody>
                  <a:tcPr marL="36576" marR="36576" marT="27432" marB="27432">
                    <a:solidFill>
                      <a:srgbClr val="F9FAFC"/>
                    </a:solidFill>
                  </a:tcPr>
                </a:tc>
                <a:tc>
                  <a:txBody>
                    <a:bodyPr/>
                    <a:lstStyle/>
                    <a:p>
                      <a:pPr>
                        <a:defRPr sz="900">
                          <a:solidFill>
                            <a:srgbClr val="262626"/>
                          </a:solidFill>
                          <a:latin typeface="Calibri"/>
                        </a:defRPr>
                      </a:pPr>
                      <a:r>
                        <a:t>Preis bei Sofortzahlung</a:t>
                      </a:r>
                    </a:p>
                  </a:txBody>
                  <a:tcPr marL="36576" marR="36576" marT="27432" marB="27432">
                    <a:solidFill>
                      <a:srgbClr val="F9FAFC"/>
                    </a:solidFill>
                  </a:tcPr>
                </a:tc>
                <a:tc>
                  <a:txBody>
                    <a:bodyPr wrap="none"/>
                    <a:lstStyle/>
                    <a:p>
                      <a:pPr algn="r">
                        <a:defRPr sz="900">
                          <a:solidFill>
                            <a:srgbClr val="262626"/>
                          </a:solidFill>
                          <a:latin typeface="Calibri"/>
                        </a:defRPr>
                      </a:pPr>
                      <a:r>
                        <a:t>= 140,0 %</a:t>
                      </a:r>
                    </a:p>
                  </a:txBody>
                  <a:tcPr marL="36576" marR="36576" marT="27432" marB="27432">
                    <a:solidFill>
                      <a:srgbClr val="F9FAFC"/>
                    </a:solidFill>
                  </a:tcPr>
                </a:tc>
              </a:tr>
              <a:tr h="411480">
                <a:tc>
                  <a:txBody>
                    <a:bodyPr/>
                    <a:lstStyle/>
                    <a:p>
                      <a:pPr>
                        <a:defRPr sz="900">
                          <a:solidFill>
                            <a:srgbClr val="262626"/>
                          </a:solidFill>
                          <a:latin typeface="Calibri"/>
                        </a:defRPr>
                      </a:pPr>
                      <a:r>
                        <a:t>+ Kundenskonto</a:t>
                      </a:r>
                    </a:p>
                  </a:txBody>
                  <a:tcPr marL="36576" marR="36576" marT="27432" marB="27432">
                    <a:solidFill>
                      <a:srgbClr val="FFFFFF"/>
                    </a:solidFill>
                  </a:tcPr>
                </a:tc>
                <a:tc>
                  <a:txBody>
                    <a:bodyPr/>
                    <a:lstStyle/>
                    <a:p>
                      <a:pPr>
                        <a:defRPr sz="900">
                          <a:solidFill>
                            <a:srgbClr val="262626"/>
                          </a:solidFill>
                          <a:latin typeface="Calibri"/>
                        </a:defRPr>
                      </a:pPr>
                      <a:r>
                        <a:t>3,0 % im Hundert (ZVP = BVP ÷ 0,97)</a:t>
                      </a:r>
                    </a:p>
                  </a:txBody>
                  <a:tcPr marL="36576" marR="36576" marT="27432" marB="27432">
                    <a:solidFill>
                      <a:srgbClr val="FFFFFF"/>
                    </a:solidFill>
                  </a:tcPr>
                </a:tc>
                <a:tc>
                  <a:txBody>
                    <a:bodyPr wrap="none"/>
                    <a:lstStyle/>
                    <a:p>
                      <a:pPr algn="r">
                        <a:defRPr sz="900">
                          <a:solidFill>
                            <a:srgbClr val="262626"/>
                          </a:solidFill>
                          <a:latin typeface="Calibri"/>
                        </a:defRPr>
                      </a:pPr>
                      <a:r>
                        <a:t>+ 4,33 %</a:t>
                      </a:r>
                    </a:p>
                  </a:txBody>
                  <a:tcPr marL="36576" marR="36576" marT="27432" marB="27432">
                    <a:solidFill>
                      <a:srgbClr val="FFFFFF"/>
                    </a:solidFill>
                  </a:tcPr>
                </a:tc>
              </a:tr>
              <a:tr h="411480">
                <a:tc>
                  <a:txBody>
                    <a:bodyPr/>
                    <a:lstStyle/>
                    <a:p>
                      <a:pPr>
                        <a:defRPr sz="900" b="1">
                          <a:solidFill>
                            <a:srgbClr val="1F497D"/>
                          </a:solidFill>
                          <a:latin typeface="Calibri"/>
                        </a:defRPr>
                      </a:pPr>
                      <a:r>
                        <a:t>= Angebotspreis netto</a:t>
                      </a:r>
                    </a:p>
                  </a:txBody>
                  <a:tcPr marL="36576" marR="36576" marT="27432" marB="27432">
                    <a:solidFill>
                      <a:srgbClr val="FFFDF5"/>
                    </a:solidFill>
                  </a:tcPr>
                </a:tc>
                <a:tc>
                  <a:txBody>
                    <a:bodyPr/>
                    <a:lstStyle/>
                    <a:p>
                      <a:pPr>
                        <a:defRPr sz="900" b="1">
                          <a:solidFill>
                            <a:srgbClr val="1F497D"/>
                          </a:solidFill>
                          <a:latin typeface="Calibri"/>
                        </a:defRPr>
                      </a:pPr>
                      <a:r>
                        <a:t>Listenverkaufspreis an Kunden</a:t>
                      </a:r>
                    </a:p>
                  </a:txBody>
                  <a:tcPr marL="36576" marR="36576" marT="27432" marB="27432">
                    <a:solidFill>
                      <a:srgbClr val="FFFDF5"/>
                    </a:solidFill>
                  </a:tcPr>
                </a:tc>
                <a:tc>
                  <a:txBody>
                    <a:bodyPr wrap="none"/>
                    <a:lstStyle/>
                    <a:p>
                      <a:pPr algn="r">
                        <a:defRPr sz="900" b="1">
                          <a:solidFill>
                            <a:srgbClr val="1F497D"/>
                          </a:solidFill>
                          <a:latin typeface="Calibri"/>
                        </a:defRPr>
                      </a:pPr>
                      <a:r>
                        <a:t>= 67.179,32 €</a:t>
                      </a:r>
                    </a:p>
                  </a:txBody>
                  <a:tcPr marL="36576" marR="36576" marT="27432" marB="27432">
                    <a:solidFill>
                      <a:srgbClr val="FFFDF5"/>
                    </a:solidFill>
                  </a:tcPr>
                </a:tc>
              </a:tr>
              <a:tr h="411480">
                <a:tc>
                  <a:txBody>
                    <a:bodyPr/>
                    <a:lstStyle/>
                    <a:p>
                      <a:pPr>
                        <a:defRPr sz="900">
                          <a:solidFill>
                            <a:srgbClr val="262626"/>
                          </a:solidFill>
                          <a:latin typeface="Calibri"/>
                        </a:defRPr>
                      </a:pPr>
                      <a:r>
                        <a:t>+ 19% Gesetzliche USt.</a:t>
                      </a:r>
                    </a:p>
                  </a:txBody>
                  <a:tcPr marL="36576" marR="36576" marT="27432" marB="27432">
                    <a:solidFill>
                      <a:srgbClr val="FFFFFF"/>
                    </a:solidFill>
                  </a:tcPr>
                </a:tc>
                <a:tc>
                  <a:txBody>
                    <a:bodyPr/>
                    <a:lstStyle/>
                    <a:p>
                      <a:pPr>
                        <a:defRPr sz="900">
                          <a:solidFill>
                            <a:srgbClr val="262626"/>
                          </a:solidFill>
                          <a:latin typeface="Calibri"/>
                        </a:defRPr>
                      </a:pPr>
                      <a:r>
                        <a:t>Umsatzsteuer auf Gesamtangebot</a:t>
                      </a:r>
                    </a:p>
                  </a:txBody>
                  <a:tcPr marL="36576" marR="36576" marT="27432" marB="27432">
                    <a:solidFill>
                      <a:srgbClr val="FFFFFF"/>
                    </a:solidFill>
                  </a:tcPr>
                </a:tc>
                <a:tc>
                  <a:txBody>
                    <a:bodyPr wrap="none"/>
                    <a:lstStyle/>
                    <a:p>
                      <a:pPr algn="r">
                        <a:defRPr sz="900">
                          <a:solidFill>
                            <a:srgbClr val="262626"/>
                          </a:solidFill>
                          <a:latin typeface="Calibri"/>
                        </a:defRPr>
                      </a:pPr>
                      <a:r>
                        <a:t>+ 12.764,07 €</a:t>
                      </a:r>
                    </a:p>
                  </a:txBody>
                  <a:tcPr marL="36576" marR="36576" marT="27432" marB="27432">
                    <a:solidFill>
                      <a:srgbClr val="FFFFFF"/>
                    </a:solidFill>
                  </a:tcPr>
                </a:tc>
              </a:tr>
              <a:tr h="411480">
                <a:tc>
                  <a:txBody>
                    <a:bodyPr/>
                    <a:lstStyle/>
                    <a:p>
                      <a:pPr>
                        <a:defRPr sz="900" b="1">
                          <a:solidFill>
                            <a:srgbClr val="C00000"/>
                          </a:solidFill>
                          <a:latin typeface="Calibri"/>
                        </a:defRPr>
                      </a:pPr>
                      <a:r>
                        <a:t>= Gesamtangebot brutto</a:t>
                      </a:r>
                    </a:p>
                  </a:txBody>
                  <a:tcPr marL="36576" marR="36576" marT="27432" marB="27432">
                    <a:solidFill>
                      <a:srgbClr val="FFFDF5"/>
                    </a:solidFill>
                  </a:tcPr>
                </a:tc>
                <a:tc>
                  <a:txBody>
                    <a:bodyPr/>
                    <a:lstStyle/>
                    <a:p>
                      <a:pPr>
                        <a:defRPr sz="900" b="1">
                          <a:solidFill>
                            <a:srgbClr val="C00000"/>
                          </a:solidFill>
                          <a:latin typeface="Calibri"/>
                        </a:defRPr>
                      </a:pPr>
                      <a:r>
                        <a:t>Endbetrag für VektorPlan GmbH</a:t>
                      </a:r>
                    </a:p>
                  </a:txBody>
                  <a:tcPr marL="36576" marR="36576" marT="27432" marB="27432">
                    <a:solidFill>
                      <a:srgbClr val="FFFDF5"/>
                    </a:solidFill>
                  </a:tcPr>
                </a:tc>
                <a:tc>
                  <a:txBody>
                    <a:bodyPr wrap="none"/>
                    <a:lstStyle/>
                    <a:p>
                      <a:pPr algn="r">
                        <a:defRPr sz="900" b="1">
                          <a:solidFill>
                            <a:srgbClr val="C00000"/>
                          </a:solidFill>
                          <a:latin typeface="Calibri"/>
                        </a:defRPr>
                      </a:pPr>
                      <a:r>
                        <a:t>= 79.943,39 €</a:t>
                      </a:r>
                    </a:p>
                  </a:txBody>
                  <a:tcPr marL="36576" marR="36576" marT="27432" marB="27432">
                    <a:solidFill>
                      <a:srgbClr val="FFFDF5"/>
                    </a:solidFill>
                  </a:tcPr>
                </a:tc>
              </a:tr>
            </a:tbl>
          </a:graphicData>
        </a:graphic>
      </p:graphicFrame>
      <p:sp>
        <p:nvSpPr>
          <p:cNvPr id="8" name="Rounded Rectangle 7"/>
          <p:cNvSpPr/>
          <p:nvPr/>
        </p:nvSpPr>
        <p:spPr>
          <a:xfrm>
            <a:off x="61722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Kaufmännisches Angebot (Nr. NL-2026-VP-001)</a:t>
            </a:r>
          </a:p>
        </p:txBody>
      </p:sp>
      <p:graphicFrame>
        <p:nvGraphicFramePr>
          <p:cNvPr id="10" name="Table 9"/>
          <p:cNvGraphicFramePr>
            <a:graphicFrameLocks noGrp="1"/>
          </p:cNvGraphicFramePr>
          <p:nvPr/>
        </p:nvGraphicFramePr>
        <p:xfrm>
          <a:off x="6263640" y="1874519"/>
          <a:ext cx="5120639" cy="2194560"/>
        </p:xfrm>
        <a:graphic>
          <a:graphicData uri="http://schemas.openxmlformats.org/drawingml/2006/table">
            <a:tbl>
              <a:tblPr firstRow="1" bandRow="1">
                <a:tableStyleId>{5C22544A-7EE6-4342-B048-85BDC9FD1C3A}</a:tableStyleId>
              </a:tblPr>
              <a:tblGrid>
                <a:gridCol w="3749039"/>
                <a:gridCol w="1371600"/>
              </a:tblGrid>
              <a:tr h="313508">
                <a:tc>
                  <a:txBody>
                    <a:bodyPr wrap="none"/>
                    <a:lstStyle/>
                    <a:p>
                      <a:pPr>
                        <a:defRPr sz="950" b="1">
                          <a:solidFill>
                            <a:srgbClr val="1F497D"/>
                          </a:solidFill>
                          <a:latin typeface="Calibri"/>
                        </a:defRPr>
                      </a:pPr>
                      <a:r>
                        <a:t>Position / Leistungsbereich</a:t>
                      </a:r>
                    </a:p>
                  </a:txBody>
                  <a:tcPr marL="36576" marR="36576" marT="27432" marB="27432">
                    <a:solidFill>
                      <a:srgbClr val="F0F3F8"/>
                    </a:solidFill>
                  </a:tcPr>
                </a:tc>
                <a:tc>
                  <a:txBody>
                    <a:bodyPr wrap="none"/>
                    <a:lstStyle/>
                    <a:p>
                      <a:pPr algn="r">
                        <a:defRPr sz="950" b="1">
                          <a:solidFill>
                            <a:srgbClr val="1F497D"/>
                          </a:solidFill>
                          <a:latin typeface="Calibri"/>
                        </a:defRPr>
                      </a:pPr>
                      <a:r>
                        <a:t>Betrag Netto</a:t>
                      </a:r>
                    </a:p>
                  </a:txBody>
                  <a:tcPr marL="36576" marR="36576" marT="27432" marB="27432">
                    <a:solidFill>
                      <a:srgbClr val="F0F3F8"/>
                    </a:solidFill>
                  </a:tcPr>
                </a:tc>
              </a:tr>
              <a:tr h="313508">
                <a:tc>
                  <a:txBody>
                    <a:bodyPr/>
                    <a:lstStyle/>
                    <a:p>
                      <a:pPr>
                        <a:defRPr sz="950">
                          <a:latin typeface="Calibri"/>
                        </a:defRPr>
                      </a:pPr>
                      <a:r>
                        <a:t>1. Hardware (16 PCs, 32 Monitore, MFP, SSDs)</a:t>
                      </a:r>
                    </a:p>
                  </a:txBody>
                  <a:tcPr marL="36576" marR="36576" marT="27432" marB="27432">
                    <a:solidFill>
                      <a:srgbClr val="F9FAFC"/>
                    </a:solidFill>
                  </a:tcPr>
                </a:tc>
                <a:tc>
                  <a:txBody>
                    <a:bodyPr wrap="none"/>
                    <a:lstStyle/>
                    <a:p>
                      <a:pPr algn="r">
                        <a:defRPr sz="950">
                          <a:latin typeface="Calibri"/>
                        </a:defRPr>
                      </a:pPr>
                      <a:r>
                        <a:t>51.108,12 €</a:t>
                      </a:r>
                    </a:p>
                  </a:txBody>
                  <a:tcPr marL="36576" marR="36576" marT="27432" marB="27432">
                    <a:solidFill>
                      <a:srgbClr val="F9FAFC"/>
                    </a:solidFill>
                  </a:tcPr>
                </a:tc>
              </a:tr>
              <a:tr h="313508">
                <a:tc>
                  <a:txBody>
                    <a:bodyPr/>
                    <a:lstStyle/>
                    <a:p>
                      <a:pPr>
                        <a:defRPr sz="950">
                          <a:latin typeface="Calibri"/>
                        </a:defRPr>
                      </a:pPr>
                      <a:r>
                        <a:t>2. Software &amp; Lizenzen (1. Jahr: M365, Adobe, ESET)</a:t>
                      </a:r>
                    </a:p>
                  </a:txBody>
                  <a:tcPr marL="36576" marR="36576" marT="27432" marB="27432">
                    <a:solidFill>
                      <a:srgbClr val="FFFFFF"/>
                    </a:solidFill>
                  </a:tcPr>
                </a:tc>
                <a:tc>
                  <a:txBody>
                    <a:bodyPr wrap="none"/>
                    <a:lstStyle/>
                    <a:p>
                      <a:pPr algn="r">
                        <a:defRPr sz="950">
                          <a:latin typeface="Calibri"/>
                        </a:defRPr>
                      </a:pPr>
                      <a:r>
                        <a:t>10.021,20 €</a:t>
                      </a:r>
                    </a:p>
                  </a:txBody>
                  <a:tcPr marL="36576" marR="36576" marT="27432" marB="27432">
                    <a:solidFill>
                      <a:srgbClr val="FFFFFF"/>
                    </a:solidFill>
                  </a:tcPr>
                </a:tc>
              </a:tr>
              <a:tr h="313508">
                <a:tc>
                  <a:txBody>
                    <a:bodyPr/>
                    <a:lstStyle/>
                    <a:p>
                      <a:pPr>
                        <a:defRPr sz="950">
                          <a:latin typeface="Calibri"/>
                        </a:defRPr>
                      </a:pPr>
                      <a:r>
                        <a:t>3. Dienstleistungen (Staging, Montage, Abnahme)</a:t>
                      </a:r>
                    </a:p>
                  </a:txBody>
                  <a:tcPr marL="36576" marR="36576" marT="27432" marB="27432">
                    <a:solidFill>
                      <a:srgbClr val="F9FAFC"/>
                    </a:solidFill>
                  </a:tcPr>
                </a:tc>
                <a:tc>
                  <a:txBody>
                    <a:bodyPr wrap="none"/>
                    <a:lstStyle/>
                    <a:p>
                      <a:pPr algn="r">
                        <a:defRPr sz="950">
                          <a:latin typeface="Calibri"/>
                        </a:defRPr>
                      </a:pPr>
                      <a:r>
                        <a:t>6.050,00 €</a:t>
                      </a:r>
                    </a:p>
                  </a:txBody>
                  <a:tcPr marL="36576" marR="36576" marT="27432" marB="27432">
                    <a:solidFill>
                      <a:srgbClr val="F9FAFC"/>
                    </a:solidFill>
                  </a:tcPr>
                </a:tc>
              </a:tr>
              <a:tr h="313508">
                <a:tc>
                  <a:txBody>
                    <a:bodyPr/>
                    <a:lstStyle/>
                    <a:p>
                      <a:pPr>
                        <a:defRPr sz="950" b="1">
                          <a:solidFill>
                            <a:srgbClr val="1F497D"/>
                          </a:solidFill>
                          <a:latin typeface="Calibri"/>
                        </a:defRPr>
                      </a:pPr>
                      <a:r>
                        <a:t>Gesamtangebot Netto</a:t>
                      </a:r>
                    </a:p>
                  </a:txBody>
                  <a:tcPr marL="36576" marR="36576" marT="27432" marB="27432">
                    <a:solidFill>
                      <a:srgbClr val="FFFDF5"/>
                    </a:solidFill>
                  </a:tcPr>
                </a:tc>
                <a:tc>
                  <a:txBody>
                    <a:bodyPr wrap="none"/>
                    <a:lstStyle/>
                    <a:p>
                      <a:pPr algn="r">
                        <a:defRPr sz="950" b="1">
                          <a:solidFill>
                            <a:srgbClr val="1F497D"/>
                          </a:solidFill>
                          <a:latin typeface="Calibri"/>
                        </a:defRPr>
                      </a:pPr>
                      <a:r>
                        <a:t>67.179,32 €</a:t>
                      </a:r>
                    </a:p>
                  </a:txBody>
                  <a:tcPr marL="36576" marR="36576" marT="27432" marB="27432">
                    <a:solidFill>
                      <a:srgbClr val="FFFDF5"/>
                    </a:solidFill>
                  </a:tcPr>
                </a:tc>
              </a:tr>
              <a:tr h="313508">
                <a:tc>
                  <a:txBody>
                    <a:bodyPr/>
                    <a:lstStyle/>
                    <a:p>
                      <a:pPr>
                        <a:defRPr sz="950">
                          <a:latin typeface="Calibri"/>
                        </a:defRPr>
                      </a:pPr>
                      <a:r>
                        <a:t>+ 19% Gesetzliche Umsatzsteuer</a:t>
                      </a:r>
                    </a:p>
                  </a:txBody>
                  <a:tcPr marL="36576" marR="36576" marT="27432" marB="27432">
                    <a:solidFill>
                      <a:srgbClr val="F9FAFC"/>
                    </a:solidFill>
                  </a:tcPr>
                </a:tc>
                <a:tc>
                  <a:txBody>
                    <a:bodyPr wrap="none"/>
                    <a:lstStyle/>
                    <a:p>
                      <a:pPr algn="r">
                        <a:defRPr sz="950">
                          <a:latin typeface="Calibri"/>
                        </a:defRPr>
                      </a:pPr>
                      <a:r>
                        <a:t>12.764,07 €</a:t>
                      </a:r>
                    </a:p>
                  </a:txBody>
                  <a:tcPr marL="36576" marR="36576" marT="27432" marB="27432">
                    <a:solidFill>
                      <a:srgbClr val="F9FAFC"/>
                    </a:solidFill>
                  </a:tcPr>
                </a:tc>
              </a:tr>
              <a:tr h="313512">
                <a:tc>
                  <a:txBody>
                    <a:bodyPr/>
                    <a:lstStyle/>
                    <a:p>
                      <a:pPr>
                        <a:defRPr sz="950" b="1">
                          <a:solidFill>
                            <a:srgbClr val="C00000"/>
                          </a:solidFill>
                          <a:latin typeface="Calibri"/>
                        </a:defRPr>
                      </a:pPr>
                      <a:r>
                        <a:t>Gesamtangebot Brutto</a:t>
                      </a:r>
                    </a:p>
                  </a:txBody>
                  <a:tcPr marL="36576" marR="36576" marT="27432" marB="27432">
                    <a:solidFill>
                      <a:srgbClr val="FFFDF5"/>
                    </a:solidFill>
                  </a:tcPr>
                </a:tc>
                <a:tc>
                  <a:txBody>
                    <a:bodyPr wrap="none"/>
                    <a:lstStyle/>
                    <a:p>
                      <a:pPr algn="r">
                        <a:defRPr sz="950" b="1">
                          <a:solidFill>
                            <a:srgbClr val="C00000"/>
                          </a:solidFill>
                          <a:latin typeface="Calibri"/>
                        </a:defRPr>
                      </a:pPr>
                      <a:r>
                        <a:t>79.943,39 €</a:t>
                      </a:r>
                    </a:p>
                  </a:txBody>
                  <a:tcPr marL="36576" marR="36576" marT="27432" marB="27432">
                    <a:solidFill>
                      <a:srgbClr val="FFFDF5"/>
                    </a:solidFill>
                  </a:tcPr>
                </a:tc>
              </a:tr>
            </a:tbl>
          </a:graphicData>
        </a:graphic>
      </p:graphicFrame>
      <p:sp>
        <p:nvSpPr>
          <p:cNvPr id="11" name="Rounded Rectangle 10"/>
          <p:cNvSpPr/>
          <p:nvPr/>
        </p:nvSpPr>
        <p:spPr>
          <a:xfrm>
            <a:off x="6263640" y="4297680"/>
            <a:ext cx="5120640" cy="1737360"/>
          </a:xfrm>
          <a:prstGeom prst="roundRect">
            <a:avLst/>
          </a:prstGeom>
          <a:solidFill>
            <a:srgbClr val="F5F8FC"/>
          </a:solidFill>
          <a:ln w="12700">
            <a:solidFill>
              <a:srgbClr val="D2E1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389120"/>
            <a:ext cx="4846320" cy="1554480"/>
          </a:xfrm>
          <a:prstGeom prst="rect">
            <a:avLst/>
          </a:prstGeom>
          <a:noFill/>
        </p:spPr>
        <p:txBody>
          <a:bodyPr wrap="square">
            <a:spAutoFit/>
          </a:bodyPr>
          <a:lstStyle/>
          <a:p>
            <a:pPr>
              <a:defRPr sz="1000" b="1">
                <a:solidFill>
                  <a:srgbClr val="1F497D"/>
                </a:solidFill>
                <a:latin typeface="Calibri"/>
              </a:defRPr>
            </a:pPr>
            <a:r>
              <a:t>Zahlungs- &amp; Lieferkonditionen:</a:t>
            </a:r>
          </a:p>
          <a:p>
            <a:pPr>
              <a:spcBef>
                <a:spcPts val="300"/>
              </a:spcBef>
              <a:defRPr sz="900">
                <a:solidFill>
                  <a:srgbClr val="262626"/>
                </a:solidFill>
                <a:latin typeface="Calibri"/>
              </a:defRPr>
            </a:pPr>
            <a:r>
              <a:t>• Zahlungsziel: 14 Tage mit 3 % Skonto (2.015,38 € Ersparnis) oder 30 Tage rein netto</a:t>
            </a:r>
          </a:p>
          <a:p>
            <a:pPr>
              <a:spcBef>
                <a:spcPts val="300"/>
              </a:spcBef>
              <a:defRPr sz="900">
                <a:solidFill>
                  <a:srgbClr val="262626"/>
                </a:solidFill>
                <a:latin typeface="Calibri"/>
              </a:defRPr>
            </a:pPr>
            <a:r>
              <a:t>• Garantie: 36 Monate Vor-Ort-Herstellerservice auf alle Arbeitsplätze</a:t>
            </a:r>
          </a:p>
          <a:p>
            <a:pPr>
              <a:spcBef>
                <a:spcPts val="300"/>
              </a:spcBef>
              <a:defRPr sz="900">
                <a:solidFill>
                  <a:srgbClr val="262626"/>
                </a:solidFill>
                <a:latin typeface="Calibri"/>
              </a:defRPr>
            </a:pPr>
            <a:r>
              <a:t>• Option IT-Leasing: Ab ca. 1.580 € monatlich (Voll amortisierbare Betriebsausgabe / OPEX)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KUNDENBERECHNUNGEN</a:t>
            </a:r>
          </a:p>
          <a:p>
            <a:pPr>
              <a:defRPr sz="2000" b="1">
                <a:solidFill>
                  <a:srgbClr val="FFFFFF"/>
                </a:solidFill>
                <a:latin typeface="Calibri"/>
              </a:defRPr>
            </a:pPr>
            <a:r>
              <a:t>Spezifische Berechnungen für den Kunden (Aufgabe B)</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11 von 16</a:t>
            </a:r>
          </a:p>
        </p:txBody>
      </p:sp>
      <p:sp>
        <p:nvSpPr>
          <p:cNvPr id="5" name="Rounded Rectangle 4"/>
          <p:cNvSpPr/>
          <p:nvPr/>
        </p:nvSpPr>
        <p:spPr>
          <a:xfrm>
            <a:off x="685800" y="1188720"/>
            <a:ext cx="5303520" cy="502920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18872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B.1 Speicherplatzbedarf auf dem Fileserver</a:t>
            </a:r>
          </a:p>
        </p:txBody>
      </p:sp>
      <p:sp>
        <p:nvSpPr>
          <p:cNvPr id="7" name="Rounded Rectangle 6"/>
          <p:cNvSpPr/>
          <p:nvPr/>
        </p:nvSpPr>
        <p:spPr>
          <a:xfrm>
            <a:off x="868680" y="1810512"/>
            <a:ext cx="4937760" cy="777240"/>
          </a:xfrm>
          <a:prstGeom prst="roundRect">
            <a:avLst/>
          </a:prstGeom>
          <a:solidFill>
            <a:srgbClr val="F5F8FC"/>
          </a:solidFill>
          <a:ln w="12700">
            <a:solidFill>
              <a:srgbClr val="B4CD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1F497D"/>
                </a:solidFill>
                <a:latin typeface="Calibri"/>
              </a:defRPr>
            </a:pPr>
            <a:r>
              <a:t>445 GiB</a:t>
            </a:r>
          </a:p>
          <a:p>
            <a:pPr algn="ctr">
              <a:defRPr sz="900">
                <a:solidFill>
                  <a:srgbClr val="505050"/>
                </a:solidFill>
                <a:latin typeface="Calibri"/>
              </a:defRPr>
            </a:pPr>
            <a:r>
              <a:t>Benötigte Brutto-Pufferkapazität für 1 Quartal (65 Arbeitstage)</a:t>
            </a:r>
          </a:p>
        </p:txBody>
      </p:sp>
      <p:graphicFrame>
        <p:nvGraphicFramePr>
          <p:cNvPr id="8" name="Table 7"/>
          <p:cNvGraphicFramePr>
            <a:graphicFrameLocks noGrp="1"/>
          </p:cNvGraphicFramePr>
          <p:nvPr/>
        </p:nvGraphicFramePr>
        <p:xfrm>
          <a:off x="868680" y="2697480"/>
          <a:ext cx="4937759" cy="2057400"/>
        </p:xfrm>
        <a:graphic>
          <a:graphicData uri="http://schemas.openxmlformats.org/drawingml/2006/table">
            <a:tbl>
              <a:tblPr firstRow="1" bandRow="1">
                <a:tableStyleId>{5C22544A-7EE6-4342-B048-85BDC9FD1C3A}</a:tableStyleId>
              </a:tblPr>
              <a:tblGrid>
                <a:gridCol w="1783080"/>
                <a:gridCol w="1874519"/>
                <a:gridCol w="1280160"/>
              </a:tblGrid>
              <a:tr h="293914">
                <a:tc>
                  <a:txBody>
                    <a:bodyPr/>
                    <a:lstStyle/>
                    <a:p>
                      <a:pPr>
                        <a:defRPr sz="900" b="1">
                          <a:solidFill>
                            <a:srgbClr val="1F497D"/>
                          </a:solidFill>
                          <a:latin typeface="Calibri"/>
                        </a:defRPr>
                      </a:pPr>
                      <a:r>
                        <a:t>Rechenschritt</a:t>
                      </a:r>
                    </a:p>
                  </a:txBody>
                  <a:tcPr marL="36576" marR="36576" marT="18288" marB="18288">
                    <a:solidFill>
                      <a:srgbClr val="F0F3F8"/>
                    </a:solidFill>
                  </a:tcPr>
                </a:tc>
                <a:tc>
                  <a:txBody>
                    <a:bodyPr/>
                    <a:lstStyle/>
                    <a:p>
                      <a:pPr>
                        <a:defRPr sz="900" b="1">
                          <a:solidFill>
                            <a:srgbClr val="1F497D"/>
                          </a:solidFill>
                          <a:latin typeface="Calibri"/>
                        </a:defRPr>
                      </a:pPr>
                      <a:r>
                        <a:t>Rechenweg / Operation</a:t>
                      </a:r>
                    </a:p>
                  </a:txBody>
                  <a:tcPr marL="36576" marR="36576" marT="18288" marB="18288">
                    <a:solidFill>
                      <a:srgbClr val="F0F3F8"/>
                    </a:solidFill>
                  </a:tcPr>
                </a:tc>
                <a:tc>
                  <a:txBody>
                    <a:bodyPr/>
                    <a:lstStyle/>
                    <a:p>
                      <a:pPr algn="r">
                        <a:defRPr sz="900" b="1">
                          <a:solidFill>
                            <a:srgbClr val="1F497D"/>
                          </a:solidFill>
                          <a:latin typeface="Calibri"/>
                        </a:defRPr>
                      </a:pPr>
                      <a:r>
                        <a:t>Ergebnis</a:t>
                      </a:r>
                    </a:p>
                  </a:txBody>
                  <a:tcPr marL="36576" marR="36576" marT="18288" marB="18288">
                    <a:solidFill>
                      <a:srgbClr val="F0F3F8"/>
                    </a:solidFill>
                  </a:tcPr>
                </a:tc>
              </a:tr>
              <a:tr h="293914">
                <a:tc>
                  <a:txBody>
                    <a:bodyPr/>
                    <a:lstStyle/>
                    <a:p>
                      <a:pPr>
                        <a:defRPr sz="850">
                          <a:solidFill>
                            <a:srgbClr val="262626"/>
                          </a:solidFill>
                          <a:latin typeface="Calibri"/>
                        </a:defRPr>
                      </a:pPr>
                      <a:r>
                        <a:t>Tagesaufkommen (16 APs)</a:t>
                      </a:r>
                    </a:p>
                  </a:txBody>
                  <a:tcPr marL="36576" marR="36576" marT="18288" marB="18288">
                    <a:solidFill>
                      <a:srgbClr val="FAFBFD"/>
                    </a:solidFill>
                  </a:tcPr>
                </a:tc>
                <a:tc>
                  <a:txBody>
                    <a:bodyPr/>
                    <a:lstStyle/>
                    <a:p>
                      <a:pPr>
                        <a:defRPr sz="850">
                          <a:solidFill>
                            <a:srgbClr val="262626"/>
                          </a:solidFill>
                          <a:latin typeface="Calibri"/>
                        </a:defRPr>
                      </a:pPr>
                      <a:r>
                        <a:t>16 Plätze × 350 MiB/Tag</a:t>
                      </a:r>
                    </a:p>
                  </a:txBody>
                  <a:tcPr marL="36576" marR="36576" marT="18288" marB="18288">
                    <a:solidFill>
                      <a:srgbClr val="FAFBFD"/>
                    </a:solidFill>
                  </a:tcPr>
                </a:tc>
                <a:tc>
                  <a:txBody>
                    <a:bodyPr/>
                    <a:lstStyle/>
                    <a:p>
                      <a:pPr algn="r">
                        <a:defRPr sz="850">
                          <a:solidFill>
                            <a:srgbClr val="262626"/>
                          </a:solidFill>
                          <a:latin typeface="Calibri"/>
                        </a:defRPr>
                      </a:pPr>
                      <a:r>
                        <a:t>5.600 MiB / T.</a:t>
                      </a:r>
                    </a:p>
                  </a:txBody>
                  <a:tcPr marL="36576" marR="36576" marT="18288" marB="18288">
                    <a:solidFill>
                      <a:srgbClr val="FAFBFD"/>
                    </a:solidFill>
                  </a:tcPr>
                </a:tc>
              </a:tr>
              <a:tr h="293914">
                <a:tc>
                  <a:txBody>
                    <a:bodyPr/>
                    <a:lstStyle/>
                    <a:p>
                      <a:pPr>
                        <a:defRPr sz="850">
                          <a:solidFill>
                            <a:srgbClr val="262626"/>
                          </a:solidFill>
                          <a:latin typeface="Calibri"/>
                        </a:defRPr>
                      </a:pPr>
                      <a:r>
                        <a:t>Quartalsdaten (65 AT)</a:t>
                      </a:r>
                    </a:p>
                  </a:txBody>
                  <a:tcPr marL="36576" marR="36576" marT="18288" marB="18288">
                    <a:solidFill>
                      <a:srgbClr val="FFFFFF"/>
                    </a:solidFill>
                  </a:tcPr>
                </a:tc>
                <a:tc>
                  <a:txBody>
                    <a:bodyPr/>
                    <a:lstStyle/>
                    <a:p>
                      <a:pPr>
                        <a:defRPr sz="850">
                          <a:solidFill>
                            <a:srgbClr val="262626"/>
                          </a:solidFill>
                          <a:latin typeface="Calibri"/>
                        </a:defRPr>
                      </a:pPr>
                      <a:r>
                        <a:t>5.600 MiB × 65 Tage</a:t>
                      </a:r>
                    </a:p>
                  </a:txBody>
                  <a:tcPr marL="36576" marR="36576" marT="18288" marB="18288">
                    <a:solidFill>
                      <a:srgbClr val="FFFFFF"/>
                    </a:solidFill>
                  </a:tcPr>
                </a:tc>
                <a:tc>
                  <a:txBody>
                    <a:bodyPr/>
                    <a:lstStyle/>
                    <a:p>
                      <a:pPr algn="r">
                        <a:defRPr sz="850">
                          <a:solidFill>
                            <a:srgbClr val="262626"/>
                          </a:solidFill>
                          <a:latin typeface="Calibri"/>
                        </a:defRPr>
                      </a:pPr>
                      <a:r>
                        <a:t>364.000 MiB</a:t>
                      </a:r>
                    </a:p>
                  </a:txBody>
                  <a:tcPr marL="36576" marR="36576" marT="18288" marB="18288">
                    <a:solidFill>
                      <a:srgbClr val="FFFFFF"/>
                    </a:solidFill>
                  </a:tcPr>
                </a:tc>
              </a:tr>
              <a:tr h="293914">
                <a:tc>
                  <a:txBody>
                    <a:bodyPr/>
                    <a:lstStyle/>
                    <a:p>
                      <a:pPr>
                        <a:defRPr sz="850">
                          <a:solidFill>
                            <a:srgbClr val="262626"/>
                          </a:solidFill>
                          <a:latin typeface="Calibri"/>
                        </a:defRPr>
                      </a:pPr>
                      <a:r>
                        <a:t>Binäre Umrechnung (IEC)</a:t>
                      </a:r>
                    </a:p>
                  </a:txBody>
                  <a:tcPr marL="36576" marR="36576" marT="18288" marB="18288">
                    <a:solidFill>
                      <a:srgbClr val="FAFBFD"/>
                    </a:solidFill>
                  </a:tcPr>
                </a:tc>
                <a:tc>
                  <a:txBody>
                    <a:bodyPr/>
                    <a:lstStyle/>
                    <a:p>
                      <a:pPr>
                        <a:defRPr sz="850">
                          <a:solidFill>
                            <a:srgbClr val="262626"/>
                          </a:solidFill>
                          <a:latin typeface="Calibri"/>
                        </a:defRPr>
                      </a:pPr>
                      <a:r>
                        <a:t>364.000 MiB ÷ 1.024</a:t>
                      </a:r>
                    </a:p>
                  </a:txBody>
                  <a:tcPr marL="36576" marR="36576" marT="18288" marB="18288">
                    <a:solidFill>
                      <a:srgbClr val="FAFBFD"/>
                    </a:solidFill>
                  </a:tcPr>
                </a:tc>
                <a:tc>
                  <a:txBody>
                    <a:bodyPr/>
                    <a:lstStyle/>
                    <a:p>
                      <a:pPr algn="r">
                        <a:defRPr sz="850">
                          <a:solidFill>
                            <a:srgbClr val="262626"/>
                          </a:solidFill>
                          <a:latin typeface="Calibri"/>
                        </a:defRPr>
                      </a:pPr>
                      <a:r>
                        <a:t>355,47 GiB</a:t>
                      </a:r>
                    </a:p>
                  </a:txBody>
                  <a:tcPr marL="36576" marR="36576" marT="18288" marB="18288">
                    <a:solidFill>
                      <a:srgbClr val="FAFBFD"/>
                    </a:solidFill>
                  </a:tcPr>
                </a:tc>
              </a:tr>
              <a:tr h="293914">
                <a:tc>
                  <a:txBody>
                    <a:bodyPr/>
                    <a:lstStyle/>
                    <a:p>
                      <a:pPr>
                        <a:defRPr sz="850">
                          <a:solidFill>
                            <a:srgbClr val="262626"/>
                          </a:solidFill>
                          <a:latin typeface="Calibri"/>
                        </a:defRPr>
                      </a:pPr>
                      <a:r>
                        <a:t>Aufrunden (Netto-Bedarf)</a:t>
                      </a:r>
                    </a:p>
                  </a:txBody>
                  <a:tcPr marL="36576" marR="36576" marT="18288" marB="18288">
                    <a:solidFill>
                      <a:srgbClr val="FFFFFF"/>
                    </a:solidFill>
                  </a:tcPr>
                </a:tc>
                <a:tc>
                  <a:txBody>
                    <a:bodyPr/>
                    <a:lstStyle/>
                    <a:p>
                      <a:pPr>
                        <a:defRPr sz="850">
                          <a:solidFill>
                            <a:srgbClr val="262626"/>
                          </a:solidFill>
                          <a:latin typeface="Calibri"/>
                        </a:defRPr>
                      </a:pPr>
                      <a:r>
                        <a:t>ROUNDUP(355,47; 0)</a:t>
                      </a:r>
                    </a:p>
                  </a:txBody>
                  <a:tcPr marL="36576" marR="36576" marT="18288" marB="18288">
                    <a:solidFill>
                      <a:srgbClr val="FFFFFF"/>
                    </a:solidFill>
                  </a:tcPr>
                </a:tc>
                <a:tc>
                  <a:txBody>
                    <a:bodyPr/>
                    <a:lstStyle/>
                    <a:p>
                      <a:pPr algn="r">
                        <a:defRPr sz="850">
                          <a:solidFill>
                            <a:srgbClr val="262626"/>
                          </a:solidFill>
                          <a:latin typeface="Calibri"/>
                        </a:defRPr>
                      </a:pPr>
                      <a:r>
                        <a:t>= 356 GiB Netto</a:t>
                      </a:r>
                    </a:p>
                  </a:txBody>
                  <a:tcPr marL="36576" marR="36576" marT="18288" marB="18288">
                    <a:solidFill>
                      <a:srgbClr val="FFFFFF"/>
                    </a:solidFill>
                  </a:tcPr>
                </a:tc>
              </a:tr>
              <a:tr h="293914">
                <a:tc>
                  <a:txBody>
                    <a:bodyPr/>
                    <a:lstStyle/>
                    <a:p>
                      <a:pPr>
                        <a:defRPr sz="850">
                          <a:solidFill>
                            <a:srgbClr val="262626"/>
                          </a:solidFill>
                          <a:latin typeface="Calibri"/>
                        </a:defRPr>
                      </a:pPr>
                      <a:r>
                        <a:t>+ 25 % Sicherheitszuschlag</a:t>
                      </a:r>
                    </a:p>
                  </a:txBody>
                  <a:tcPr marL="36576" marR="36576" marT="18288" marB="18288">
                    <a:solidFill>
                      <a:srgbClr val="FAFBFD"/>
                    </a:solidFill>
                  </a:tcPr>
                </a:tc>
                <a:tc>
                  <a:txBody>
                    <a:bodyPr/>
                    <a:lstStyle/>
                    <a:p>
                      <a:pPr>
                        <a:defRPr sz="850">
                          <a:solidFill>
                            <a:srgbClr val="262626"/>
                          </a:solidFill>
                          <a:latin typeface="Calibri"/>
                        </a:defRPr>
                      </a:pPr>
                      <a:r>
                        <a:t>356 GiB × 0,25 (Puffer)</a:t>
                      </a:r>
                    </a:p>
                  </a:txBody>
                  <a:tcPr marL="36576" marR="36576" marT="18288" marB="18288">
                    <a:solidFill>
                      <a:srgbClr val="FAFBFD"/>
                    </a:solidFill>
                  </a:tcPr>
                </a:tc>
                <a:tc>
                  <a:txBody>
                    <a:bodyPr/>
                    <a:lstStyle/>
                    <a:p>
                      <a:pPr algn="r">
                        <a:defRPr sz="850">
                          <a:solidFill>
                            <a:srgbClr val="262626"/>
                          </a:solidFill>
                          <a:latin typeface="Calibri"/>
                        </a:defRPr>
                      </a:pPr>
                      <a:r>
                        <a:t>+ 89 GiB Puffer</a:t>
                      </a:r>
                    </a:p>
                  </a:txBody>
                  <a:tcPr marL="36576" marR="36576" marT="18288" marB="18288">
                    <a:solidFill>
                      <a:srgbClr val="FAFBFD"/>
                    </a:solidFill>
                  </a:tcPr>
                </a:tc>
              </a:tr>
              <a:tr h="293916">
                <a:tc>
                  <a:txBody>
                    <a:bodyPr/>
                    <a:lstStyle/>
                    <a:p>
                      <a:pPr>
                        <a:defRPr sz="850" b="1">
                          <a:solidFill>
                            <a:srgbClr val="1F497D"/>
                          </a:solidFill>
                          <a:latin typeface="Calibri"/>
                        </a:defRPr>
                      </a:pPr>
                      <a:r>
                        <a:t>= Gesamtkapazität Q1</a:t>
                      </a:r>
                    </a:p>
                  </a:txBody>
                  <a:tcPr marL="36576" marR="36576" marT="18288" marB="18288">
                    <a:solidFill>
                      <a:srgbClr val="FFFAEB"/>
                    </a:solidFill>
                  </a:tcPr>
                </a:tc>
                <a:tc>
                  <a:txBody>
                    <a:bodyPr/>
                    <a:lstStyle/>
                    <a:p>
                      <a:pPr>
                        <a:defRPr sz="850" b="1">
                          <a:solidFill>
                            <a:srgbClr val="1F497D"/>
                          </a:solidFill>
                          <a:latin typeface="Calibri"/>
                        </a:defRPr>
                      </a:pPr>
                      <a:r>
                        <a:t>356 GiB Netto + 89 GiB</a:t>
                      </a:r>
                    </a:p>
                  </a:txBody>
                  <a:tcPr marL="36576" marR="36576" marT="18288" marB="18288">
                    <a:solidFill>
                      <a:srgbClr val="FFFAEB"/>
                    </a:solidFill>
                  </a:tcPr>
                </a:tc>
                <a:tc>
                  <a:txBody>
                    <a:bodyPr/>
                    <a:lstStyle/>
                    <a:p>
                      <a:pPr algn="r">
                        <a:defRPr sz="850" b="1">
                          <a:solidFill>
                            <a:srgbClr val="1F497D"/>
                          </a:solidFill>
                          <a:latin typeface="Calibri"/>
                        </a:defRPr>
                      </a:pPr>
                      <a:r>
                        <a:t>= 445 GiB Brutto</a:t>
                      </a:r>
                    </a:p>
                  </a:txBody>
                  <a:tcPr marL="36576" marR="36576" marT="18288" marB="18288">
                    <a:solidFill>
                      <a:srgbClr val="FFFAEB"/>
                    </a:solidFill>
                  </a:tcPr>
                </a:tc>
              </a:tr>
            </a:tbl>
          </a:graphicData>
        </a:graphic>
      </p:graphicFrame>
      <p:sp>
        <p:nvSpPr>
          <p:cNvPr id="9" name="Rounded Rectangle 8"/>
          <p:cNvSpPr/>
          <p:nvPr/>
        </p:nvSpPr>
        <p:spPr>
          <a:xfrm>
            <a:off x="868680" y="4892040"/>
            <a:ext cx="4937760" cy="1143000"/>
          </a:xfrm>
          <a:prstGeom prst="roundRect">
            <a:avLst/>
          </a:prstGeom>
          <a:solidFill>
            <a:srgbClr val="F8FAFE"/>
          </a:solidFill>
          <a:ln w="10160">
            <a:solidFill>
              <a:srgbClr val="D7E4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F497D"/>
                </a:solidFill>
                <a:latin typeface="Calibri"/>
              </a:defRPr>
            </a:pPr>
            <a:r>
              <a:t>💡 Praxis-Empfehlung &amp; Dimensionierung:</a:t>
            </a:r>
          </a:p>
          <a:p>
            <a:pPr>
              <a:spcBef>
                <a:spcPts val="200"/>
              </a:spcBef>
              <a:defRPr sz="800">
                <a:solidFill>
                  <a:srgbClr val="262626"/>
                </a:solidFill>
                <a:latin typeface="Calibri"/>
              </a:defRPr>
            </a:pPr>
            <a:r>
              <a:t>• 25 % Sicherheitszuschlag federt CAD-Revisionsstände, Snapshots &amp; Render-Caches ab.</a:t>
            </a:r>
          </a:p>
          <a:p>
            <a:pPr>
              <a:spcBef>
                <a:spcPts val="200"/>
              </a:spcBef>
              <a:defRPr sz="800">
                <a:solidFill>
                  <a:srgbClr val="262626"/>
                </a:solidFill>
                <a:latin typeface="Calibri"/>
              </a:defRPr>
            </a:pPr>
            <a:r>
              <a:t>• Jahresbedarf: Ca. 1,78 TiB Brutto; Empfehlung: Fileserver mit mind. 4–6 TB Nutzspeicher.</a:t>
            </a:r>
          </a:p>
          <a:p>
            <a:pPr>
              <a:spcBef>
                <a:spcPts val="200"/>
              </a:spcBef>
              <a:defRPr sz="800">
                <a:solidFill>
                  <a:srgbClr val="262626"/>
                </a:solidFill>
                <a:latin typeface="Calibri"/>
              </a:defRPr>
            </a:pPr>
            <a:r>
              <a:t>• Datensicherheit: Tägliche Abendsicherung der 16 externen Samsung SSDs auf den Server.</a:t>
            </a:r>
          </a:p>
        </p:txBody>
      </p:sp>
      <p:sp>
        <p:nvSpPr>
          <p:cNvPr id="10" name="Rounded Rectangle 9"/>
          <p:cNvSpPr/>
          <p:nvPr/>
        </p:nvSpPr>
        <p:spPr>
          <a:xfrm>
            <a:off x="6172200" y="1188720"/>
            <a:ext cx="5303520" cy="502920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18872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B.2 Jährliche Energiekosten-Kalkulation</a:t>
            </a:r>
          </a:p>
        </p:txBody>
      </p:sp>
      <p:sp>
        <p:nvSpPr>
          <p:cNvPr id="12" name="Rounded Rectangle 11"/>
          <p:cNvSpPr/>
          <p:nvPr/>
        </p:nvSpPr>
        <p:spPr>
          <a:xfrm>
            <a:off x="6355080" y="1810512"/>
            <a:ext cx="4937760" cy="777240"/>
          </a:xfrm>
          <a:prstGeom prst="roundRect">
            <a:avLst/>
          </a:prstGeom>
          <a:solidFill>
            <a:srgbClr val="F5F8FC"/>
          </a:solidFill>
          <a:ln w="12700">
            <a:solidFill>
              <a:srgbClr val="B4CD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1F497D"/>
                </a:solidFill>
                <a:latin typeface="Calibri"/>
              </a:defRPr>
            </a:pPr>
            <a:r>
              <a:t>1.771,26 €</a:t>
            </a:r>
          </a:p>
          <a:p>
            <a:pPr algn="ctr">
              <a:defRPr sz="900">
                <a:solidFill>
                  <a:srgbClr val="505050"/>
                </a:solidFill>
                <a:latin typeface="Calibri"/>
              </a:defRPr>
            </a:pPr>
            <a:r>
              <a:t>Gesamte jährliche Stromkosten aller 16 Arbeitsplätze (147,61 € / Monat)</a:t>
            </a:r>
          </a:p>
        </p:txBody>
      </p:sp>
      <p:graphicFrame>
        <p:nvGraphicFramePr>
          <p:cNvPr id="13" name="Table 12"/>
          <p:cNvGraphicFramePr>
            <a:graphicFrameLocks noGrp="1"/>
          </p:cNvGraphicFramePr>
          <p:nvPr/>
        </p:nvGraphicFramePr>
        <p:xfrm>
          <a:off x="6355080" y="2697480"/>
          <a:ext cx="4937760" cy="1371600"/>
        </p:xfrm>
        <a:graphic>
          <a:graphicData uri="http://schemas.openxmlformats.org/drawingml/2006/table">
            <a:tbl>
              <a:tblPr firstRow="1" bandRow="1">
                <a:tableStyleId>{5C22544A-7EE6-4342-B048-85BDC9FD1C3A}</a:tableStyleId>
              </a:tblPr>
              <a:tblGrid>
                <a:gridCol w="1691640"/>
                <a:gridCol w="731520"/>
                <a:gridCol w="731520"/>
                <a:gridCol w="914400"/>
                <a:gridCol w="868680"/>
              </a:tblGrid>
              <a:tr h="342900">
                <a:tc>
                  <a:txBody>
                    <a:bodyPr/>
                    <a:lstStyle/>
                    <a:p>
                      <a:pPr>
                        <a:defRPr sz="900" b="1">
                          <a:solidFill>
                            <a:srgbClr val="1F497D"/>
                          </a:solidFill>
                          <a:latin typeface="Calibri"/>
                        </a:defRPr>
                      </a:pPr>
                      <a:r>
                        <a:t>Arbeitsplatztyp</a:t>
                      </a:r>
                    </a:p>
                  </a:txBody>
                  <a:tcPr marL="36576" marR="36576" marT="18288" marB="18288">
                    <a:solidFill>
                      <a:srgbClr val="F0F3F8"/>
                    </a:solidFill>
                  </a:tcPr>
                </a:tc>
                <a:tc>
                  <a:txBody>
                    <a:bodyPr/>
                    <a:lstStyle/>
                    <a:p>
                      <a:pPr algn="r">
                        <a:defRPr sz="900" b="1">
                          <a:solidFill>
                            <a:srgbClr val="1F497D"/>
                          </a:solidFill>
                          <a:latin typeface="Calibri"/>
                        </a:defRPr>
                      </a:pPr>
                      <a:r>
                        <a:t>Leistung</a:t>
                      </a:r>
                    </a:p>
                  </a:txBody>
                  <a:tcPr marL="36576" marR="36576" marT="18288" marB="18288">
                    <a:solidFill>
                      <a:srgbClr val="F0F3F8"/>
                    </a:solidFill>
                  </a:tcPr>
                </a:tc>
                <a:tc>
                  <a:txBody>
                    <a:bodyPr/>
                    <a:lstStyle/>
                    <a:p>
                      <a:pPr algn="r">
                        <a:defRPr sz="900" b="1">
                          <a:solidFill>
                            <a:srgbClr val="1F497D"/>
                          </a:solidFill>
                          <a:latin typeface="Calibri"/>
                        </a:defRPr>
                      </a:pPr>
                      <a:r>
                        <a:t>Stunden</a:t>
                      </a:r>
                    </a:p>
                  </a:txBody>
                  <a:tcPr marL="36576" marR="36576" marT="18288" marB="18288">
                    <a:solidFill>
                      <a:srgbClr val="F0F3F8"/>
                    </a:solidFill>
                  </a:tcPr>
                </a:tc>
                <a:tc>
                  <a:txBody>
                    <a:bodyPr/>
                    <a:lstStyle/>
                    <a:p>
                      <a:pPr algn="r">
                        <a:defRPr sz="900" b="1">
                          <a:solidFill>
                            <a:srgbClr val="1F497D"/>
                          </a:solidFill>
                          <a:latin typeface="Calibri"/>
                        </a:defRPr>
                      </a:pPr>
                      <a:r>
                        <a:t>Verbrauch</a:t>
                      </a:r>
                    </a:p>
                  </a:txBody>
                  <a:tcPr marL="36576" marR="36576" marT="18288" marB="18288">
                    <a:solidFill>
                      <a:srgbClr val="F0F3F8"/>
                    </a:solidFill>
                  </a:tcPr>
                </a:tc>
                <a:tc>
                  <a:txBody>
                    <a:bodyPr/>
                    <a:lstStyle/>
                    <a:p>
                      <a:pPr algn="r">
                        <a:defRPr sz="900" b="1">
                          <a:solidFill>
                            <a:srgbClr val="1F497D"/>
                          </a:solidFill>
                          <a:latin typeface="Calibri"/>
                        </a:defRPr>
                      </a:pPr>
                      <a:r>
                        <a:t>Kosten/Jahr</a:t>
                      </a:r>
                    </a:p>
                  </a:txBody>
                  <a:tcPr marL="36576" marR="36576" marT="18288" marB="18288">
                    <a:solidFill>
                      <a:srgbClr val="F0F3F8"/>
                    </a:solidFill>
                  </a:tcPr>
                </a:tc>
              </a:tr>
              <a:tr h="342900">
                <a:tc>
                  <a:txBody>
                    <a:bodyPr/>
                    <a:lstStyle/>
                    <a:p>
                      <a:pPr>
                        <a:defRPr sz="850">
                          <a:solidFill>
                            <a:srgbClr val="262626"/>
                          </a:solidFill>
                          <a:latin typeface="Calibri"/>
                        </a:defRPr>
                      </a:pPr>
                      <a:r>
                        <a:t>12 Standard-PCs (à 140 W)</a:t>
                      </a:r>
                    </a:p>
                  </a:txBody>
                  <a:tcPr marL="36576" marR="36576" marT="18288" marB="18288">
                    <a:solidFill>
                      <a:srgbClr val="FAFBFD"/>
                    </a:solidFill>
                  </a:tcPr>
                </a:tc>
                <a:tc>
                  <a:txBody>
                    <a:bodyPr/>
                    <a:lstStyle/>
                    <a:p>
                      <a:pPr algn="r">
                        <a:defRPr sz="850">
                          <a:solidFill>
                            <a:srgbClr val="262626"/>
                          </a:solidFill>
                          <a:latin typeface="Calibri"/>
                        </a:defRPr>
                      </a:pPr>
                      <a:r>
                        <a:t>1,68 kW</a:t>
                      </a:r>
                    </a:p>
                  </a:txBody>
                  <a:tcPr marL="36576" marR="36576" marT="18288" marB="18288">
                    <a:solidFill>
                      <a:srgbClr val="FAFBFD"/>
                    </a:solidFill>
                  </a:tcPr>
                </a:tc>
                <a:tc>
                  <a:txBody>
                    <a:bodyPr/>
                    <a:lstStyle/>
                    <a:p>
                      <a:pPr algn="r">
                        <a:defRPr sz="850">
                          <a:solidFill>
                            <a:srgbClr val="262626"/>
                          </a:solidFill>
                          <a:latin typeface="Calibri"/>
                        </a:defRPr>
                      </a:pPr>
                      <a:r>
                        <a:t>1.870 h</a:t>
                      </a:r>
                    </a:p>
                  </a:txBody>
                  <a:tcPr marL="36576" marR="36576" marT="18288" marB="18288">
                    <a:solidFill>
                      <a:srgbClr val="FAFBFD"/>
                    </a:solidFill>
                  </a:tcPr>
                </a:tc>
                <a:tc>
                  <a:txBody>
                    <a:bodyPr/>
                    <a:lstStyle/>
                    <a:p>
                      <a:pPr algn="r">
                        <a:defRPr sz="850">
                          <a:solidFill>
                            <a:srgbClr val="262626"/>
                          </a:solidFill>
                          <a:latin typeface="Calibri"/>
                        </a:defRPr>
                      </a:pPr>
                      <a:r>
                        <a:t>3.141,6 kWh</a:t>
                      </a:r>
                    </a:p>
                  </a:txBody>
                  <a:tcPr marL="36576" marR="36576" marT="18288" marB="18288">
                    <a:solidFill>
                      <a:srgbClr val="FAFBFD"/>
                    </a:solidFill>
                  </a:tcPr>
                </a:tc>
                <a:tc>
                  <a:txBody>
                    <a:bodyPr/>
                    <a:lstStyle/>
                    <a:p>
                      <a:pPr algn="r">
                        <a:defRPr sz="850">
                          <a:solidFill>
                            <a:srgbClr val="262626"/>
                          </a:solidFill>
                          <a:latin typeface="Calibri"/>
                        </a:defRPr>
                      </a:pPr>
                      <a:r>
                        <a:t>1.005,31 €</a:t>
                      </a:r>
                    </a:p>
                  </a:txBody>
                  <a:tcPr marL="36576" marR="36576" marT="18288" marB="18288">
                    <a:solidFill>
                      <a:srgbClr val="FAFBFD"/>
                    </a:solidFill>
                  </a:tcPr>
                </a:tc>
              </a:tr>
              <a:tr h="342900">
                <a:tc>
                  <a:txBody>
                    <a:bodyPr/>
                    <a:lstStyle/>
                    <a:p>
                      <a:pPr>
                        <a:defRPr sz="850">
                          <a:solidFill>
                            <a:srgbClr val="262626"/>
                          </a:solidFill>
                          <a:latin typeface="Calibri"/>
                        </a:defRPr>
                      </a:pPr>
                      <a:r>
                        <a:t>4 CAD-Workstations (à 320 W)</a:t>
                      </a:r>
                    </a:p>
                  </a:txBody>
                  <a:tcPr marL="36576" marR="36576" marT="18288" marB="18288">
                    <a:solidFill>
                      <a:srgbClr val="FFFFFF"/>
                    </a:solidFill>
                  </a:tcPr>
                </a:tc>
                <a:tc>
                  <a:txBody>
                    <a:bodyPr/>
                    <a:lstStyle/>
                    <a:p>
                      <a:pPr algn="r">
                        <a:defRPr sz="850">
                          <a:solidFill>
                            <a:srgbClr val="262626"/>
                          </a:solidFill>
                          <a:latin typeface="Calibri"/>
                        </a:defRPr>
                      </a:pPr>
                      <a:r>
                        <a:t>1,28 kW</a:t>
                      </a:r>
                    </a:p>
                  </a:txBody>
                  <a:tcPr marL="36576" marR="36576" marT="18288" marB="18288">
                    <a:solidFill>
                      <a:srgbClr val="FFFFFF"/>
                    </a:solidFill>
                  </a:tcPr>
                </a:tc>
                <a:tc>
                  <a:txBody>
                    <a:bodyPr/>
                    <a:lstStyle/>
                    <a:p>
                      <a:pPr algn="r">
                        <a:defRPr sz="850">
                          <a:solidFill>
                            <a:srgbClr val="262626"/>
                          </a:solidFill>
                          <a:latin typeface="Calibri"/>
                        </a:defRPr>
                      </a:pPr>
                      <a:r>
                        <a:t>1.870 h</a:t>
                      </a:r>
                    </a:p>
                  </a:txBody>
                  <a:tcPr marL="36576" marR="36576" marT="18288" marB="18288">
                    <a:solidFill>
                      <a:srgbClr val="FFFFFF"/>
                    </a:solidFill>
                  </a:tcPr>
                </a:tc>
                <a:tc>
                  <a:txBody>
                    <a:bodyPr/>
                    <a:lstStyle/>
                    <a:p>
                      <a:pPr algn="r">
                        <a:defRPr sz="850">
                          <a:solidFill>
                            <a:srgbClr val="262626"/>
                          </a:solidFill>
                          <a:latin typeface="Calibri"/>
                        </a:defRPr>
                      </a:pPr>
                      <a:r>
                        <a:t>2.393,6 kWh</a:t>
                      </a:r>
                    </a:p>
                  </a:txBody>
                  <a:tcPr marL="36576" marR="36576" marT="18288" marB="18288">
                    <a:solidFill>
                      <a:srgbClr val="FFFFFF"/>
                    </a:solidFill>
                  </a:tcPr>
                </a:tc>
                <a:tc>
                  <a:txBody>
                    <a:bodyPr/>
                    <a:lstStyle/>
                    <a:p>
                      <a:pPr algn="r">
                        <a:defRPr sz="850">
                          <a:solidFill>
                            <a:srgbClr val="262626"/>
                          </a:solidFill>
                          <a:latin typeface="Calibri"/>
                        </a:defRPr>
                      </a:pPr>
                      <a:r>
                        <a:t>765,95 €</a:t>
                      </a:r>
                    </a:p>
                  </a:txBody>
                  <a:tcPr marL="36576" marR="36576" marT="18288" marB="18288">
                    <a:solidFill>
                      <a:srgbClr val="FFFFFF"/>
                    </a:solidFill>
                  </a:tcPr>
                </a:tc>
              </a:tr>
              <a:tr h="342900">
                <a:tc>
                  <a:txBody>
                    <a:bodyPr/>
                    <a:lstStyle/>
                    <a:p>
                      <a:pPr>
                        <a:defRPr sz="850" b="1">
                          <a:solidFill>
                            <a:srgbClr val="1F497D"/>
                          </a:solidFill>
                          <a:latin typeface="Calibri"/>
                        </a:defRPr>
                      </a:pPr>
                      <a:r>
                        <a:t>Gesamtsystem (16 Plätze)</a:t>
                      </a:r>
                    </a:p>
                  </a:txBody>
                  <a:tcPr marL="36576" marR="36576" marT="18288" marB="18288">
                    <a:solidFill>
                      <a:srgbClr val="FFFAEB"/>
                    </a:solidFill>
                  </a:tcPr>
                </a:tc>
                <a:tc>
                  <a:txBody>
                    <a:bodyPr/>
                    <a:lstStyle/>
                    <a:p>
                      <a:pPr algn="r">
                        <a:defRPr sz="850" b="1">
                          <a:solidFill>
                            <a:srgbClr val="1F497D"/>
                          </a:solidFill>
                          <a:latin typeface="Calibri"/>
                        </a:defRPr>
                      </a:pPr>
                      <a:r>
                        <a:t>2,96 kW</a:t>
                      </a:r>
                    </a:p>
                  </a:txBody>
                  <a:tcPr marL="36576" marR="36576" marT="18288" marB="18288">
                    <a:solidFill>
                      <a:srgbClr val="FFFAEB"/>
                    </a:solidFill>
                  </a:tcPr>
                </a:tc>
                <a:tc>
                  <a:txBody>
                    <a:bodyPr/>
                    <a:lstStyle/>
                    <a:p>
                      <a:pPr algn="r">
                        <a:defRPr sz="850" b="1">
                          <a:solidFill>
                            <a:srgbClr val="1F497D"/>
                          </a:solidFill>
                          <a:latin typeface="Calibri"/>
                        </a:defRPr>
                      </a:pPr>
                      <a:r>
                        <a:t>1.870 h</a:t>
                      </a:r>
                    </a:p>
                  </a:txBody>
                  <a:tcPr marL="36576" marR="36576" marT="18288" marB="18288">
                    <a:solidFill>
                      <a:srgbClr val="FFFAEB"/>
                    </a:solidFill>
                  </a:tcPr>
                </a:tc>
                <a:tc>
                  <a:txBody>
                    <a:bodyPr/>
                    <a:lstStyle/>
                    <a:p>
                      <a:pPr algn="r">
                        <a:defRPr sz="850" b="1">
                          <a:solidFill>
                            <a:srgbClr val="1F497D"/>
                          </a:solidFill>
                          <a:latin typeface="Calibri"/>
                        </a:defRPr>
                      </a:pPr>
                      <a:r>
                        <a:t>5.535,2 kWh</a:t>
                      </a:r>
                    </a:p>
                  </a:txBody>
                  <a:tcPr marL="36576" marR="36576" marT="18288" marB="18288">
                    <a:solidFill>
                      <a:srgbClr val="FFFAEB"/>
                    </a:solidFill>
                  </a:tcPr>
                </a:tc>
                <a:tc>
                  <a:txBody>
                    <a:bodyPr/>
                    <a:lstStyle/>
                    <a:p>
                      <a:pPr algn="r">
                        <a:defRPr sz="850" b="1">
                          <a:solidFill>
                            <a:srgbClr val="1F497D"/>
                          </a:solidFill>
                          <a:latin typeface="Calibri"/>
                        </a:defRPr>
                      </a:pPr>
                      <a:r>
                        <a:t>= 1.771,26 €</a:t>
                      </a:r>
                    </a:p>
                  </a:txBody>
                  <a:tcPr marL="36576" marR="36576" marT="18288" marB="18288">
                    <a:solidFill>
                      <a:srgbClr val="FFFAEB"/>
                    </a:solidFill>
                  </a:tcPr>
                </a:tc>
              </a:tr>
            </a:tbl>
          </a:graphicData>
        </a:graphic>
      </p:graphicFrame>
      <p:sp>
        <p:nvSpPr>
          <p:cNvPr id="14" name="Rounded Rectangle 13"/>
          <p:cNvSpPr/>
          <p:nvPr/>
        </p:nvSpPr>
        <p:spPr>
          <a:xfrm>
            <a:off x="6355080" y="4206240"/>
            <a:ext cx="4937760" cy="1828800"/>
          </a:xfrm>
          <a:prstGeom prst="roundRect">
            <a:avLst/>
          </a:prstGeom>
          <a:solidFill>
            <a:srgbClr val="F8FAFE"/>
          </a:solidFill>
          <a:ln w="10160">
            <a:solidFill>
              <a:srgbClr val="D7E4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F497D"/>
                </a:solidFill>
                <a:latin typeface="Calibri"/>
              </a:defRPr>
            </a:pPr>
            <a:r>
              <a:t>⚡ Kennzahlen &amp; Energiespar-Empfehlungen:</a:t>
            </a:r>
          </a:p>
          <a:p>
            <a:pPr>
              <a:spcBef>
                <a:spcPts val="200"/>
              </a:spcBef>
              <a:defRPr sz="800">
                <a:solidFill>
                  <a:srgbClr val="262626"/>
                </a:solidFill>
                <a:latin typeface="Calibri"/>
              </a:defRPr>
            </a:pPr>
            <a:r>
              <a:t>• Parameter: 220 Arbeitstage · 8,5 h Laufzeit/Tag · Strompreis vertraglich 0,32 €/kWh.</a:t>
            </a:r>
          </a:p>
          <a:p>
            <a:pPr>
              <a:spcBef>
                <a:spcPts val="200"/>
              </a:spcBef>
              <a:defRPr sz="800">
                <a:solidFill>
                  <a:srgbClr val="262626"/>
                </a:solidFill>
                <a:latin typeface="Calibri"/>
              </a:defRPr>
            </a:pPr>
            <a:r>
              <a:t>• Geringe Kosten je Platz: Durchschnittlich nur ca. 110,70 € Stromkosten pro Arbeitsplatz im Jahr.</a:t>
            </a:r>
          </a:p>
          <a:p>
            <a:pPr>
              <a:spcBef>
                <a:spcPts val="200"/>
              </a:spcBef>
              <a:defRPr sz="800">
                <a:solidFill>
                  <a:srgbClr val="262626"/>
                </a:solidFill>
                <a:latin typeface="Calibri"/>
              </a:defRPr>
            </a:pPr>
            <a:r>
              <a:t>• Aufteilung: Standard-PCs machen 56,8 % des Verbrauchs aus, CAD-Workstations 43,2 %.</a:t>
            </a:r>
          </a:p>
          <a:p>
            <a:pPr>
              <a:spcBef>
                <a:spcPts val="200"/>
              </a:spcBef>
              <a:defRPr sz="800">
                <a:solidFill>
                  <a:srgbClr val="262626"/>
                </a:solidFill>
                <a:latin typeface="Calibri"/>
              </a:defRPr>
            </a:pPr>
            <a:r>
              <a:t>• Bis zu 15 % Einsparpotenzial (ca. 265 €/a) durch Windows-Ruhezustand nach 15 min Inaktivität.</a:t>
            </a:r>
          </a:p>
          <a:p>
            <a:pPr>
              <a:spcBef>
                <a:spcPts val="200"/>
              </a:spcBef>
              <a:defRPr sz="800">
                <a:solidFill>
                  <a:srgbClr val="262626"/>
                </a:solidFill>
                <a:latin typeface="Calibri"/>
              </a:defRPr>
            </a:pPr>
            <a:r>
              <a:t>• Schutz vor Standby-Verlusten: Master-Slave-Steckdosenleisten schalten Monitore nach Feierabend ab.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QUALITÄT &amp; UMWELT</a:t>
            </a:r>
          </a:p>
          <a:p>
            <a:pPr>
              <a:defRPr sz="2000" b="1">
                <a:solidFill>
                  <a:srgbClr val="FFFFFF"/>
                </a:solidFill>
                <a:latin typeface="Calibri"/>
              </a:defRPr>
            </a:pPr>
            <a:r>
              <a:t>Qualitätssicherung: Wareneingang und Entsorgung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12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6400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81328"/>
            <a:ext cx="3474720" cy="411480"/>
          </a:xfrm>
          <a:prstGeom prst="rect">
            <a:avLst/>
          </a:prstGeom>
          <a:noFill/>
        </p:spPr>
        <p:txBody>
          <a:bodyPr wrap="none">
            <a:spAutoFit/>
          </a:bodyPr>
          <a:lstStyle/>
          <a:p>
            <a:pPr algn="ctr">
              <a:defRPr sz="1200" b="1">
                <a:solidFill>
                  <a:srgbClr val="FFFFFF"/>
                </a:solidFill>
                <a:latin typeface="Calibri"/>
              </a:defRPr>
            </a:pPr>
            <a:r>
              <a:t>Wareneingang § 377 HGB</a:t>
            </a:r>
          </a:p>
        </p:txBody>
      </p:sp>
      <p:sp>
        <p:nvSpPr>
          <p:cNvPr id="8" name="TextBox 7"/>
          <p:cNvSpPr txBox="1"/>
          <p:nvPr/>
        </p:nvSpPr>
        <p:spPr>
          <a:xfrm>
            <a:off x="868680"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Unverzügliche Prüfung: </a:t>
            </a:r>
            <a:r>
              <a:rPr b="0">
                <a:solidFill>
                  <a:srgbClr val="262626"/>
                </a:solidFill>
              </a:rPr>
              <a:t>Im kaufmännischen Geschäftsverkehr muss gelieferte Ware unverzüglich geprüft werden.</a:t>
            </a:r>
          </a:p>
          <a:p>
            <a:pPr>
              <a:spcAft>
                <a:spcPts val="800"/>
              </a:spcAft>
              <a:defRPr sz="1000" b="1">
                <a:solidFill>
                  <a:srgbClr val="1F497D"/>
                </a:solidFill>
                <a:latin typeface="Calibri"/>
              </a:defRPr>
            </a:pPr>
            <a:r>
              <a:t>Offene Mängel: </a:t>
            </a:r>
            <a:r>
              <a:rPr b="0">
                <a:solidFill>
                  <a:srgbClr val="262626"/>
                </a:solidFill>
              </a:rPr>
              <a:t>Sichtbare Schäden (z.B. beschädigter Karton) müssen sofort auf dem Frachtbrief vermerkt und gerügt werden.</a:t>
            </a:r>
          </a:p>
          <a:p>
            <a:pPr>
              <a:spcAft>
                <a:spcPts val="800"/>
              </a:spcAft>
              <a:defRPr sz="1000" b="1">
                <a:solidFill>
                  <a:srgbClr val="1F497D"/>
                </a:solidFill>
                <a:latin typeface="Calibri"/>
              </a:defRPr>
            </a:pPr>
            <a:r>
              <a:t>Verdeckte Mängel: </a:t>
            </a:r>
            <a:r>
              <a:rPr b="0">
                <a:solidFill>
                  <a:srgbClr val="262626"/>
                </a:solidFill>
              </a:rPr>
              <a:t>Schäden im Inneren müssen unverzüglich nach Entdeckung angezeigt werden.</a:t>
            </a:r>
          </a:p>
          <a:p>
            <a:pPr>
              <a:spcAft>
                <a:spcPts val="800"/>
              </a:spcAft>
              <a:defRPr sz="1000" b="1">
                <a:solidFill>
                  <a:srgbClr val="1F497D"/>
                </a:solidFill>
                <a:latin typeface="Calibri"/>
              </a:defRPr>
            </a:pPr>
            <a:r>
              <a:t>Rechtsfolge: </a:t>
            </a:r>
            <a:r>
              <a:rPr b="0">
                <a:solidFill>
                  <a:srgbClr val="262626"/>
                </a:solidFill>
              </a:rPr>
              <a:t>Ohne rechtzeitige Rüge gilt die Ware als genehmigt (§ 377 Abs. 2 HGB) – Verlust von Rechten!</a:t>
            </a:r>
          </a:p>
        </p:txBody>
      </p:sp>
      <p:sp>
        <p:nvSpPr>
          <p:cNvPr id="9" name="Rounded Rectangle 8"/>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4370832" y="1371600"/>
            <a:ext cx="347472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4370832" y="1481328"/>
            <a:ext cx="3474720" cy="411480"/>
          </a:xfrm>
          <a:prstGeom prst="rect">
            <a:avLst/>
          </a:prstGeom>
          <a:noFill/>
        </p:spPr>
        <p:txBody>
          <a:bodyPr wrap="none">
            <a:spAutoFit/>
          </a:bodyPr>
          <a:lstStyle/>
          <a:p>
            <a:pPr algn="ctr">
              <a:defRPr sz="1200" b="1">
                <a:solidFill>
                  <a:srgbClr val="FFFFFF"/>
                </a:solidFill>
                <a:latin typeface="Calibri"/>
              </a:defRPr>
            </a:pPr>
            <a:r>
              <a:t>Praxisfall: Mängelrüge</a:t>
            </a:r>
          </a:p>
        </p:txBody>
      </p:sp>
      <p:sp>
        <p:nvSpPr>
          <p:cNvPr id="12" name="TextBox 11"/>
          <p:cNvSpPr txBox="1"/>
          <p:nvPr/>
        </p:nvSpPr>
        <p:spPr>
          <a:xfrm>
            <a:off x="4507992"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Mangel 1: </a:t>
            </a:r>
            <a:r>
              <a:rPr b="0">
                <a:solidFill>
                  <a:srgbClr val="262626"/>
                </a:solidFill>
              </a:rPr>
              <a:t>Gehäuseschaden an einer Lenovo ThinkStation P3 (Transportschaden/Delle).</a:t>
            </a:r>
          </a:p>
          <a:p>
            <a:pPr>
              <a:spcAft>
                <a:spcPts val="800"/>
              </a:spcAft>
              <a:defRPr sz="1000" b="1">
                <a:solidFill>
                  <a:srgbClr val="1F497D"/>
                </a:solidFill>
                <a:latin typeface="Calibri"/>
              </a:defRPr>
            </a:pPr>
            <a:r>
              <a:t>Mangel 2: </a:t>
            </a:r>
            <a:r>
              <a:rPr b="0">
                <a:solidFill>
                  <a:srgbClr val="262626"/>
                </a:solidFill>
              </a:rPr>
              <a:t>Fehllieferung eines Monitors (Full-HD statt bestelltem WQHD-Display).</a:t>
            </a:r>
          </a:p>
          <a:p>
            <a:pPr>
              <a:spcAft>
                <a:spcPts val="800"/>
              </a:spcAft>
              <a:defRPr sz="1000" b="1">
                <a:solidFill>
                  <a:srgbClr val="1F497D"/>
                </a:solidFill>
                <a:latin typeface="Calibri"/>
              </a:defRPr>
            </a:pPr>
            <a:r>
              <a:t>Schriftliche Rüge: </a:t>
            </a:r>
            <a:r>
              <a:rPr b="0">
                <a:solidFill>
                  <a:srgbClr val="262626"/>
                </a:solidFill>
              </a:rPr>
              <a:t>Kaufmännisches Rüge-Schreiben nach DIN 5008 an den Distributor.</a:t>
            </a:r>
          </a:p>
          <a:p>
            <a:pPr>
              <a:spcAft>
                <a:spcPts val="800"/>
              </a:spcAft>
              <a:defRPr sz="1000" b="1">
                <a:solidFill>
                  <a:srgbClr val="1F497D"/>
                </a:solidFill>
                <a:latin typeface="Calibri"/>
              </a:defRPr>
            </a:pPr>
            <a:r>
              <a:t>Fristsetzung: </a:t>
            </a:r>
            <a:r>
              <a:rPr b="0">
                <a:solidFill>
                  <a:srgbClr val="262626"/>
                </a:solidFill>
              </a:rPr>
              <a:t>Konkrete Frist zur kostenfreien Nachlieferung einwandfreier Ware binnen 14 Tagen.</a:t>
            </a:r>
          </a:p>
        </p:txBody>
      </p:sp>
      <p:sp>
        <p:nvSpPr>
          <p:cNvPr id="13" name="Rounded Rectangle 12"/>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ectangle 13"/>
          <p:cNvSpPr/>
          <p:nvPr/>
        </p:nvSpPr>
        <p:spPr>
          <a:xfrm>
            <a:off x="8010144" y="1371600"/>
            <a:ext cx="347472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5" name="TextBox 14"/>
          <p:cNvSpPr txBox="1"/>
          <p:nvPr/>
        </p:nvSpPr>
        <p:spPr>
          <a:xfrm>
            <a:off x="8010144" y="1481328"/>
            <a:ext cx="3474720" cy="411480"/>
          </a:xfrm>
          <a:prstGeom prst="rect">
            <a:avLst/>
          </a:prstGeom>
          <a:noFill/>
        </p:spPr>
        <p:txBody>
          <a:bodyPr wrap="none">
            <a:spAutoFit/>
          </a:bodyPr>
          <a:lstStyle/>
          <a:p>
            <a:pPr algn="ctr">
              <a:defRPr sz="1200" b="1">
                <a:solidFill>
                  <a:srgbClr val="FFFFFF"/>
                </a:solidFill>
                <a:latin typeface="Calibri"/>
              </a:defRPr>
            </a:pPr>
            <a:r>
              <a:t>Altdrucker-Entsorgung</a:t>
            </a:r>
          </a:p>
        </p:txBody>
      </p:sp>
      <p:sp>
        <p:nvSpPr>
          <p:cNvPr id="16" name="TextBox 15"/>
          <p:cNvSpPr txBox="1"/>
          <p:nvPr/>
        </p:nvSpPr>
        <p:spPr>
          <a:xfrm>
            <a:off x="8147304"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ElektroG / WEEE: </a:t>
            </a:r>
            <a:r>
              <a:rPr b="0">
                <a:solidFill>
                  <a:srgbClr val="262626"/>
                </a:solidFill>
              </a:rPr>
              <a:t>Fachgerechte Entsorgung als B2B-Altgerät bei einem zertifizierten Entsorgungsfachbetrieb.</a:t>
            </a:r>
          </a:p>
          <a:p>
            <a:pPr>
              <a:spcAft>
                <a:spcPts val="800"/>
              </a:spcAft>
              <a:defRPr sz="1000" b="1">
                <a:solidFill>
                  <a:srgbClr val="1F497D"/>
                </a:solidFill>
                <a:latin typeface="Calibri"/>
              </a:defRPr>
            </a:pPr>
            <a:r>
              <a:t>Toner-Kassetten: </a:t>
            </a:r>
            <a:r>
              <a:rPr b="0">
                <a:solidFill>
                  <a:srgbClr val="262626"/>
                </a:solidFill>
              </a:rPr>
              <a:t>Resttoner und Kassetten separat über geschlossene Recyclingprogramme entsorgen.</a:t>
            </a:r>
          </a:p>
          <a:p>
            <a:pPr>
              <a:spcAft>
                <a:spcPts val="800"/>
              </a:spcAft>
              <a:defRPr sz="1000" b="1">
                <a:solidFill>
                  <a:srgbClr val="1F497D"/>
                </a:solidFill>
                <a:latin typeface="Calibri"/>
              </a:defRPr>
            </a:pPr>
            <a:r>
              <a:t>Feinstaubschutz: </a:t>
            </a:r>
            <a:r>
              <a:rPr b="0">
                <a:solidFill>
                  <a:srgbClr val="262626"/>
                </a:solidFill>
              </a:rPr>
              <a:t>Sicherheitshandschuhe und Maske beim Ausbau verwenden.</a:t>
            </a:r>
          </a:p>
          <a:p>
            <a:pPr>
              <a:spcAft>
                <a:spcPts val="800"/>
              </a:spcAft>
              <a:defRPr sz="1000" b="1">
                <a:solidFill>
                  <a:srgbClr val="1F497D"/>
                </a:solidFill>
                <a:latin typeface="Calibri"/>
              </a:defRPr>
            </a:pPr>
            <a:r>
              <a:t>Datenlöschung (BSI): </a:t>
            </a:r>
            <a:r>
              <a:rPr b="0">
                <a:solidFill>
                  <a:srgbClr val="262626"/>
                </a:solidFill>
              </a:rPr>
              <a:t>Interne Speicher/Festplatten vor der Entsorgung 3-fach sicher überschreiben.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ROLLOUT</a:t>
            </a:r>
          </a:p>
          <a:p>
            <a:pPr>
              <a:defRPr sz="2000" b="1">
                <a:solidFill>
                  <a:srgbClr val="FFFFFF"/>
                </a:solidFill>
                <a:latin typeface="Calibri"/>
              </a:defRPr>
            </a:pPr>
            <a:r>
              <a:t>Rollout-Phasen und Übergabe vor Ort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13 von 16</a:t>
            </a:r>
          </a:p>
        </p:txBody>
      </p:sp>
      <p:sp>
        <p:nvSpPr>
          <p:cNvPr id="5" name="Rounded Rectangle 4"/>
          <p:cNvSpPr/>
          <p:nvPr/>
        </p:nvSpPr>
        <p:spPr>
          <a:xfrm>
            <a:off x="731520"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Oval 5"/>
          <p:cNvSpPr/>
          <p:nvPr/>
        </p:nvSpPr>
        <p:spPr>
          <a:xfrm>
            <a:off x="1600200"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01</a:t>
            </a:r>
          </a:p>
        </p:txBody>
      </p:sp>
      <p:sp>
        <p:nvSpPr>
          <p:cNvPr id="7" name="TextBox 6"/>
          <p:cNvSpPr txBox="1"/>
          <p:nvPr/>
        </p:nvSpPr>
        <p:spPr>
          <a:xfrm>
            <a:off x="822960" y="2468880"/>
            <a:ext cx="2377440" cy="640080"/>
          </a:xfrm>
          <a:prstGeom prst="rect">
            <a:avLst/>
          </a:prstGeom>
          <a:noFill/>
        </p:spPr>
        <p:txBody>
          <a:bodyPr wrap="none">
            <a:spAutoFit/>
          </a:bodyPr>
          <a:lstStyle/>
          <a:p>
            <a:pPr algn="ctr">
              <a:defRPr sz="1150" b="1">
                <a:solidFill>
                  <a:srgbClr val="1F497D"/>
                </a:solidFill>
                <a:latin typeface="Calibri"/>
              </a:defRPr>
            </a:pPr>
            <a:r>
              <a:t>Phase 1: Vorinstallation</a:t>
            </a:r>
          </a:p>
          <a:p>
            <a:pPr algn="ctr">
              <a:defRPr sz="950">
                <a:solidFill>
                  <a:srgbClr val="595959"/>
                </a:solidFill>
              </a:defRPr>
            </a:pPr>
            <a:r>
              <a:t>Im Systemhaus-Labor</a:t>
            </a:r>
          </a:p>
        </p:txBody>
      </p:sp>
      <p:sp>
        <p:nvSpPr>
          <p:cNvPr id="8" name="TextBox 7"/>
          <p:cNvSpPr txBox="1"/>
          <p:nvPr/>
        </p:nvSpPr>
        <p:spPr>
          <a:xfrm>
            <a:off x="868680"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Betriebssystem-Betankung über Standard-Image</a:t>
            </a:r>
          </a:p>
          <a:p>
            <a:pPr>
              <a:spcAft>
                <a:spcPts val="600"/>
              </a:spcAft>
              <a:defRPr sz="950">
                <a:solidFill>
                  <a:srgbClr val="262626"/>
                </a:solidFill>
                <a:latin typeface="Calibri"/>
              </a:defRPr>
            </a:pPr>
            <a:r>
              <a:t>• Installation M365, Adobe Acrobat &amp; ESET EDR</a:t>
            </a:r>
          </a:p>
          <a:p>
            <a:pPr>
              <a:spcAft>
                <a:spcPts val="600"/>
              </a:spcAft>
              <a:defRPr sz="950">
                <a:solidFill>
                  <a:srgbClr val="262626"/>
                </a:solidFill>
                <a:latin typeface="Calibri"/>
              </a:defRPr>
            </a:pPr>
            <a:r>
              <a:t>• Einspielen aller Windows- &amp; Treiber-Updates</a:t>
            </a:r>
          </a:p>
          <a:p>
            <a:pPr>
              <a:spcAft>
                <a:spcPts val="600"/>
              </a:spcAft>
              <a:defRPr sz="950">
                <a:solidFill>
                  <a:srgbClr val="262626"/>
                </a:solidFill>
                <a:latin typeface="Calibri"/>
              </a:defRPr>
            </a:pPr>
            <a:r>
              <a:t>• 24h-Dauertest der CAD-Workstations</a:t>
            </a:r>
          </a:p>
        </p:txBody>
      </p:sp>
      <p:sp>
        <p:nvSpPr>
          <p:cNvPr id="9" name="Rounded Rectangle 8"/>
          <p:cNvSpPr/>
          <p:nvPr/>
        </p:nvSpPr>
        <p:spPr>
          <a:xfrm>
            <a:off x="3456432"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Oval 9"/>
          <p:cNvSpPr/>
          <p:nvPr/>
        </p:nvSpPr>
        <p:spPr>
          <a:xfrm>
            <a:off x="4325112"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02</a:t>
            </a:r>
          </a:p>
        </p:txBody>
      </p:sp>
      <p:sp>
        <p:nvSpPr>
          <p:cNvPr id="11" name="TextBox 10"/>
          <p:cNvSpPr txBox="1"/>
          <p:nvPr/>
        </p:nvSpPr>
        <p:spPr>
          <a:xfrm>
            <a:off x="3547872" y="2468880"/>
            <a:ext cx="2377440" cy="640080"/>
          </a:xfrm>
          <a:prstGeom prst="rect">
            <a:avLst/>
          </a:prstGeom>
          <a:noFill/>
        </p:spPr>
        <p:txBody>
          <a:bodyPr wrap="none">
            <a:spAutoFit/>
          </a:bodyPr>
          <a:lstStyle/>
          <a:p>
            <a:pPr algn="ctr">
              <a:defRPr sz="1150" b="1">
                <a:solidFill>
                  <a:srgbClr val="1F497D"/>
                </a:solidFill>
                <a:latin typeface="Calibri"/>
              </a:defRPr>
            </a:pPr>
            <a:r>
              <a:t>Phase 2: Logistik</a:t>
            </a:r>
          </a:p>
          <a:p>
            <a:pPr algn="ctr">
              <a:defRPr sz="950">
                <a:solidFill>
                  <a:srgbClr val="595959"/>
                </a:solidFill>
              </a:defRPr>
            </a:pPr>
            <a:r>
              <a:t>Sicherer Transport</a:t>
            </a:r>
          </a:p>
        </p:txBody>
      </p:sp>
      <p:sp>
        <p:nvSpPr>
          <p:cNvPr id="12" name="TextBox 11"/>
          <p:cNvSpPr txBox="1"/>
          <p:nvPr/>
        </p:nvSpPr>
        <p:spPr>
          <a:xfrm>
            <a:off x="3593592"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ESD- und stoßsichere Verpackung</a:t>
            </a:r>
          </a:p>
          <a:p>
            <a:pPr>
              <a:spcAft>
                <a:spcPts val="600"/>
              </a:spcAft>
              <a:defRPr sz="950">
                <a:solidFill>
                  <a:srgbClr val="262626"/>
                </a:solidFill>
                <a:latin typeface="Calibri"/>
              </a:defRPr>
            </a:pPr>
            <a:r>
              <a:t>• Terminierte Anlieferung bei VektorPlan</a:t>
            </a:r>
          </a:p>
          <a:p>
            <a:pPr>
              <a:spcAft>
                <a:spcPts val="600"/>
              </a:spcAft>
              <a:defRPr sz="950">
                <a:solidFill>
                  <a:srgbClr val="262626"/>
                </a:solidFill>
                <a:latin typeface="Calibri"/>
              </a:defRPr>
            </a:pPr>
            <a:r>
              <a:t>• Verteilung auf die 2 Großraumbüros</a:t>
            </a:r>
          </a:p>
          <a:p>
            <a:pPr>
              <a:spcAft>
                <a:spcPts val="600"/>
              </a:spcAft>
              <a:defRPr sz="950">
                <a:solidFill>
                  <a:srgbClr val="262626"/>
                </a:solidFill>
                <a:latin typeface="Calibri"/>
              </a:defRPr>
            </a:pPr>
            <a:r>
              <a:t>• Umweltgerechte Entsorgung von Kartonagen</a:t>
            </a:r>
          </a:p>
        </p:txBody>
      </p:sp>
      <p:sp>
        <p:nvSpPr>
          <p:cNvPr id="13" name="Rounded Rectangle 12"/>
          <p:cNvSpPr/>
          <p:nvPr/>
        </p:nvSpPr>
        <p:spPr>
          <a:xfrm>
            <a:off x="6181344"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Oval 13"/>
          <p:cNvSpPr/>
          <p:nvPr/>
        </p:nvSpPr>
        <p:spPr>
          <a:xfrm>
            <a:off x="7050024"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03</a:t>
            </a:r>
          </a:p>
        </p:txBody>
      </p:sp>
      <p:sp>
        <p:nvSpPr>
          <p:cNvPr id="15" name="TextBox 14"/>
          <p:cNvSpPr txBox="1"/>
          <p:nvPr/>
        </p:nvSpPr>
        <p:spPr>
          <a:xfrm>
            <a:off x="6272784" y="2468880"/>
            <a:ext cx="2377440" cy="640080"/>
          </a:xfrm>
          <a:prstGeom prst="rect">
            <a:avLst/>
          </a:prstGeom>
          <a:noFill/>
        </p:spPr>
        <p:txBody>
          <a:bodyPr wrap="none">
            <a:spAutoFit/>
          </a:bodyPr>
          <a:lstStyle/>
          <a:p>
            <a:pPr algn="ctr">
              <a:defRPr sz="1150" b="1">
                <a:solidFill>
                  <a:srgbClr val="1F497D"/>
                </a:solidFill>
                <a:latin typeface="Calibri"/>
              </a:defRPr>
            </a:pPr>
            <a:r>
              <a:t>Phase 3: Montage</a:t>
            </a:r>
          </a:p>
          <a:p>
            <a:pPr algn="ctr">
              <a:defRPr sz="950">
                <a:solidFill>
                  <a:srgbClr val="595959"/>
                </a:solidFill>
              </a:defRPr>
            </a:pPr>
            <a:r>
              <a:t>ArbStättV-Ergonomie</a:t>
            </a:r>
          </a:p>
        </p:txBody>
      </p:sp>
      <p:sp>
        <p:nvSpPr>
          <p:cNvPr id="16" name="TextBox 15"/>
          <p:cNvSpPr txBox="1"/>
          <p:nvPr/>
        </p:nvSpPr>
        <p:spPr>
          <a:xfrm>
            <a:off x="6318504"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Aufbau der 32 höhenverstellbaren Monitore</a:t>
            </a:r>
          </a:p>
          <a:p>
            <a:pPr>
              <a:spcAft>
                <a:spcPts val="600"/>
              </a:spcAft>
              <a:defRPr sz="950">
                <a:solidFill>
                  <a:srgbClr val="262626"/>
                </a:solidFill>
                <a:latin typeface="Calibri"/>
              </a:defRPr>
            </a:pPr>
            <a:r>
              <a:t>• Ausrichtung: Oberkante auf Augenhöhe (50-70 cm)</a:t>
            </a:r>
          </a:p>
          <a:p>
            <a:pPr>
              <a:spcAft>
                <a:spcPts val="600"/>
              </a:spcAft>
              <a:defRPr sz="950">
                <a:solidFill>
                  <a:srgbClr val="262626"/>
                </a:solidFill>
                <a:latin typeface="Calibri"/>
              </a:defRPr>
            </a:pPr>
            <a:r>
              <a:t>• Saubere Bündelung aller Kabel unter Tischen</a:t>
            </a:r>
          </a:p>
          <a:p>
            <a:pPr>
              <a:spcAft>
                <a:spcPts val="600"/>
              </a:spcAft>
              <a:defRPr sz="950">
                <a:solidFill>
                  <a:srgbClr val="262626"/>
                </a:solidFill>
                <a:latin typeface="Calibri"/>
              </a:defRPr>
            </a:pPr>
            <a:r>
              <a:t>• Patchkabel an Switchports anschließen</a:t>
            </a:r>
          </a:p>
        </p:txBody>
      </p:sp>
      <p:sp>
        <p:nvSpPr>
          <p:cNvPr id="17" name="Rounded Rectangle 16"/>
          <p:cNvSpPr/>
          <p:nvPr/>
        </p:nvSpPr>
        <p:spPr>
          <a:xfrm>
            <a:off x="8906256"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Oval 17"/>
          <p:cNvSpPr/>
          <p:nvPr/>
        </p:nvSpPr>
        <p:spPr>
          <a:xfrm>
            <a:off x="9774936"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04</a:t>
            </a:r>
          </a:p>
        </p:txBody>
      </p:sp>
      <p:sp>
        <p:nvSpPr>
          <p:cNvPr id="19" name="TextBox 18"/>
          <p:cNvSpPr txBox="1"/>
          <p:nvPr/>
        </p:nvSpPr>
        <p:spPr>
          <a:xfrm>
            <a:off x="8997696" y="2468880"/>
            <a:ext cx="2377440" cy="640080"/>
          </a:xfrm>
          <a:prstGeom prst="rect">
            <a:avLst/>
          </a:prstGeom>
          <a:noFill/>
        </p:spPr>
        <p:txBody>
          <a:bodyPr wrap="none">
            <a:spAutoFit/>
          </a:bodyPr>
          <a:lstStyle/>
          <a:p>
            <a:pPr algn="ctr">
              <a:defRPr sz="1150" b="1">
                <a:solidFill>
                  <a:srgbClr val="1F497D"/>
                </a:solidFill>
                <a:latin typeface="Calibri"/>
              </a:defRPr>
            </a:pPr>
            <a:r>
              <a:t>Phase 4: Abnahme</a:t>
            </a:r>
          </a:p>
          <a:p>
            <a:pPr algn="ctr">
              <a:defRPr sz="950">
                <a:solidFill>
                  <a:srgbClr val="595959"/>
                </a:solidFill>
              </a:defRPr>
            </a:pPr>
            <a:r>
              <a:t>Funktion &amp; Unterschrift</a:t>
            </a:r>
          </a:p>
        </p:txBody>
      </p:sp>
      <p:sp>
        <p:nvSpPr>
          <p:cNvPr id="20" name="TextBox 19"/>
          <p:cNvSpPr txBox="1"/>
          <p:nvPr/>
        </p:nvSpPr>
        <p:spPr>
          <a:xfrm>
            <a:off x="9043416"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Prüfung Netzwerkzugriff &amp; Server-Freigaben</a:t>
            </a:r>
          </a:p>
          <a:p>
            <a:pPr>
              <a:spcAft>
                <a:spcPts val="600"/>
              </a:spcAft>
              <a:defRPr sz="950">
                <a:solidFill>
                  <a:srgbClr val="262626"/>
                </a:solidFill>
                <a:latin typeface="Calibri"/>
              </a:defRPr>
            </a:pPr>
            <a:r>
              <a:t>• CAD-Testrendering &amp; A3-Druckertest</a:t>
            </a:r>
          </a:p>
          <a:p>
            <a:pPr>
              <a:spcAft>
                <a:spcPts val="600"/>
              </a:spcAft>
              <a:defRPr sz="950">
                <a:solidFill>
                  <a:srgbClr val="262626"/>
                </a:solidFill>
                <a:latin typeface="Calibri"/>
              </a:defRPr>
            </a:pPr>
            <a:r>
              <a:t>• Gemeinsame Begehung mit Kundenleitung</a:t>
            </a:r>
          </a:p>
          <a:p>
            <a:pPr>
              <a:spcAft>
                <a:spcPts val="600"/>
              </a:spcAft>
              <a:defRPr sz="950">
                <a:solidFill>
                  <a:srgbClr val="262626"/>
                </a:solidFill>
                <a:latin typeface="Calibri"/>
              </a:defRPr>
            </a:pPr>
            <a:r>
              <a:t>• Vorbehaltlose Unterzeichnung des Protokolls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PROJEKTERGEBNIS</a:t>
            </a:r>
          </a:p>
          <a:p>
            <a:pPr>
              <a:defRPr sz="2000" b="1">
                <a:solidFill>
                  <a:srgbClr val="FFFFFF"/>
                </a:solidFill>
                <a:latin typeface="Calibri"/>
              </a:defRPr>
            </a:pPr>
            <a:r>
              <a:t>Soll-Ist-Vergleich: Termin, Kosten und Qualität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14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914400" y="1554480"/>
            <a:ext cx="3108960" cy="1097280"/>
          </a:xfrm>
          <a:prstGeom prst="roundRect">
            <a:avLst/>
          </a:prstGeom>
          <a:solidFill>
            <a:srgbClr val="DEEBF7"/>
          </a:solidFill>
          <a:ln w="19050">
            <a:solidFill>
              <a:srgbClr val="38572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914400" y="1600200"/>
            <a:ext cx="3108960" cy="1005840"/>
          </a:xfrm>
          <a:prstGeom prst="rect">
            <a:avLst/>
          </a:prstGeom>
          <a:noFill/>
        </p:spPr>
        <p:txBody>
          <a:bodyPr wrap="none">
            <a:spAutoFit/>
          </a:bodyPr>
          <a:lstStyle/>
          <a:p>
            <a:pPr algn="ctr">
              <a:defRPr sz="2400" b="1">
                <a:solidFill>
                  <a:srgbClr val="385723"/>
                </a:solidFill>
                <a:latin typeface="Calibri"/>
              </a:defRPr>
            </a:pPr>
            <a:r>
              <a:t>46 / 48 Tage</a:t>
            </a:r>
          </a:p>
          <a:p>
            <a:pPr algn="ctr">
              <a:defRPr sz="1000" b="1">
                <a:solidFill>
                  <a:srgbClr val="1F497D"/>
                </a:solidFill>
                <a:latin typeface="Calibri"/>
              </a:defRPr>
            </a:pPr>
            <a:r>
              <a:t>- 2 Tage Vorsprung</a:t>
            </a:r>
          </a:p>
        </p:txBody>
      </p:sp>
      <p:sp>
        <p:nvSpPr>
          <p:cNvPr id="8" name="TextBox 7"/>
          <p:cNvSpPr txBox="1"/>
          <p:nvPr/>
        </p:nvSpPr>
        <p:spPr>
          <a:xfrm>
            <a:off x="914400" y="2743200"/>
            <a:ext cx="3108960" cy="365760"/>
          </a:xfrm>
          <a:prstGeom prst="rect">
            <a:avLst/>
          </a:prstGeom>
          <a:noFill/>
        </p:spPr>
        <p:txBody>
          <a:bodyPr wrap="none">
            <a:spAutoFit/>
          </a:bodyPr>
          <a:lstStyle/>
          <a:p>
            <a:pPr>
              <a:defRPr sz="1200" b="1">
                <a:solidFill>
                  <a:srgbClr val="1F497D"/>
                </a:solidFill>
                <a:latin typeface="Calibri"/>
              </a:defRPr>
            </a:pPr>
            <a:r>
              <a:t>Zeitplanung (Termintreue)</a:t>
            </a:r>
          </a:p>
        </p:txBody>
      </p:sp>
      <p:sp>
        <p:nvSpPr>
          <p:cNvPr id="9" name="TextBox 8"/>
          <p:cNvSpPr txBox="1"/>
          <p:nvPr/>
        </p:nvSpPr>
        <p:spPr>
          <a:xfrm>
            <a:off x="914400"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Geplante Projektdauer: </a:t>
            </a:r>
            <a:r>
              <a:rPr b="0">
                <a:solidFill>
                  <a:srgbClr val="262626"/>
                </a:solidFill>
              </a:rPr>
              <a:t>48 Arbeitstage laut Meilensteinplan</a:t>
            </a:r>
          </a:p>
          <a:p>
            <a:pPr>
              <a:spcAft>
                <a:spcPts val="600"/>
              </a:spcAft>
              <a:defRPr sz="950" b="1">
                <a:solidFill>
                  <a:srgbClr val="1F497D"/>
                </a:solidFill>
                <a:latin typeface="Calibri"/>
              </a:defRPr>
            </a:pPr>
            <a:r>
              <a:t>Tatsächliche Dauer: </a:t>
            </a:r>
            <a:r>
              <a:rPr b="0">
                <a:solidFill>
                  <a:srgbClr val="262626"/>
                </a:solidFill>
              </a:rPr>
              <a:t>Erfolgreicher Abschluss in 46 Arbeitstagen</a:t>
            </a:r>
          </a:p>
          <a:p>
            <a:pPr>
              <a:spcAft>
                <a:spcPts val="600"/>
              </a:spcAft>
              <a:defRPr sz="950" b="1">
                <a:solidFill>
                  <a:srgbClr val="1F497D"/>
                </a:solidFill>
                <a:latin typeface="Calibri"/>
              </a:defRPr>
            </a:pPr>
            <a:r>
              <a:t>Erfolgsfaktor: </a:t>
            </a:r>
            <a:r>
              <a:rPr b="0">
                <a:solidFill>
                  <a:srgbClr val="262626"/>
                </a:solidFill>
              </a:rPr>
              <a:t>Vorab-Staging im Labor sparte Montagezeit</a:t>
            </a:r>
          </a:p>
          <a:p>
            <a:pPr>
              <a:spcAft>
                <a:spcPts val="600"/>
              </a:spcAft>
              <a:defRPr sz="950" b="1">
                <a:solidFill>
                  <a:srgbClr val="1F497D"/>
                </a:solidFill>
                <a:latin typeface="Calibri"/>
              </a:defRPr>
            </a:pPr>
            <a:r>
              <a:t>Ergebnis: </a:t>
            </a:r>
            <a:r>
              <a:rPr b="0">
                <a:solidFill>
                  <a:srgbClr val="262626"/>
                </a:solidFill>
              </a:rPr>
              <a:t>Alle Meilensteine wurden pünktlich erreicht</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ounded Rectangle 10"/>
          <p:cNvSpPr/>
          <p:nvPr/>
        </p:nvSpPr>
        <p:spPr>
          <a:xfrm>
            <a:off x="4553712" y="1554480"/>
            <a:ext cx="3108960" cy="1097280"/>
          </a:xfrm>
          <a:prstGeom prst="roundRect">
            <a:avLst/>
          </a:prstGeom>
          <a:solidFill>
            <a:srgbClr val="DEEBF7"/>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553712" y="1600200"/>
            <a:ext cx="3108960" cy="1005840"/>
          </a:xfrm>
          <a:prstGeom prst="rect">
            <a:avLst/>
          </a:prstGeom>
          <a:noFill/>
        </p:spPr>
        <p:txBody>
          <a:bodyPr wrap="none">
            <a:spAutoFit/>
          </a:bodyPr>
          <a:lstStyle/>
          <a:p>
            <a:pPr algn="ctr">
              <a:defRPr sz="2400" b="1">
                <a:solidFill>
                  <a:srgbClr val="1F497D"/>
                </a:solidFill>
                <a:latin typeface="Calibri"/>
              </a:defRPr>
            </a:pPr>
            <a:r>
              <a:t>67.179 €</a:t>
            </a:r>
          </a:p>
          <a:p>
            <a:pPr algn="ctr">
              <a:defRPr sz="1000" b="1">
                <a:solidFill>
                  <a:srgbClr val="1F497D"/>
                </a:solidFill>
                <a:latin typeface="Calibri"/>
              </a:defRPr>
            </a:pPr>
            <a:r>
              <a:t>Im Budgetrahmen</a:t>
            </a:r>
          </a:p>
        </p:txBody>
      </p:sp>
      <p:sp>
        <p:nvSpPr>
          <p:cNvPr id="13" name="TextBox 12"/>
          <p:cNvSpPr txBox="1"/>
          <p:nvPr/>
        </p:nvSpPr>
        <p:spPr>
          <a:xfrm>
            <a:off x="4553712" y="2743200"/>
            <a:ext cx="3108960" cy="365760"/>
          </a:xfrm>
          <a:prstGeom prst="rect">
            <a:avLst/>
          </a:prstGeom>
          <a:noFill/>
        </p:spPr>
        <p:txBody>
          <a:bodyPr wrap="none">
            <a:spAutoFit/>
          </a:bodyPr>
          <a:lstStyle/>
          <a:p>
            <a:pPr>
              <a:defRPr sz="1200" b="1">
                <a:solidFill>
                  <a:srgbClr val="1F497D"/>
                </a:solidFill>
                <a:latin typeface="Calibri"/>
              </a:defRPr>
            </a:pPr>
            <a:r>
              <a:t>Kostenbudget (Finanzen)</a:t>
            </a:r>
          </a:p>
        </p:txBody>
      </p:sp>
      <p:sp>
        <p:nvSpPr>
          <p:cNvPr id="14" name="TextBox 13"/>
          <p:cNvSpPr txBox="1"/>
          <p:nvPr/>
        </p:nvSpPr>
        <p:spPr>
          <a:xfrm>
            <a:off x="4553712"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Kundenbudget (Obergrenze): </a:t>
            </a:r>
            <a:r>
              <a:rPr b="0">
                <a:solidFill>
                  <a:srgbClr val="262626"/>
                </a:solidFill>
              </a:rPr>
              <a:t>Maximal 70.000,00 € Netto</a:t>
            </a:r>
          </a:p>
          <a:p>
            <a:pPr>
              <a:spcAft>
                <a:spcPts val="600"/>
              </a:spcAft>
              <a:defRPr sz="950" b="1">
                <a:solidFill>
                  <a:srgbClr val="1F497D"/>
                </a:solidFill>
                <a:latin typeface="Calibri"/>
              </a:defRPr>
            </a:pPr>
            <a:r>
              <a:t>Tatsächliche Angebotssumme: </a:t>
            </a:r>
            <a:r>
              <a:rPr b="0">
                <a:solidFill>
                  <a:srgbClr val="262626"/>
                </a:solidFill>
              </a:rPr>
              <a:t>67.179,32 € Netto (inkl. Services)</a:t>
            </a:r>
          </a:p>
          <a:p>
            <a:pPr>
              <a:spcAft>
                <a:spcPts val="600"/>
              </a:spcAft>
              <a:defRPr sz="950" b="1">
                <a:solidFill>
                  <a:srgbClr val="1F497D"/>
                </a:solidFill>
                <a:latin typeface="Calibri"/>
              </a:defRPr>
            </a:pPr>
            <a:r>
              <a:t>Kostenvorteil für Kunden: </a:t>
            </a:r>
            <a:r>
              <a:rPr b="0">
                <a:solidFill>
                  <a:srgbClr val="262626"/>
                </a:solidFill>
              </a:rPr>
              <a:t>Ca. 2.820 € Ersparnis gegenüber Limit</a:t>
            </a:r>
          </a:p>
          <a:p>
            <a:pPr>
              <a:spcAft>
                <a:spcPts val="600"/>
              </a:spcAft>
              <a:defRPr sz="950" b="1">
                <a:solidFill>
                  <a:srgbClr val="1F497D"/>
                </a:solidFill>
                <a:latin typeface="Calibri"/>
              </a:defRPr>
            </a:pPr>
            <a:r>
              <a:t>Transparenz: </a:t>
            </a:r>
            <a:r>
              <a:rPr b="0">
                <a:solidFill>
                  <a:srgbClr val="262626"/>
                </a:solidFill>
              </a:rPr>
              <a:t>Vollständige Vorwärtskalkulation vorgelegt</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ounded Rectangle 15"/>
          <p:cNvSpPr/>
          <p:nvPr/>
        </p:nvSpPr>
        <p:spPr>
          <a:xfrm>
            <a:off x="8193024" y="1554480"/>
            <a:ext cx="3108960" cy="1097280"/>
          </a:xfrm>
          <a:prstGeom prst="roundRect">
            <a:avLst/>
          </a:prstGeom>
          <a:solidFill>
            <a:srgbClr val="DEEBF7"/>
          </a:solidFill>
          <a:ln w="19050">
            <a:solidFill>
              <a:srgbClr val="2F559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193024" y="1600200"/>
            <a:ext cx="3108960" cy="1005840"/>
          </a:xfrm>
          <a:prstGeom prst="rect">
            <a:avLst/>
          </a:prstGeom>
          <a:noFill/>
        </p:spPr>
        <p:txBody>
          <a:bodyPr wrap="none">
            <a:spAutoFit/>
          </a:bodyPr>
          <a:lstStyle/>
          <a:p>
            <a:pPr algn="ctr">
              <a:defRPr sz="2400" b="1">
                <a:solidFill>
                  <a:srgbClr val="2F5597"/>
                </a:solidFill>
                <a:latin typeface="Calibri"/>
              </a:defRPr>
            </a:pPr>
            <a:r>
              <a:t>100%</a:t>
            </a:r>
          </a:p>
          <a:p>
            <a:pPr algn="ctr">
              <a:defRPr sz="1000" b="1">
                <a:solidFill>
                  <a:srgbClr val="1F497D"/>
                </a:solidFill>
                <a:latin typeface="Calibri"/>
              </a:defRPr>
            </a:pPr>
            <a:r>
              <a:t>Vorbehaltlos abgenommen</a:t>
            </a:r>
          </a:p>
        </p:txBody>
      </p:sp>
      <p:sp>
        <p:nvSpPr>
          <p:cNvPr id="18" name="TextBox 17"/>
          <p:cNvSpPr txBox="1"/>
          <p:nvPr/>
        </p:nvSpPr>
        <p:spPr>
          <a:xfrm>
            <a:off x="8193024" y="2743200"/>
            <a:ext cx="3108960" cy="365760"/>
          </a:xfrm>
          <a:prstGeom prst="rect">
            <a:avLst/>
          </a:prstGeom>
          <a:noFill/>
        </p:spPr>
        <p:txBody>
          <a:bodyPr wrap="none">
            <a:spAutoFit/>
          </a:bodyPr>
          <a:lstStyle/>
          <a:p>
            <a:pPr>
              <a:defRPr sz="1200" b="1">
                <a:solidFill>
                  <a:srgbClr val="1F497D"/>
                </a:solidFill>
                <a:latin typeface="Calibri"/>
              </a:defRPr>
            </a:pPr>
            <a:r>
              <a:t>Qualität &amp; Kundenzufriedenheit</a:t>
            </a:r>
          </a:p>
        </p:txBody>
      </p:sp>
      <p:sp>
        <p:nvSpPr>
          <p:cNvPr id="19" name="TextBox 18"/>
          <p:cNvSpPr txBox="1"/>
          <p:nvPr/>
        </p:nvSpPr>
        <p:spPr>
          <a:xfrm>
            <a:off x="8193024"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Lieferumfang: </a:t>
            </a:r>
            <a:r>
              <a:rPr b="0">
                <a:solidFill>
                  <a:srgbClr val="262626"/>
                </a:solidFill>
              </a:rPr>
              <a:t>16 von 16 Arbeitsplätzen voll funktionsfähig</a:t>
            </a:r>
          </a:p>
          <a:p>
            <a:pPr>
              <a:spcAft>
                <a:spcPts val="600"/>
              </a:spcAft>
              <a:defRPr sz="950" b="1">
                <a:solidFill>
                  <a:srgbClr val="1F497D"/>
                </a:solidFill>
                <a:latin typeface="Calibri"/>
              </a:defRPr>
            </a:pPr>
            <a:r>
              <a:t>Mängelmanagement: </a:t>
            </a:r>
            <a:r>
              <a:rPr b="0">
                <a:solidFill>
                  <a:srgbClr val="262626"/>
                </a:solidFill>
              </a:rPr>
              <a:t>Transportschäden fristgerecht getauscht</a:t>
            </a:r>
          </a:p>
          <a:p>
            <a:pPr>
              <a:spcAft>
                <a:spcPts val="600"/>
              </a:spcAft>
              <a:defRPr sz="950" b="1">
                <a:solidFill>
                  <a:srgbClr val="1F497D"/>
                </a:solidFill>
                <a:latin typeface="Calibri"/>
              </a:defRPr>
            </a:pPr>
            <a:r>
              <a:t>Ergonomie: </a:t>
            </a:r>
            <a:r>
              <a:rPr b="0">
                <a:solidFill>
                  <a:srgbClr val="262626"/>
                </a:solidFill>
              </a:rPr>
              <a:t>ArbStättV-konforme Arbeitsplatzgestaltung</a:t>
            </a:r>
          </a:p>
          <a:p>
            <a:pPr>
              <a:spcAft>
                <a:spcPts val="600"/>
              </a:spcAft>
              <a:defRPr sz="950" b="1">
                <a:solidFill>
                  <a:srgbClr val="1F497D"/>
                </a:solidFill>
                <a:latin typeface="Calibri"/>
              </a:defRPr>
            </a:pPr>
            <a:r>
              <a:t>Abnahmeprotokoll: </a:t>
            </a:r>
            <a:r>
              <a:rPr b="0">
                <a:solidFill>
                  <a:srgbClr val="262626"/>
                </a:solidFill>
              </a:rPr>
              <a:t>Durch VektorPlan GmbH ohne Mängel rügellos gezeichnet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REFLEXION</a:t>
            </a:r>
          </a:p>
          <a:p>
            <a:pPr>
              <a:defRPr sz="2000" b="1">
                <a:solidFill>
                  <a:srgbClr val="FFFFFF"/>
                </a:solidFill>
                <a:latin typeface="Calibri"/>
              </a:defRPr>
            </a:pPr>
            <a:r>
              <a:t>Lessons Learned &amp; Fazit unseres Teams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15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lief besonders gut im Projekt?</a:t>
            </a:r>
          </a:p>
        </p:txBody>
      </p:sp>
      <p:sp>
        <p:nvSpPr>
          <p:cNvPr id="7" name="TextBox 6"/>
          <p:cNvSpPr txBox="1"/>
          <p:nvPr/>
        </p:nvSpPr>
        <p:spPr>
          <a:xfrm>
            <a:off x="960120" y="2103120"/>
            <a:ext cx="4800600" cy="3840480"/>
          </a:xfrm>
          <a:prstGeom prst="rect">
            <a:avLst/>
          </a:prstGeom>
          <a:noFill/>
        </p:spPr>
        <p:txBody>
          <a:bodyPr wrap="square" lIns="0" rIns="0" tIns="0" bIns="0">
            <a:spAutoFit/>
          </a:bodyPr>
          <a:lstStyle/>
          <a:p>
            <a:pPr>
              <a:spcAft>
                <a:spcPts val="1000"/>
              </a:spcAft>
              <a:defRPr sz="1050" b="1">
                <a:solidFill>
                  <a:srgbClr val="385723"/>
                </a:solidFill>
                <a:latin typeface="Calibri"/>
              </a:defRPr>
            </a:pPr>
            <a:r>
              <a:t>✔ Nutzwertanalyse als Entscheidungshilfe: </a:t>
            </a:r>
            <a:r>
              <a:rPr b="0">
                <a:solidFill>
                  <a:srgbClr val="262626"/>
                </a:solidFill>
              </a:rPr>
              <a:t>Die mathematische Bewertung sicherte die optimale CAD-Grafikkarte (RTX 4000 Ada) und den besten Monitor.</a:t>
            </a:r>
          </a:p>
          <a:p>
            <a:pPr>
              <a:spcAft>
                <a:spcPts val="1000"/>
              </a:spcAft>
              <a:defRPr sz="1050" b="1">
                <a:solidFill>
                  <a:srgbClr val="385723"/>
                </a:solidFill>
                <a:latin typeface="Calibri"/>
              </a:defRPr>
            </a:pPr>
            <a:r>
              <a:t>✔ Strikte Wareneingangsprüfung (§ 377 HGB): </a:t>
            </a:r>
            <a:r>
              <a:rPr b="0">
                <a:solidFill>
                  <a:srgbClr val="262626"/>
                </a:solidFill>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t>✔ Gute Teamarbeit &amp; klare Rollen: </a:t>
            </a:r>
            <a:r>
              <a:rPr b="0">
                <a:solidFill>
                  <a:srgbClr val="262626"/>
                </a:solidFill>
              </a:rPr>
              <a:t>Die klare Aufteilung auf Jan, Mathias, Marian, Marco und Siyar verhinderte Doppelarbeit.</a:t>
            </a:r>
          </a:p>
          <a:p>
            <a:pPr>
              <a:spcAft>
                <a:spcPts val="1000"/>
              </a:spcAft>
              <a:defRPr sz="1050" b="1">
                <a:solidFill>
                  <a:srgbClr val="385723"/>
                </a:solidFill>
                <a:latin typeface="Calibri"/>
              </a:defRPr>
            </a:pPr>
            <a:r>
              <a:t>✔ Vorab-Installation im Systemhaus: </a:t>
            </a:r>
            <a:r>
              <a:rPr b="0">
                <a:solidFill>
                  <a:srgbClr val="262626"/>
                </a:solidFill>
              </a:rPr>
              <a:t>Weil alle Rechner im Labor vorgeflasht wurden, dauerte der Aufbau beim Kunden nur 3 statt 5 Tage.</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nehmen wir für nächste Projekte mit?</a:t>
            </a:r>
          </a:p>
        </p:txBody>
      </p:sp>
      <p:sp>
        <p:nvSpPr>
          <p:cNvPr id="10" name="TextBox 9"/>
          <p:cNvSpPr txBox="1"/>
          <p:nvPr/>
        </p:nvSpPr>
        <p:spPr>
          <a:xfrm>
            <a:off x="6446520" y="2103120"/>
            <a:ext cx="4800600" cy="3840480"/>
          </a:xfrm>
          <a:prstGeom prst="rect">
            <a:avLst/>
          </a:prstGeom>
          <a:noFill/>
        </p:spPr>
        <p:txBody>
          <a:bodyPr wrap="square" lIns="0" rIns="0" tIns="0" bIns="0">
            <a:spAutoFit/>
          </a:bodyPr>
          <a:lstStyle/>
          <a:p>
            <a:pPr>
              <a:spcAft>
                <a:spcPts val="1000"/>
              </a:spcAft>
              <a:defRPr sz="1050" b="1">
                <a:solidFill>
                  <a:srgbClr val="1F497D"/>
                </a:solidFill>
                <a:latin typeface="Calibri"/>
              </a:defRPr>
            </a:pPr>
            <a:r>
              <a:t>➔ Netzwerk-Check noch früher machen: </a:t>
            </a:r>
            <a:r>
              <a:rPr b="0">
                <a:solidFill>
                  <a:srgbClr val="262626"/>
                </a:solidFill>
              </a:rPr>
              <a:t>Die Switch-Ports und Dosen vor Ort sollten wir künftig schon vor der Bestellung gemeinsam mit dem Kunden begehen.</a:t>
            </a:r>
          </a:p>
          <a:p>
            <a:pPr>
              <a:spcAft>
                <a:spcPts val="1000"/>
              </a:spcAft>
              <a:defRPr sz="1050" b="1">
                <a:solidFill>
                  <a:srgbClr val="1F497D"/>
                </a:solidFill>
                <a:latin typeface="Calibri"/>
              </a:defRPr>
            </a:pPr>
            <a:r>
              <a:t>➔ Pufferzeiten für Retouren einplanen: </a:t>
            </a:r>
            <a:r>
              <a:rPr b="0">
                <a:solidFill>
                  <a:srgbClr val="262626"/>
                </a:solidFill>
              </a:rPr>
              <a:t>Für RMA-Austauschprozesse sollte im Netzplan immer ein festes Zeitfenster von 3-5 Tagen reserviert sein.</a:t>
            </a:r>
          </a:p>
          <a:p>
            <a:pPr>
              <a:spcAft>
                <a:spcPts val="1000"/>
              </a:spcAft>
              <a:defRPr sz="1050" b="1">
                <a:solidFill>
                  <a:srgbClr val="1F497D"/>
                </a:solidFill>
                <a:latin typeface="Calibri"/>
              </a:defRPr>
            </a:pPr>
            <a:r>
              <a:t>➔ Inbetriebnahme-Checkliste beibehalten: </a:t>
            </a:r>
            <a:r>
              <a:rPr b="0">
                <a:solidFill>
                  <a:srgbClr val="262626"/>
                </a:solidFill>
              </a:rPr>
              <a:t>Unsere erstellte Checkliste nach ArbStättV war Gold wert und wird als Standardvorlage übernommen.</a:t>
            </a:r>
          </a:p>
          <a:p>
            <a:pPr>
              <a:spcAft>
                <a:spcPts val="1000"/>
              </a:spcAft>
              <a:defRPr sz="1050" b="1">
                <a:solidFill>
                  <a:srgbClr val="1F497D"/>
                </a:solidFill>
                <a:latin typeface="Calibri"/>
              </a:defRPr>
            </a:pPr>
            <a:r>
              <a:t>➔ Mitarbeiter-Einweisung standardisieren: </a:t>
            </a:r>
            <a:r>
              <a:rPr b="0">
                <a:solidFill>
                  <a:srgbClr val="262626"/>
                </a:solidFill>
              </a:rPr>
              <a:t>Kurze Bedienungsanleitungen für den A3-Drucker direkt als PDF auf allen Desktops hinterlegen.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Rounded Rectangle 2"/>
          <p:cNvSpPr/>
          <p:nvPr/>
        </p:nvSpPr>
        <p:spPr>
          <a:xfrm>
            <a:off x="1645920" y="822960"/>
            <a:ext cx="8899855" cy="5212080"/>
          </a:xfrm>
          <a:prstGeom prst="roundRect">
            <a:avLst/>
          </a:prstGeom>
          <a:solidFill>
            <a:srgbClr val="2F5597"/>
          </a:solidFill>
          <a:ln w="254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1828800" y="1097280"/>
            <a:ext cx="8534095" cy="1280160"/>
          </a:xfrm>
          <a:prstGeom prst="rect">
            <a:avLst/>
          </a:prstGeom>
          <a:noFill/>
        </p:spPr>
        <p:txBody>
          <a:bodyPr wrap="square">
            <a:spAutoFit/>
          </a:bodyPr>
          <a:lstStyle/>
          <a:p>
            <a:pPr algn="ctr">
              <a:defRPr sz="3200" b="1">
                <a:solidFill>
                  <a:srgbClr val="FFFFFF"/>
                </a:solidFill>
                <a:latin typeface="Calibri"/>
              </a:defRPr>
            </a:pPr>
            <a:r>
              <a:t>Vielen Dank für Ihre Aufmerksamkeit!</a:t>
            </a:r>
          </a:p>
          <a:p>
            <a:pPr algn="ctr">
              <a:defRPr sz="1500">
                <a:solidFill>
                  <a:srgbClr val="DEEBF7"/>
                </a:solidFill>
              </a:defRPr>
            </a:pPr>
            <a:r>
              <a:t>Wir freuen uns auf Ihre Fragen und die anschließende Diskussion.</a:t>
            </a:r>
          </a:p>
        </p:txBody>
      </p:sp>
      <p:sp>
        <p:nvSpPr>
          <p:cNvPr id="5" name="Rectangle 4"/>
          <p:cNvSpPr/>
          <p:nvPr/>
        </p:nvSpPr>
        <p:spPr>
          <a:xfrm>
            <a:off x="3352190" y="2560320"/>
            <a:ext cx="5486400" cy="18288"/>
          </a:xfrm>
          <a:prstGeom prst="rect">
            <a:avLst/>
          </a:prstGeom>
          <a:solidFill>
            <a:srgbClr val="B4C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1828800" y="2743200"/>
            <a:ext cx="8534095" cy="1188720"/>
          </a:xfrm>
          <a:prstGeom prst="rect">
            <a:avLst/>
          </a:prstGeom>
          <a:noFill/>
        </p:spPr>
        <p:txBody>
          <a:bodyPr wrap="square">
            <a:spAutoFit/>
          </a:bodyPr>
          <a:lstStyle/>
          <a:p>
            <a:pPr algn="ctr">
              <a:defRPr sz="1600" b="1">
                <a:solidFill>
                  <a:srgbClr val="FFFFFF"/>
                </a:solidFill>
                <a:latin typeface="Calibri"/>
              </a:defRPr>
            </a:pPr>
            <a:r>
              <a:t>NextLevel IT Solutions GmbH</a:t>
            </a:r>
          </a:p>
          <a:p>
            <a:pPr algn="ctr">
              <a:defRPr sz="1100">
                <a:solidFill>
                  <a:srgbClr val="DEEBF7"/>
                </a:solidFill>
              </a:defRPr>
            </a:pPr>
            <a:r>
              <a:t>Technikstraße 42  •  50667 Köln  •  Tel: 0221 / 123 456-0  •  E-Mail: info@nextlevel-it.de</a:t>
            </a:r>
          </a:p>
        </p:txBody>
      </p:sp>
      <p:sp>
        <p:nvSpPr>
          <p:cNvPr id="7" name="Rounded Rectangle 6"/>
          <p:cNvSpPr/>
          <p:nvPr/>
        </p:nvSpPr>
        <p:spPr>
          <a:xfrm>
            <a:off x="2011680" y="4114800"/>
            <a:ext cx="8168335" cy="1645920"/>
          </a:xfrm>
          <a:prstGeom prst="roundRect">
            <a:avLst/>
          </a:prstGeom>
          <a:solidFill>
            <a:srgbClr val="1F497D"/>
          </a:solidFill>
          <a:ln w="1270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2103120" y="4206240"/>
            <a:ext cx="7985455" cy="1463040"/>
          </a:xfrm>
          <a:prstGeom prst="rect">
            <a:avLst/>
          </a:prstGeom>
          <a:noFill/>
        </p:spPr>
        <p:txBody>
          <a:bodyPr wrap="square">
            <a:spAutoFit/>
          </a:bodyPr>
          <a:lstStyle/>
          <a:p>
            <a:pPr algn="ctr">
              <a:defRPr sz="1100" b="1">
                <a:solidFill>
                  <a:srgbClr val="DEEBF7"/>
                </a:solidFill>
                <a:latin typeface="Calibri"/>
              </a:defRPr>
            </a:pPr>
            <a:r>
              <a:t>PROJEKTTEAM (HANDLUNGSAUFGABE 2026):</a:t>
            </a:r>
          </a:p>
          <a:p>
            <a:pPr algn="ctr">
              <a:defRPr sz="1150">
                <a:solidFill>
                  <a:srgbClr val="FFFFFF"/>
                </a:solidFill>
              </a:defRPr>
            </a:pPr>
            <a:r>
              <a:t>Jan Kluth (Projektleiter)  •  Mathias Vonau (Techn. Planer)  •  Marian Bolecke (Kalkulation)</a:t>
            </a:r>
          </a:p>
          <a:p>
            <a:pPr algn="ctr">
              <a:defRPr sz="1150">
                <a:solidFill>
                  <a:srgbClr val="FFFFFF"/>
                </a:solidFill>
              </a:defRPr>
            </a:pPr>
            <a:r>
              <a:t>Marco Schmidt (Qualitätsmanagement)  •  Siyar (Berechnungen &amp; Dokumentation)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