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Projektstrukturplan nach DIN 69901.</a:t>
            </a:r>
          </a:p>
          <a:p/>
          <a:p>
            <a:r>
              <a:t>Als 'Plan der Pläne' gliedert er unser Projekt in fünf logische Säulen: Hardware, Software, Netzwerk/Server, Qualitätsmanagement und Rollout/Projektleitung. Insgesamt haben wir 28 konkrete Arbeitspakete definiert. Jeder Bereich hat einen festen Verantwortlichen. Das verhindert Kompetenzgerangel und stellt sicher, dass kein Detail – wie die Patchkabel oder die BSI-Löschung des Altdruckers – vergessen wird.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Dokumentation)</a:t>
            </a:r>
          </a:p>
          <a:p/>
          <a:p>
            <a:r>
              <a:t>Hallo zusammen! Der Kunde hat uns im Vorfeld um zwei konkrete Berechnungen für seine Budgetplanung gebeten:</a:t>
            </a:r>
          </a:p>
          <a:p/>
          <a:p>
            <a:r>
              <a:t>Erstens der Speicherplatz auf dem Fileserver: Bei 16 Plätzen fallen täglich 350 MiB CAD-Daten an. Für ein Quartal mit 65 Arbeitstagen ergibt das 364.000 MiB. Geteilt durch den IEC-Binärfaktor 1.024 sind das 355,47 GiB. Aufgerundet auf volle GiB und mit dem geforderten Sicherheitszuschlag von 25% muss der Server für genau 445 GiB ausgelegt werden.</a:t>
            </a:r>
          </a:p>
          <a:p/>
          <a:p>
            <a:r>
              <a:t>Zweitens die Energiekosten: Die 12 Standard-PCs ziehen je 140 W, die 4 CAD-Rechner je 320 W. Zusammen sind das 2.960 W. Bei 220 Arbeitstagen à 8,5 Stunden Laufzeit verbrauchen alle 16 Plätze jährlich 5.535,2 kWh. Bei einem Strompreis von 0,32 € pro kWh entstehen Stromkosten von exakt 1.771,26 € im Jahr. Marco übernimmt nun die Qualitätssicherung!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sp>
        <p:nvSpPr>
          <p:cNvPr id="5" name="Rounded Rectangle 4"/>
          <p:cNvSpPr/>
          <p:nvPr/>
        </p:nvSpPr>
        <p:spPr>
          <a:xfrm>
            <a:off x="3352190" y="1280160"/>
            <a:ext cx="5486400" cy="685800"/>
          </a:xfrm>
          <a:prstGeom prst="roundRect">
            <a:avLst/>
          </a:prstGeom>
          <a:solidFill>
            <a:srgbClr val="1F497D"/>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1.0 IT-Ausstattung Planungs- und Konstruktionsbüro</a:t>
            </a:r>
          </a:p>
          <a:p>
            <a:pPr algn="ctr">
              <a:defRPr sz="1000">
                <a:solidFill>
                  <a:srgbClr val="DEEBF7"/>
                </a:solidFill>
                <a:latin typeface="Calibri"/>
              </a:defRPr>
            </a:pPr>
            <a:r>
              <a:t>Projektleiter: Jan Kluth  |  NextLevel IT Solutions GmbH</a:t>
            </a:r>
          </a:p>
        </p:txBody>
      </p:sp>
      <p:sp>
        <p:nvSpPr>
          <p:cNvPr id="6" name="Rounded Rectangle 5"/>
          <p:cNvSpPr/>
          <p:nvPr/>
        </p:nvSpPr>
        <p:spPr>
          <a:xfrm>
            <a:off x="731520"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Rectangle 6"/>
          <p:cNvSpPr/>
          <p:nvPr/>
        </p:nvSpPr>
        <p:spPr>
          <a:xfrm>
            <a:off x="731520"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731520" y="2240280"/>
            <a:ext cx="2057400" cy="365760"/>
          </a:xfrm>
          <a:prstGeom prst="rect">
            <a:avLst/>
          </a:prstGeom>
          <a:noFill/>
        </p:spPr>
        <p:txBody>
          <a:bodyPr wrap="none">
            <a:spAutoFit/>
          </a:bodyPr>
          <a:lstStyle/>
          <a:p>
            <a:pPr algn="ctr">
              <a:defRPr sz="1100" b="1">
                <a:solidFill>
                  <a:srgbClr val="FFFFFF"/>
                </a:solidFill>
                <a:latin typeface="Calibri"/>
              </a:defRPr>
            </a:pPr>
            <a:r>
              <a:t>1.1 Hardware</a:t>
            </a:r>
          </a:p>
        </p:txBody>
      </p:sp>
      <p:sp>
        <p:nvSpPr>
          <p:cNvPr id="9" name="TextBox 8"/>
          <p:cNvSpPr txBox="1"/>
          <p:nvPr/>
        </p:nvSpPr>
        <p:spPr>
          <a:xfrm>
            <a:off x="731520" y="2542032"/>
            <a:ext cx="2057400" cy="274320"/>
          </a:xfrm>
          <a:prstGeom prst="rect">
            <a:avLst/>
          </a:prstGeom>
          <a:noFill/>
        </p:spPr>
        <p:txBody>
          <a:bodyPr wrap="none">
            <a:spAutoFit/>
          </a:bodyPr>
          <a:lstStyle/>
          <a:p>
            <a:pPr algn="ctr">
              <a:defRPr sz="950">
                <a:solidFill>
                  <a:srgbClr val="DEEBF7"/>
                </a:solidFill>
                <a:latin typeface="Calibri"/>
              </a:defRPr>
            </a:pPr>
            <a:r>
              <a:t>Leitung: Marian Bolecke</a:t>
            </a:r>
          </a:p>
        </p:txBody>
      </p:sp>
      <p:sp>
        <p:nvSpPr>
          <p:cNvPr id="10" name="TextBox 9"/>
          <p:cNvSpPr txBox="1"/>
          <p:nvPr/>
        </p:nvSpPr>
        <p:spPr>
          <a:xfrm>
            <a:off x="822960"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1.1.1 12x Standard-PCs</a:t>
            </a:r>
          </a:p>
          <a:p>
            <a:pPr>
              <a:spcAft>
                <a:spcPts val="400"/>
              </a:spcAft>
              <a:defRPr sz="950">
                <a:solidFill>
                  <a:srgbClr val="262626"/>
                </a:solidFill>
                <a:latin typeface="Calibri"/>
              </a:defRPr>
            </a:pPr>
            <a:r>
              <a:t>• 1.1.2 4x CAD-Workstations</a:t>
            </a:r>
          </a:p>
          <a:p>
            <a:pPr>
              <a:spcAft>
                <a:spcPts val="400"/>
              </a:spcAft>
              <a:defRPr sz="950">
                <a:solidFill>
                  <a:srgbClr val="262626"/>
                </a:solidFill>
                <a:latin typeface="Calibri"/>
              </a:defRPr>
            </a:pPr>
            <a:r>
              <a:t>• 1.1.3 32x Monitore (WQHD)</a:t>
            </a:r>
          </a:p>
          <a:p>
            <a:pPr>
              <a:spcAft>
                <a:spcPts val="400"/>
              </a:spcAft>
              <a:defRPr sz="950">
                <a:solidFill>
                  <a:srgbClr val="262626"/>
                </a:solidFill>
                <a:latin typeface="Calibri"/>
              </a:defRPr>
            </a:pPr>
            <a:r>
              <a:t>• 1.1.4 16x Funk-Eingabesets</a:t>
            </a:r>
          </a:p>
          <a:p>
            <a:pPr>
              <a:spcAft>
                <a:spcPts val="400"/>
              </a:spcAft>
              <a:defRPr sz="950">
                <a:solidFill>
                  <a:srgbClr val="262626"/>
                </a:solidFill>
                <a:latin typeface="Calibri"/>
              </a:defRPr>
            </a:pPr>
            <a:r>
              <a:t>• 1.1.5 16x Externe 1TB SSDs</a:t>
            </a:r>
          </a:p>
          <a:p>
            <a:pPr>
              <a:spcAft>
                <a:spcPts val="400"/>
              </a:spcAft>
              <a:defRPr sz="950">
                <a:solidFill>
                  <a:srgbClr val="262626"/>
                </a:solidFill>
                <a:latin typeface="Calibri"/>
              </a:defRPr>
            </a:pPr>
            <a:r>
              <a:t>• 1.1.6 1x Farblaser-MFP A3</a:t>
            </a:r>
          </a:p>
        </p:txBody>
      </p:sp>
      <p:sp>
        <p:nvSpPr>
          <p:cNvPr id="11" name="Rounded Rectangle 10"/>
          <p:cNvSpPr/>
          <p:nvPr/>
        </p:nvSpPr>
        <p:spPr>
          <a:xfrm>
            <a:off x="2907791"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Rectangle 11"/>
          <p:cNvSpPr/>
          <p:nvPr/>
        </p:nvSpPr>
        <p:spPr>
          <a:xfrm>
            <a:off x="2907791"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3" name="TextBox 12"/>
          <p:cNvSpPr txBox="1"/>
          <p:nvPr/>
        </p:nvSpPr>
        <p:spPr>
          <a:xfrm>
            <a:off x="2907791" y="2240280"/>
            <a:ext cx="2057400" cy="365760"/>
          </a:xfrm>
          <a:prstGeom prst="rect">
            <a:avLst/>
          </a:prstGeom>
          <a:noFill/>
        </p:spPr>
        <p:txBody>
          <a:bodyPr wrap="none">
            <a:spAutoFit/>
          </a:bodyPr>
          <a:lstStyle/>
          <a:p>
            <a:pPr algn="ctr">
              <a:defRPr sz="1100" b="1">
                <a:solidFill>
                  <a:srgbClr val="FFFFFF"/>
                </a:solidFill>
                <a:latin typeface="Calibri"/>
              </a:defRPr>
            </a:pPr>
            <a:r>
              <a:t>1.2 Software</a:t>
            </a:r>
          </a:p>
        </p:txBody>
      </p:sp>
      <p:sp>
        <p:nvSpPr>
          <p:cNvPr id="14" name="TextBox 13"/>
          <p:cNvSpPr txBox="1"/>
          <p:nvPr/>
        </p:nvSpPr>
        <p:spPr>
          <a:xfrm>
            <a:off x="2907791" y="2542032"/>
            <a:ext cx="2057400" cy="274320"/>
          </a:xfrm>
          <a:prstGeom prst="rect">
            <a:avLst/>
          </a:prstGeom>
          <a:noFill/>
        </p:spPr>
        <p:txBody>
          <a:bodyPr wrap="none">
            <a:spAutoFit/>
          </a:bodyPr>
          <a:lstStyle/>
          <a:p>
            <a:pPr algn="ctr">
              <a:defRPr sz="950">
                <a:solidFill>
                  <a:srgbClr val="DEEBF7"/>
                </a:solidFill>
                <a:latin typeface="Calibri"/>
              </a:defRPr>
            </a:pPr>
            <a:r>
              <a:t>Leitung: Mathias Vonau</a:t>
            </a:r>
          </a:p>
        </p:txBody>
      </p:sp>
      <p:sp>
        <p:nvSpPr>
          <p:cNvPr id="15" name="TextBox 14"/>
          <p:cNvSpPr txBox="1"/>
          <p:nvPr/>
        </p:nvSpPr>
        <p:spPr>
          <a:xfrm>
            <a:off x="2999231"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1.2.1 16x Windows 11 Pro</a:t>
            </a:r>
          </a:p>
          <a:p>
            <a:pPr>
              <a:spcAft>
                <a:spcPts val="400"/>
              </a:spcAft>
              <a:defRPr sz="950">
                <a:solidFill>
                  <a:srgbClr val="262626"/>
                </a:solidFill>
                <a:latin typeface="Calibri"/>
              </a:defRPr>
            </a:pPr>
            <a:r>
              <a:t>• 1.2.2 16x M365 Business</a:t>
            </a:r>
          </a:p>
          <a:p>
            <a:pPr>
              <a:spcAft>
                <a:spcPts val="400"/>
              </a:spcAft>
              <a:defRPr sz="950">
                <a:solidFill>
                  <a:srgbClr val="262626"/>
                </a:solidFill>
                <a:latin typeface="Calibri"/>
              </a:defRPr>
            </a:pPr>
            <a:r>
              <a:t>• 1.2.3 16x Adobe Acrobat Pro</a:t>
            </a:r>
          </a:p>
          <a:p>
            <a:pPr>
              <a:spcAft>
                <a:spcPts val="400"/>
              </a:spcAft>
              <a:defRPr sz="950">
                <a:solidFill>
                  <a:srgbClr val="262626"/>
                </a:solidFill>
                <a:latin typeface="Calibri"/>
              </a:defRPr>
            </a:pPr>
            <a:r>
              <a:t>• 1.2.4 16x ESET PROTECT</a:t>
            </a:r>
          </a:p>
          <a:p>
            <a:pPr>
              <a:spcAft>
                <a:spcPts val="400"/>
              </a:spcAft>
              <a:defRPr sz="950">
                <a:solidFill>
                  <a:srgbClr val="262626"/>
                </a:solidFill>
                <a:latin typeface="Calibri"/>
              </a:defRPr>
            </a:pPr>
            <a:r>
              <a:t>• 1.2.5 Staging-Images</a:t>
            </a:r>
          </a:p>
          <a:p>
            <a:pPr>
              <a:spcAft>
                <a:spcPts val="400"/>
              </a:spcAft>
              <a:defRPr sz="950">
                <a:solidFill>
                  <a:srgbClr val="262626"/>
                </a:solidFill>
                <a:latin typeface="Calibri"/>
              </a:defRPr>
            </a:pPr>
            <a:r>
              <a:t>• 1.2.6 Lizenzdokumentation</a:t>
            </a:r>
          </a:p>
        </p:txBody>
      </p:sp>
      <p:sp>
        <p:nvSpPr>
          <p:cNvPr id="16" name="Rounded Rectangle 15"/>
          <p:cNvSpPr/>
          <p:nvPr/>
        </p:nvSpPr>
        <p:spPr>
          <a:xfrm>
            <a:off x="5084064"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Rectangle 16"/>
          <p:cNvSpPr/>
          <p:nvPr/>
        </p:nvSpPr>
        <p:spPr>
          <a:xfrm>
            <a:off x="5084064"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5084064" y="2240280"/>
            <a:ext cx="2057400" cy="365760"/>
          </a:xfrm>
          <a:prstGeom prst="rect">
            <a:avLst/>
          </a:prstGeom>
          <a:noFill/>
        </p:spPr>
        <p:txBody>
          <a:bodyPr wrap="none">
            <a:spAutoFit/>
          </a:bodyPr>
          <a:lstStyle/>
          <a:p>
            <a:pPr algn="ctr">
              <a:defRPr sz="1100" b="1">
                <a:solidFill>
                  <a:srgbClr val="FFFFFF"/>
                </a:solidFill>
                <a:latin typeface="Calibri"/>
              </a:defRPr>
            </a:pPr>
            <a:r>
              <a:t>1.3 Netzwerk/Server</a:t>
            </a:r>
          </a:p>
        </p:txBody>
      </p:sp>
      <p:sp>
        <p:nvSpPr>
          <p:cNvPr id="19" name="TextBox 18"/>
          <p:cNvSpPr txBox="1"/>
          <p:nvPr/>
        </p:nvSpPr>
        <p:spPr>
          <a:xfrm>
            <a:off x="5084064" y="2542032"/>
            <a:ext cx="2057400" cy="274320"/>
          </a:xfrm>
          <a:prstGeom prst="rect">
            <a:avLst/>
          </a:prstGeom>
          <a:noFill/>
        </p:spPr>
        <p:txBody>
          <a:bodyPr wrap="none">
            <a:spAutoFit/>
          </a:bodyPr>
          <a:lstStyle/>
          <a:p>
            <a:pPr algn="ctr">
              <a:defRPr sz="950">
                <a:solidFill>
                  <a:srgbClr val="DEEBF7"/>
                </a:solidFill>
                <a:latin typeface="Calibri"/>
              </a:defRPr>
            </a:pPr>
            <a:r>
              <a:t>Leitung: Siyar</a:t>
            </a:r>
          </a:p>
        </p:txBody>
      </p:sp>
      <p:sp>
        <p:nvSpPr>
          <p:cNvPr id="20" name="TextBox 19"/>
          <p:cNvSpPr txBox="1"/>
          <p:nvPr/>
        </p:nvSpPr>
        <p:spPr>
          <a:xfrm>
            <a:off x="5175504"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1.3.1 16x Cat.6A Patchkabel</a:t>
            </a:r>
          </a:p>
          <a:p>
            <a:pPr>
              <a:spcAft>
                <a:spcPts val="400"/>
              </a:spcAft>
              <a:defRPr sz="950">
                <a:solidFill>
                  <a:srgbClr val="262626"/>
                </a:solidFill>
                <a:latin typeface="Calibri"/>
              </a:defRPr>
            </a:pPr>
            <a:r>
              <a:t>• 1.3.2 Serverbedarf (445 GiB)</a:t>
            </a:r>
          </a:p>
          <a:p>
            <a:pPr>
              <a:spcAft>
                <a:spcPts val="400"/>
              </a:spcAft>
              <a:defRPr sz="950">
                <a:solidFill>
                  <a:srgbClr val="262626"/>
                </a:solidFill>
                <a:latin typeface="Calibri"/>
              </a:defRPr>
            </a:pPr>
            <a:r>
              <a:t>• 1.3.3 Stromkosten (1.771 €)</a:t>
            </a:r>
          </a:p>
          <a:p>
            <a:pPr>
              <a:spcAft>
                <a:spcPts val="400"/>
              </a:spcAft>
              <a:defRPr sz="950">
                <a:solidFill>
                  <a:srgbClr val="262626"/>
                </a:solidFill>
                <a:latin typeface="Calibri"/>
              </a:defRPr>
            </a:pPr>
            <a:r>
              <a:t>• 1.3.4 Switchport-Planung</a:t>
            </a:r>
          </a:p>
          <a:p>
            <a:pPr>
              <a:spcAft>
                <a:spcPts val="400"/>
              </a:spcAft>
              <a:defRPr sz="950">
                <a:solidFill>
                  <a:srgbClr val="262626"/>
                </a:solidFill>
                <a:latin typeface="Calibri"/>
              </a:defRPr>
            </a:pPr>
            <a:r>
              <a:t>• 1.3.5 Server-Sync Test</a:t>
            </a:r>
          </a:p>
          <a:p>
            <a:pPr>
              <a:spcAft>
                <a:spcPts val="400"/>
              </a:spcAft>
              <a:defRPr sz="950">
                <a:solidFill>
                  <a:srgbClr val="262626"/>
                </a:solidFill>
                <a:latin typeface="Calibri"/>
              </a:defRPr>
            </a:pPr>
            <a:r>
              <a:t>• 1.3.6 Netzlaufwerke Setup</a:t>
            </a:r>
          </a:p>
        </p:txBody>
      </p:sp>
      <p:sp>
        <p:nvSpPr>
          <p:cNvPr id="21" name="Rounded Rectangle 20"/>
          <p:cNvSpPr/>
          <p:nvPr/>
        </p:nvSpPr>
        <p:spPr>
          <a:xfrm>
            <a:off x="7260336"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Rectangle 21"/>
          <p:cNvSpPr/>
          <p:nvPr/>
        </p:nvSpPr>
        <p:spPr>
          <a:xfrm>
            <a:off x="7260336"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3" name="TextBox 22"/>
          <p:cNvSpPr txBox="1"/>
          <p:nvPr/>
        </p:nvSpPr>
        <p:spPr>
          <a:xfrm>
            <a:off x="7260336" y="2240280"/>
            <a:ext cx="2057400" cy="365760"/>
          </a:xfrm>
          <a:prstGeom prst="rect">
            <a:avLst/>
          </a:prstGeom>
          <a:noFill/>
        </p:spPr>
        <p:txBody>
          <a:bodyPr wrap="none">
            <a:spAutoFit/>
          </a:bodyPr>
          <a:lstStyle/>
          <a:p>
            <a:pPr algn="ctr">
              <a:defRPr sz="1100" b="1">
                <a:solidFill>
                  <a:srgbClr val="FFFFFF"/>
                </a:solidFill>
                <a:latin typeface="Calibri"/>
              </a:defRPr>
            </a:pPr>
            <a:r>
              <a:t>1.4 QM &amp; Logistik</a:t>
            </a:r>
          </a:p>
        </p:txBody>
      </p:sp>
      <p:sp>
        <p:nvSpPr>
          <p:cNvPr id="24" name="TextBox 23"/>
          <p:cNvSpPr txBox="1"/>
          <p:nvPr/>
        </p:nvSpPr>
        <p:spPr>
          <a:xfrm>
            <a:off x="7260336" y="2542032"/>
            <a:ext cx="2057400" cy="274320"/>
          </a:xfrm>
          <a:prstGeom prst="rect">
            <a:avLst/>
          </a:prstGeom>
          <a:noFill/>
        </p:spPr>
        <p:txBody>
          <a:bodyPr wrap="none">
            <a:spAutoFit/>
          </a:bodyPr>
          <a:lstStyle/>
          <a:p>
            <a:pPr algn="ctr">
              <a:defRPr sz="950">
                <a:solidFill>
                  <a:srgbClr val="DEEBF7"/>
                </a:solidFill>
                <a:latin typeface="Calibri"/>
              </a:defRPr>
            </a:pPr>
            <a:r>
              <a:t>Leitung: Marco Schmidt</a:t>
            </a:r>
          </a:p>
        </p:txBody>
      </p:sp>
      <p:sp>
        <p:nvSpPr>
          <p:cNvPr id="25" name="TextBox 24"/>
          <p:cNvSpPr txBox="1"/>
          <p:nvPr/>
        </p:nvSpPr>
        <p:spPr>
          <a:xfrm>
            <a:off x="7351776"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1.4.1 Wareneingang § 377</a:t>
            </a:r>
          </a:p>
          <a:p>
            <a:pPr>
              <a:spcAft>
                <a:spcPts val="400"/>
              </a:spcAft>
              <a:defRPr sz="950">
                <a:solidFill>
                  <a:srgbClr val="262626"/>
                </a:solidFill>
                <a:latin typeface="Calibri"/>
              </a:defRPr>
            </a:pPr>
            <a:r>
              <a:t>• 1.4.2 Mängelrüge Schreiben</a:t>
            </a:r>
          </a:p>
          <a:p>
            <a:pPr>
              <a:spcAft>
                <a:spcPts val="400"/>
              </a:spcAft>
              <a:defRPr sz="950">
                <a:solidFill>
                  <a:srgbClr val="262626"/>
                </a:solidFill>
                <a:latin typeface="Calibri"/>
              </a:defRPr>
            </a:pPr>
            <a:r>
              <a:t>• 1.4.3 Altdrucker-Entsorgung</a:t>
            </a:r>
          </a:p>
          <a:p>
            <a:pPr>
              <a:spcAft>
                <a:spcPts val="400"/>
              </a:spcAft>
              <a:defRPr sz="950">
                <a:solidFill>
                  <a:srgbClr val="262626"/>
                </a:solidFill>
                <a:latin typeface="Calibri"/>
              </a:defRPr>
            </a:pPr>
            <a:r>
              <a:t>• 1.4.4 Datenschutz &amp; BSI</a:t>
            </a:r>
          </a:p>
          <a:p>
            <a:pPr>
              <a:spcAft>
                <a:spcPts val="400"/>
              </a:spcAft>
              <a:defRPr sz="950">
                <a:solidFill>
                  <a:srgbClr val="262626"/>
                </a:solidFill>
                <a:latin typeface="Calibri"/>
              </a:defRPr>
            </a:pPr>
            <a:r>
              <a:t>• 1.4.5 Entsorgungsnachweis</a:t>
            </a:r>
          </a:p>
          <a:p>
            <a:pPr>
              <a:spcAft>
                <a:spcPts val="400"/>
              </a:spcAft>
              <a:defRPr sz="950">
                <a:solidFill>
                  <a:srgbClr val="262626"/>
                </a:solidFill>
                <a:latin typeface="Calibri"/>
              </a:defRPr>
            </a:pPr>
            <a:r>
              <a:t>• 1.4.6 RMA-Austausch</a:t>
            </a:r>
          </a:p>
        </p:txBody>
      </p:sp>
      <p:sp>
        <p:nvSpPr>
          <p:cNvPr id="26" name="Rounded Rectangle 25"/>
          <p:cNvSpPr/>
          <p:nvPr/>
        </p:nvSpPr>
        <p:spPr>
          <a:xfrm>
            <a:off x="9436608"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Rectangle 26"/>
          <p:cNvSpPr/>
          <p:nvPr/>
        </p:nvSpPr>
        <p:spPr>
          <a:xfrm>
            <a:off x="9436608"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9436608" y="2240280"/>
            <a:ext cx="2057400" cy="365760"/>
          </a:xfrm>
          <a:prstGeom prst="rect">
            <a:avLst/>
          </a:prstGeom>
          <a:noFill/>
        </p:spPr>
        <p:txBody>
          <a:bodyPr wrap="none">
            <a:spAutoFit/>
          </a:bodyPr>
          <a:lstStyle/>
          <a:p>
            <a:pPr algn="ctr">
              <a:defRPr sz="1100" b="1">
                <a:solidFill>
                  <a:srgbClr val="FFFFFF"/>
                </a:solidFill>
                <a:latin typeface="Calibri"/>
              </a:defRPr>
            </a:pPr>
            <a:r>
              <a:t>1.5 Rollout &amp; PM</a:t>
            </a:r>
          </a:p>
        </p:txBody>
      </p:sp>
      <p:sp>
        <p:nvSpPr>
          <p:cNvPr id="29" name="TextBox 28"/>
          <p:cNvSpPr txBox="1"/>
          <p:nvPr/>
        </p:nvSpPr>
        <p:spPr>
          <a:xfrm>
            <a:off x="9436608" y="2542032"/>
            <a:ext cx="2057400" cy="274320"/>
          </a:xfrm>
          <a:prstGeom prst="rect">
            <a:avLst/>
          </a:prstGeom>
          <a:noFill/>
        </p:spPr>
        <p:txBody>
          <a:bodyPr wrap="none">
            <a:spAutoFit/>
          </a:bodyPr>
          <a:lstStyle/>
          <a:p>
            <a:pPr algn="ctr">
              <a:defRPr sz="950">
                <a:solidFill>
                  <a:srgbClr val="DEEBF7"/>
                </a:solidFill>
                <a:latin typeface="Calibri"/>
              </a:defRPr>
            </a:pPr>
            <a:r>
              <a:t>Leitung: Jan Kluth</a:t>
            </a:r>
          </a:p>
        </p:txBody>
      </p:sp>
      <p:sp>
        <p:nvSpPr>
          <p:cNvPr id="30" name="TextBox 29"/>
          <p:cNvSpPr txBox="1"/>
          <p:nvPr/>
        </p:nvSpPr>
        <p:spPr>
          <a:xfrm>
            <a:off x="9528048"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1.5.1 Staging im IT-Labor</a:t>
            </a:r>
          </a:p>
          <a:p>
            <a:pPr>
              <a:spcAft>
                <a:spcPts val="400"/>
              </a:spcAft>
              <a:defRPr sz="950">
                <a:solidFill>
                  <a:srgbClr val="262626"/>
                </a:solidFill>
                <a:latin typeface="Calibri"/>
              </a:defRPr>
            </a:pPr>
            <a:r>
              <a:t>• 1.5.2 Vor-Ort-Montage</a:t>
            </a:r>
          </a:p>
          <a:p>
            <a:pPr>
              <a:spcAft>
                <a:spcPts val="400"/>
              </a:spcAft>
              <a:defRPr sz="950">
                <a:solidFill>
                  <a:srgbClr val="262626"/>
                </a:solidFill>
                <a:latin typeface="Calibri"/>
              </a:defRPr>
            </a:pPr>
            <a:r>
              <a:t>• 1.5.3 End-to-End Tests</a:t>
            </a:r>
          </a:p>
          <a:p>
            <a:pPr>
              <a:spcAft>
                <a:spcPts val="400"/>
              </a:spcAft>
              <a:defRPr sz="950">
                <a:solidFill>
                  <a:srgbClr val="262626"/>
                </a:solidFill>
                <a:latin typeface="Calibri"/>
              </a:defRPr>
            </a:pPr>
            <a:r>
              <a:t>• 1.5.4 Abnahmeprotokoll</a:t>
            </a:r>
          </a:p>
          <a:p>
            <a:pPr>
              <a:spcAft>
                <a:spcPts val="400"/>
              </a:spcAft>
              <a:defRPr sz="950">
                <a:solidFill>
                  <a:srgbClr val="262626"/>
                </a:solidFill>
                <a:latin typeface="Calibri"/>
              </a:defRPr>
            </a:pPr>
            <a:r>
              <a:t>• 1.5.5 Zeit-/Kostenkontrolle</a:t>
            </a:r>
          </a:p>
          <a:p>
            <a:pPr>
              <a:spcAft>
                <a:spcPts val="400"/>
              </a:spcAft>
              <a:defRPr sz="950">
                <a:solidFill>
                  <a:srgbClr val="262626"/>
                </a:solidFill>
                <a:latin typeface="Calibri"/>
              </a:defRPr>
            </a:pPr>
            <a:r>
              <a:t>• 1.5.6 Lessons Learned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_inline.png"/>
          <p:cNvPicPr>
            <a:picLocks noChangeAspect="1"/>
          </p:cNvPicPr>
          <p:nvPr/>
        </p:nvPicPr>
        <p:blipFill>
          <a:blip r:embed="rId4"/>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6858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 Vorwärtskalkulation (IHK-Schema)</a:t>
            </a:r>
          </a:p>
        </p:txBody>
      </p:sp>
      <p:graphicFrame>
        <p:nvGraphicFramePr>
          <p:cNvPr id="7" name="Table 6"/>
          <p:cNvGraphicFramePr>
            <a:graphicFrameLocks noGrp="1"/>
          </p:cNvGraphicFramePr>
          <p:nvPr/>
        </p:nvGraphicFramePr>
        <p:xfrm>
          <a:off x="777240" y="1874519"/>
          <a:ext cx="5120640" cy="4114800"/>
        </p:xfrm>
        <a:graphic>
          <a:graphicData uri="http://schemas.openxmlformats.org/drawingml/2006/table">
            <a:tbl>
              <a:tblPr firstRow="1" bandRow="1">
                <a:tableStyleId>{5C22544A-7EE6-4342-B048-85BDC9FD1C3A}</a:tableStyleId>
              </a:tblPr>
              <a:tblGrid>
                <a:gridCol w="1783080"/>
                <a:gridCol w="2011680"/>
                <a:gridCol w="1325880"/>
              </a:tblGrid>
              <a:tr h="411480">
                <a:tc>
                  <a:txBody>
                    <a:bodyPr wrap="none"/>
                    <a:lstStyle/>
                    <a:p>
                      <a:pPr>
                        <a:defRPr sz="950" b="1">
                          <a:solidFill>
                            <a:srgbClr val="1F497D"/>
                          </a:solidFill>
                          <a:latin typeface="Calibri"/>
                        </a:defRPr>
                      </a:pPr>
                      <a:r>
                        <a:t>Kalkulationsschritt</a:t>
                      </a:r>
                    </a:p>
                  </a:txBody>
                  <a:tcPr marL="36576" marR="36576" marT="27432" marB="27432">
                    <a:solidFill>
                      <a:srgbClr val="F0F3F8"/>
                    </a:solidFill>
                  </a:tcPr>
                </a:tc>
                <a:tc>
                  <a:txBody>
                    <a:bodyPr wrap="none"/>
                    <a:lstStyle/>
                    <a:p>
                      <a:pPr>
                        <a:defRPr sz="950" b="1">
                          <a:solidFill>
                            <a:srgbClr val="1F497D"/>
                          </a:solidFill>
                          <a:latin typeface="Calibri"/>
                        </a:defRPr>
                      </a:pPr>
                      <a:r>
                        <a:t>Bedeutung / Zuschlagssatz</a:t>
                      </a:r>
                    </a:p>
                  </a:txBody>
                  <a:tcPr marL="36576" marR="36576" marT="27432" marB="27432">
                    <a:solidFill>
                      <a:srgbClr val="F0F3F8"/>
                    </a:solidFill>
                  </a:tcPr>
                </a:tc>
                <a:tc>
                  <a:txBody>
                    <a:bodyPr wrap="none"/>
                    <a:lstStyle/>
                    <a:p>
                      <a:pPr algn="r">
                        <a:defRPr sz="950" b="1">
                          <a:solidFill>
                            <a:srgbClr val="1F497D"/>
                          </a:solidFill>
                          <a:latin typeface="Calibri"/>
                        </a:defRPr>
                      </a:pPr>
                      <a:r>
                        <a:t>Wert</a:t>
                      </a:r>
                    </a:p>
                  </a:txBody>
                  <a:tcPr marL="36576" marR="36576" marT="27432" marB="27432">
                    <a:solidFill>
                      <a:srgbClr val="F0F3F8"/>
                    </a:solidFill>
                  </a:tcPr>
                </a:tc>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wrap="none"/>
                    <a:lstStyle/>
                    <a:p>
                      <a:pPr algn="r">
                        <a:defRPr sz="900">
                          <a:solidFill>
                            <a:srgbClr val="262626"/>
                          </a:solidFill>
                          <a:latin typeface="Calibri"/>
                        </a:defRPr>
                      </a:pPr>
                      <a:r>
                        <a:t>100,0 %</a:t>
                      </a:r>
                    </a:p>
                  </a:txBody>
                  <a:tcPr marL="36576" marR="36576" marT="27432" marB="27432">
                    <a:solidFill>
                      <a:srgbClr val="F9FAFC"/>
                    </a:solidFill>
                  </a:tcPr>
                </a:tc>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wrap="none"/>
                    <a:lstStyle/>
                    <a:p>
                      <a:pPr algn="r">
                        <a:defRPr sz="900">
                          <a:solidFill>
                            <a:srgbClr val="262626"/>
                          </a:solidFill>
                          <a:latin typeface="Calibri"/>
                        </a:defRPr>
                      </a:pPr>
                      <a:r>
                        <a:t>+ 25,0 %</a:t>
                      </a:r>
                    </a:p>
                  </a:txBody>
                  <a:tcPr marL="36576" marR="36576" marT="27432" marB="27432">
                    <a:solidFill>
                      <a:srgbClr val="FFFFFF"/>
                    </a:solidFill>
                  </a:tcPr>
                </a:tc>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wrap="none"/>
                    <a:lstStyle/>
                    <a:p>
                      <a:pPr algn="r">
                        <a:defRPr sz="900">
                          <a:solidFill>
                            <a:srgbClr val="262626"/>
                          </a:solidFill>
                          <a:latin typeface="Calibri"/>
                        </a:defRPr>
                      </a:pPr>
                      <a:r>
                        <a:t>= 125,0 %</a:t>
                      </a:r>
                    </a:p>
                  </a:txBody>
                  <a:tcPr marL="36576" marR="36576" marT="27432" marB="27432">
                    <a:solidFill>
                      <a:srgbClr val="F9FAFC"/>
                    </a:solidFill>
                  </a:tcPr>
                </a:tc>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wrap="none"/>
                    <a:lstStyle/>
                    <a:p>
                      <a:pPr algn="r">
                        <a:defRPr sz="900">
                          <a:solidFill>
                            <a:srgbClr val="262626"/>
                          </a:solidFill>
                          <a:latin typeface="Calibri"/>
                        </a:defRPr>
                      </a:pPr>
                      <a:r>
                        <a:t>+ 15,0 %</a:t>
                      </a:r>
                    </a:p>
                  </a:txBody>
                  <a:tcPr marL="36576" marR="36576" marT="27432" marB="27432">
                    <a:solidFill>
                      <a:srgbClr val="FFFFFF"/>
                    </a:solidFill>
                  </a:tcPr>
                </a:tc>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wrap="none"/>
                    <a:lstStyle/>
                    <a:p>
                      <a:pPr algn="r">
                        <a:defRPr sz="900">
                          <a:solidFill>
                            <a:srgbClr val="262626"/>
                          </a:solidFill>
                          <a:latin typeface="Calibri"/>
                        </a:defRPr>
                      </a:pPr>
                      <a:r>
                        <a:t>= 140,0 %</a:t>
                      </a:r>
                    </a:p>
                  </a:txBody>
                  <a:tcPr marL="36576" marR="36576" marT="27432" marB="27432">
                    <a:solidFill>
                      <a:srgbClr val="F9FAFC"/>
                    </a:solidFill>
                  </a:tcPr>
                </a:tc>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wrap="none"/>
                    <a:lstStyle/>
                    <a:p>
                      <a:pPr algn="r">
                        <a:defRPr sz="900">
                          <a:solidFill>
                            <a:srgbClr val="262626"/>
                          </a:solidFill>
                          <a:latin typeface="Calibri"/>
                        </a:defRPr>
                      </a:pPr>
                      <a:r>
                        <a:t>+ 4,33 %</a:t>
                      </a:r>
                    </a:p>
                  </a:txBody>
                  <a:tcPr marL="36576" marR="36576" marT="27432" marB="27432">
                    <a:solidFill>
                      <a:srgbClr val="FFFFFF"/>
                    </a:solidFill>
                  </a:tcPr>
                </a:tc>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wrap="none"/>
                    <a:lstStyle/>
                    <a:p>
                      <a:pPr algn="r">
                        <a:defRPr sz="900" b="1">
                          <a:solidFill>
                            <a:srgbClr val="1F497D"/>
                          </a:solidFill>
                          <a:latin typeface="Calibri"/>
                        </a:defRPr>
                      </a:pPr>
                      <a:r>
                        <a:t>= 67.179,32 €</a:t>
                      </a:r>
                    </a:p>
                  </a:txBody>
                  <a:tcPr marL="36576" marR="36576" marT="27432" marB="27432">
                    <a:solidFill>
                      <a:srgbClr val="FFFDF5"/>
                    </a:solidFill>
                  </a:tcPr>
                </a:tc>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wrap="none"/>
                    <a:lstStyle/>
                    <a:p>
                      <a:pPr algn="r">
                        <a:defRPr sz="900">
                          <a:solidFill>
                            <a:srgbClr val="262626"/>
                          </a:solidFill>
                          <a:latin typeface="Calibri"/>
                        </a:defRPr>
                      </a:pPr>
                      <a:r>
                        <a:t>+ 12.764,07 €</a:t>
                      </a:r>
                    </a:p>
                  </a:txBody>
                  <a:tcPr marL="36576" marR="36576" marT="27432" marB="27432">
                    <a:solidFill>
                      <a:srgbClr val="FFFFFF"/>
                    </a:solidFill>
                  </a:tcPr>
                </a:tc>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wrap="none"/>
                    <a:lstStyle/>
                    <a:p>
                      <a:pPr algn="r">
                        <a:defRPr sz="900" b="1">
                          <a:solidFill>
                            <a:srgbClr val="C00000"/>
                          </a:solidFill>
                          <a:latin typeface="Calibri"/>
                        </a:defRPr>
                      </a:pPr>
                      <a:r>
                        <a:t>= 79.943,39 €</a:t>
                      </a:r>
                    </a:p>
                  </a:txBody>
                  <a:tcPr marL="36576" marR="36576" marT="27432" marB="27432">
                    <a:solidFill>
                      <a:srgbClr val="FFFDF5"/>
                    </a:solidFill>
                  </a:tcPr>
                </a:tc>
              </a:tr>
            </a:tbl>
          </a:graphicData>
        </a:graphic>
      </p:graphicFrame>
      <p:sp>
        <p:nvSpPr>
          <p:cNvPr id="8" name="Rounded Rectangle 7"/>
          <p:cNvSpPr/>
          <p:nvPr/>
        </p:nvSpPr>
        <p:spPr>
          <a:xfrm>
            <a:off x="6172200" y="1234440"/>
            <a:ext cx="530352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234440"/>
            <a:ext cx="530352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Kaufmännisches Angebot (Nr. NL-2026-VP-001)</a:t>
            </a:r>
          </a:p>
        </p:txBody>
      </p:sp>
      <p:graphicFrame>
        <p:nvGraphicFramePr>
          <p:cNvPr id="10" name="Table 9"/>
          <p:cNvGraphicFramePr>
            <a:graphicFrameLocks noGrp="1"/>
          </p:cNvGraphicFramePr>
          <p:nvPr/>
        </p:nvGraphicFramePr>
        <p:xfrm>
          <a:off x="6263640" y="1874519"/>
          <a:ext cx="5120639" cy="2194560"/>
        </p:xfrm>
        <a:graphic>
          <a:graphicData uri="http://schemas.openxmlformats.org/drawingml/2006/table">
            <a:tbl>
              <a:tblPr firstRow="1" bandRow="1">
                <a:tableStyleId>{5C22544A-7EE6-4342-B048-85BDC9FD1C3A}</a:tableStyleId>
              </a:tblPr>
              <a:tblGrid>
                <a:gridCol w="3749039"/>
                <a:gridCol w="1371600"/>
              </a:tblGrid>
              <a:tr h="313508">
                <a:tc>
                  <a:txBody>
                    <a:bodyPr wrap="none"/>
                    <a:lstStyle/>
                    <a:p>
                      <a:pPr>
                        <a:defRPr sz="950" b="1">
                          <a:solidFill>
                            <a:srgbClr val="1F497D"/>
                          </a:solidFill>
                          <a:latin typeface="Calibri"/>
                        </a:defRPr>
                      </a:pPr>
                      <a:r>
                        <a:t>Position / Leistungsbereich</a:t>
                      </a:r>
                    </a:p>
                  </a:txBody>
                  <a:tcPr marL="36576" marR="36576" marT="27432" marB="27432">
                    <a:solidFill>
                      <a:srgbClr val="F0F3F8"/>
                    </a:solidFill>
                  </a:tcPr>
                </a:tc>
                <a:tc>
                  <a:txBody>
                    <a:bodyPr wrap="none"/>
                    <a:lstStyle/>
                    <a:p>
                      <a:pPr algn="r">
                        <a:defRPr sz="950" b="1">
                          <a:solidFill>
                            <a:srgbClr val="1F497D"/>
                          </a:solidFill>
                          <a:latin typeface="Calibri"/>
                        </a:defRPr>
                      </a:pPr>
                      <a:r>
                        <a:t>Betrag Netto</a:t>
                      </a:r>
                    </a:p>
                  </a:txBody>
                  <a:tcPr marL="36576" marR="36576" marT="27432" marB="27432">
                    <a:solidFill>
                      <a:srgbClr val="F0F3F8"/>
                    </a:solidFill>
                  </a:tcPr>
                </a:tc>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wrap="none"/>
                    <a:lstStyle/>
                    <a:p>
                      <a:pPr algn="r">
                        <a:defRPr sz="950">
                          <a:latin typeface="Calibri"/>
                        </a:defRPr>
                      </a:pPr>
                      <a:r>
                        <a:t>51.108,12 €</a:t>
                      </a:r>
                    </a:p>
                  </a:txBody>
                  <a:tcPr marL="36576" marR="36576" marT="27432" marB="27432">
                    <a:solidFill>
                      <a:srgbClr val="F9FAFC"/>
                    </a:solidFill>
                  </a:tcPr>
                </a:tc>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wrap="none"/>
                    <a:lstStyle/>
                    <a:p>
                      <a:pPr algn="r">
                        <a:defRPr sz="950">
                          <a:latin typeface="Calibri"/>
                        </a:defRPr>
                      </a:pPr>
                      <a:r>
                        <a:t>10.021,20 €</a:t>
                      </a:r>
                    </a:p>
                  </a:txBody>
                  <a:tcPr marL="36576" marR="36576" marT="27432" marB="27432">
                    <a:solidFill>
                      <a:srgbClr val="FFFFFF"/>
                    </a:solidFill>
                  </a:tcPr>
                </a:tc>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wrap="none"/>
                    <a:lstStyle/>
                    <a:p>
                      <a:pPr algn="r">
                        <a:defRPr sz="950">
                          <a:latin typeface="Calibri"/>
                        </a:defRPr>
                      </a:pPr>
                      <a:r>
                        <a:t>6.050,00 €</a:t>
                      </a:r>
                    </a:p>
                  </a:txBody>
                  <a:tcPr marL="36576" marR="36576" marT="27432" marB="27432">
                    <a:solidFill>
                      <a:srgbClr val="F9FAFC"/>
                    </a:solidFill>
                  </a:tcPr>
                </a:tc>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wrap="none"/>
                    <a:lstStyle/>
                    <a:p>
                      <a:pPr algn="r">
                        <a:defRPr sz="950" b="1">
                          <a:solidFill>
                            <a:srgbClr val="1F497D"/>
                          </a:solidFill>
                          <a:latin typeface="Calibri"/>
                        </a:defRPr>
                      </a:pPr>
                      <a:r>
                        <a:t>67.179,32 €</a:t>
                      </a:r>
                    </a:p>
                  </a:txBody>
                  <a:tcPr marL="36576" marR="36576" marT="27432" marB="27432">
                    <a:solidFill>
                      <a:srgbClr val="FFFDF5"/>
                    </a:solidFill>
                  </a:tcPr>
                </a:tc>
              </a:tr>
              <a:tr h="313508">
                <a:tc>
                  <a:txBody>
                    <a:bodyPr/>
                    <a:lstStyle/>
                    <a:p>
                      <a:pPr>
                        <a:defRPr sz="950">
                          <a:latin typeface="Calibri"/>
                        </a:defRPr>
                      </a:pPr>
                      <a:r>
                        <a:t>+ 19% Gesetzliche Umsatzsteuer</a:t>
                      </a:r>
                    </a:p>
                  </a:txBody>
                  <a:tcPr marL="36576" marR="36576" marT="27432" marB="27432">
                    <a:solidFill>
                      <a:srgbClr val="F9FAFC"/>
                    </a:solidFill>
                  </a:tcPr>
                </a:tc>
                <a:tc>
                  <a:txBody>
                    <a:bodyPr wrap="none"/>
                    <a:lstStyle/>
                    <a:p>
                      <a:pPr algn="r">
                        <a:defRPr sz="950">
                          <a:latin typeface="Calibri"/>
                        </a:defRPr>
                      </a:pPr>
                      <a:r>
                        <a:t>12.764,07 €</a:t>
                      </a:r>
                    </a:p>
                  </a:txBody>
                  <a:tcPr marL="36576" marR="36576" marT="27432" marB="27432">
                    <a:solidFill>
                      <a:srgbClr val="F9FAFC"/>
                    </a:solidFill>
                  </a:tcPr>
                </a:tc>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wrap="none"/>
                    <a:lstStyle/>
                    <a:p>
                      <a:pPr algn="r">
                        <a:defRPr sz="950" b="1">
                          <a:solidFill>
                            <a:srgbClr val="C00000"/>
                          </a:solidFill>
                          <a:latin typeface="Calibri"/>
                        </a:defRPr>
                      </a:pPr>
                      <a:r>
                        <a:t>79.943,39 €</a:t>
                      </a:r>
                    </a:p>
                  </a:txBody>
                  <a:tcPr marL="36576" marR="36576" marT="27432" marB="27432">
                    <a:solidFill>
                      <a:srgbClr val="FFFDF5"/>
                    </a:solidFill>
                  </a:tcPr>
                </a:tc>
              </a:tr>
            </a:tbl>
          </a:graphicData>
        </a:graphic>
      </p:graphicFrame>
      <p:sp>
        <p:nvSpPr>
          <p:cNvPr id="11" name="Rounded Rectangle 10"/>
          <p:cNvSpPr/>
          <p:nvPr/>
        </p:nvSpPr>
        <p:spPr>
          <a:xfrm>
            <a:off x="6263640" y="4297680"/>
            <a:ext cx="5120640" cy="1737360"/>
          </a:xfrm>
          <a:prstGeom prst="roundRect">
            <a:avLst/>
          </a:prstGeom>
          <a:solidFill>
            <a:srgbClr val="F5F8FC"/>
          </a:solidFill>
          <a:ln w="12700">
            <a:solidFill>
              <a:srgbClr val="D2E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389120"/>
            <a:ext cx="4846320" cy="1554480"/>
          </a:xfrm>
          <a:prstGeom prst="rect">
            <a:avLst/>
          </a:prstGeom>
          <a:noFill/>
        </p:spPr>
        <p:txBody>
          <a:bodyPr wrap="square">
            <a:spAutoFit/>
          </a:bodyPr>
          <a:lstStyle/>
          <a:p>
            <a:pPr>
              <a:defRPr sz="1000" b="1">
                <a:solidFill>
                  <a:srgbClr val="1F497D"/>
                </a:solidFill>
                <a:latin typeface="Calibri"/>
              </a:defRPr>
            </a:pPr>
            <a:r>
              <a:t>Zahlungs- &amp; Lieferkonditionen:</a:t>
            </a:r>
          </a:p>
          <a:p>
            <a:pPr>
              <a:spcBef>
                <a:spcPts val="300"/>
              </a:spcBef>
              <a:defRPr sz="900">
                <a:solidFill>
                  <a:srgbClr val="262626"/>
                </a:solidFill>
                <a:latin typeface="Calibri"/>
              </a:defRPr>
            </a:pPr>
            <a:r>
              <a:t>• Zahlungsziel: 14 Tage mit 3 % Skonto (2.015,38 € Ersparnis) oder 30 Tage rein netto</a:t>
            </a:r>
          </a:p>
          <a:p>
            <a:pPr>
              <a:spcBef>
                <a:spcPts val="300"/>
              </a:spcBef>
              <a:defRPr sz="900">
                <a:solidFill>
                  <a:srgbClr val="262626"/>
                </a:solidFill>
                <a:latin typeface="Calibri"/>
              </a:defRPr>
            </a:pPr>
            <a:r>
              <a:t>• Garantie: 36 Monate Vor-Ort-Herstellerservice auf alle Arbeitsplätze</a:t>
            </a:r>
          </a:p>
          <a:p>
            <a:pPr>
              <a:spcBef>
                <a:spcPts val="300"/>
              </a:spcBef>
              <a:defRPr sz="900">
                <a:solidFill>
                  <a:srgbClr val="262626"/>
                </a:solidFill>
                <a:latin typeface="Calibri"/>
              </a:defRPr>
            </a:pPr>
            <a: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1097280" y="1645920"/>
            <a:ext cx="4526280" cy="1005840"/>
          </a:xfrm>
          <a:prstGeom prst="roundRect">
            <a:avLst/>
          </a:prstGeom>
          <a:solidFill>
            <a:srgbClr val="DEEBF7"/>
          </a:solidFill>
          <a:ln>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1F497D"/>
                </a:solidFill>
                <a:latin typeface="Calibri"/>
              </a:defRPr>
            </a:pPr>
            <a:r>
              <a:t>445 GiB</a:t>
            </a:r>
          </a:p>
          <a:p>
            <a:pPr algn="ctr">
              <a:defRPr sz="1050">
                <a:solidFill>
                  <a:srgbClr val="262626"/>
                </a:solidFill>
              </a:defRPr>
            </a:pPr>
            <a:r>
              <a:t>Benötigter Fileserver-Speicherplatz für 1 Quartal</a:t>
            </a:r>
          </a:p>
        </p:txBody>
      </p:sp>
      <p:sp>
        <p:nvSpPr>
          <p:cNvPr id="7" name="TextBox 6"/>
          <p:cNvSpPr txBox="1"/>
          <p:nvPr/>
        </p:nvSpPr>
        <p:spPr>
          <a:xfrm>
            <a:off x="10058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16 Arbeitsplätze × 350 MiB/Tag = 5.600 MiB tägliche Daten</a:t>
            </a:r>
          </a:p>
          <a:p>
            <a:pPr>
              <a:spcAft>
                <a:spcPts val="300"/>
              </a:spcAft>
              <a:defRPr sz="950">
                <a:solidFill>
                  <a:srgbClr val="262626"/>
                </a:solidFill>
              </a:defRPr>
            </a:pPr>
            <a:r>
              <a:t>• 5.600 MiB × 65 Arbeitstage = 364.000 MiB Daten pro Quartal</a:t>
            </a:r>
          </a:p>
          <a:p>
            <a:pPr>
              <a:spcAft>
                <a:spcPts val="300"/>
              </a:spcAft>
              <a:defRPr sz="950">
                <a:solidFill>
                  <a:srgbClr val="262626"/>
                </a:solidFill>
              </a:defRPr>
            </a:pPr>
            <a:r>
              <a:t>• Umrechnung in GiB (Binärfaktor 1.024):</a:t>
            </a:r>
          </a:p>
          <a:p>
            <a:pPr>
              <a:spcAft>
                <a:spcPts val="300"/>
              </a:spcAft>
              <a:defRPr sz="950">
                <a:solidFill>
                  <a:srgbClr val="262626"/>
                </a:solidFill>
              </a:defRPr>
            </a:pPr>
            <a:r>
              <a:t>•   364.000 MiB ÷ 1.024 = 355,47 GiB</a:t>
            </a:r>
          </a:p>
          <a:p>
            <a:pPr>
              <a:spcAft>
                <a:spcPts val="300"/>
              </a:spcAft>
              <a:defRPr sz="950">
                <a:solidFill>
                  <a:srgbClr val="262626"/>
                </a:solidFill>
              </a:defRPr>
            </a:pPr>
            <a:r>
              <a:t>• Aufrunden auf volle GiB: 356 GiB netto</a:t>
            </a:r>
          </a:p>
          <a:p>
            <a:pPr>
              <a:spcAft>
                <a:spcPts val="300"/>
              </a:spcAft>
              <a:defRPr sz="950">
                <a:solidFill>
                  <a:srgbClr val="262626"/>
                </a:solidFill>
              </a:defRPr>
            </a:pPr>
            <a:r>
              <a:t>• + 25 % Sicherheits- und Pufferzuschlag:</a:t>
            </a:r>
          </a:p>
          <a:p>
            <a:pPr>
              <a:spcAft>
                <a:spcPts val="300"/>
              </a:spcAft>
              <a:defRPr sz="950">
                <a:solidFill>
                  <a:srgbClr val="262626"/>
                </a:solidFill>
              </a:defRPr>
            </a:pPr>
            <a:r>
              <a:t>•   356 GiB × 1,25 = 445 GiB Gesamtkapazität</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ounded Rectangle 8"/>
          <p:cNvSpPr/>
          <p:nvPr/>
        </p:nvSpPr>
        <p:spPr>
          <a:xfrm>
            <a:off x="6583680" y="1645920"/>
            <a:ext cx="4526280" cy="1005840"/>
          </a:xfrm>
          <a:prstGeom prst="roundRect">
            <a:avLst/>
          </a:prstGeom>
          <a:solidFill>
            <a:srgbClr val="FCE4D6"/>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C55A11"/>
                </a:solidFill>
                <a:latin typeface="Calibri"/>
              </a:defRPr>
            </a:pPr>
            <a:r>
              <a:t>1.771,26 €</a:t>
            </a:r>
          </a:p>
          <a:p>
            <a:pPr algn="ctr">
              <a:defRPr sz="1050">
                <a:solidFill>
                  <a:srgbClr val="262626"/>
                </a:solidFill>
              </a:defRPr>
            </a:pPr>
            <a:r>
              <a:t>Jährliche Stromkosten für alle 16 Arbeitsplätze</a:t>
            </a:r>
          </a:p>
        </p:txBody>
      </p:sp>
      <p:sp>
        <p:nvSpPr>
          <p:cNvPr id="10" name="TextBox 9"/>
          <p:cNvSpPr txBox="1"/>
          <p:nvPr/>
        </p:nvSpPr>
        <p:spPr>
          <a:xfrm>
            <a:off x="64922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12 Standard-PCs à 140 W = 1.680 W</a:t>
            </a:r>
          </a:p>
          <a:p>
            <a:pPr>
              <a:spcAft>
                <a:spcPts val="300"/>
              </a:spcAft>
              <a:defRPr sz="950">
                <a:solidFill>
                  <a:srgbClr val="262626"/>
                </a:solidFill>
              </a:defRPr>
            </a:pPr>
            <a:r>
              <a:t>• 4 CAD-Workstations à 320 W = 1.280 W</a:t>
            </a:r>
          </a:p>
          <a:p>
            <a:pPr>
              <a:spcAft>
                <a:spcPts val="300"/>
              </a:spcAft>
              <a:defRPr sz="950">
                <a:solidFill>
                  <a:srgbClr val="262626"/>
                </a:solidFill>
              </a:defRPr>
            </a:pPr>
            <a:r>
              <a:t>• Gesamtleistung: 1.680 W + 1.280 W = 2.960 W (2,96 kW)</a:t>
            </a:r>
          </a:p>
          <a:p>
            <a:pPr>
              <a:spcAft>
                <a:spcPts val="300"/>
              </a:spcAft>
              <a:defRPr sz="950">
                <a:solidFill>
                  <a:srgbClr val="262626"/>
                </a:solidFill>
              </a:defRPr>
            </a:pPr>
            <a:r>
              <a:t>• Jahresbetriebszeit: 220 Tage × 8,5 h/Tag = 1.870 Stunden</a:t>
            </a:r>
          </a:p>
          <a:p>
            <a:pPr>
              <a:spcAft>
                <a:spcPts val="300"/>
              </a:spcAft>
              <a:defRPr sz="950">
                <a:solidFill>
                  <a:srgbClr val="262626"/>
                </a:solidFill>
              </a:defRPr>
            </a:pPr>
            <a:r>
              <a:t>• Jahresstromverbrauch:</a:t>
            </a:r>
          </a:p>
          <a:p>
            <a:pPr>
              <a:spcAft>
                <a:spcPts val="300"/>
              </a:spcAft>
              <a:defRPr sz="950">
                <a:solidFill>
                  <a:srgbClr val="262626"/>
                </a:solidFill>
              </a:defRPr>
            </a:pPr>
            <a:r>
              <a:t>•   2,96 kW × 1.870 h = 5.535,2 kWh</a:t>
            </a:r>
          </a:p>
          <a:p>
            <a:pPr>
              <a:spcAft>
                <a:spcPts val="300"/>
              </a:spcAft>
              <a:defRPr sz="950">
                <a:solidFill>
                  <a:srgbClr val="262626"/>
                </a:solidFill>
              </a:defRPr>
            </a:pPr>
            <a:r>
              <a:t>• Stromkosten bei 0,32 €/kWh:</a:t>
            </a:r>
          </a:p>
          <a:p>
            <a:pPr>
              <a:spcAft>
                <a:spcPts val="300"/>
              </a:spcAft>
              <a:defRPr sz="950">
                <a:solidFill>
                  <a:srgbClr val="262626"/>
                </a:solidFill>
              </a:defRPr>
            </a:pPr>
            <a:r>
              <a:t>•   5.535,2 kWh × 0,32 € = 1.771,26 € pro Jahr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