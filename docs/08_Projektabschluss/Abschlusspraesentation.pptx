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Guten Tag zusammen und herzlich willkommen zu unserer Projektpräsentation!</a:t>
            </a:r>
          </a:p>
          <a:p/>
          <a:p>
            <a:r>
              <a:t>Mein Name ist Jan Kluth, ich bin der Projektleiter dieses Vorhabens. Zusammen mit meinen Teamkollegen Mathias Vonau, Marian Bolecke, Marco Schmidt und Siyar von der NextLevel IT Solutions GmbH stellen wir Ihnen heute unser ganzheitliches Ausstattungskonzept für die Architektur- und Ingenieurgesellschaft VektorPlan GmbH vor.</a:t>
            </a:r>
          </a:p>
          <a:p/>
          <a:p>
            <a:r>
              <a:t>Ziel unseres Projektes war es, 16 hochmoderne, ergonomische Arbeitsplätze inklusive Serveranbindung und Druckinfrastruktur schlüsselfertig zu planen, zu kalkulieren und bereitzustellen.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Hier sehen Sie unsere Agenda für die heutigen 10 Minuten:</a:t>
            </a:r>
          </a:p>
          <a:p/>
          <a:p>
            <a:r>
              <a:t>Wir führen Sie durch den gesamten Projektlebenszyklus – von der ersten Kundenanalyse über die Projektstrukturierung nach DIN-Normen, die technische Produktauswahl und Vorwärtskalkulation bis hin zu den speziellen Kundenberechnungen, dem rechtssicheren Rollout und unserem abschließenden Soll-Ist-Vergleich. Jeder aus unserem Team wird dabei seinen fachlichen Schwerpunkt persönlich präsentieren.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Schauen wir auf die Ausgangssituation: Unser Kunde, die VektorPlan GmbH, modernisiert zwei Großraumbüros und richtet eine Plotterstation ein.</a:t>
            </a:r>
          </a:p>
          <a:p/>
          <a:p>
            <a:r>
              <a:t>Die Mitarbeiter in der Bauleitung brauchten zuverlässige, leise Rechner. Die Konstrukteure hingegen stießen bei 3D-BIM-Modellen an massive Leistungsgrenzen.</a:t>
            </a:r>
          </a:p>
          <a:p>
            <a:r>
              <a:t>Deshalb lautete der klare Auftrag an uns: 12 Standard-PCs, 4 High-End-Workstations, Doppelbildschirme für jeden der 16 Plätze, mobile Zwischensicherungs-SSDs und ein zentrales DIN-A3-Farblasergerät – schlüsselfertig montiert und getestet.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Damit ein solches Projekt in Time und in Budget bleibt, haben wir die Rollen nach individuellen Stärken aufgeteilt:</a:t>
            </a:r>
          </a:p>
          <a:p/>
          <a:p>
            <a:r>
              <a:t>Ich habe die Gesamtleitung, Meilensteine und Kundenabstimmung übernommen. Mathias war unser technischer Architekt fürs Lastenheft und das Staging. Marian kümmerte sich um Einkaufspreise und kaufmännische Vorwärtskalkulation. Marco übernahm das Qualitätsmanagement mit § 377 HGB und Entsorgung, während Siyar für die mathematischen Kundenberechnungen und die Dokumentensicherung zuständig war. Ich übergebe nun an Mathias für die Struktur- und Ablaufplanung!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Mathias Vonau (Technischer Planer)</a:t>
            </a:r>
          </a:p>
          <a:p/>
          <a:p>
            <a:r>
              <a:t>Hallo zusammen, hier sehen Sie unseren Projektstrukturplan nach DIN 69901.</a:t>
            </a:r>
          </a:p>
          <a:p/>
          <a:p>
            <a:r>
              <a:t>Wir haben die Aufgabenstellung unseres Lehrers exakt und methodisch sauber umgesetzt: Das gesamte Projektvolumen ist in fünf klare Säulen gegliedert – jede Säule wird von einem festen Mitglied unseres Kernteams geleitet (Marian für Hardware, ich für Software, Siyar für Netzwerk &amp; Server, Marco für QM &amp; Logistik und Jan für Rollout &amp; PM).</a:t>
            </a:r>
          </a:p>
          <a:p/>
          <a:p>
            <a:r>
              <a:t>Insgesamt sind genau 30 messbare Arbeitspakete (6 je Teilprojekt) definiert. Dadurch weiß jeder Schüler im Team genau, was seine Aufgaben sind – von den Lenovo Standard-PCs über die Lizenzdokumentation, die Serverberechnungen (445 GiB &amp; 1.771 €), die Mängelrüge bis zum Abnahmeprotokoll.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Mathias Vonau (Technischer Planer)</a:t>
            </a:r>
          </a:p>
          <a:p/>
          <a:p>
            <a:r>
              <a:t>Auf dieser Folie sehen Sie unseren Netzplan nach DIN 69900.</a:t>
            </a:r>
          </a:p>
          <a:p/>
          <a:p>
            <a:r>
              <a:t>Durch Vorwärts- und Rückwärtsrechnung haben wir den kritischen Pfad mit einer Gesamtdauer von 46 Arbeitstagen ermittelt. Alle rot hinterlegten Vorgänge haben einen Gesamtpuffer von 0 – wenn sich hier etwas verzögert, verschiebt sich der Einzugstermin des Kunden.</a:t>
            </a:r>
          </a:p>
          <a:p>
            <a:r>
              <a:t>Besonders interessant ist Vorgang 10: Die Altdruckerentsorgung läuft parallel zur Montage vor Ort und hat 1 Tag Puffer. Ich übergebe nun an Marian, der die Hardwareauswahl und Nutzwertanalyse vorstellt.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Vielen Dank Mathias! Schauen wir uns die Hardware-Anforderungen im Detail an.</a:t>
            </a:r>
          </a:p>
          <a:p/>
          <a:p>
            <a:r>
              <a:t>Wir haben die 16 Plätze in zwei klare Nutzerprofile getrennt: Bei den 12 Standard-PCs stand Geräuschlosigkeit und ein kompaktes Gehäuse im Vordergrund – dafür reicht der i5 mit integrierter Grafikkarte vollkommen aus.</a:t>
            </a:r>
          </a:p>
          <a:p>
            <a:r>
              <a:t>Bei den 4 CAD-Plätzen durfte es keine Kompromisse geben: 64 GB DDR5-RAM und eine ISV-zertifizierte Profi-Grafikkarte mit mindestens 16 bis 20 GB VRAM. Ergänzt wird das durch 32 WQHD-Monitore mit IPS-Black-Technologie, damit feine Architektur-Linien perfekt lesbar sind.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Hier sehen Sie die konkreten Markenprodukte, die wir im IT-Fachhandel recherchiert haben:</a:t>
            </a:r>
          </a:p>
          <a:p/>
          <a:p>
            <a:r>
              <a:t>Für das Standard-Büro haben wir das Lenovo ThinkCentre M70s für 690 € netto ausgewählt. Für die CAD-Arbeitsplätze fiel die Wahl auf den Lenovo ThinkStation P3 Tower mit NVIDIA RTX 4000 Ada für 3.200 € netto. Bei den Monitoren setzen wir auf den Dell UltraSharp U2724D für 310 € und beim Drucker auf den Lexmark CX930dse für 2.200 €. Warum genau diese Produkte gewonnen haben, zeigt unsere wissenschaftliche Nutzwertanalyse auf der nächsten Folie.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Um Bauchgefühl auszuschließen, haben wir zwei gewichtete Nutzwertanalysen durchgeführt:</a:t>
            </a:r>
          </a:p>
          <a:p/>
          <a:p>
            <a:r>
              <a:t>Bei den Workstations gewinnt Lenovo mit 8,70 Punkten. Warum? Weil die GPU-Performance für ein Architekturbüro mit 40% gewichtet ist – und die RTX 4000 Ada Generation mit 20 GB VRAM dem Dell mit älterer A4000 und 16 GB haushoch überlegen ist.</a:t>
            </a:r>
          </a:p>
          <a:p>
            <a:r>
              <a:t>Bei den Monitoren gewinnt Dell mit 9,10 Punkten. EIZO ist zwar ergonomisch top, kostet aber 480 € statt 310 €. Bei 32 Stück summiert sich das auf 5.440 € Mehrpreis! Dell bietet dank IPS-Black sogar den besseren Kontrast für Planzeichnungen.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Hier sehen Sie unsere kaufmännische Vorwärtskalkulation nach klassischem IHK-Schema:</a:t>
            </a:r>
          </a:p>
          <a:p/>
          <a:p>
            <a:r>
              <a:t>Ausgehend von den Einkaufs-Bezugspreisen schlagen wir 25% Handlungskosten für Lager, Logistik und Bereitstellung auf, gefolgt von 12% unternehmerischem Gewinnzuschlag und 3% Kundenskonto 'im Hundert'.</a:t>
            </a:r>
          </a:p>
          <a:p>
            <a:r>
              <a:t>Unser Gesamtangebot an VektorPlan beläuft sich auf 67.179,32 € netto bzw. 79.943,39 € brutto inklusive 1. Jahr aller Softwarelizenzen und der kompletten Vor-Ort-Montage. Ich übergebe nun an Siyar für die Berechnungen der Serverkapazität und Stromkosten!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Siyar (Berechnungen &amp; Dokumentation)</a:t>
            </a:r>
          </a:p>
          <a:p/>
          <a:p>
            <a:r>
              <a:t>Hallo zusammen! Der Kunde hat uns im Vorfeld um zwei konkrete Berechnungen für seine Budgetplanung gebeten:</a:t>
            </a:r>
          </a:p>
          <a:p/>
          <a:p>
            <a:r>
              <a:t>Erstens der Speicherplatz auf dem Fileserver: Bei 16 Plätzen fallen täglich 350 MiB CAD-Daten an. Für ein Quartal mit 65 Arbeitstagen ergibt das 364.000 MiB. Geteilt durch den IEC-Binärfaktor 1.024 sind das 355,47 GiB. Aufgerundet auf volle GiB und mit dem geforderten Sicherheitszuschlag von 25% muss der Server für genau 445 GiB ausgelegt werden.</a:t>
            </a:r>
          </a:p>
          <a:p/>
          <a:p>
            <a:r>
              <a:t>Zweitens die Energiekosten: Die 12 Standard-PCs ziehen je 140 W, die 4 CAD-Rechner je 320 W. Zusammen sind das 2.960 W. Bei 220 Arbeitstagen à 8,5 Stunden Laufzeit verbrauchen alle 16 Plätze jährlich 5.535,2 kWh. Bei einem Strompreis von 0,32 € pro kWh entstehen Stromkosten von exakt 1.771,26 € im Jahr. Marco übernimmt nun die Qualitätssicherung!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Marco Schmidt (Qualitätsmanagement &amp; Logistik)</a:t>
            </a:r>
          </a:p>
          <a:p/>
          <a:p>
            <a:r>
              <a:t>Danke Siyar! Als Qualitätsmanager trage ich die Verantwortung für Wareneingang und Compliance.</a:t>
            </a:r>
          </a:p>
          <a:p/>
          <a:p>
            <a:r>
              <a:t>Im Handelskauf nach § 377 HGB gilt eine strenge Rügepflicht: Wer Mängel nicht unverzüglich rügt, verliert seine Gewährleistung! In unserem Fallbeispiel gab es zwei Fehler: Ein Gehäuseschaden an einer Workstation und ein Monitor wurde falsch mit Full-HD geliefert. Wir haben sofort ein kaufmännisches Rüge-Schreiben nach DIN 5008 aufgesetzt und eine 14-tägige Frist zur Ersatzlieferung gesetzt.</a:t>
            </a:r>
          </a:p>
          <a:p/>
          <a:p>
            <a:r>
              <a:t>Auch beim Altdrucker haben wir höchste Standards angewandt: Entsorgung nach ElektroG, getrenntes Tonerrecycling und eine 3-fache BSI-Löschung des internen Druckerspeichers zum Schutz vertraulicher Baupläne.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Marco Schmidt (Qualitätsmanagement &amp; Logistik)</a:t>
            </a:r>
          </a:p>
          <a:p/>
          <a:p>
            <a:r>
              <a:t>Hier sehen Sie die 4 Phasen unseres Rollouts:</a:t>
            </a:r>
          </a:p>
          <a:p/>
          <a:p>
            <a:r>
              <a:t>Entscheidend für den reibungslosen Ablauf war Phase 1: Die Vorinstallation in unserem Systemhaus-Labor. Alle 16 PCs wurden über standardisierte Images betankt, lizenziert und 24 Stunden lang getestet. Beim Kunden vor Ort ging es dann nur noch um den Aufbau, ergonomische Justierung nach Bildschirmarbeitsverordnung, sauberes Kabelmanagement und die Endabnahme. Jan übernimmt nun wieder für den Soll-Ist-Vergleich und die Lessons Learned!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Kommen wir zum Projektergebnis im Soll-Ist-Vergleich:</a:t>
            </a:r>
          </a:p>
          <a:p/>
          <a:p>
            <a:r>
              <a:t>In der Zeitplanung waren 48 Tage vorgesehen – wir haben das Projekt in 46 Tagen übergeben, also 2 Tage vor dem Stichtag.</a:t>
            </a:r>
          </a:p>
          <a:p>
            <a:r>
              <a:t>Im Budget hat der Kunde maximal 70.000 € freigegeben – unser Angebot lag bei 67.179 € netto. Der Kunde spart fast 3.000 €.</a:t>
            </a:r>
          </a:p>
          <a:p>
            <a:r>
              <a:t>In der Qualität wurden alle 16 Arbeitsplätze ohne Vorbehalt abgenommen. Das Abnahmeprotokoll liegt rechtsgültig unterzeichnet vor.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Was sind unsere Lessons Learned aus diesem Projekt?</a:t>
            </a:r>
          </a:p>
          <a:p/>
          <a:p>
            <a:r>
              <a:t>Extrem positiv war die wissenschaftliche Nutzwertanalyse, die uns vor teuren Fehlentscheidungen bewahrt hat, sowie die strikte Wareneingangsprüfung. Für zukünftige Großprojekte haben wir mitgenommen, dass wir eine gemeinsame Begehung der Netzwerkdosen noch vor der Hardwarebestellung durchführen und immer 3 bis 5 Tage Puffer für RMA-Retouren im Zeitplan einplanen sollten.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Damit sind wir am Ende unserer Präsentation angelangt.</a:t>
            </a:r>
          </a:p>
          <a:p/>
          <a:p>
            <a:r>
              <a:t>Wir bedanken uns ganz herzlich für Ihre Aufmerksamkeit und stehen Ihnen nun sehr gerne für Fragen, technische Details und die gemeinsame Diskussion zur Verfügung!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1097280" y="1371600"/>
            <a:ext cx="10058400" cy="2743200"/>
          </a:xfrm>
          <a:prstGeom prst="rect">
            <a:avLst/>
          </a:prstGeom>
          <a:noFill/>
        </p:spPr>
        <p:txBody>
          <a:bodyPr wrap="square">
            <a:spAutoFit/>
          </a:bodyPr>
          <a:lstStyle/>
          <a:p>
            <a:pPr>
              <a:defRPr sz="1400" b="1">
                <a:solidFill>
                  <a:srgbClr val="B4C6E7"/>
                </a:solidFill>
                <a:latin typeface="Calibri"/>
              </a:defRPr>
            </a:pPr>
            <a:r>
              <a:t>Handlungsaufgabe: IT-Systemhaus</a:t>
            </a:r>
          </a:p>
          <a:p>
            <a:pPr>
              <a:defRPr sz="3600" b="1">
                <a:solidFill>
                  <a:srgbClr val="FFFFFF"/>
                </a:solidFill>
                <a:latin typeface="Calibri"/>
              </a:defRPr>
            </a:pPr>
            <a:r>
              <a:t>Ausstattung eines Planungs- &amp;</a:t>
            </a:r>
            <a:br/>
            <a:r>
              <a:t>Konstruktionsbüros</a:t>
            </a:r>
          </a:p>
          <a:p>
            <a:pPr>
              <a:defRPr sz="1400">
                <a:solidFill>
                  <a:srgbClr val="DEEBF7"/>
                </a:solidFill>
                <a:latin typeface="Calibri"/>
              </a:defRPr>
            </a:pPr>
            <a:r>
              <a:t>Kunde: VektorPlan GmbH (Düsseldorf)  |  Auftragnehmer: NextLevel IT Solutions GmbH (Köln)</a:t>
            </a:r>
          </a:p>
        </p:txBody>
      </p:sp>
      <p:sp>
        <p:nvSpPr>
          <p:cNvPr id="4" name="Rounded Rectangle 3"/>
          <p:cNvSpPr/>
          <p:nvPr/>
        </p:nvSpPr>
        <p:spPr>
          <a:xfrm>
            <a:off x="1097280" y="4389120"/>
            <a:ext cx="9966960" cy="1463040"/>
          </a:xfrm>
          <a:prstGeom prst="roundRect">
            <a:avLst/>
          </a:prstGeom>
          <a:solidFill>
            <a:srgbClr val="2F5597"/>
          </a:solidFill>
          <a:ln w="19050">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5" name="TextBox 4"/>
          <p:cNvSpPr txBox="1"/>
          <p:nvPr/>
        </p:nvSpPr>
        <p:spPr>
          <a:xfrm>
            <a:off x="1280160" y="4526280"/>
            <a:ext cx="9601200" cy="1188720"/>
          </a:xfrm>
          <a:prstGeom prst="rect">
            <a:avLst/>
          </a:prstGeom>
          <a:noFill/>
        </p:spPr>
        <p:txBody>
          <a:bodyPr wrap="none">
            <a:spAutoFit/>
          </a:bodyPr>
          <a:lstStyle/>
          <a:p>
            <a:pPr>
              <a:defRPr sz="1150" b="1">
                <a:solidFill>
                  <a:srgbClr val="DEEBF7"/>
                </a:solidFill>
                <a:latin typeface="Calibri"/>
              </a:defRPr>
            </a:pPr>
            <a:r>
              <a:t>Projektteam NextLevel IT Solutions:</a:t>
            </a:r>
          </a:p>
          <a:p>
            <a:pPr>
              <a:defRPr sz="1200">
                <a:solidFill>
                  <a:srgbClr val="FFFFFF"/>
                </a:solidFill>
                <a:latin typeface="Calibri"/>
              </a:defRPr>
            </a:pPr>
            <a:r>
              <a:t>Jan Kluth (Projektleiter)  •  Mathias Vonau (Techn. Planer)  •  Marian Bolecke (Beschaffung &amp; Kalkulation)</a:t>
            </a:r>
            <a:br/>
            <a:r>
              <a:t>Marco Schmidt (Qualitätsmanagement &amp; Logistik)  •  Siyar (Berechnungen &amp; Dokumentation)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PROJEKTÜBERSICHT</a:t>
            </a:r>
          </a:p>
          <a:p>
            <a:pPr>
              <a:defRPr sz="2000" b="1">
                <a:solidFill>
                  <a:srgbClr val="FFFFFF"/>
                </a:solidFill>
                <a:latin typeface="Calibri"/>
              </a:defRPr>
            </a:pPr>
            <a:r>
              <a:t>Agenda unseres Projektablaufs</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2 von 16</a:t>
            </a:r>
          </a:p>
        </p:txBody>
      </p:sp>
      <p:sp>
        <p:nvSpPr>
          <p:cNvPr id="5" name="Rounded Rectangle 4"/>
          <p:cNvSpPr/>
          <p:nvPr/>
        </p:nvSpPr>
        <p:spPr>
          <a:xfrm>
            <a:off x="731520" y="128016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822960" y="1316736"/>
            <a:ext cx="5029200" cy="594360"/>
          </a:xfrm>
          <a:prstGeom prst="rect">
            <a:avLst/>
          </a:prstGeom>
          <a:noFill/>
        </p:spPr>
        <p:txBody>
          <a:bodyPr wrap="square">
            <a:spAutoFit/>
          </a:bodyPr>
          <a:lstStyle/>
          <a:p>
            <a:pPr>
              <a:defRPr sz="1100" b="1">
                <a:solidFill>
                  <a:srgbClr val="1F497D"/>
                </a:solidFill>
                <a:latin typeface="Calibri"/>
              </a:defRPr>
            </a:pPr>
            <a:r>
              <a:t>1. Projektauftrag &amp; Kundenbedarf</a:t>
            </a:r>
          </a:p>
          <a:p>
            <a:pPr>
              <a:defRPr sz="950">
                <a:solidFill>
                  <a:srgbClr val="595959"/>
                </a:solidFill>
                <a:latin typeface="Calibri"/>
              </a:defRPr>
            </a:pPr>
            <a:r>
              <a:t>Ausgangslage der VektorPlan GmbH und geforderte 16 Arbeitsplätze</a:t>
            </a:r>
          </a:p>
        </p:txBody>
      </p:sp>
      <p:sp>
        <p:nvSpPr>
          <p:cNvPr id="7" name="Rounded Rectangle 6"/>
          <p:cNvSpPr/>
          <p:nvPr/>
        </p:nvSpPr>
        <p:spPr>
          <a:xfrm>
            <a:off x="731520" y="1993391"/>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822960" y="2029967"/>
            <a:ext cx="5029200" cy="594360"/>
          </a:xfrm>
          <a:prstGeom prst="rect">
            <a:avLst/>
          </a:prstGeom>
          <a:noFill/>
        </p:spPr>
        <p:txBody>
          <a:bodyPr wrap="square">
            <a:spAutoFit/>
          </a:bodyPr>
          <a:lstStyle/>
          <a:p>
            <a:pPr>
              <a:defRPr sz="1100" b="1">
                <a:solidFill>
                  <a:srgbClr val="1F497D"/>
                </a:solidFill>
                <a:latin typeface="Calibri"/>
              </a:defRPr>
            </a:pPr>
            <a:r>
              <a:t>2. Team &amp; Rollenverteilung</a:t>
            </a:r>
          </a:p>
          <a:p>
            <a:pPr>
              <a:defRPr sz="950">
                <a:solidFill>
                  <a:srgbClr val="595959"/>
                </a:solidFill>
                <a:latin typeface="Calibri"/>
              </a:defRPr>
            </a:pPr>
            <a:r>
              <a:t>Verteilung der Aufgabenbereiche auf unser 5-köpfiges Projektteam</a:t>
            </a:r>
          </a:p>
        </p:txBody>
      </p:sp>
      <p:sp>
        <p:nvSpPr>
          <p:cNvPr id="9" name="Rounded Rectangle 8"/>
          <p:cNvSpPr/>
          <p:nvPr/>
        </p:nvSpPr>
        <p:spPr>
          <a:xfrm>
            <a:off x="731520" y="2706624"/>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TextBox 9"/>
          <p:cNvSpPr txBox="1"/>
          <p:nvPr/>
        </p:nvSpPr>
        <p:spPr>
          <a:xfrm>
            <a:off x="822960" y="2743200"/>
            <a:ext cx="5029200" cy="594360"/>
          </a:xfrm>
          <a:prstGeom prst="rect">
            <a:avLst/>
          </a:prstGeom>
          <a:noFill/>
        </p:spPr>
        <p:txBody>
          <a:bodyPr wrap="square">
            <a:spAutoFit/>
          </a:bodyPr>
          <a:lstStyle/>
          <a:p>
            <a:pPr>
              <a:defRPr sz="1100" b="1">
                <a:solidFill>
                  <a:srgbClr val="1F497D"/>
                </a:solidFill>
                <a:latin typeface="Calibri"/>
              </a:defRPr>
            </a:pPr>
            <a:r>
              <a:t>3. Projektstrukturplan (PSP)</a:t>
            </a:r>
          </a:p>
          <a:p>
            <a:pPr>
              <a:defRPr sz="950">
                <a:solidFill>
                  <a:srgbClr val="595959"/>
                </a:solidFill>
                <a:latin typeface="Calibri"/>
              </a:defRPr>
            </a:pPr>
            <a:r>
              <a:t>Objektorientierte Gliederung nach DIN 69901 in 5 Hauptbereiche</a:t>
            </a:r>
          </a:p>
        </p:txBody>
      </p:sp>
      <p:sp>
        <p:nvSpPr>
          <p:cNvPr id="11" name="Rounded Rectangle 10"/>
          <p:cNvSpPr/>
          <p:nvPr/>
        </p:nvSpPr>
        <p:spPr>
          <a:xfrm>
            <a:off x="731520" y="3419856"/>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822960" y="3456432"/>
            <a:ext cx="5029200" cy="594360"/>
          </a:xfrm>
          <a:prstGeom prst="rect">
            <a:avLst/>
          </a:prstGeom>
          <a:noFill/>
        </p:spPr>
        <p:txBody>
          <a:bodyPr wrap="square">
            <a:spAutoFit/>
          </a:bodyPr>
          <a:lstStyle/>
          <a:p>
            <a:pPr>
              <a:defRPr sz="1100" b="1">
                <a:solidFill>
                  <a:srgbClr val="1F497D"/>
                </a:solidFill>
                <a:latin typeface="Calibri"/>
              </a:defRPr>
            </a:pPr>
            <a:r>
              <a:t>4. Netzplan &amp; Kritischer Pfad</a:t>
            </a:r>
          </a:p>
          <a:p>
            <a:pPr>
              <a:defRPr sz="950">
                <a:solidFill>
                  <a:srgbClr val="595959"/>
                </a:solidFill>
                <a:latin typeface="Calibri"/>
              </a:defRPr>
            </a:pPr>
            <a:r>
              <a:t>Termin- und Pufferberechnung nach DIN 69900 (Dauer: 46 Arbeitstage)</a:t>
            </a:r>
          </a:p>
        </p:txBody>
      </p:sp>
      <p:sp>
        <p:nvSpPr>
          <p:cNvPr id="13" name="Rounded Rectangle 12"/>
          <p:cNvSpPr/>
          <p:nvPr/>
        </p:nvSpPr>
        <p:spPr>
          <a:xfrm>
            <a:off x="731520" y="4133087"/>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TextBox 13"/>
          <p:cNvSpPr txBox="1"/>
          <p:nvPr/>
        </p:nvSpPr>
        <p:spPr>
          <a:xfrm>
            <a:off x="822960" y="4169663"/>
            <a:ext cx="5029200" cy="594360"/>
          </a:xfrm>
          <a:prstGeom prst="rect">
            <a:avLst/>
          </a:prstGeom>
          <a:noFill/>
        </p:spPr>
        <p:txBody>
          <a:bodyPr wrap="square">
            <a:spAutoFit/>
          </a:bodyPr>
          <a:lstStyle/>
          <a:p>
            <a:pPr>
              <a:defRPr sz="1100" b="1">
                <a:solidFill>
                  <a:srgbClr val="1F497D"/>
                </a:solidFill>
                <a:latin typeface="Calibri"/>
              </a:defRPr>
            </a:pPr>
            <a:r>
              <a:t>5. Hardware- &amp; Software-Spezifikationen</a:t>
            </a:r>
          </a:p>
          <a:p>
            <a:pPr>
              <a:defRPr sz="950">
                <a:solidFill>
                  <a:srgbClr val="595959"/>
                </a:solidFill>
                <a:latin typeface="Calibri"/>
              </a:defRPr>
            </a:pPr>
            <a:r>
              <a:t>Unterschiede Standard-Büro vs. High-End CAD/BIM-Workstations</a:t>
            </a:r>
          </a:p>
        </p:txBody>
      </p:sp>
      <p:sp>
        <p:nvSpPr>
          <p:cNvPr id="15" name="Rounded Rectangle 14"/>
          <p:cNvSpPr/>
          <p:nvPr/>
        </p:nvSpPr>
        <p:spPr>
          <a:xfrm>
            <a:off x="731520" y="484632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TextBox 15"/>
          <p:cNvSpPr txBox="1"/>
          <p:nvPr/>
        </p:nvSpPr>
        <p:spPr>
          <a:xfrm>
            <a:off x="822960" y="4882896"/>
            <a:ext cx="5029200" cy="594360"/>
          </a:xfrm>
          <a:prstGeom prst="rect">
            <a:avLst/>
          </a:prstGeom>
          <a:noFill/>
        </p:spPr>
        <p:txBody>
          <a:bodyPr wrap="square">
            <a:spAutoFit/>
          </a:bodyPr>
          <a:lstStyle/>
          <a:p>
            <a:pPr>
              <a:defRPr sz="1100" b="1">
                <a:solidFill>
                  <a:srgbClr val="1F497D"/>
                </a:solidFill>
                <a:latin typeface="Calibri"/>
              </a:defRPr>
            </a:pPr>
            <a:r>
              <a:t>6. Marktrecherche &amp; Produktauswahl</a:t>
            </a:r>
          </a:p>
          <a:p>
            <a:pPr>
              <a:defRPr sz="950">
                <a:solidFill>
                  <a:srgbClr val="595959"/>
                </a:solidFill>
                <a:latin typeface="Calibri"/>
              </a:defRPr>
            </a:pPr>
            <a:r>
              <a:t>Reale Produkte namhafter Hersteller aus dem deutschen IT-Fachhandel</a:t>
            </a:r>
          </a:p>
        </p:txBody>
      </p:sp>
      <p:sp>
        <p:nvSpPr>
          <p:cNvPr id="17" name="Rounded Rectangle 16"/>
          <p:cNvSpPr/>
          <p:nvPr/>
        </p:nvSpPr>
        <p:spPr>
          <a:xfrm>
            <a:off x="731520" y="5559552"/>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8" name="TextBox 17"/>
          <p:cNvSpPr txBox="1"/>
          <p:nvPr/>
        </p:nvSpPr>
        <p:spPr>
          <a:xfrm>
            <a:off x="822960" y="5596128"/>
            <a:ext cx="5029200" cy="594360"/>
          </a:xfrm>
          <a:prstGeom prst="rect">
            <a:avLst/>
          </a:prstGeom>
          <a:noFill/>
        </p:spPr>
        <p:txBody>
          <a:bodyPr wrap="square">
            <a:spAutoFit/>
          </a:bodyPr>
          <a:lstStyle/>
          <a:p>
            <a:pPr>
              <a:defRPr sz="1100" b="1">
                <a:solidFill>
                  <a:srgbClr val="1F497D"/>
                </a:solidFill>
                <a:latin typeface="Calibri"/>
              </a:defRPr>
            </a:pPr>
            <a:r>
              <a:t>7. Nutzwertanalysen (Workstation &amp; Monitor)</a:t>
            </a:r>
          </a:p>
          <a:p>
            <a:pPr>
              <a:defRPr sz="950">
                <a:solidFill>
                  <a:srgbClr val="595959"/>
                </a:solidFill>
                <a:latin typeface="Calibri"/>
              </a:defRPr>
            </a:pPr>
            <a:r>
              <a:t>Entscheidungsmatrizen: Lenovo ThinkStation P3 &amp; Dell UltraSharp U2724D</a:t>
            </a:r>
          </a:p>
        </p:txBody>
      </p:sp>
      <p:sp>
        <p:nvSpPr>
          <p:cNvPr id="19" name="Rounded Rectangle 18"/>
          <p:cNvSpPr/>
          <p:nvPr/>
        </p:nvSpPr>
        <p:spPr>
          <a:xfrm>
            <a:off x="6172200" y="128016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0" name="TextBox 19"/>
          <p:cNvSpPr txBox="1"/>
          <p:nvPr/>
        </p:nvSpPr>
        <p:spPr>
          <a:xfrm>
            <a:off x="6263640" y="1316736"/>
            <a:ext cx="5029200" cy="594360"/>
          </a:xfrm>
          <a:prstGeom prst="rect">
            <a:avLst/>
          </a:prstGeom>
          <a:noFill/>
        </p:spPr>
        <p:txBody>
          <a:bodyPr wrap="square">
            <a:spAutoFit/>
          </a:bodyPr>
          <a:lstStyle/>
          <a:p>
            <a:pPr>
              <a:defRPr sz="1100" b="1">
                <a:solidFill>
                  <a:srgbClr val="1F497D"/>
                </a:solidFill>
                <a:latin typeface="Calibri"/>
              </a:defRPr>
            </a:pPr>
            <a:r>
              <a:t>8. Preiskalkulation &amp; Kaufmännisches Angebot</a:t>
            </a:r>
          </a:p>
          <a:p>
            <a:pPr>
              <a:defRPr sz="950">
                <a:solidFill>
                  <a:srgbClr val="595959"/>
                </a:solidFill>
                <a:latin typeface="Calibri"/>
              </a:defRPr>
            </a:pPr>
            <a:r>
              <a:t>Vorwärtskalkulation (Handlungskosten, Gewinn, Skonto) &amp; Gesamtsumme</a:t>
            </a:r>
          </a:p>
        </p:txBody>
      </p:sp>
      <p:sp>
        <p:nvSpPr>
          <p:cNvPr id="21" name="Rounded Rectangle 20"/>
          <p:cNvSpPr/>
          <p:nvPr/>
        </p:nvSpPr>
        <p:spPr>
          <a:xfrm>
            <a:off x="6172200" y="1993391"/>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2" name="TextBox 21"/>
          <p:cNvSpPr txBox="1"/>
          <p:nvPr/>
        </p:nvSpPr>
        <p:spPr>
          <a:xfrm>
            <a:off x="6263640" y="2029967"/>
            <a:ext cx="5029200" cy="594360"/>
          </a:xfrm>
          <a:prstGeom prst="rect">
            <a:avLst/>
          </a:prstGeom>
          <a:noFill/>
        </p:spPr>
        <p:txBody>
          <a:bodyPr wrap="square">
            <a:spAutoFit/>
          </a:bodyPr>
          <a:lstStyle/>
          <a:p>
            <a:pPr>
              <a:defRPr sz="1100" b="1">
                <a:solidFill>
                  <a:srgbClr val="1F497D"/>
                </a:solidFill>
                <a:latin typeface="Calibri"/>
              </a:defRPr>
            </a:pPr>
            <a:r>
              <a:t>9. Kundenberechnungen (Aufgabe B)</a:t>
            </a:r>
          </a:p>
          <a:p>
            <a:pPr>
              <a:defRPr sz="950">
                <a:solidFill>
                  <a:srgbClr val="595959"/>
                </a:solidFill>
                <a:latin typeface="Calibri"/>
              </a:defRPr>
            </a:pPr>
            <a:r>
              <a:t>Speicherplatzbedarf für Q1 (445 GiB) und jährliche Stromkosten (1.771 €)</a:t>
            </a:r>
          </a:p>
        </p:txBody>
      </p:sp>
      <p:sp>
        <p:nvSpPr>
          <p:cNvPr id="23" name="Rounded Rectangle 22"/>
          <p:cNvSpPr/>
          <p:nvPr/>
        </p:nvSpPr>
        <p:spPr>
          <a:xfrm>
            <a:off x="6172200" y="2706624"/>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4" name="TextBox 23"/>
          <p:cNvSpPr txBox="1"/>
          <p:nvPr/>
        </p:nvSpPr>
        <p:spPr>
          <a:xfrm>
            <a:off x="6263640" y="2743200"/>
            <a:ext cx="5029200" cy="594360"/>
          </a:xfrm>
          <a:prstGeom prst="rect">
            <a:avLst/>
          </a:prstGeom>
          <a:noFill/>
        </p:spPr>
        <p:txBody>
          <a:bodyPr wrap="square">
            <a:spAutoFit/>
          </a:bodyPr>
          <a:lstStyle/>
          <a:p>
            <a:pPr>
              <a:defRPr sz="1100" b="1">
                <a:solidFill>
                  <a:srgbClr val="1F497D"/>
                </a:solidFill>
                <a:latin typeface="Calibri"/>
              </a:defRPr>
            </a:pPr>
            <a:r>
              <a:t>10. Wareneingangsprüfung &amp; Mängelrüge</a:t>
            </a:r>
          </a:p>
          <a:p>
            <a:pPr>
              <a:defRPr sz="950">
                <a:solidFill>
                  <a:srgbClr val="595959"/>
                </a:solidFill>
                <a:latin typeface="Calibri"/>
              </a:defRPr>
            </a:pPr>
            <a:r>
              <a:t>Rechtliche Schritte nach § 377 HGB bei Transportschaden &amp; Falschlieferung</a:t>
            </a:r>
          </a:p>
        </p:txBody>
      </p:sp>
      <p:sp>
        <p:nvSpPr>
          <p:cNvPr id="25" name="Rounded Rectangle 24"/>
          <p:cNvSpPr/>
          <p:nvPr/>
        </p:nvSpPr>
        <p:spPr>
          <a:xfrm>
            <a:off x="6172200" y="3419856"/>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6" name="TextBox 25"/>
          <p:cNvSpPr txBox="1"/>
          <p:nvPr/>
        </p:nvSpPr>
        <p:spPr>
          <a:xfrm>
            <a:off x="6263640" y="3456432"/>
            <a:ext cx="5029200" cy="594360"/>
          </a:xfrm>
          <a:prstGeom prst="rect">
            <a:avLst/>
          </a:prstGeom>
          <a:noFill/>
        </p:spPr>
        <p:txBody>
          <a:bodyPr wrap="square">
            <a:spAutoFit/>
          </a:bodyPr>
          <a:lstStyle/>
          <a:p>
            <a:pPr>
              <a:defRPr sz="1100" b="1">
                <a:solidFill>
                  <a:srgbClr val="1F497D"/>
                </a:solidFill>
                <a:latin typeface="Calibri"/>
              </a:defRPr>
            </a:pPr>
            <a:r>
              <a:t>11. Umweltgerechte Altdrucker-Entsorgung</a:t>
            </a:r>
          </a:p>
          <a:p>
            <a:pPr>
              <a:defRPr sz="950">
                <a:solidFill>
                  <a:srgbClr val="595959"/>
                </a:solidFill>
                <a:latin typeface="Calibri"/>
              </a:defRPr>
            </a:pPr>
            <a:r>
              <a:t>ElektroG, WEEE-Richtlinie, Toner-Recycling und BSI-konforme Datenlöschung</a:t>
            </a:r>
          </a:p>
        </p:txBody>
      </p:sp>
      <p:sp>
        <p:nvSpPr>
          <p:cNvPr id="27" name="Rounded Rectangle 26"/>
          <p:cNvSpPr/>
          <p:nvPr/>
        </p:nvSpPr>
        <p:spPr>
          <a:xfrm>
            <a:off x="6172200" y="4133087"/>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8" name="TextBox 27"/>
          <p:cNvSpPr txBox="1"/>
          <p:nvPr/>
        </p:nvSpPr>
        <p:spPr>
          <a:xfrm>
            <a:off x="6263640" y="4169663"/>
            <a:ext cx="5029200" cy="594360"/>
          </a:xfrm>
          <a:prstGeom prst="rect">
            <a:avLst/>
          </a:prstGeom>
          <a:noFill/>
        </p:spPr>
        <p:txBody>
          <a:bodyPr wrap="square">
            <a:spAutoFit/>
          </a:bodyPr>
          <a:lstStyle/>
          <a:p>
            <a:pPr>
              <a:defRPr sz="1100" b="1">
                <a:solidFill>
                  <a:srgbClr val="1F497D"/>
                </a:solidFill>
                <a:latin typeface="Calibri"/>
              </a:defRPr>
            </a:pPr>
            <a:r>
              <a:t>12. Rollout, Montage &amp; Abnahme vor Ort</a:t>
            </a:r>
          </a:p>
          <a:p>
            <a:pPr>
              <a:defRPr sz="950">
                <a:solidFill>
                  <a:srgbClr val="595959"/>
                </a:solidFill>
                <a:latin typeface="Calibri"/>
              </a:defRPr>
            </a:pPr>
            <a:r>
              <a:t>Checkliste nach Bildschirmarbeitsverordnung (ArbStättV) &amp; Abnahmeprotokoll</a:t>
            </a:r>
          </a:p>
        </p:txBody>
      </p:sp>
      <p:sp>
        <p:nvSpPr>
          <p:cNvPr id="29" name="Rounded Rectangle 28"/>
          <p:cNvSpPr/>
          <p:nvPr/>
        </p:nvSpPr>
        <p:spPr>
          <a:xfrm>
            <a:off x="6172200" y="484632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0" name="TextBox 29"/>
          <p:cNvSpPr txBox="1"/>
          <p:nvPr/>
        </p:nvSpPr>
        <p:spPr>
          <a:xfrm>
            <a:off x="6263640" y="4882896"/>
            <a:ext cx="5029200" cy="594360"/>
          </a:xfrm>
          <a:prstGeom prst="rect">
            <a:avLst/>
          </a:prstGeom>
          <a:noFill/>
        </p:spPr>
        <p:txBody>
          <a:bodyPr wrap="square">
            <a:spAutoFit/>
          </a:bodyPr>
          <a:lstStyle/>
          <a:p>
            <a:pPr>
              <a:defRPr sz="1100" b="1">
                <a:solidFill>
                  <a:srgbClr val="1F497D"/>
                </a:solidFill>
                <a:latin typeface="Calibri"/>
              </a:defRPr>
            </a:pPr>
            <a:r>
              <a:t>13. Projektergebnis: Soll-Ist-Vergleich</a:t>
            </a:r>
          </a:p>
          <a:p>
            <a:pPr>
              <a:defRPr sz="950">
                <a:solidFill>
                  <a:srgbClr val="595959"/>
                </a:solidFill>
                <a:latin typeface="Calibri"/>
              </a:defRPr>
            </a:pPr>
            <a:r>
              <a:t>Erfolgreiche Einhaltung von Terminvorgaben, Budgetrahmen und Qualitätszielen</a:t>
            </a:r>
          </a:p>
        </p:txBody>
      </p:sp>
      <p:sp>
        <p:nvSpPr>
          <p:cNvPr id="31" name="Rounded Rectangle 30"/>
          <p:cNvSpPr/>
          <p:nvPr/>
        </p:nvSpPr>
        <p:spPr>
          <a:xfrm>
            <a:off x="6172200" y="5559552"/>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2" name="TextBox 31"/>
          <p:cNvSpPr txBox="1"/>
          <p:nvPr/>
        </p:nvSpPr>
        <p:spPr>
          <a:xfrm>
            <a:off x="6263640" y="5596128"/>
            <a:ext cx="5029200" cy="594360"/>
          </a:xfrm>
          <a:prstGeom prst="rect">
            <a:avLst/>
          </a:prstGeom>
          <a:noFill/>
        </p:spPr>
        <p:txBody>
          <a:bodyPr wrap="square">
            <a:spAutoFit/>
          </a:bodyPr>
          <a:lstStyle/>
          <a:p>
            <a:pPr>
              <a:defRPr sz="1100" b="1">
                <a:solidFill>
                  <a:srgbClr val="1F497D"/>
                </a:solidFill>
                <a:latin typeface="Calibri"/>
              </a:defRPr>
            </a:pPr>
            <a:r>
              <a:t>14. Lessons Learned &amp; Fazit</a:t>
            </a:r>
          </a:p>
          <a:p>
            <a:pPr>
              <a:defRPr sz="950">
                <a:solidFill>
                  <a:srgbClr val="595959"/>
                </a:solidFill>
                <a:latin typeface="Calibri"/>
              </a:defRPr>
            </a:pPr>
            <a:r>
              <a:t>Was lief gut im Team und welche Erfahrungen nehmen wir für die Zukunft 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PROJEKTAUFTRAG</a:t>
            </a:r>
          </a:p>
          <a:p>
            <a:pPr>
              <a:defRPr sz="2000" b="1">
                <a:solidFill>
                  <a:srgbClr val="FFFFFF"/>
                </a:solidFill>
                <a:latin typeface="Calibri"/>
              </a:defRPr>
            </a:pPr>
            <a:r>
              <a:t>Ausgangssituation der VektorPlan GmbH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3 von 16</a:t>
            </a:r>
          </a:p>
        </p:txBody>
      </p:sp>
      <p:sp>
        <p:nvSpPr>
          <p:cNvPr id="5" name="Rounded Rectangle 4"/>
          <p:cNvSpPr/>
          <p:nvPr/>
        </p:nvSpPr>
        <p:spPr>
          <a:xfrm>
            <a:off x="731520" y="1371600"/>
            <a:ext cx="5212080" cy="4846320"/>
          </a:xfrm>
          <a:prstGeom prst="roundRect">
            <a:avLst/>
          </a:prstGeom>
          <a:solidFill>
            <a:srgbClr val="FFFFFF"/>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914400" y="1554480"/>
            <a:ext cx="4846320" cy="4480560"/>
          </a:xfrm>
          <a:prstGeom prst="rect">
            <a:avLst/>
          </a:prstGeom>
          <a:noFill/>
        </p:spPr>
        <p:txBody>
          <a:bodyPr wrap="square">
            <a:spAutoFit/>
          </a:bodyPr>
          <a:lstStyle/>
          <a:p>
            <a:pPr>
              <a:defRPr sz="1300" b="1">
                <a:solidFill>
                  <a:srgbClr val="1F497D"/>
                </a:solidFill>
                <a:latin typeface="Calibri"/>
              </a:defRPr>
            </a:pPr>
            <a:r>
              <a:t>Die Ausgangslage beim Kunden:</a:t>
            </a:r>
          </a:p>
          <a:p>
            <a:pPr>
              <a:spcAft>
                <a:spcPts val="800"/>
              </a:spcAft>
              <a:defRPr sz="1050">
                <a:solidFill>
                  <a:srgbClr val="262626"/>
                </a:solidFill>
                <a:latin typeface="Calibri"/>
              </a:defRPr>
            </a:pPr>
            <a:r>
              <a:t>• Kunde: VektorPlan GmbH ist eine wachsende Architektur- und Ingenieurgesellschaft.</a:t>
            </a:r>
          </a:p>
          <a:p>
            <a:pPr>
              <a:spcAft>
                <a:spcPts val="800"/>
              </a:spcAft>
              <a:defRPr sz="1050">
                <a:solidFill>
                  <a:srgbClr val="262626"/>
                </a:solidFill>
                <a:latin typeface="Calibri"/>
              </a:defRPr>
            </a:pPr>
            <a:r>
              <a:t>• Anlass: Die Büroräume werden modernisiert. Es entstehen zwei neue Großraumbüros sowie eine zentrale Plotter- und Scanstation.</a:t>
            </a:r>
          </a:p>
          <a:p>
            <a:pPr>
              <a:spcAft>
                <a:spcPts val="800"/>
              </a:spcAft>
              <a:defRPr sz="1050">
                <a:solidFill>
                  <a:srgbClr val="262626"/>
                </a:solidFill>
                <a:latin typeface="Calibri"/>
              </a:defRPr>
            </a:pPr>
            <a:r>
              <a:t>• Problem der alten IT: Veraltete Hardware führte zu langen Ladezeiten bei großen CAD-Modellen und häufigen Systemabstürzen.</a:t>
            </a:r>
          </a:p>
          <a:p>
            <a:pPr>
              <a:spcAft>
                <a:spcPts val="800"/>
              </a:spcAft>
              <a:defRPr sz="1050">
                <a:solidFill>
                  <a:srgbClr val="262626"/>
                </a:solidFill>
                <a:latin typeface="Calibri"/>
              </a:defRPr>
            </a:pPr>
            <a:r>
              <a:t>• Ergonomie-Anspruch: Für ermüdungsfreies Arbeiten wurden ausdrücklich ergonomische Arbeitsplätze mit je zwei Bildschirmen gefordert.</a:t>
            </a:r>
          </a:p>
          <a:p>
            <a:pPr>
              <a:spcAft>
                <a:spcPts val="800"/>
              </a:spcAft>
              <a:defRPr sz="1050">
                <a:solidFill>
                  <a:srgbClr val="262626"/>
                </a:solidFill>
                <a:latin typeface="Calibri"/>
              </a:defRPr>
            </a:pPr>
            <a:r>
              <a:t>• Sicherheitskonzept: Tägliche Zwischensicherung auf externe SSDs sowie zentrale Abendsynchronisation auf den Firmen-Fileserver.</a:t>
            </a:r>
          </a:p>
        </p:txBody>
      </p:sp>
      <p:sp>
        <p:nvSpPr>
          <p:cNvPr id="7" name="Rounded Rectangle 6"/>
          <p:cNvSpPr/>
          <p:nvPr/>
        </p:nvSpPr>
        <p:spPr>
          <a:xfrm>
            <a:off x="6217920" y="1371600"/>
            <a:ext cx="5212080" cy="4846320"/>
          </a:xfrm>
          <a:prstGeom prst="roundRect">
            <a:avLst/>
          </a:prstGeom>
          <a:solidFill>
            <a:srgbClr val="FFFFFF"/>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6400800" y="1554480"/>
            <a:ext cx="4846320" cy="4480560"/>
          </a:xfrm>
          <a:prstGeom prst="rect">
            <a:avLst/>
          </a:prstGeom>
          <a:noFill/>
        </p:spPr>
        <p:txBody>
          <a:bodyPr wrap="square">
            <a:spAutoFit/>
          </a:bodyPr>
          <a:lstStyle/>
          <a:p>
            <a:pPr>
              <a:defRPr sz="1300" b="1">
                <a:solidFill>
                  <a:srgbClr val="1F497D"/>
                </a:solidFill>
                <a:latin typeface="Calibri"/>
              </a:defRPr>
            </a:pPr>
            <a:r>
              <a:t>Der Auftrag an NextLevel IT Solutions:</a:t>
            </a:r>
          </a:p>
          <a:p>
            <a:pPr>
              <a:spcAft>
                <a:spcPts val="600"/>
              </a:spcAft>
              <a:defRPr sz="1050">
                <a:solidFill>
                  <a:srgbClr val="262626"/>
                </a:solidFill>
                <a:latin typeface="Calibri"/>
              </a:defRPr>
            </a:pPr>
            <a:r>
              <a:t>✔ 12 Standard-Büroarbeitsplätze für Bauleitung, Ausschreibung und Office.</a:t>
            </a:r>
          </a:p>
          <a:p>
            <a:pPr>
              <a:spcAft>
                <a:spcPts val="600"/>
              </a:spcAft>
              <a:defRPr sz="1050">
                <a:solidFill>
                  <a:srgbClr val="262626"/>
                </a:solidFill>
                <a:latin typeface="Calibri"/>
              </a:defRPr>
            </a:pPr>
            <a:r>
              <a:t>✔ 4 High-End CAD-Workstations mit Profi-Grafikkarten für 3D-BIM &amp; Rendering.</a:t>
            </a:r>
          </a:p>
          <a:p>
            <a:pPr>
              <a:spcAft>
                <a:spcPts val="600"/>
              </a:spcAft>
              <a:defRPr sz="1050">
                <a:solidFill>
                  <a:srgbClr val="262626"/>
                </a:solidFill>
                <a:latin typeface="Calibri"/>
              </a:defRPr>
            </a:pPr>
            <a:r>
              <a:t>✔ 32 ergonomische 27'' WQHD-Monitore (höhenverstellbar, Pivot-Funktion).</a:t>
            </a:r>
          </a:p>
          <a:p>
            <a:pPr>
              <a:spcAft>
                <a:spcPts val="600"/>
              </a:spcAft>
              <a:defRPr sz="1050">
                <a:solidFill>
                  <a:srgbClr val="262626"/>
                </a:solidFill>
                <a:latin typeface="Calibri"/>
              </a:defRPr>
            </a:pPr>
            <a:r>
              <a:t>✔ 16 kabellose Tastatur-Maus-Sets (mit verschlüsselter Funkübertragung).</a:t>
            </a:r>
          </a:p>
          <a:p>
            <a:pPr>
              <a:spcAft>
                <a:spcPts val="600"/>
              </a:spcAft>
              <a:defRPr sz="1050">
                <a:solidFill>
                  <a:srgbClr val="262626"/>
                </a:solidFill>
                <a:latin typeface="Calibri"/>
              </a:defRPr>
            </a:pPr>
            <a:r>
              <a:t>✔ 16 externe SSDs (1TB) zur schnellen lokalen Zwischensicherung.</a:t>
            </a:r>
          </a:p>
          <a:p>
            <a:pPr>
              <a:spcAft>
                <a:spcPts val="600"/>
              </a:spcAft>
              <a:defRPr sz="1050">
                <a:solidFill>
                  <a:srgbClr val="262626"/>
                </a:solidFill>
                <a:latin typeface="Calibri"/>
              </a:defRPr>
            </a:pPr>
            <a:r>
              <a:t>✔ 1 zentraler Farblaser-Multifunktionsdrucker für Pläne bis Format DIN A3.</a:t>
            </a:r>
          </a:p>
          <a:p>
            <a:pPr>
              <a:spcAft>
                <a:spcPts val="600"/>
              </a:spcAft>
              <a:defRPr sz="1050">
                <a:solidFill>
                  <a:srgbClr val="262626"/>
                </a:solidFill>
                <a:latin typeface="Calibri"/>
              </a:defRPr>
            </a:pPr>
            <a:r>
              <a:t>✔ Fachgerechte Entsorgung des alten Schwarzweiß-Druckers gem. ElektroG.</a:t>
            </a:r>
          </a:p>
          <a:p>
            <a:pPr>
              <a:spcAft>
                <a:spcPts val="600"/>
              </a:spcAft>
              <a:defRPr sz="1050">
                <a:solidFill>
                  <a:srgbClr val="262626"/>
                </a:solidFill>
                <a:latin typeface="Calibri"/>
              </a:defRPr>
            </a:pPr>
            <a:r>
              <a:t>✔ Komplettservice: Beratung, Einkauf, Vorinstallation, Aufbau &amp; Abnahme.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ORGANISATION</a:t>
            </a:r>
          </a:p>
          <a:p>
            <a:pPr>
              <a:defRPr sz="2000" b="1">
                <a:solidFill>
                  <a:srgbClr val="FFFFFF"/>
                </a:solidFill>
                <a:latin typeface="Calibri"/>
              </a:defRPr>
            </a:pPr>
            <a:r>
              <a:t>Unser Team und die Aufgabenverteilung</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4 von 16</a:t>
            </a:r>
          </a:p>
        </p:txBody>
      </p:sp>
      <p:sp>
        <p:nvSpPr>
          <p:cNvPr id="5" name="Rounded Rectangle 4"/>
          <p:cNvSpPr/>
          <p:nvPr/>
        </p:nvSpPr>
        <p:spPr>
          <a:xfrm>
            <a:off x="731520"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2057400" cy="8229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731520" y="1444752"/>
            <a:ext cx="2057400" cy="411480"/>
          </a:xfrm>
          <a:prstGeom prst="rect">
            <a:avLst/>
          </a:prstGeom>
          <a:noFill/>
        </p:spPr>
        <p:txBody>
          <a:bodyPr wrap="none">
            <a:spAutoFit/>
          </a:bodyPr>
          <a:lstStyle/>
          <a:p>
            <a:pPr algn="ctr">
              <a:defRPr sz="1200" b="1">
                <a:solidFill>
                  <a:srgbClr val="FFFFFF"/>
                </a:solidFill>
                <a:latin typeface="Calibri"/>
              </a:defRPr>
            </a:pPr>
            <a:r>
              <a:t>Jan Kluth</a:t>
            </a:r>
          </a:p>
        </p:txBody>
      </p:sp>
      <p:sp>
        <p:nvSpPr>
          <p:cNvPr id="8" name="TextBox 7"/>
          <p:cNvSpPr txBox="1"/>
          <p:nvPr/>
        </p:nvSpPr>
        <p:spPr>
          <a:xfrm>
            <a:off x="731520" y="1810512"/>
            <a:ext cx="2057400" cy="320040"/>
          </a:xfrm>
          <a:prstGeom prst="rect">
            <a:avLst/>
          </a:prstGeom>
          <a:noFill/>
        </p:spPr>
        <p:txBody>
          <a:bodyPr wrap="none">
            <a:spAutoFit/>
          </a:bodyPr>
          <a:lstStyle/>
          <a:p>
            <a:pPr algn="ctr">
              <a:defRPr sz="950" b="1">
                <a:solidFill>
                  <a:srgbClr val="B4C6E7"/>
                </a:solidFill>
                <a:latin typeface="Calibri"/>
              </a:defRPr>
            </a:pPr>
            <a:r>
              <a:t>Projektleiter</a:t>
            </a:r>
          </a:p>
        </p:txBody>
      </p:sp>
      <p:sp>
        <p:nvSpPr>
          <p:cNvPr id="9" name="TextBox 8"/>
          <p:cNvSpPr txBox="1"/>
          <p:nvPr/>
        </p:nvSpPr>
        <p:spPr>
          <a:xfrm>
            <a:off x="841248"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Gesamtkoordination &amp; Leitung</a:t>
            </a:r>
          </a:p>
          <a:p>
            <a:pPr>
              <a:spcAft>
                <a:spcPts val="600"/>
              </a:spcAft>
              <a:defRPr sz="950">
                <a:solidFill>
                  <a:srgbClr val="262626"/>
                </a:solidFill>
                <a:latin typeface="Calibri"/>
              </a:defRPr>
            </a:pPr>
            <a:r>
              <a:t>• Termin- &amp; Ablaufüberwachung</a:t>
            </a:r>
          </a:p>
          <a:p>
            <a:pPr>
              <a:spcAft>
                <a:spcPts val="600"/>
              </a:spcAft>
              <a:defRPr sz="950">
                <a:solidFill>
                  <a:srgbClr val="262626"/>
                </a:solidFill>
                <a:latin typeface="Calibri"/>
              </a:defRPr>
            </a:pPr>
            <a:r>
              <a:t>• Risikoanalyse &amp; Abnahme</a:t>
            </a:r>
          </a:p>
          <a:p>
            <a:pPr>
              <a:spcAft>
                <a:spcPts val="600"/>
              </a:spcAft>
              <a:defRPr sz="950">
                <a:solidFill>
                  <a:srgbClr val="262626"/>
                </a:solidFill>
                <a:latin typeface="Calibri"/>
              </a:defRPr>
            </a:pPr>
            <a:r>
              <a:t>• Abschlusspräsentation</a:t>
            </a:r>
          </a:p>
        </p:txBody>
      </p:sp>
      <p:sp>
        <p:nvSpPr>
          <p:cNvPr id="10" name="Rounded Rectangle 9"/>
          <p:cNvSpPr/>
          <p:nvPr/>
        </p:nvSpPr>
        <p:spPr>
          <a:xfrm>
            <a:off x="2907791"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Rectangle 10"/>
          <p:cNvSpPr/>
          <p:nvPr/>
        </p:nvSpPr>
        <p:spPr>
          <a:xfrm>
            <a:off x="2907791"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2907791" y="1444752"/>
            <a:ext cx="2057400" cy="411480"/>
          </a:xfrm>
          <a:prstGeom prst="rect">
            <a:avLst/>
          </a:prstGeom>
          <a:noFill/>
        </p:spPr>
        <p:txBody>
          <a:bodyPr wrap="none">
            <a:spAutoFit/>
          </a:bodyPr>
          <a:lstStyle/>
          <a:p>
            <a:pPr algn="ctr">
              <a:defRPr sz="1200" b="1">
                <a:solidFill>
                  <a:srgbClr val="1F497D"/>
                </a:solidFill>
                <a:latin typeface="Calibri"/>
              </a:defRPr>
            </a:pPr>
            <a:r>
              <a:t>Mathias Vonau</a:t>
            </a:r>
          </a:p>
        </p:txBody>
      </p:sp>
      <p:sp>
        <p:nvSpPr>
          <p:cNvPr id="13" name="TextBox 12"/>
          <p:cNvSpPr txBox="1"/>
          <p:nvPr/>
        </p:nvSpPr>
        <p:spPr>
          <a:xfrm>
            <a:off x="2907791" y="1810512"/>
            <a:ext cx="2057400" cy="320040"/>
          </a:xfrm>
          <a:prstGeom prst="rect">
            <a:avLst/>
          </a:prstGeom>
          <a:noFill/>
        </p:spPr>
        <p:txBody>
          <a:bodyPr wrap="none">
            <a:spAutoFit/>
          </a:bodyPr>
          <a:lstStyle/>
          <a:p>
            <a:pPr algn="ctr">
              <a:defRPr sz="950" b="1">
                <a:solidFill>
                  <a:srgbClr val="2F5597"/>
                </a:solidFill>
                <a:latin typeface="Calibri"/>
              </a:defRPr>
            </a:pPr>
            <a:r>
              <a:t>Technischer Planer</a:t>
            </a:r>
          </a:p>
        </p:txBody>
      </p:sp>
      <p:sp>
        <p:nvSpPr>
          <p:cNvPr id="14" name="TextBox 13"/>
          <p:cNvSpPr txBox="1"/>
          <p:nvPr/>
        </p:nvSpPr>
        <p:spPr>
          <a:xfrm>
            <a:off x="3017519"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Anforderungsanalyse &amp; Lastenheft</a:t>
            </a:r>
          </a:p>
          <a:p>
            <a:pPr>
              <a:spcAft>
                <a:spcPts val="600"/>
              </a:spcAft>
              <a:defRPr sz="950">
                <a:solidFill>
                  <a:srgbClr val="262626"/>
                </a:solidFill>
                <a:latin typeface="Calibri"/>
              </a:defRPr>
            </a:pPr>
            <a:r>
              <a:t>• Hardware-Spezifikationen</a:t>
            </a:r>
          </a:p>
          <a:p>
            <a:pPr>
              <a:spcAft>
                <a:spcPts val="600"/>
              </a:spcAft>
              <a:defRPr sz="950">
                <a:solidFill>
                  <a:srgbClr val="262626"/>
                </a:solidFill>
                <a:latin typeface="Calibri"/>
              </a:defRPr>
            </a:pPr>
            <a:r>
              <a:t>• Vorinstallation (Staging)</a:t>
            </a:r>
          </a:p>
          <a:p>
            <a:pPr>
              <a:spcAft>
                <a:spcPts val="600"/>
              </a:spcAft>
              <a:defRPr sz="950">
                <a:solidFill>
                  <a:srgbClr val="262626"/>
                </a:solidFill>
                <a:latin typeface="Calibri"/>
              </a:defRPr>
            </a:pPr>
            <a:r>
              <a:t>• Ergonomie-Montage vor Ort</a:t>
            </a:r>
          </a:p>
        </p:txBody>
      </p:sp>
      <p:sp>
        <p:nvSpPr>
          <p:cNvPr id="15" name="Rounded Rectangle 14"/>
          <p:cNvSpPr/>
          <p:nvPr/>
        </p:nvSpPr>
        <p:spPr>
          <a:xfrm>
            <a:off x="5084064"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Rectangle 15"/>
          <p:cNvSpPr/>
          <p:nvPr/>
        </p:nvSpPr>
        <p:spPr>
          <a:xfrm>
            <a:off x="5084064"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7" name="TextBox 16"/>
          <p:cNvSpPr txBox="1"/>
          <p:nvPr/>
        </p:nvSpPr>
        <p:spPr>
          <a:xfrm>
            <a:off x="5084064" y="1444752"/>
            <a:ext cx="2057400" cy="411480"/>
          </a:xfrm>
          <a:prstGeom prst="rect">
            <a:avLst/>
          </a:prstGeom>
          <a:noFill/>
        </p:spPr>
        <p:txBody>
          <a:bodyPr wrap="none">
            <a:spAutoFit/>
          </a:bodyPr>
          <a:lstStyle/>
          <a:p>
            <a:pPr algn="ctr">
              <a:defRPr sz="1200" b="1">
                <a:solidFill>
                  <a:srgbClr val="1F497D"/>
                </a:solidFill>
                <a:latin typeface="Calibri"/>
              </a:defRPr>
            </a:pPr>
            <a:r>
              <a:t>Marian Bolecke</a:t>
            </a:r>
          </a:p>
        </p:txBody>
      </p:sp>
      <p:sp>
        <p:nvSpPr>
          <p:cNvPr id="18" name="TextBox 17"/>
          <p:cNvSpPr txBox="1"/>
          <p:nvPr/>
        </p:nvSpPr>
        <p:spPr>
          <a:xfrm>
            <a:off x="5084064" y="1810512"/>
            <a:ext cx="2057400" cy="320040"/>
          </a:xfrm>
          <a:prstGeom prst="rect">
            <a:avLst/>
          </a:prstGeom>
          <a:noFill/>
        </p:spPr>
        <p:txBody>
          <a:bodyPr wrap="none">
            <a:spAutoFit/>
          </a:bodyPr>
          <a:lstStyle/>
          <a:p>
            <a:pPr algn="ctr">
              <a:defRPr sz="950" b="1">
                <a:solidFill>
                  <a:srgbClr val="2F5597"/>
                </a:solidFill>
                <a:latin typeface="Calibri"/>
              </a:defRPr>
            </a:pPr>
            <a:r>
              <a:t>Beschaffung &amp; Kalkulation</a:t>
            </a:r>
          </a:p>
        </p:txBody>
      </p:sp>
      <p:sp>
        <p:nvSpPr>
          <p:cNvPr id="19" name="TextBox 18"/>
          <p:cNvSpPr txBox="1"/>
          <p:nvPr/>
        </p:nvSpPr>
        <p:spPr>
          <a:xfrm>
            <a:off x="5193792"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Reale Marktrecherche</a:t>
            </a:r>
          </a:p>
          <a:p>
            <a:pPr>
              <a:spcAft>
                <a:spcPts val="600"/>
              </a:spcAft>
              <a:defRPr sz="950">
                <a:solidFill>
                  <a:srgbClr val="262626"/>
                </a:solidFill>
                <a:latin typeface="Calibri"/>
              </a:defRPr>
            </a:pPr>
            <a:r>
              <a:t>• Nutzwertanalysen (PCs / TFTs)</a:t>
            </a:r>
          </a:p>
          <a:p>
            <a:pPr>
              <a:spcAft>
                <a:spcPts val="600"/>
              </a:spcAft>
              <a:defRPr sz="950">
                <a:solidFill>
                  <a:srgbClr val="262626"/>
                </a:solidFill>
                <a:latin typeface="Calibri"/>
              </a:defRPr>
            </a:pPr>
            <a:r>
              <a:t>• Vorwärtskalkulation</a:t>
            </a:r>
          </a:p>
          <a:p>
            <a:pPr>
              <a:spcAft>
                <a:spcPts val="600"/>
              </a:spcAft>
              <a:defRPr sz="950">
                <a:solidFill>
                  <a:srgbClr val="262626"/>
                </a:solidFill>
                <a:latin typeface="Calibri"/>
              </a:defRPr>
            </a:pPr>
            <a:r>
              <a:t>• Angebotserstellung DIN 5008</a:t>
            </a:r>
          </a:p>
        </p:txBody>
      </p:sp>
      <p:sp>
        <p:nvSpPr>
          <p:cNvPr id="20" name="Rounded Rectangle 19"/>
          <p:cNvSpPr/>
          <p:nvPr/>
        </p:nvSpPr>
        <p:spPr>
          <a:xfrm>
            <a:off x="7260336"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1" name="Rectangle 20"/>
          <p:cNvSpPr/>
          <p:nvPr/>
        </p:nvSpPr>
        <p:spPr>
          <a:xfrm>
            <a:off x="7260336"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2" name="TextBox 21"/>
          <p:cNvSpPr txBox="1"/>
          <p:nvPr/>
        </p:nvSpPr>
        <p:spPr>
          <a:xfrm>
            <a:off x="7260336" y="1444752"/>
            <a:ext cx="2057400" cy="411480"/>
          </a:xfrm>
          <a:prstGeom prst="rect">
            <a:avLst/>
          </a:prstGeom>
          <a:noFill/>
        </p:spPr>
        <p:txBody>
          <a:bodyPr wrap="none">
            <a:spAutoFit/>
          </a:bodyPr>
          <a:lstStyle/>
          <a:p>
            <a:pPr algn="ctr">
              <a:defRPr sz="1200" b="1">
                <a:solidFill>
                  <a:srgbClr val="1F497D"/>
                </a:solidFill>
                <a:latin typeface="Calibri"/>
              </a:defRPr>
            </a:pPr>
            <a:r>
              <a:t>Marco Schmidt</a:t>
            </a:r>
          </a:p>
        </p:txBody>
      </p:sp>
      <p:sp>
        <p:nvSpPr>
          <p:cNvPr id="23" name="TextBox 22"/>
          <p:cNvSpPr txBox="1"/>
          <p:nvPr/>
        </p:nvSpPr>
        <p:spPr>
          <a:xfrm>
            <a:off x="7260336" y="1810512"/>
            <a:ext cx="2057400" cy="320040"/>
          </a:xfrm>
          <a:prstGeom prst="rect">
            <a:avLst/>
          </a:prstGeom>
          <a:noFill/>
        </p:spPr>
        <p:txBody>
          <a:bodyPr wrap="none">
            <a:spAutoFit/>
          </a:bodyPr>
          <a:lstStyle/>
          <a:p>
            <a:pPr algn="ctr">
              <a:defRPr sz="950" b="1">
                <a:solidFill>
                  <a:srgbClr val="2F5597"/>
                </a:solidFill>
                <a:latin typeface="Calibri"/>
              </a:defRPr>
            </a:pPr>
            <a:r>
              <a:t>Qualitätsmanagement</a:t>
            </a:r>
          </a:p>
        </p:txBody>
      </p:sp>
      <p:sp>
        <p:nvSpPr>
          <p:cNvPr id="24" name="TextBox 23"/>
          <p:cNvSpPr txBox="1"/>
          <p:nvPr/>
        </p:nvSpPr>
        <p:spPr>
          <a:xfrm>
            <a:off x="7370064"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Wareneingangsprüfung (§ 377 HGB)</a:t>
            </a:r>
          </a:p>
          <a:p>
            <a:pPr>
              <a:spcAft>
                <a:spcPts val="600"/>
              </a:spcAft>
              <a:defRPr sz="950">
                <a:solidFill>
                  <a:srgbClr val="262626"/>
                </a:solidFill>
                <a:latin typeface="Calibri"/>
              </a:defRPr>
            </a:pPr>
            <a:r>
              <a:t>• Kaufmännische Mängelrüge</a:t>
            </a:r>
          </a:p>
          <a:p>
            <a:pPr>
              <a:spcAft>
                <a:spcPts val="600"/>
              </a:spcAft>
              <a:defRPr sz="950">
                <a:solidFill>
                  <a:srgbClr val="262626"/>
                </a:solidFill>
                <a:latin typeface="Calibri"/>
              </a:defRPr>
            </a:pPr>
            <a:r>
              <a:t>• Entsorgungskonzept ElektroG</a:t>
            </a:r>
          </a:p>
          <a:p>
            <a:pPr>
              <a:spcAft>
                <a:spcPts val="600"/>
              </a:spcAft>
              <a:defRPr sz="950">
                <a:solidFill>
                  <a:srgbClr val="262626"/>
                </a:solidFill>
                <a:latin typeface="Calibri"/>
              </a:defRPr>
            </a:pPr>
            <a:r>
              <a:t>• Datenschutz &amp; BSI-Löschung</a:t>
            </a:r>
          </a:p>
        </p:txBody>
      </p:sp>
      <p:sp>
        <p:nvSpPr>
          <p:cNvPr id="25" name="Rounded Rectangle 24"/>
          <p:cNvSpPr/>
          <p:nvPr/>
        </p:nvSpPr>
        <p:spPr>
          <a:xfrm>
            <a:off x="9436608"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6" name="Rectangle 25"/>
          <p:cNvSpPr/>
          <p:nvPr/>
        </p:nvSpPr>
        <p:spPr>
          <a:xfrm>
            <a:off x="9436608"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7" name="TextBox 26"/>
          <p:cNvSpPr txBox="1"/>
          <p:nvPr/>
        </p:nvSpPr>
        <p:spPr>
          <a:xfrm>
            <a:off x="9436608" y="1444752"/>
            <a:ext cx="2057400" cy="411480"/>
          </a:xfrm>
          <a:prstGeom prst="rect">
            <a:avLst/>
          </a:prstGeom>
          <a:noFill/>
        </p:spPr>
        <p:txBody>
          <a:bodyPr wrap="none">
            <a:spAutoFit/>
          </a:bodyPr>
          <a:lstStyle/>
          <a:p>
            <a:pPr algn="ctr">
              <a:defRPr sz="1200" b="1">
                <a:solidFill>
                  <a:srgbClr val="1F497D"/>
                </a:solidFill>
                <a:latin typeface="Calibri"/>
              </a:defRPr>
            </a:pPr>
            <a:r>
              <a:t>Siyar</a:t>
            </a:r>
          </a:p>
        </p:txBody>
      </p:sp>
      <p:sp>
        <p:nvSpPr>
          <p:cNvPr id="28" name="TextBox 27"/>
          <p:cNvSpPr txBox="1"/>
          <p:nvPr/>
        </p:nvSpPr>
        <p:spPr>
          <a:xfrm>
            <a:off x="9436608" y="1810512"/>
            <a:ext cx="2057400" cy="320040"/>
          </a:xfrm>
          <a:prstGeom prst="rect">
            <a:avLst/>
          </a:prstGeom>
          <a:noFill/>
        </p:spPr>
        <p:txBody>
          <a:bodyPr wrap="none">
            <a:spAutoFit/>
          </a:bodyPr>
          <a:lstStyle/>
          <a:p>
            <a:pPr algn="ctr">
              <a:defRPr sz="950" b="1">
                <a:solidFill>
                  <a:srgbClr val="2F5597"/>
                </a:solidFill>
                <a:latin typeface="Calibri"/>
              </a:defRPr>
            </a:pPr>
            <a:r>
              <a:t>Berechnung &amp; Doku</a:t>
            </a:r>
          </a:p>
        </p:txBody>
      </p:sp>
      <p:sp>
        <p:nvSpPr>
          <p:cNvPr id="29" name="TextBox 28"/>
          <p:cNvSpPr txBox="1"/>
          <p:nvPr/>
        </p:nvSpPr>
        <p:spPr>
          <a:xfrm>
            <a:off x="9546336"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Server-Speicherbedarf (445 GiB)</a:t>
            </a:r>
          </a:p>
          <a:p>
            <a:pPr>
              <a:spcAft>
                <a:spcPts val="600"/>
              </a:spcAft>
              <a:defRPr sz="950">
                <a:solidFill>
                  <a:srgbClr val="262626"/>
                </a:solidFill>
                <a:latin typeface="Calibri"/>
              </a:defRPr>
            </a:pPr>
            <a:r>
              <a:t>• Energiekosten-Kalkulation</a:t>
            </a:r>
          </a:p>
          <a:p>
            <a:pPr>
              <a:spcAft>
                <a:spcPts val="600"/>
              </a:spcAft>
              <a:defRPr sz="950">
                <a:solidFill>
                  <a:srgbClr val="262626"/>
                </a:solidFill>
                <a:latin typeface="Calibri"/>
              </a:defRPr>
            </a:pPr>
            <a:r>
              <a:t>• Checklisten &amp; Protokolle</a:t>
            </a:r>
          </a:p>
          <a:p>
            <a:pPr>
              <a:spcAft>
                <a:spcPts val="600"/>
              </a:spcAft>
              <a:defRPr sz="950">
                <a:solidFill>
                  <a:srgbClr val="262626"/>
                </a:solidFill>
                <a:latin typeface="Calibri"/>
              </a:defRPr>
            </a:pPr>
            <a:r>
              <a:t>• Qualitätssicherung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PROJEKTORGANISATION</a:t>
            </a:r>
          </a:p>
          <a:p>
            <a:pPr>
              <a:defRPr sz="2000" b="1">
                <a:solidFill>
                  <a:srgbClr val="FFFFFF"/>
                </a:solidFill>
                <a:latin typeface="Calibri"/>
              </a:defRPr>
            </a:pPr>
            <a:r>
              <a:t>Projektstrukturplan nach DIN 69901</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5 von 16</a:t>
            </a:r>
          </a:p>
        </p:txBody>
      </p:sp>
      <p:sp>
        <p:nvSpPr>
          <p:cNvPr id="5" name="Rounded Rectangle 4"/>
          <p:cNvSpPr/>
          <p:nvPr/>
        </p:nvSpPr>
        <p:spPr>
          <a:xfrm>
            <a:off x="2712567" y="1097280"/>
            <a:ext cx="6766560" cy="621792"/>
          </a:xfrm>
          <a:prstGeom prst="roundRect">
            <a:avLst/>
          </a:prstGeom>
          <a:solidFill>
            <a:srgbClr val="1F497D"/>
          </a:solidFill>
          <a:ln w="1905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latin typeface="Calibri"/>
              </a:defRPr>
            </a:pPr>
            <a:r>
              <a:t>1.0 IT-Ausstattung Planungs- und Konstruktionsbüro</a:t>
            </a:r>
          </a:p>
          <a:p>
            <a:pPr algn="ctr">
              <a:defRPr sz="950">
                <a:solidFill>
                  <a:srgbClr val="FFE699"/>
                </a:solidFill>
                <a:latin typeface="Calibri"/>
              </a:defRPr>
            </a:pPr>
            <a:r>
              <a:t>Kunde: VektorPlan GmbH  |  Projektleitung: Jan Kluth  |  DIN 69901 (100%-Regel)</a:t>
            </a:r>
          </a:p>
        </p:txBody>
      </p:sp>
      <p:sp>
        <p:nvSpPr>
          <p:cNvPr id="6" name="Rectangle 5"/>
          <p:cNvSpPr/>
          <p:nvPr/>
        </p:nvSpPr>
        <p:spPr>
          <a:xfrm>
            <a:off x="6083147" y="1719072"/>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563624" y="1847088"/>
            <a:ext cx="8924544" cy="25400"/>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50924"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2920" y="1975104"/>
            <a:ext cx="2121408" cy="621792"/>
          </a:xfrm>
          <a:prstGeom prst="roundRect">
            <a:avLst/>
          </a:prstGeom>
          <a:solidFill>
            <a:srgbClr val="1F497D"/>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1.1 Hardware</a:t>
            </a:r>
          </a:p>
          <a:p>
            <a:pPr algn="ctr">
              <a:defRPr sz="900">
                <a:solidFill>
                  <a:srgbClr val="FFE699"/>
                </a:solidFill>
                <a:latin typeface="Calibri"/>
              </a:defRPr>
            </a:pPr>
            <a:r>
              <a:t>Leitung: Marian Bolecke</a:t>
            </a:r>
          </a:p>
        </p:txBody>
      </p:sp>
      <p:sp>
        <p:nvSpPr>
          <p:cNvPr id="10" name="Rounded Rectangle 9"/>
          <p:cNvSpPr/>
          <p:nvPr/>
        </p:nvSpPr>
        <p:spPr>
          <a:xfrm>
            <a:off x="502920" y="2633472"/>
            <a:ext cx="2121408" cy="3584448"/>
          </a:xfrm>
          <a:prstGeom prst="roundRect">
            <a:avLst/>
          </a:prstGeom>
          <a:solidFill>
            <a:srgbClr val="FFFFFF"/>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688336"/>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1.1.1 12x Standard-PCs</a:t>
            </a:r>
          </a:p>
          <a:p>
            <a:pPr>
              <a:defRPr sz="850">
                <a:solidFill>
                  <a:srgbClr val="262626"/>
                </a:solidFill>
                <a:latin typeface="Calibri"/>
              </a:defRPr>
            </a:pPr>
            <a:r>
              <a:t>Lenovo ThinkCentre M70s (SFF)</a:t>
            </a:r>
          </a:p>
        </p:txBody>
      </p:sp>
      <p:sp>
        <p:nvSpPr>
          <p:cNvPr id="12" name="Rounded Rectangle 11"/>
          <p:cNvSpPr/>
          <p:nvPr/>
        </p:nvSpPr>
        <p:spPr>
          <a:xfrm>
            <a:off x="548640" y="3273552"/>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1.1.2 4x CAD-Workstations</a:t>
            </a:r>
          </a:p>
          <a:p>
            <a:pPr>
              <a:defRPr sz="850">
                <a:solidFill>
                  <a:srgbClr val="262626"/>
                </a:solidFill>
                <a:latin typeface="Calibri"/>
              </a:defRPr>
            </a:pPr>
            <a:r>
              <a:t>Lenovo ThinkStation P3 Tower</a:t>
            </a:r>
          </a:p>
        </p:txBody>
      </p:sp>
      <p:sp>
        <p:nvSpPr>
          <p:cNvPr id="13" name="Rounded Rectangle 12"/>
          <p:cNvSpPr/>
          <p:nvPr/>
        </p:nvSpPr>
        <p:spPr>
          <a:xfrm>
            <a:off x="548640" y="3858768"/>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1.1.3 32x Ergonomie-Displays</a:t>
            </a:r>
          </a:p>
          <a:p>
            <a:pPr>
              <a:defRPr sz="850">
                <a:solidFill>
                  <a:srgbClr val="262626"/>
                </a:solidFill>
                <a:latin typeface="Calibri"/>
              </a:defRPr>
            </a:pPr>
            <a:r>
              <a:t>Dell UltraSharp 27'' WQHD</a:t>
            </a:r>
          </a:p>
        </p:txBody>
      </p:sp>
      <p:sp>
        <p:nvSpPr>
          <p:cNvPr id="14" name="Rounded Rectangle 13"/>
          <p:cNvSpPr/>
          <p:nvPr/>
        </p:nvSpPr>
        <p:spPr>
          <a:xfrm>
            <a:off x="548640" y="4443984"/>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1.1.4 16x Funk-Eingabesets</a:t>
            </a:r>
          </a:p>
          <a:p>
            <a:pPr>
              <a:defRPr sz="850">
                <a:solidFill>
                  <a:srgbClr val="262626"/>
                </a:solidFill>
                <a:latin typeface="Calibri"/>
              </a:defRPr>
            </a:pPr>
            <a:r>
              <a:t>Logitech MK650 Business (AES)</a:t>
            </a:r>
          </a:p>
        </p:txBody>
      </p:sp>
      <p:sp>
        <p:nvSpPr>
          <p:cNvPr id="15" name="Rounded Rectangle 14"/>
          <p:cNvSpPr/>
          <p:nvPr/>
        </p:nvSpPr>
        <p:spPr>
          <a:xfrm>
            <a:off x="548640" y="5029200"/>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1.1.5 16x Externe SSDs</a:t>
            </a:r>
          </a:p>
          <a:p>
            <a:pPr>
              <a:defRPr sz="850">
                <a:solidFill>
                  <a:srgbClr val="262626"/>
                </a:solidFill>
                <a:latin typeface="Calibri"/>
              </a:defRPr>
            </a:pPr>
            <a:r>
              <a:t>Samsung Portable T7 Shield 1TB</a:t>
            </a:r>
          </a:p>
        </p:txBody>
      </p:sp>
      <p:sp>
        <p:nvSpPr>
          <p:cNvPr id="16" name="Rounded Rectangle 15"/>
          <p:cNvSpPr/>
          <p:nvPr/>
        </p:nvSpPr>
        <p:spPr>
          <a:xfrm>
            <a:off x="548640" y="5614416"/>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1.1.6 1x Farblaser-MFP A3</a:t>
            </a:r>
          </a:p>
          <a:p>
            <a:pPr>
              <a:defRPr sz="850">
                <a:solidFill>
                  <a:srgbClr val="262626"/>
                </a:solidFill>
                <a:latin typeface="Calibri"/>
              </a:defRPr>
            </a:pPr>
            <a:r>
              <a:t>Lexmark CX930dse A3/A4 MFP</a:t>
            </a:r>
          </a:p>
        </p:txBody>
      </p:sp>
      <p:sp>
        <p:nvSpPr>
          <p:cNvPr id="17" name="Rectangle 16"/>
          <p:cNvSpPr/>
          <p:nvPr/>
        </p:nvSpPr>
        <p:spPr>
          <a:xfrm>
            <a:off x="3782060"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734056" y="1975104"/>
            <a:ext cx="2121408" cy="621792"/>
          </a:xfrm>
          <a:prstGeom prst="roundRect">
            <a:avLst/>
          </a:prstGeom>
          <a:solidFill>
            <a:srgbClr val="1F497D"/>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1.2 Software</a:t>
            </a:r>
          </a:p>
          <a:p>
            <a:pPr algn="ctr">
              <a:defRPr sz="900">
                <a:solidFill>
                  <a:srgbClr val="FFE699"/>
                </a:solidFill>
                <a:latin typeface="Calibri"/>
              </a:defRPr>
            </a:pPr>
            <a:r>
              <a:t>Leitung: Mathias Vonau</a:t>
            </a:r>
          </a:p>
        </p:txBody>
      </p:sp>
      <p:sp>
        <p:nvSpPr>
          <p:cNvPr id="19" name="Rounded Rectangle 18"/>
          <p:cNvSpPr/>
          <p:nvPr/>
        </p:nvSpPr>
        <p:spPr>
          <a:xfrm>
            <a:off x="2734056" y="2633472"/>
            <a:ext cx="2121408" cy="3584448"/>
          </a:xfrm>
          <a:prstGeom prst="roundRect">
            <a:avLst/>
          </a:prstGeom>
          <a:solidFill>
            <a:srgbClr val="FFFFFF"/>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779776" y="2688336"/>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1.2.1 16x Windows 11 Pro</a:t>
            </a:r>
          </a:p>
          <a:p>
            <a:pPr>
              <a:defRPr sz="850">
                <a:solidFill>
                  <a:srgbClr val="262626"/>
                </a:solidFill>
                <a:latin typeface="Calibri"/>
              </a:defRPr>
            </a:pPr>
            <a:r>
              <a:t>OEM-Lizenzen 64-Bit vorinstall.</a:t>
            </a:r>
          </a:p>
        </p:txBody>
      </p:sp>
      <p:sp>
        <p:nvSpPr>
          <p:cNvPr id="21" name="Rounded Rectangle 20"/>
          <p:cNvSpPr/>
          <p:nvPr/>
        </p:nvSpPr>
        <p:spPr>
          <a:xfrm>
            <a:off x="2779776" y="3273552"/>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1.2.2 16x M365 Business</a:t>
            </a:r>
          </a:p>
          <a:p>
            <a:pPr>
              <a:defRPr sz="850">
                <a:solidFill>
                  <a:srgbClr val="262626"/>
                </a:solidFill>
                <a:latin typeface="Calibri"/>
              </a:defRPr>
            </a:pPr>
            <a:r>
              <a:t>Office Standard Jahresabos</a:t>
            </a:r>
          </a:p>
        </p:txBody>
      </p:sp>
      <p:sp>
        <p:nvSpPr>
          <p:cNvPr id="22" name="Rounded Rectangle 21"/>
          <p:cNvSpPr/>
          <p:nvPr/>
        </p:nvSpPr>
        <p:spPr>
          <a:xfrm>
            <a:off x="2779776" y="3858768"/>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1.2.3 16x Adobe Acrobat Pro</a:t>
            </a:r>
          </a:p>
          <a:p>
            <a:pPr>
              <a:defRPr sz="850">
                <a:solidFill>
                  <a:srgbClr val="262626"/>
                </a:solidFill>
                <a:latin typeface="Calibri"/>
              </a:defRPr>
            </a:pPr>
            <a:r>
              <a:t>PDF-Prüfung &amp; digitale Signatur</a:t>
            </a:r>
          </a:p>
        </p:txBody>
      </p:sp>
      <p:sp>
        <p:nvSpPr>
          <p:cNvPr id="23" name="Rounded Rectangle 22"/>
          <p:cNvSpPr/>
          <p:nvPr/>
        </p:nvSpPr>
        <p:spPr>
          <a:xfrm>
            <a:off x="2779776" y="4443984"/>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1.2.4 16x ESET PROTECT</a:t>
            </a:r>
          </a:p>
          <a:p>
            <a:pPr>
              <a:defRPr sz="850">
                <a:solidFill>
                  <a:srgbClr val="262626"/>
                </a:solidFill>
                <a:latin typeface="Calibri"/>
              </a:defRPr>
            </a:pPr>
            <a:r>
              <a:t>Zentral verwaltetes Cloud-EDR</a:t>
            </a:r>
          </a:p>
        </p:txBody>
      </p:sp>
      <p:sp>
        <p:nvSpPr>
          <p:cNvPr id="24" name="Rounded Rectangle 23"/>
          <p:cNvSpPr/>
          <p:nvPr/>
        </p:nvSpPr>
        <p:spPr>
          <a:xfrm>
            <a:off x="2779776" y="5029200"/>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1.2.5 Staging-Images</a:t>
            </a:r>
          </a:p>
          <a:p>
            <a:pPr>
              <a:defRPr sz="850">
                <a:solidFill>
                  <a:srgbClr val="262626"/>
                </a:solidFill>
                <a:latin typeface="Calibri"/>
              </a:defRPr>
            </a:pPr>
            <a:r>
              <a:t>Sysprep-Standardinstallation</a:t>
            </a:r>
          </a:p>
        </p:txBody>
      </p:sp>
      <p:sp>
        <p:nvSpPr>
          <p:cNvPr id="25" name="Rounded Rectangle 24"/>
          <p:cNvSpPr/>
          <p:nvPr/>
        </p:nvSpPr>
        <p:spPr>
          <a:xfrm>
            <a:off x="2779776" y="5614416"/>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1.2.6 Lizenzdokumentation</a:t>
            </a:r>
          </a:p>
          <a:p>
            <a:pPr>
              <a:defRPr sz="850">
                <a:solidFill>
                  <a:srgbClr val="262626"/>
                </a:solidFill>
                <a:latin typeface="Calibri"/>
              </a:defRPr>
            </a:pPr>
            <a:r>
              <a:t>Lizenznachweise &amp; Zertifikate</a:t>
            </a:r>
          </a:p>
        </p:txBody>
      </p:sp>
      <p:sp>
        <p:nvSpPr>
          <p:cNvPr id="26" name="Rectangle 25"/>
          <p:cNvSpPr/>
          <p:nvPr/>
        </p:nvSpPr>
        <p:spPr>
          <a:xfrm>
            <a:off x="6013196"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965192" y="1975104"/>
            <a:ext cx="2121408" cy="621792"/>
          </a:xfrm>
          <a:prstGeom prst="roundRect">
            <a:avLst/>
          </a:prstGeom>
          <a:solidFill>
            <a:srgbClr val="1F497D"/>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1.3 Netzwerk / Server</a:t>
            </a:r>
          </a:p>
          <a:p>
            <a:pPr algn="ctr">
              <a:defRPr sz="900">
                <a:solidFill>
                  <a:srgbClr val="FFE699"/>
                </a:solidFill>
                <a:latin typeface="Calibri"/>
              </a:defRPr>
            </a:pPr>
            <a:r>
              <a:t>Leitung: Siyar</a:t>
            </a:r>
          </a:p>
        </p:txBody>
      </p:sp>
      <p:sp>
        <p:nvSpPr>
          <p:cNvPr id="28" name="Rounded Rectangle 27"/>
          <p:cNvSpPr/>
          <p:nvPr/>
        </p:nvSpPr>
        <p:spPr>
          <a:xfrm>
            <a:off x="4965192" y="2633472"/>
            <a:ext cx="2121408" cy="3584448"/>
          </a:xfrm>
          <a:prstGeom prst="roundRect">
            <a:avLst/>
          </a:prstGeom>
          <a:solidFill>
            <a:srgbClr val="FFFFFF"/>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010912" y="2688336"/>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1.3.1 Gigabit-Verkabelung</a:t>
            </a:r>
          </a:p>
          <a:p>
            <a:pPr>
              <a:defRPr sz="850">
                <a:solidFill>
                  <a:srgbClr val="262626"/>
                </a:solidFill>
                <a:latin typeface="Calibri"/>
              </a:defRPr>
            </a:pPr>
            <a:r>
              <a:t>16x InLine Cat.6A Patchkabel</a:t>
            </a:r>
          </a:p>
        </p:txBody>
      </p:sp>
      <p:sp>
        <p:nvSpPr>
          <p:cNvPr id="30" name="Rounded Rectangle 29"/>
          <p:cNvSpPr/>
          <p:nvPr/>
        </p:nvSpPr>
        <p:spPr>
          <a:xfrm>
            <a:off x="5010912" y="3273552"/>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1.3.2 Fileserver-Kapazität</a:t>
            </a:r>
          </a:p>
          <a:p>
            <a:pPr>
              <a:defRPr sz="850">
                <a:solidFill>
                  <a:srgbClr val="262626"/>
                </a:solidFill>
                <a:latin typeface="Calibri"/>
              </a:defRPr>
            </a:pPr>
            <a:r>
              <a:t>445 GiB Netto-Puffer (Q1)</a:t>
            </a:r>
          </a:p>
        </p:txBody>
      </p:sp>
      <p:sp>
        <p:nvSpPr>
          <p:cNvPr id="31" name="Rounded Rectangle 30"/>
          <p:cNvSpPr/>
          <p:nvPr/>
        </p:nvSpPr>
        <p:spPr>
          <a:xfrm>
            <a:off x="5010912" y="3858768"/>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1.3.3 Energiekosten-Analyse</a:t>
            </a:r>
          </a:p>
          <a:p>
            <a:pPr>
              <a:defRPr sz="850">
                <a:solidFill>
                  <a:srgbClr val="262626"/>
                </a:solidFill>
                <a:latin typeface="Calibri"/>
              </a:defRPr>
            </a:pPr>
            <a:r>
              <a:t>1.771,26 € jährliche Stromkosten</a:t>
            </a:r>
          </a:p>
        </p:txBody>
      </p:sp>
      <p:sp>
        <p:nvSpPr>
          <p:cNvPr id="32" name="Rounded Rectangle 31"/>
          <p:cNvSpPr/>
          <p:nvPr/>
        </p:nvSpPr>
        <p:spPr>
          <a:xfrm>
            <a:off x="5010912" y="4443984"/>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1.3.4 Switchport-Planung</a:t>
            </a:r>
          </a:p>
          <a:p>
            <a:pPr>
              <a:defRPr sz="850">
                <a:solidFill>
                  <a:srgbClr val="262626"/>
                </a:solidFill>
                <a:latin typeface="Calibri"/>
              </a:defRPr>
            </a:pPr>
            <a:r>
              <a:t>Zuordnung Ports &amp; VLANs</a:t>
            </a:r>
          </a:p>
        </p:txBody>
      </p:sp>
      <p:sp>
        <p:nvSpPr>
          <p:cNvPr id="33" name="Rounded Rectangle 32"/>
          <p:cNvSpPr/>
          <p:nvPr/>
        </p:nvSpPr>
        <p:spPr>
          <a:xfrm>
            <a:off x="5010912" y="5029200"/>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1.3.5 Server-Synchronisation</a:t>
            </a:r>
          </a:p>
          <a:p>
            <a:pPr>
              <a:defRPr sz="850">
                <a:solidFill>
                  <a:srgbClr val="262626"/>
                </a:solidFill>
                <a:latin typeface="Calibri"/>
              </a:defRPr>
            </a:pPr>
            <a:r>
              <a:t>Tägliches SSD-Backup am Abend</a:t>
            </a:r>
          </a:p>
        </p:txBody>
      </p:sp>
      <p:sp>
        <p:nvSpPr>
          <p:cNvPr id="34" name="Rounded Rectangle 33"/>
          <p:cNvSpPr/>
          <p:nvPr/>
        </p:nvSpPr>
        <p:spPr>
          <a:xfrm>
            <a:off x="5010912" y="5614416"/>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1.3.6 Netzlaufwerke &amp; Rechte</a:t>
            </a:r>
          </a:p>
          <a:p>
            <a:pPr>
              <a:defRPr sz="850">
                <a:solidFill>
                  <a:srgbClr val="262626"/>
                </a:solidFill>
                <a:latin typeface="Calibri"/>
              </a:defRPr>
            </a:pPr>
            <a:r>
              <a:t>SMB-Shares &amp; Freigaben</a:t>
            </a:r>
          </a:p>
        </p:txBody>
      </p:sp>
      <p:sp>
        <p:nvSpPr>
          <p:cNvPr id="35" name="Rectangle 34"/>
          <p:cNvSpPr/>
          <p:nvPr/>
        </p:nvSpPr>
        <p:spPr>
          <a:xfrm>
            <a:off x="8244332"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196328" y="1975104"/>
            <a:ext cx="2121408" cy="621792"/>
          </a:xfrm>
          <a:prstGeom prst="roundRect">
            <a:avLst/>
          </a:prstGeom>
          <a:solidFill>
            <a:srgbClr val="1F497D"/>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1.4 QM &amp; Logistik</a:t>
            </a:r>
          </a:p>
          <a:p>
            <a:pPr algn="ctr">
              <a:defRPr sz="900">
                <a:solidFill>
                  <a:srgbClr val="FFE699"/>
                </a:solidFill>
                <a:latin typeface="Calibri"/>
              </a:defRPr>
            </a:pPr>
            <a:r>
              <a:t>Leitung: Marco Schmidt</a:t>
            </a:r>
          </a:p>
        </p:txBody>
      </p:sp>
      <p:sp>
        <p:nvSpPr>
          <p:cNvPr id="37" name="Rounded Rectangle 36"/>
          <p:cNvSpPr/>
          <p:nvPr/>
        </p:nvSpPr>
        <p:spPr>
          <a:xfrm>
            <a:off x="7196328" y="2633472"/>
            <a:ext cx="2121408" cy="3584448"/>
          </a:xfrm>
          <a:prstGeom prst="roundRect">
            <a:avLst/>
          </a:prstGeom>
          <a:solidFill>
            <a:srgbClr val="FFFFFF"/>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42048" y="2688336"/>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1.4.1 Wareneingangsprüfung</a:t>
            </a:r>
          </a:p>
          <a:p>
            <a:pPr>
              <a:defRPr sz="850">
                <a:solidFill>
                  <a:srgbClr val="262626"/>
                </a:solidFill>
                <a:latin typeface="Calibri"/>
              </a:defRPr>
            </a:pPr>
            <a:r>
              <a:t>Prüfung gem. § 377 HGB</a:t>
            </a:r>
          </a:p>
        </p:txBody>
      </p:sp>
      <p:sp>
        <p:nvSpPr>
          <p:cNvPr id="39" name="Rounded Rectangle 38"/>
          <p:cNvSpPr/>
          <p:nvPr/>
        </p:nvSpPr>
        <p:spPr>
          <a:xfrm>
            <a:off x="7242048" y="3273552"/>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1.4.2 Mängelrüge Distributor</a:t>
            </a:r>
          </a:p>
          <a:p>
            <a:pPr>
              <a:defRPr sz="850">
                <a:solidFill>
                  <a:srgbClr val="262626"/>
                </a:solidFill>
                <a:latin typeface="Calibri"/>
              </a:defRPr>
            </a:pPr>
            <a:r>
              <a:t>Fristsetzung Transportschaden</a:t>
            </a:r>
          </a:p>
        </p:txBody>
      </p:sp>
      <p:sp>
        <p:nvSpPr>
          <p:cNvPr id="40" name="Rounded Rectangle 39"/>
          <p:cNvSpPr/>
          <p:nvPr/>
        </p:nvSpPr>
        <p:spPr>
          <a:xfrm>
            <a:off x="7242048" y="3858768"/>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1.4.3 Altdrucker-Entsorgung</a:t>
            </a:r>
          </a:p>
          <a:p>
            <a:pPr>
              <a:defRPr sz="850">
                <a:solidFill>
                  <a:srgbClr val="262626"/>
                </a:solidFill>
                <a:latin typeface="Calibri"/>
              </a:defRPr>
            </a:pPr>
            <a:r>
              <a:t>Fachgerecht nach ElektroG/WEEE</a:t>
            </a:r>
          </a:p>
        </p:txBody>
      </p:sp>
      <p:sp>
        <p:nvSpPr>
          <p:cNvPr id="41" name="Rounded Rectangle 40"/>
          <p:cNvSpPr/>
          <p:nvPr/>
        </p:nvSpPr>
        <p:spPr>
          <a:xfrm>
            <a:off x="7242048" y="4443984"/>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1.4.4 Datenschutz &amp; BSI</a:t>
            </a:r>
          </a:p>
          <a:p>
            <a:pPr>
              <a:defRPr sz="850">
                <a:solidFill>
                  <a:srgbClr val="262626"/>
                </a:solidFill>
                <a:latin typeface="Calibri"/>
              </a:defRPr>
            </a:pPr>
            <a:r>
              <a:t>Sichere 3-fache Festplattenlöschung</a:t>
            </a:r>
          </a:p>
        </p:txBody>
      </p:sp>
      <p:sp>
        <p:nvSpPr>
          <p:cNvPr id="42" name="Rounded Rectangle 41"/>
          <p:cNvSpPr/>
          <p:nvPr/>
        </p:nvSpPr>
        <p:spPr>
          <a:xfrm>
            <a:off x="7242048" y="5029200"/>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1.4.5 Entsorgungsnachweis</a:t>
            </a:r>
          </a:p>
          <a:p>
            <a:pPr>
              <a:defRPr sz="850">
                <a:solidFill>
                  <a:srgbClr val="262626"/>
                </a:solidFill>
                <a:latin typeface="Calibri"/>
              </a:defRPr>
            </a:pPr>
            <a:r>
              <a:t>Rechtssicheres Zertifikat</a:t>
            </a:r>
          </a:p>
        </p:txBody>
      </p:sp>
      <p:sp>
        <p:nvSpPr>
          <p:cNvPr id="43" name="Rounded Rectangle 42"/>
          <p:cNvSpPr/>
          <p:nvPr/>
        </p:nvSpPr>
        <p:spPr>
          <a:xfrm>
            <a:off x="7242048" y="5614416"/>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1.4.6 RMA-Abwicklung</a:t>
            </a:r>
          </a:p>
          <a:p>
            <a:pPr>
              <a:defRPr sz="850">
                <a:solidFill>
                  <a:srgbClr val="262626"/>
                </a:solidFill>
                <a:latin typeface="Calibri"/>
              </a:defRPr>
            </a:pPr>
            <a:r>
              <a:t>Tausch &amp; Nachlieferung Hardware</a:t>
            </a:r>
          </a:p>
        </p:txBody>
      </p:sp>
      <p:sp>
        <p:nvSpPr>
          <p:cNvPr id="44" name="Rectangle 43"/>
          <p:cNvSpPr/>
          <p:nvPr/>
        </p:nvSpPr>
        <p:spPr>
          <a:xfrm>
            <a:off x="10475468"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427464" y="1975104"/>
            <a:ext cx="2121408" cy="621792"/>
          </a:xfrm>
          <a:prstGeom prst="roundRect">
            <a:avLst/>
          </a:prstGeom>
          <a:solidFill>
            <a:srgbClr val="1F497D"/>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1.5 Rollout &amp; PM</a:t>
            </a:r>
          </a:p>
          <a:p>
            <a:pPr algn="ctr">
              <a:defRPr sz="900">
                <a:solidFill>
                  <a:srgbClr val="FFE699"/>
                </a:solidFill>
                <a:latin typeface="Calibri"/>
              </a:defRPr>
            </a:pPr>
            <a:r>
              <a:t>Leitung: Jan Kluth</a:t>
            </a:r>
          </a:p>
        </p:txBody>
      </p:sp>
      <p:sp>
        <p:nvSpPr>
          <p:cNvPr id="46" name="Rounded Rectangle 45"/>
          <p:cNvSpPr/>
          <p:nvPr/>
        </p:nvSpPr>
        <p:spPr>
          <a:xfrm>
            <a:off x="9427464" y="2633472"/>
            <a:ext cx="2121408" cy="3584448"/>
          </a:xfrm>
          <a:prstGeom prst="roundRect">
            <a:avLst/>
          </a:prstGeom>
          <a:solidFill>
            <a:srgbClr val="FFFFFF"/>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9473184" y="2688336"/>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1.5.1 Staging im Systemhaus</a:t>
            </a:r>
          </a:p>
          <a:p>
            <a:pPr>
              <a:defRPr sz="850">
                <a:solidFill>
                  <a:srgbClr val="262626"/>
                </a:solidFill>
                <a:latin typeface="Calibri"/>
              </a:defRPr>
            </a:pPr>
            <a:r>
              <a:t>Labor-Vorinstallation &amp; Tests</a:t>
            </a:r>
          </a:p>
        </p:txBody>
      </p:sp>
      <p:sp>
        <p:nvSpPr>
          <p:cNvPr id="48" name="Rounded Rectangle 47"/>
          <p:cNvSpPr/>
          <p:nvPr/>
        </p:nvSpPr>
        <p:spPr>
          <a:xfrm>
            <a:off x="9473184" y="3273552"/>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1.5.2 Montage vor Ort</a:t>
            </a:r>
          </a:p>
          <a:p>
            <a:pPr>
              <a:defRPr sz="850">
                <a:solidFill>
                  <a:srgbClr val="262626"/>
                </a:solidFill>
                <a:latin typeface="Calibri"/>
              </a:defRPr>
            </a:pPr>
            <a:r>
              <a:t>Ergonomie gem. ArbStättV</a:t>
            </a:r>
          </a:p>
        </p:txBody>
      </p:sp>
      <p:sp>
        <p:nvSpPr>
          <p:cNvPr id="49" name="Rounded Rectangle 48"/>
          <p:cNvSpPr/>
          <p:nvPr/>
        </p:nvSpPr>
        <p:spPr>
          <a:xfrm>
            <a:off x="9473184" y="3858768"/>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1.5.3 Funktionstests</a:t>
            </a:r>
          </a:p>
          <a:p>
            <a:pPr>
              <a:defRPr sz="850">
                <a:solidFill>
                  <a:srgbClr val="262626"/>
                </a:solidFill>
                <a:latin typeface="Calibri"/>
              </a:defRPr>
            </a:pPr>
            <a:r>
              <a:t>Netzwerk, CAD-Workstations &amp; MFP</a:t>
            </a:r>
          </a:p>
        </p:txBody>
      </p:sp>
      <p:sp>
        <p:nvSpPr>
          <p:cNvPr id="50" name="Rounded Rectangle 49"/>
          <p:cNvSpPr/>
          <p:nvPr/>
        </p:nvSpPr>
        <p:spPr>
          <a:xfrm>
            <a:off x="9473184" y="4443984"/>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1.5.4 Abnahmeprotokoll</a:t>
            </a:r>
          </a:p>
          <a:p>
            <a:pPr>
              <a:defRPr sz="850">
                <a:solidFill>
                  <a:srgbClr val="262626"/>
                </a:solidFill>
                <a:latin typeface="Calibri"/>
              </a:defRPr>
            </a:pPr>
            <a:r>
              <a:t>Rechtskonforme Übergabe</a:t>
            </a:r>
          </a:p>
        </p:txBody>
      </p:sp>
      <p:sp>
        <p:nvSpPr>
          <p:cNvPr id="51" name="Rounded Rectangle 50"/>
          <p:cNvSpPr/>
          <p:nvPr/>
        </p:nvSpPr>
        <p:spPr>
          <a:xfrm>
            <a:off x="9473184" y="5029200"/>
            <a:ext cx="2029968" cy="548640"/>
          </a:xfrm>
          <a:prstGeom prst="roundRect">
            <a:avLst/>
          </a:prstGeom>
          <a:solidFill>
            <a:srgbClr val="F5F8FC"/>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1.5.5 Projektcontrolling</a:t>
            </a:r>
          </a:p>
          <a:p>
            <a:pPr>
              <a:defRPr sz="850">
                <a:solidFill>
                  <a:srgbClr val="262626"/>
                </a:solidFill>
                <a:latin typeface="Calibri"/>
              </a:defRPr>
            </a:pPr>
            <a:r>
              <a:t>Soll-Ist: 46 Tage / im Budget</a:t>
            </a:r>
          </a:p>
        </p:txBody>
      </p:sp>
      <p:sp>
        <p:nvSpPr>
          <p:cNvPr id="52" name="Rounded Rectangle 51"/>
          <p:cNvSpPr/>
          <p:nvPr/>
        </p:nvSpPr>
        <p:spPr>
          <a:xfrm>
            <a:off x="9473184" y="5614416"/>
            <a:ext cx="2029968" cy="548640"/>
          </a:xfrm>
          <a:prstGeom prst="roundRect">
            <a:avLst/>
          </a:prstGeom>
          <a:solidFill>
            <a:srgbClr val="FFFFFF"/>
          </a:solidFill>
          <a:ln w="1016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950" b="1">
                <a:solidFill>
                  <a:srgbClr val="1F497D"/>
                </a:solidFill>
                <a:latin typeface="Calibri"/>
              </a:defRPr>
            </a:pPr>
            <a:r>
              <a:t>1.5.6 Lessons Learned</a:t>
            </a:r>
          </a:p>
          <a:p>
            <a:pPr>
              <a:defRPr sz="850">
                <a:solidFill>
                  <a:srgbClr val="262626"/>
                </a:solidFill>
                <a:latin typeface="Calibri"/>
              </a:defRPr>
            </a:pPr>
            <a:r>
              <a:t>Abschlusspräsentation vor Kunde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ABLAUFPLANUNG</a:t>
            </a:r>
          </a:p>
          <a:p>
            <a:pPr>
              <a:defRPr sz="2000" b="1">
                <a:solidFill>
                  <a:srgbClr val="FFFFFF"/>
                </a:solidFill>
                <a:latin typeface="Calibri"/>
              </a:defRPr>
            </a:pPr>
            <a:r>
              <a:t>Netzplan und Kritischer Pfad nach DIN 69900</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6 von 16</a:t>
            </a:r>
          </a:p>
        </p:txBody>
      </p:sp>
      <p:pic>
        <p:nvPicPr>
          <p:cNvPr id="5" name="Picture 4" descr="netzplan_inline.png"/>
          <p:cNvPicPr>
            <a:picLocks noChangeAspect="1"/>
          </p:cNvPicPr>
          <p:nvPr/>
        </p:nvPicPr>
        <p:blipFill>
          <a:blip r:embed="rId4"/>
          <a:stretch>
            <a:fillRect/>
          </a:stretch>
        </p:blipFill>
        <p:spPr>
          <a:xfrm>
            <a:off x="700887" y="1078992"/>
            <a:ext cx="10789920" cy="52120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SPEZIFIKATIONEN</a:t>
            </a:r>
          </a:p>
          <a:p>
            <a:pPr>
              <a:defRPr sz="2000" b="1">
                <a:solidFill>
                  <a:srgbClr val="FFFFFF"/>
                </a:solidFill>
                <a:latin typeface="Calibri"/>
              </a:defRPr>
            </a:pPr>
            <a:r>
              <a:t>Anforderungsprofil: Arbeitsplatztypen im Vergleich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7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3474720" cy="7772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731520" y="1444752"/>
            <a:ext cx="3474720" cy="365760"/>
          </a:xfrm>
          <a:prstGeom prst="rect">
            <a:avLst/>
          </a:prstGeom>
          <a:noFill/>
        </p:spPr>
        <p:txBody>
          <a:bodyPr wrap="none">
            <a:spAutoFit/>
          </a:bodyPr>
          <a:lstStyle/>
          <a:p>
            <a:pPr algn="ctr">
              <a:defRPr sz="1200" b="1">
                <a:solidFill>
                  <a:srgbClr val="FFFFFF"/>
                </a:solidFill>
                <a:latin typeface="Calibri"/>
              </a:defRPr>
            </a:pPr>
            <a:r>
              <a:t>12x Standard-Büro-PCs</a:t>
            </a:r>
          </a:p>
        </p:txBody>
      </p:sp>
      <p:sp>
        <p:nvSpPr>
          <p:cNvPr id="8" name="TextBox 7"/>
          <p:cNvSpPr txBox="1"/>
          <p:nvPr/>
        </p:nvSpPr>
        <p:spPr>
          <a:xfrm>
            <a:off x="731520" y="1783080"/>
            <a:ext cx="3474720" cy="274320"/>
          </a:xfrm>
          <a:prstGeom prst="rect">
            <a:avLst/>
          </a:prstGeom>
          <a:noFill/>
        </p:spPr>
        <p:txBody>
          <a:bodyPr wrap="none">
            <a:spAutoFit/>
          </a:bodyPr>
          <a:lstStyle/>
          <a:p>
            <a:pPr algn="ctr">
              <a:defRPr sz="900">
                <a:solidFill>
                  <a:srgbClr val="DEEBF7"/>
                </a:solidFill>
                <a:latin typeface="Calibri"/>
              </a:defRPr>
            </a:pPr>
            <a:r>
              <a:t>Bauleitung, Ausschreibung &amp; Office</a:t>
            </a:r>
          </a:p>
        </p:txBody>
      </p:sp>
      <p:sp>
        <p:nvSpPr>
          <p:cNvPr id="9" name="TextBox 8"/>
          <p:cNvSpPr txBox="1"/>
          <p:nvPr/>
        </p:nvSpPr>
        <p:spPr>
          <a:xfrm>
            <a:off x="868680"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Prozessor: </a:t>
            </a:r>
            <a:r>
              <a:rPr b="0">
                <a:solidFill>
                  <a:srgbClr val="262626"/>
                </a:solidFill>
              </a:rPr>
              <a:t>Intel Core i5-13400 (10 Kerne, bis 4.6 GHz)</a:t>
            </a:r>
          </a:p>
          <a:p>
            <a:pPr>
              <a:spcAft>
                <a:spcPts val="600"/>
              </a:spcAft>
              <a:defRPr sz="950" b="1">
                <a:solidFill>
                  <a:srgbClr val="1F497D"/>
                </a:solidFill>
                <a:latin typeface="Calibri"/>
              </a:defRPr>
            </a:pPr>
            <a:r>
              <a:t>Arbeitsspeicher: </a:t>
            </a:r>
            <a:r>
              <a:rPr b="0">
                <a:solidFill>
                  <a:srgbClr val="262626"/>
                </a:solidFill>
              </a:rPr>
              <a:t>16 GB DDR5 RAM (Erweiterbar bis 64 GB)</a:t>
            </a:r>
          </a:p>
          <a:p>
            <a:pPr>
              <a:spcAft>
                <a:spcPts val="600"/>
              </a:spcAft>
              <a:defRPr sz="950" b="1">
                <a:solidFill>
                  <a:srgbClr val="1F497D"/>
                </a:solidFill>
                <a:latin typeface="Calibri"/>
              </a:defRPr>
            </a:pPr>
            <a:r>
              <a:t>Grafikeinheit: </a:t>
            </a:r>
            <a:r>
              <a:rPr b="0">
                <a:solidFill>
                  <a:srgbClr val="262626"/>
                </a:solidFill>
              </a:rPr>
              <a:t>Integrierte Intel UHD Graphics 730</a:t>
            </a:r>
          </a:p>
          <a:p>
            <a:pPr>
              <a:spcAft>
                <a:spcPts val="600"/>
              </a:spcAft>
              <a:defRPr sz="950" b="1">
                <a:solidFill>
                  <a:srgbClr val="1F497D"/>
                </a:solidFill>
                <a:latin typeface="Calibri"/>
              </a:defRPr>
            </a:pPr>
            <a:r>
              <a:t>Festplatte: </a:t>
            </a:r>
            <a:r>
              <a:rPr b="0">
                <a:solidFill>
                  <a:srgbClr val="262626"/>
                </a:solidFill>
              </a:rPr>
              <a:t>512 GB M.2 NVMe PCIe 4.0 SSD</a:t>
            </a:r>
          </a:p>
          <a:p>
            <a:pPr>
              <a:spcAft>
                <a:spcPts val="600"/>
              </a:spcAft>
              <a:defRPr sz="950" b="1">
                <a:solidFill>
                  <a:srgbClr val="1F497D"/>
                </a:solidFill>
                <a:latin typeface="Calibri"/>
              </a:defRPr>
            </a:pPr>
            <a:r>
              <a:t>Gehäuse / Lautstärke: </a:t>
            </a:r>
            <a:r>
              <a:rPr b="0">
                <a:solidFill>
                  <a:srgbClr val="262626"/>
                </a:solidFill>
              </a:rPr>
              <a:t>Small Form Factor (SFF), leise Lüfter (&lt;28 dB)</a:t>
            </a:r>
          </a:p>
          <a:p>
            <a:pPr>
              <a:spcAft>
                <a:spcPts val="600"/>
              </a:spcAft>
              <a:defRPr sz="950" b="1">
                <a:solidFill>
                  <a:srgbClr val="1F497D"/>
                </a:solidFill>
                <a:latin typeface="Calibri"/>
              </a:defRPr>
            </a:pPr>
            <a:r>
              <a:t>Peripherie: </a:t>
            </a:r>
            <a:r>
              <a:rPr b="0">
                <a:solidFill>
                  <a:srgbClr val="262626"/>
                </a:solidFill>
              </a:rPr>
              <a:t>Logitech MK650 Funkset (AES) + 1TB SSD</a:t>
            </a:r>
          </a:p>
        </p:txBody>
      </p:sp>
      <p:sp>
        <p:nvSpPr>
          <p:cNvPr id="10" name="Rounded Rectangle 9"/>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Rectangle 10"/>
          <p:cNvSpPr/>
          <p:nvPr/>
        </p:nvSpPr>
        <p:spPr>
          <a:xfrm>
            <a:off x="4370832" y="1371600"/>
            <a:ext cx="3474720" cy="77724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4370832" y="1444752"/>
            <a:ext cx="3474720" cy="365760"/>
          </a:xfrm>
          <a:prstGeom prst="rect">
            <a:avLst/>
          </a:prstGeom>
          <a:noFill/>
        </p:spPr>
        <p:txBody>
          <a:bodyPr wrap="none">
            <a:spAutoFit/>
          </a:bodyPr>
          <a:lstStyle/>
          <a:p>
            <a:pPr algn="ctr">
              <a:defRPr sz="1200" b="1">
                <a:solidFill>
                  <a:srgbClr val="FFFFFF"/>
                </a:solidFill>
                <a:latin typeface="Calibri"/>
              </a:defRPr>
            </a:pPr>
            <a:r>
              <a:t>4x CAD/BIM-Workstations</a:t>
            </a:r>
          </a:p>
        </p:txBody>
      </p:sp>
      <p:sp>
        <p:nvSpPr>
          <p:cNvPr id="13" name="TextBox 12"/>
          <p:cNvSpPr txBox="1"/>
          <p:nvPr/>
        </p:nvSpPr>
        <p:spPr>
          <a:xfrm>
            <a:off x="4370832" y="1783080"/>
            <a:ext cx="3474720" cy="274320"/>
          </a:xfrm>
          <a:prstGeom prst="rect">
            <a:avLst/>
          </a:prstGeom>
          <a:noFill/>
        </p:spPr>
        <p:txBody>
          <a:bodyPr wrap="none">
            <a:spAutoFit/>
          </a:bodyPr>
          <a:lstStyle/>
          <a:p>
            <a:pPr algn="ctr">
              <a:defRPr sz="900">
                <a:solidFill>
                  <a:srgbClr val="DEEBF7"/>
                </a:solidFill>
                <a:latin typeface="Calibri"/>
              </a:defRPr>
            </a:pPr>
            <a:r>
              <a:t>3D-Konstruktion, Revit &amp; Rendering</a:t>
            </a:r>
          </a:p>
        </p:txBody>
      </p:sp>
      <p:sp>
        <p:nvSpPr>
          <p:cNvPr id="14" name="TextBox 13"/>
          <p:cNvSpPr txBox="1"/>
          <p:nvPr/>
        </p:nvSpPr>
        <p:spPr>
          <a:xfrm>
            <a:off x="4507992"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Prozessor: </a:t>
            </a:r>
            <a:r>
              <a:rPr b="0">
                <a:solidFill>
                  <a:srgbClr val="262626"/>
                </a:solidFill>
              </a:rPr>
              <a:t>Intel Core i7-13700 (16 Kerne, bis 5.2 GHz)</a:t>
            </a:r>
          </a:p>
          <a:p>
            <a:pPr>
              <a:spcAft>
                <a:spcPts val="600"/>
              </a:spcAft>
              <a:defRPr sz="950" b="1">
                <a:solidFill>
                  <a:srgbClr val="1F497D"/>
                </a:solidFill>
                <a:latin typeface="Calibri"/>
              </a:defRPr>
            </a:pPr>
            <a:r>
              <a:t>Arbeitsspeicher: </a:t>
            </a:r>
            <a:r>
              <a:rPr b="0">
                <a:solidFill>
                  <a:srgbClr val="262626"/>
                </a:solidFill>
              </a:rPr>
              <a:t>64 GB DDR5 RAM (Erweiterbar bis 128 GB)</a:t>
            </a:r>
          </a:p>
          <a:p>
            <a:pPr>
              <a:spcAft>
                <a:spcPts val="600"/>
              </a:spcAft>
              <a:defRPr sz="950" b="1">
                <a:solidFill>
                  <a:srgbClr val="1F497D"/>
                </a:solidFill>
                <a:latin typeface="Calibri"/>
              </a:defRPr>
            </a:pPr>
            <a:r>
              <a:t>Grafikkarte: </a:t>
            </a:r>
            <a:r>
              <a:rPr b="0">
                <a:solidFill>
                  <a:srgbClr val="262626"/>
                </a:solidFill>
              </a:rPr>
              <a:t>NVIDIA RTX 4000 Ada Gen (20 GB GDDR6 ECC)</a:t>
            </a:r>
          </a:p>
          <a:p>
            <a:pPr>
              <a:spcAft>
                <a:spcPts val="600"/>
              </a:spcAft>
              <a:defRPr sz="950" b="1">
                <a:solidFill>
                  <a:srgbClr val="1F497D"/>
                </a:solidFill>
                <a:latin typeface="Calibri"/>
              </a:defRPr>
            </a:pPr>
            <a:r>
              <a:t>Festplatte: </a:t>
            </a:r>
            <a:r>
              <a:rPr b="0">
                <a:solidFill>
                  <a:srgbClr val="262626"/>
                </a:solidFill>
              </a:rPr>
              <a:t>1 TB M.2 NVMe PCIe 4.0 SSD (sehr hohe IOPS)</a:t>
            </a:r>
          </a:p>
          <a:p>
            <a:pPr>
              <a:spcAft>
                <a:spcPts val="600"/>
              </a:spcAft>
              <a:defRPr sz="950" b="1">
                <a:solidFill>
                  <a:srgbClr val="1F497D"/>
                </a:solidFill>
                <a:latin typeface="Calibri"/>
              </a:defRPr>
            </a:pPr>
            <a:r>
              <a:t>Kühlung / Gehäuse: </a:t>
            </a:r>
            <a:r>
              <a:rPr b="0">
                <a:solidFill>
                  <a:srgbClr val="262626"/>
                </a:solidFill>
              </a:rPr>
              <a:t>Tower-Gehäuse mit leiser Hochleistungskühlung</a:t>
            </a:r>
          </a:p>
          <a:p>
            <a:pPr>
              <a:spcAft>
                <a:spcPts val="600"/>
              </a:spcAft>
              <a:defRPr sz="950" b="1">
                <a:solidFill>
                  <a:srgbClr val="1F497D"/>
                </a:solidFill>
                <a:latin typeface="Calibri"/>
              </a:defRPr>
            </a:pPr>
            <a:r>
              <a:t>Zertifizierung: </a:t>
            </a:r>
            <a:r>
              <a:rPr b="0">
                <a:solidFill>
                  <a:srgbClr val="262626"/>
                </a:solidFill>
              </a:rPr>
              <a:t>ISV-zertifiziert für Autodesk Revit &amp; Archicad</a:t>
            </a:r>
          </a:p>
        </p:txBody>
      </p:sp>
      <p:sp>
        <p:nvSpPr>
          <p:cNvPr id="15" name="Rounded Rectangle 14"/>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Rectangle 15"/>
          <p:cNvSpPr/>
          <p:nvPr/>
        </p:nvSpPr>
        <p:spPr>
          <a:xfrm>
            <a:off x="8010144" y="1371600"/>
            <a:ext cx="3474720" cy="7772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7" name="TextBox 16"/>
          <p:cNvSpPr txBox="1"/>
          <p:nvPr/>
        </p:nvSpPr>
        <p:spPr>
          <a:xfrm>
            <a:off x="8010144" y="1444752"/>
            <a:ext cx="3474720" cy="365760"/>
          </a:xfrm>
          <a:prstGeom prst="rect">
            <a:avLst/>
          </a:prstGeom>
          <a:noFill/>
        </p:spPr>
        <p:txBody>
          <a:bodyPr wrap="none">
            <a:spAutoFit/>
          </a:bodyPr>
          <a:lstStyle/>
          <a:p>
            <a:pPr algn="ctr">
              <a:defRPr sz="1200" b="1">
                <a:solidFill>
                  <a:srgbClr val="FFFFFF"/>
                </a:solidFill>
                <a:latin typeface="Calibri"/>
              </a:defRPr>
            </a:pPr>
            <a:r>
              <a:t>Monitore &amp; Drucker</a:t>
            </a:r>
          </a:p>
        </p:txBody>
      </p:sp>
      <p:sp>
        <p:nvSpPr>
          <p:cNvPr id="18" name="TextBox 17"/>
          <p:cNvSpPr txBox="1"/>
          <p:nvPr/>
        </p:nvSpPr>
        <p:spPr>
          <a:xfrm>
            <a:off x="8010144" y="1783080"/>
            <a:ext cx="3474720" cy="274320"/>
          </a:xfrm>
          <a:prstGeom prst="rect">
            <a:avLst/>
          </a:prstGeom>
          <a:noFill/>
        </p:spPr>
        <p:txBody>
          <a:bodyPr wrap="none">
            <a:spAutoFit/>
          </a:bodyPr>
          <a:lstStyle/>
          <a:p>
            <a:pPr algn="ctr">
              <a:defRPr sz="900">
                <a:solidFill>
                  <a:srgbClr val="DEEBF7"/>
                </a:solidFill>
                <a:latin typeface="Calibri"/>
              </a:defRPr>
            </a:pPr>
            <a:r>
              <a:t>Ergonomie &amp; Büroinfrastruktur</a:t>
            </a:r>
          </a:p>
        </p:txBody>
      </p:sp>
      <p:sp>
        <p:nvSpPr>
          <p:cNvPr id="19" name="TextBox 18"/>
          <p:cNvSpPr txBox="1"/>
          <p:nvPr/>
        </p:nvSpPr>
        <p:spPr>
          <a:xfrm>
            <a:off x="8147304"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32x Bildschirme: </a:t>
            </a:r>
            <a:r>
              <a:rPr b="0">
                <a:solidFill>
                  <a:srgbClr val="262626"/>
                </a:solidFill>
              </a:rPr>
              <a:t>27'' WQHD (2560x1440), IPS Black Panel</a:t>
            </a:r>
          </a:p>
          <a:p>
            <a:pPr>
              <a:spcAft>
                <a:spcPts val="600"/>
              </a:spcAft>
              <a:defRPr sz="950" b="1">
                <a:solidFill>
                  <a:srgbClr val="1F497D"/>
                </a:solidFill>
                <a:latin typeface="Calibri"/>
              </a:defRPr>
            </a:pPr>
            <a:r>
              <a:t>Ergonomie: </a:t>
            </a:r>
            <a:r>
              <a:rPr b="0">
                <a:solidFill>
                  <a:srgbClr val="262626"/>
                </a:solidFill>
              </a:rPr>
              <a:t>Höhenverstellbar (150 mm), Pivot 90°, Swivel, Tilt</a:t>
            </a:r>
          </a:p>
          <a:p>
            <a:pPr>
              <a:spcAft>
                <a:spcPts val="600"/>
              </a:spcAft>
              <a:defRPr sz="950" b="1">
                <a:solidFill>
                  <a:srgbClr val="1F497D"/>
                </a:solidFill>
                <a:latin typeface="Calibri"/>
              </a:defRPr>
            </a:pPr>
            <a:r>
              <a:t>Augenschonung: </a:t>
            </a:r>
            <a:r>
              <a:rPr b="0">
                <a:solidFill>
                  <a:srgbClr val="262626"/>
                </a:solidFill>
              </a:rPr>
              <a:t>Hardware-Blaulichtfilter (ComfortView Plus)</a:t>
            </a:r>
          </a:p>
          <a:p>
            <a:pPr>
              <a:spcAft>
                <a:spcPts val="600"/>
              </a:spcAft>
              <a:defRPr sz="950" b="1">
                <a:solidFill>
                  <a:srgbClr val="1F497D"/>
                </a:solidFill>
                <a:latin typeface="Calibri"/>
              </a:defRPr>
            </a:pPr>
            <a:r>
              <a:t>1x zentrales MFP: </a:t>
            </a:r>
            <a:r>
              <a:rPr b="0">
                <a:solidFill>
                  <a:srgbClr val="262626"/>
                </a:solidFill>
              </a:rPr>
              <a:t>Lexmark CX930dse Farb-Multifunktionsdrucker</a:t>
            </a:r>
          </a:p>
          <a:p>
            <a:pPr>
              <a:spcAft>
                <a:spcPts val="600"/>
              </a:spcAft>
              <a:defRPr sz="950" b="1">
                <a:solidFill>
                  <a:srgbClr val="1F497D"/>
                </a:solidFill>
                <a:latin typeface="Calibri"/>
              </a:defRPr>
            </a:pPr>
            <a:r>
              <a:t>Druckleistung: </a:t>
            </a:r>
            <a:r>
              <a:rPr b="0">
                <a:solidFill>
                  <a:srgbClr val="262626"/>
                </a:solidFill>
              </a:rPr>
              <a:t>DIN A3/A4 Farblaser, 33 Seiten/Min., Duplex-Scan</a:t>
            </a:r>
          </a:p>
          <a:p>
            <a:pPr>
              <a:spcAft>
                <a:spcPts val="600"/>
              </a:spcAft>
              <a:defRPr sz="950" b="1">
                <a:solidFill>
                  <a:srgbClr val="1F497D"/>
                </a:solidFill>
                <a:latin typeface="Calibri"/>
              </a:defRPr>
            </a:pPr>
            <a:r>
              <a:t>Netzwerkanbindung: </a:t>
            </a:r>
            <a:r>
              <a:rPr b="0">
                <a:solidFill>
                  <a:srgbClr val="262626"/>
                </a:solidFill>
              </a:rPr>
              <a:t>Gigabit-LAN Cat.6A S/FTP halogenfrei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HARDWARE-AUSWAHL</a:t>
            </a:r>
          </a:p>
          <a:p>
            <a:pPr>
              <a:defRPr sz="2000" b="1">
                <a:solidFill>
                  <a:srgbClr val="FFFFFF"/>
                </a:solidFill>
                <a:latin typeface="Calibri"/>
              </a:defRPr>
            </a:pPr>
            <a:r>
              <a:t>Ausgewählte Marken-Hardware aus dem Fachhandel</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8 von 16</a:t>
            </a:r>
          </a:p>
        </p:txBody>
      </p:sp>
      <p:sp>
        <p:nvSpPr>
          <p:cNvPr id="5" name="Rounded Rectangle 4"/>
          <p:cNvSpPr/>
          <p:nvPr/>
        </p:nvSpPr>
        <p:spPr>
          <a:xfrm>
            <a:off x="731520" y="137160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ounded Rectangle 5"/>
          <p:cNvSpPr/>
          <p:nvPr/>
        </p:nvSpPr>
        <p:spPr>
          <a:xfrm>
            <a:off x="4069080" y="150876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690,00 € Netto</a:t>
            </a:r>
          </a:p>
        </p:txBody>
      </p:sp>
      <p:sp>
        <p:nvSpPr>
          <p:cNvPr id="7" name="TextBox 6"/>
          <p:cNvSpPr txBox="1"/>
          <p:nvPr/>
        </p:nvSpPr>
        <p:spPr>
          <a:xfrm>
            <a:off x="914400" y="1481328"/>
            <a:ext cx="3108960" cy="685800"/>
          </a:xfrm>
          <a:prstGeom prst="rect">
            <a:avLst/>
          </a:prstGeom>
          <a:noFill/>
        </p:spPr>
        <p:txBody>
          <a:bodyPr wrap="none">
            <a:spAutoFit/>
          </a:bodyPr>
          <a:lstStyle/>
          <a:p>
            <a:pPr>
              <a:defRPr sz="950" b="1">
                <a:solidFill>
                  <a:srgbClr val="2F5597"/>
                </a:solidFill>
                <a:latin typeface="Calibri"/>
              </a:defRPr>
            </a:pPr>
            <a:r>
              <a:t>STANDARD-PC (12 STÜCK)</a:t>
            </a:r>
          </a:p>
          <a:p>
            <a:pPr>
              <a:defRPr sz="1200" b="1">
                <a:solidFill>
                  <a:srgbClr val="1F497D"/>
                </a:solidFill>
                <a:latin typeface="Calibri"/>
              </a:defRPr>
            </a:pPr>
            <a:r>
              <a:t>Lenovo ThinkCentre M70s Gen 4</a:t>
            </a:r>
          </a:p>
        </p:txBody>
      </p:sp>
      <p:sp>
        <p:nvSpPr>
          <p:cNvPr id="8" name="TextBox 7"/>
          <p:cNvSpPr txBox="1"/>
          <p:nvPr/>
        </p:nvSpPr>
        <p:spPr>
          <a:xfrm>
            <a:off x="914400" y="2194560"/>
            <a:ext cx="4892040" cy="1325880"/>
          </a:xfrm>
          <a:prstGeom prst="rect">
            <a:avLst/>
          </a:prstGeom>
          <a:noFill/>
        </p:spPr>
        <p:txBody>
          <a:bodyPr wrap="square">
            <a:spAutoFit/>
          </a:bodyPr>
          <a:lstStyle/>
          <a:p>
            <a:pPr>
              <a:spcAft>
                <a:spcPts val="200"/>
              </a:spcAft>
              <a:defRPr sz="950">
                <a:solidFill>
                  <a:srgbClr val="262626"/>
                </a:solidFill>
                <a:latin typeface="Calibri"/>
              </a:defRPr>
            </a:pPr>
            <a:r>
              <a:t>• Intel Core i5-13400 Prozessor, 16 GB DDR5 RAM, 512 GB NVMe</a:t>
            </a:r>
          </a:p>
          <a:p>
            <a:pPr>
              <a:spcAft>
                <a:spcPts val="200"/>
              </a:spcAft>
              <a:defRPr sz="950">
                <a:solidFill>
                  <a:srgbClr val="262626"/>
                </a:solidFill>
                <a:latin typeface="Calibri"/>
              </a:defRPr>
            </a:pPr>
            <a:r>
              <a:t>• Kompakter Small Form Factor (SFF), leise Lüfterkurve</a:t>
            </a:r>
          </a:p>
          <a:p>
            <a:pPr>
              <a:spcAft>
                <a:spcPts val="200"/>
              </a:spcAft>
              <a:defRPr sz="950">
                <a:solidFill>
                  <a:srgbClr val="262626"/>
                </a:solidFill>
                <a:latin typeface="Calibri"/>
              </a:defRPr>
            </a:pPr>
            <a:r>
              <a:t>• Zuverlässige Plattform für Bauleiter und Ausschreibungen</a:t>
            </a:r>
          </a:p>
          <a:p>
            <a:pPr>
              <a:spcAft>
                <a:spcPts val="200"/>
              </a:spcAft>
              <a:defRPr sz="950">
                <a:solidFill>
                  <a:srgbClr val="262626"/>
                </a:solidFill>
                <a:latin typeface="Calibri"/>
              </a:defRPr>
            </a:pPr>
            <a:r>
              <a:t>• 3 Jahre Vor-Ort-Herstellergarantie inklusive</a:t>
            </a:r>
          </a:p>
        </p:txBody>
      </p:sp>
      <p:sp>
        <p:nvSpPr>
          <p:cNvPr id="9" name="Rounded Rectangle 8"/>
          <p:cNvSpPr/>
          <p:nvPr/>
        </p:nvSpPr>
        <p:spPr>
          <a:xfrm>
            <a:off x="6172200" y="137160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Rounded Rectangle 9"/>
          <p:cNvSpPr/>
          <p:nvPr/>
        </p:nvSpPr>
        <p:spPr>
          <a:xfrm>
            <a:off x="9509760" y="150876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3.200,00 € Netto</a:t>
            </a:r>
          </a:p>
        </p:txBody>
      </p:sp>
      <p:sp>
        <p:nvSpPr>
          <p:cNvPr id="11" name="TextBox 10"/>
          <p:cNvSpPr txBox="1"/>
          <p:nvPr/>
        </p:nvSpPr>
        <p:spPr>
          <a:xfrm>
            <a:off x="6355080" y="1481328"/>
            <a:ext cx="3108960" cy="685800"/>
          </a:xfrm>
          <a:prstGeom prst="rect">
            <a:avLst/>
          </a:prstGeom>
          <a:noFill/>
        </p:spPr>
        <p:txBody>
          <a:bodyPr wrap="none">
            <a:spAutoFit/>
          </a:bodyPr>
          <a:lstStyle/>
          <a:p>
            <a:pPr>
              <a:defRPr sz="950" b="1">
                <a:solidFill>
                  <a:srgbClr val="2F5597"/>
                </a:solidFill>
                <a:latin typeface="Calibri"/>
              </a:defRPr>
            </a:pPr>
            <a:r>
              <a:t>CAD-WORKSTATION (4 STÜCK)</a:t>
            </a:r>
          </a:p>
          <a:p>
            <a:pPr>
              <a:defRPr sz="1200" b="1">
                <a:solidFill>
                  <a:srgbClr val="1F497D"/>
                </a:solidFill>
                <a:latin typeface="Calibri"/>
              </a:defRPr>
            </a:pPr>
            <a:r>
              <a:t>Lenovo ThinkStation P3 Tower</a:t>
            </a:r>
          </a:p>
        </p:txBody>
      </p:sp>
      <p:sp>
        <p:nvSpPr>
          <p:cNvPr id="12" name="TextBox 11"/>
          <p:cNvSpPr txBox="1"/>
          <p:nvPr/>
        </p:nvSpPr>
        <p:spPr>
          <a:xfrm>
            <a:off x="6355080" y="2194560"/>
            <a:ext cx="4892040" cy="1325880"/>
          </a:xfrm>
          <a:prstGeom prst="rect">
            <a:avLst/>
          </a:prstGeom>
          <a:noFill/>
        </p:spPr>
        <p:txBody>
          <a:bodyPr wrap="square">
            <a:spAutoFit/>
          </a:bodyPr>
          <a:lstStyle/>
          <a:p>
            <a:pPr>
              <a:spcAft>
                <a:spcPts val="200"/>
              </a:spcAft>
              <a:defRPr sz="950">
                <a:solidFill>
                  <a:srgbClr val="262626"/>
                </a:solidFill>
                <a:latin typeface="Calibri"/>
              </a:defRPr>
            </a:pPr>
            <a:r>
              <a:t>• Intel Core i7-13700, 64 GB DDR5 RAM, 1 TB High-Speed NVMe</a:t>
            </a:r>
          </a:p>
          <a:p>
            <a:pPr>
              <a:spcAft>
                <a:spcPts val="200"/>
              </a:spcAft>
              <a:defRPr sz="950">
                <a:solidFill>
                  <a:srgbClr val="262626"/>
                </a:solidFill>
                <a:latin typeface="Calibri"/>
              </a:defRPr>
            </a:pPr>
            <a:r>
              <a:t>• NVIDIA RTX 4000 Ada Generation (20 GB VRAM ECC)</a:t>
            </a:r>
          </a:p>
          <a:p>
            <a:pPr>
              <a:spcAft>
                <a:spcPts val="200"/>
              </a:spcAft>
              <a:defRPr sz="950">
                <a:solidFill>
                  <a:srgbClr val="262626"/>
                </a:solidFill>
                <a:latin typeface="Calibri"/>
              </a:defRPr>
            </a:pPr>
            <a:r>
              <a:t>• Zertifiziert für Revit, AutoCAD, Archicad und BIM-Viewer</a:t>
            </a:r>
          </a:p>
          <a:p>
            <a:pPr>
              <a:spcAft>
                <a:spcPts val="200"/>
              </a:spcAft>
              <a:defRPr sz="950">
                <a:solidFill>
                  <a:srgbClr val="262626"/>
                </a:solidFill>
                <a:latin typeface="Calibri"/>
              </a:defRPr>
            </a:pPr>
            <a:r>
              <a:t>• Optimiertes Airflow-Gehäuse mit geringer Geräuschentwicklung</a:t>
            </a:r>
          </a:p>
        </p:txBody>
      </p:sp>
      <p:sp>
        <p:nvSpPr>
          <p:cNvPr id="13" name="Rounded Rectangle 12"/>
          <p:cNvSpPr/>
          <p:nvPr/>
        </p:nvSpPr>
        <p:spPr>
          <a:xfrm>
            <a:off x="731520" y="384048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Rounded Rectangle 13"/>
          <p:cNvSpPr/>
          <p:nvPr/>
        </p:nvSpPr>
        <p:spPr>
          <a:xfrm>
            <a:off x="4069080" y="397764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310,00 € Netto</a:t>
            </a:r>
          </a:p>
        </p:txBody>
      </p:sp>
      <p:sp>
        <p:nvSpPr>
          <p:cNvPr id="15" name="TextBox 14"/>
          <p:cNvSpPr txBox="1"/>
          <p:nvPr/>
        </p:nvSpPr>
        <p:spPr>
          <a:xfrm>
            <a:off x="914400" y="3950208"/>
            <a:ext cx="3108960" cy="685800"/>
          </a:xfrm>
          <a:prstGeom prst="rect">
            <a:avLst/>
          </a:prstGeom>
          <a:noFill/>
        </p:spPr>
        <p:txBody>
          <a:bodyPr wrap="none">
            <a:spAutoFit/>
          </a:bodyPr>
          <a:lstStyle/>
          <a:p>
            <a:pPr>
              <a:defRPr sz="950" b="1">
                <a:solidFill>
                  <a:srgbClr val="2F5597"/>
                </a:solidFill>
                <a:latin typeface="Calibri"/>
              </a:defRPr>
            </a:pPr>
            <a:r>
              <a:t>ERGONOMIE-BILDSCHIRM (32 STÜCK)</a:t>
            </a:r>
          </a:p>
          <a:p>
            <a:pPr>
              <a:defRPr sz="1200" b="1">
                <a:solidFill>
                  <a:srgbClr val="1F497D"/>
                </a:solidFill>
                <a:latin typeface="Calibri"/>
              </a:defRPr>
            </a:pPr>
            <a:r>
              <a:t>Dell UltraSharp U2724D (27'')</a:t>
            </a:r>
          </a:p>
        </p:txBody>
      </p:sp>
      <p:sp>
        <p:nvSpPr>
          <p:cNvPr id="16" name="TextBox 15"/>
          <p:cNvSpPr txBox="1"/>
          <p:nvPr/>
        </p:nvSpPr>
        <p:spPr>
          <a:xfrm>
            <a:off x="914400" y="4663440"/>
            <a:ext cx="4892040" cy="1325880"/>
          </a:xfrm>
          <a:prstGeom prst="rect">
            <a:avLst/>
          </a:prstGeom>
          <a:noFill/>
        </p:spPr>
        <p:txBody>
          <a:bodyPr wrap="square">
            <a:spAutoFit/>
          </a:bodyPr>
          <a:lstStyle/>
          <a:p>
            <a:pPr>
              <a:spcAft>
                <a:spcPts val="200"/>
              </a:spcAft>
              <a:defRPr sz="950">
                <a:solidFill>
                  <a:srgbClr val="262626"/>
                </a:solidFill>
                <a:latin typeface="Calibri"/>
              </a:defRPr>
            </a:pPr>
            <a:r>
              <a:t>• 27 Zoll WQHD (2560x1440) mit IPS-Black-Panel (2000:1 Kontrast)</a:t>
            </a:r>
          </a:p>
          <a:p>
            <a:pPr>
              <a:spcAft>
                <a:spcPts val="200"/>
              </a:spcAft>
              <a:defRPr sz="950">
                <a:solidFill>
                  <a:srgbClr val="262626"/>
                </a:solidFill>
                <a:latin typeface="Calibri"/>
              </a:defRPr>
            </a:pPr>
            <a:r>
              <a:t>• 120 Hz Bildwiederholrate &amp; ComfortView Plus Hardware-Blaulichtfilter</a:t>
            </a:r>
          </a:p>
          <a:p>
            <a:pPr>
              <a:spcAft>
                <a:spcPts val="200"/>
              </a:spcAft>
              <a:defRPr sz="950">
                <a:solidFill>
                  <a:srgbClr val="262626"/>
                </a:solidFill>
                <a:latin typeface="Calibri"/>
              </a:defRPr>
            </a:pPr>
            <a:r>
              <a:t>• Volle Ergonomie: Höhenverstellbar, Pivot (90° drehbar), Swivel &amp; Tilt</a:t>
            </a:r>
          </a:p>
          <a:p>
            <a:pPr>
              <a:spcAft>
                <a:spcPts val="200"/>
              </a:spcAft>
              <a:defRPr sz="950">
                <a:solidFill>
                  <a:srgbClr val="262626"/>
                </a:solidFill>
                <a:latin typeface="Calibri"/>
              </a:defRPr>
            </a:pPr>
            <a:r>
              <a:t>• Je 2 Bildschirme pro Arbeitsplatz für hohe Arbeitsleistung</a:t>
            </a:r>
          </a:p>
        </p:txBody>
      </p:sp>
      <p:sp>
        <p:nvSpPr>
          <p:cNvPr id="17" name="Rounded Rectangle 16"/>
          <p:cNvSpPr/>
          <p:nvPr/>
        </p:nvSpPr>
        <p:spPr>
          <a:xfrm>
            <a:off x="6172200" y="384048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8" name="Rounded Rectangle 17"/>
          <p:cNvSpPr/>
          <p:nvPr/>
        </p:nvSpPr>
        <p:spPr>
          <a:xfrm>
            <a:off x="9509760" y="397764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2.200,00 € Netto</a:t>
            </a:r>
          </a:p>
        </p:txBody>
      </p:sp>
      <p:sp>
        <p:nvSpPr>
          <p:cNvPr id="19" name="TextBox 18"/>
          <p:cNvSpPr txBox="1"/>
          <p:nvPr/>
        </p:nvSpPr>
        <p:spPr>
          <a:xfrm>
            <a:off x="6355080" y="3950208"/>
            <a:ext cx="3108960" cy="685800"/>
          </a:xfrm>
          <a:prstGeom prst="rect">
            <a:avLst/>
          </a:prstGeom>
          <a:noFill/>
        </p:spPr>
        <p:txBody>
          <a:bodyPr wrap="none">
            <a:spAutoFit/>
          </a:bodyPr>
          <a:lstStyle/>
          <a:p>
            <a:pPr>
              <a:defRPr sz="950" b="1">
                <a:solidFill>
                  <a:srgbClr val="2F5597"/>
                </a:solidFill>
                <a:latin typeface="Calibri"/>
              </a:defRPr>
            </a:pPr>
            <a:r>
              <a:t>ZENTRALER FARB-DRUCKER (1 STÜCK)</a:t>
            </a:r>
          </a:p>
          <a:p>
            <a:pPr>
              <a:defRPr sz="1200" b="1">
                <a:solidFill>
                  <a:srgbClr val="1F497D"/>
                </a:solidFill>
                <a:latin typeface="Calibri"/>
              </a:defRPr>
            </a:pPr>
            <a:r>
              <a:t>Lexmark CX930dse A3/A4 MFP</a:t>
            </a:r>
          </a:p>
        </p:txBody>
      </p:sp>
      <p:sp>
        <p:nvSpPr>
          <p:cNvPr id="20" name="TextBox 19"/>
          <p:cNvSpPr txBox="1"/>
          <p:nvPr/>
        </p:nvSpPr>
        <p:spPr>
          <a:xfrm>
            <a:off x="6355080" y="4663440"/>
            <a:ext cx="4892040" cy="1325880"/>
          </a:xfrm>
          <a:prstGeom prst="rect">
            <a:avLst/>
          </a:prstGeom>
          <a:noFill/>
        </p:spPr>
        <p:txBody>
          <a:bodyPr wrap="square">
            <a:spAutoFit/>
          </a:bodyPr>
          <a:lstStyle/>
          <a:p>
            <a:pPr>
              <a:spcAft>
                <a:spcPts val="200"/>
              </a:spcAft>
              <a:defRPr sz="950">
                <a:solidFill>
                  <a:srgbClr val="262626"/>
                </a:solidFill>
                <a:latin typeface="Calibri"/>
              </a:defRPr>
            </a:pPr>
            <a:r>
              <a:t>• DIN A3 und DIN A4 Farblaser für großformatige Baupläne</a:t>
            </a:r>
          </a:p>
          <a:p>
            <a:pPr>
              <a:spcAft>
                <a:spcPts val="200"/>
              </a:spcAft>
              <a:defRPr sz="950">
                <a:solidFill>
                  <a:srgbClr val="262626"/>
                </a:solidFill>
                <a:latin typeface="Calibri"/>
              </a:defRPr>
            </a:pPr>
            <a:r>
              <a:t>• Druck- und Kopiergeschwindigkeit bis zu 33 Seiten pro Minute</a:t>
            </a:r>
          </a:p>
          <a:p>
            <a:pPr>
              <a:spcAft>
                <a:spcPts val="200"/>
              </a:spcAft>
              <a:defRPr sz="950">
                <a:solidFill>
                  <a:srgbClr val="262626"/>
                </a:solidFill>
                <a:latin typeface="Calibri"/>
              </a:defRPr>
            </a:pPr>
            <a:r>
              <a:t>• Automatischer Duplex-Scan und hohe Papierkassetten-Kapazität</a:t>
            </a:r>
          </a:p>
          <a:p>
            <a:pPr>
              <a:spcAft>
                <a:spcPts val="200"/>
              </a:spcAft>
              <a:defRPr sz="950">
                <a:solidFill>
                  <a:srgbClr val="262626"/>
                </a:solidFill>
                <a:latin typeface="Calibri"/>
              </a:defRPr>
            </a:pPr>
            <a:r>
              <a:t>• Vollständig gigabit-netzwerkfähig mit PostScript-Unterstützung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ENTSCHEIDUNGSMATRIX</a:t>
            </a:r>
          </a:p>
          <a:p>
            <a:pPr>
              <a:defRPr sz="2000" b="1">
                <a:solidFill>
                  <a:srgbClr val="FFFFFF"/>
                </a:solidFill>
                <a:latin typeface="Calibri"/>
              </a:defRPr>
            </a:pPr>
            <a:r>
              <a:t>Nutzwertanalysen: Objektiver Produktvergleich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9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Nutzwertanalyse: CAD-Workstations</a:t>
            </a:r>
          </a:p>
        </p:txBody>
      </p:sp>
      <p:sp>
        <p:nvSpPr>
          <p:cNvPr id="7" name="TextBox 6"/>
          <p:cNvSpPr txBox="1"/>
          <p:nvPr/>
        </p:nvSpPr>
        <p:spPr>
          <a:xfrm>
            <a:off x="914400" y="2011680"/>
            <a:ext cx="4892040" cy="4023360"/>
          </a:xfrm>
          <a:prstGeom prst="rect">
            <a:avLst/>
          </a:prstGeom>
          <a:noFill/>
        </p:spPr>
        <p:txBody>
          <a:bodyPr wrap="square">
            <a:spAutoFit/>
          </a:bodyPr>
          <a:lstStyle/>
          <a:p>
            <a:pPr>
              <a:defRPr b="1" sz="1100">
                <a:solidFill>
                  <a:srgbClr val="1F497D"/>
                </a:solidFill>
              </a:defRPr>
            </a:pPr>
            <a:r>
              <a:t>Bewertete Modelle &amp; Punktwerte:</a:t>
            </a:r>
          </a:p>
          <a:p>
            <a:pPr>
              <a:defRPr b="1" sz="1050">
                <a:solidFill>
                  <a:srgbClr val="385723"/>
                </a:solidFill>
              </a:defRPr>
            </a:pPr>
            <a:r>
              <a:t>• 1. Platz (Sieger): Lenovo ThinkStation P3 ➔ 8,70 Punkte</a:t>
            </a:r>
          </a:p>
          <a:p>
            <a:pPr>
              <a:defRPr b="0" sz="1050">
                <a:solidFill>
                  <a:srgbClr val="595959"/>
                </a:solidFill>
              </a:defRPr>
            </a:pPr>
            <a:r>
              <a:t>• 2. Platz: Dell Precision 3660 ➔ 7,80 Punkte</a:t>
            </a:r>
          </a:p>
          <a:p>
            <a:pPr>
              <a:defRPr b="0" sz="1050">
                <a:solidFill>
                  <a:srgbClr val="595959"/>
                </a:solidFill>
              </a:defRPr>
            </a:pPr>
            <a:r>
              <a:t>• 3. Platz: HP Z2 Tower G9 ➔ 6,80 Punkte</a:t>
            </a:r>
          </a:p>
          <a:p>
            <a:br/>
            <a:pPr>
              <a:defRPr b="1" sz="1050">
                <a:solidFill>
                  <a:srgbClr val="1F497D"/>
                </a:solidFill>
              </a:defRPr>
            </a:pPr>
            <a:r>
              <a:t>Gewichtete Kriterien:</a:t>
            </a:r>
          </a:p>
          <a:p>
            <a:pPr>
              <a:defRPr sz="950">
                <a:solidFill>
                  <a:srgbClr val="595959"/>
                </a:solidFill>
              </a:defRPr>
            </a:pPr>
            <a:r>
              <a:t>• 3D/BIM-Performance (40%) • Arbeitsspeicher &amp; Ausbau (15%)</a:t>
            </a:r>
            <a:br/>
            <a:r>
              <a:t>• Preis-Leistungs-Verhältnis (15%) • Garantie/Service (15%)</a:t>
            </a:r>
            <a:br/>
            <a:r>
              <a:t>• Lautstärke/Kühlung (10%) • Lieferzeit (5%)</a:t>
            </a:r>
          </a:p>
          <a:p>
            <a:br/>
            <a:pPr>
              <a:defRPr b="1" sz="1050">
                <a:solidFill>
                  <a:srgbClr val="1F497D"/>
                </a:solidFill>
              </a:defRPr>
            </a:pPr>
            <a:r>
              <a:t>Begründung des Siegers:</a:t>
            </a:r>
          </a:p>
          <a:p>
            <a:pPr>
              <a:defRPr sz="950">
                <a:solidFill>
                  <a:srgbClr val="262626"/>
                </a:solidFill>
              </a:defRPr>
            </a:pPr>
            <a:r>
              <a:t>Für VektorPlan steht flüssiges 3D-BIM-Arbeiten an oberster Stelle. Die Lenovo P3 besitzt mit der modernen NVIDIA RTX 4000 Ada (20 GB VRAM) die doppelte Grafikleistung gegenüber der älteren RTX A4000 im Dell-System und gewinnt die Analyse mit 8,70 Punkten.</a:t>
            </a:r>
          </a:p>
        </p:txBody>
      </p:sp>
      <p:sp>
        <p:nvSpPr>
          <p:cNvPr id="8" name="Rounded Rectangle 7"/>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Rectangle 8"/>
          <p:cNvSpPr/>
          <p:nvPr/>
        </p:nvSpPr>
        <p:spPr>
          <a:xfrm>
            <a:off x="62179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Nutzwertanalyse: 27'' WQHD-Monitore</a:t>
            </a:r>
          </a:p>
        </p:txBody>
      </p:sp>
      <p:sp>
        <p:nvSpPr>
          <p:cNvPr id="10" name="TextBox 9"/>
          <p:cNvSpPr txBox="1"/>
          <p:nvPr/>
        </p:nvSpPr>
        <p:spPr>
          <a:xfrm>
            <a:off x="6400800" y="2011680"/>
            <a:ext cx="4892040" cy="4023360"/>
          </a:xfrm>
          <a:prstGeom prst="rect">
            <a:avLst/>
          </a:prstGeom>
          <a:noFill/>
        </p:spPr>
        <p:txBody>
          <a:bodyPr wrap="square">
            <a:spAutoFit/>
          </a:bodyPr>
          <a:lstStyle/>
          <a:p>
            <a:pPr>
              <a:defRPr b="1" sz="1100">
                <a:solidFill>
                  <a:srgbClr val="1F497D"/>
                </a:solidFill>
              </a:defRPr>
            </a:pPr>
            <a:r>
              <a:t>Bewertete Modelle &amp; Punktwerte:</a:t>
            </a:r>
          </a:p>
          <a:p>
            <a:pPr>
              <a:defRPr b="1" sz="1050">
                <a:solidFill>
                  <a:srgbClr val="385723"/>
                </a:solidFill>
              </a:defRPr>
            </a:pPr>
            <a:r>
              <a:t>• 1. Platz (Sieger): Dell UltraSharp U2724D ➔ 9,10 Punkte</a:t>
            </a:r>
          </a:p>
          <a:p>
            <a:pPr>
              <a:defRPr b="0" sz="1050">
                <a:solidFill>
                  <a:srgbClr val="595959"/>
                </a:solidFill>
              </a:defRPr>
            </a:pPr>
            <a:r>
              <a:t>• 2. Platz: Lenovo ThinkVision P27h-30 ➔ 8,30 Punkte</a:t>
            </a:r>
          </a:p>
          <a:p>
            <a:pPr>
              <a:defRPr b="0" sz="1050">
                <a:solidFill>
                  <a:srgbClr val="595959"/>
                </a:solidFill>
              </a:defRPr>
            </a:pPr>
            <a:r>
              <a:t>• 3. Platz: EIZO FlexScan EV2781 ➔ 8,15 Punkte</a:t>
            </a:r>
          </a:p>
          <a:p>
            <a:br/>
            <a:pPr>
              <a:defRPr b="1" sz="1050">
                <a:solidFill>
                  <a:srgbClr val="1F497D"/>
                </a:solidFill>
              </a:defRPr>
            </a:pPr>
            <a:r>
              <a:t>Gewichtete Kriterien:</a:t>
            </a:r>
          </a:p>
          <a:p>
            <a:pPr>
              <a:defRPr sz="950">
                <a:solidFill>
                  <a:srgbClr val="595959"/>
                </a:solidFill>
              </a:defRPr>
            </a:pPr>
            <a:r>
              <a:t>• Ergonomie (Höhe, Pivot, Tilt) (25%) • Bildqualität (IPS Black) (25%)</a:t>
            </a:r>
            <a:br/>
            <a:r>
              <a:t>• Preis / Menge (32 Stück) (25%) • Augenschonung/Filter (15%)</a:t>
            </a:r>
            <a:br/>
            <a:r>
              <a:t>• Garantie (5%) • Anschlüsse (5%)</a:t>
            </a:r>
          </a:p>
          <a:p>
            <a:br/>
            <a:pPr>
              <a:defRPr b="1" sz="1050">
                <a:solidFill>
                  <a:srgbClr val="1F497D"/>
                </a:solidFill>
              </a:defRPr>
            </a:pPr>
            <a:r>
              <a:t>Begründung des Siegers:</a:t>
            </a:r>
          </a:p>
          <a:p>
            <a:pPr>
              <a:defRPr sz="950">
                <a:solidFill>
                  <a:srgbClr val="262626"/>
                </a:solidFill>
              </a:defRPr>
            </a:pPr>
            <a:r>
              <a:t>Bei 32 Monitoren spart der Dell U2724D (310 €) gegenüber dem teuren EIZO (480 €) ganze 5.440 € netto ein! Gleichzeitig bietet Dell modernste IPS-Black-Technologie (2000:1 Kontrast), 120 Hz und volle Ergonomie. Dell gewinnt mit 9,10 Punkten.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KALKULATION</a:t>
            </a:r>
          </a:p>
          <a:p>
            <a:pPr>
              <a:defRPr sz="2000" b="1">
                <a:solidFill>
                  <a:srgbClr val="FFFFFF"/>
                </a:solidFill>
                <a:latin typeface="Calibri"/>
              </a:defRPr>
            </a:pPr>
            <a:r>
              <a:t>Kaufmännische Preiskalkulation &amp; Angebot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10 von 16</a:t>
            </a:r>
          </a:p>
        </p:txBody>
      </p:sp>
      <p:sp>
        <p:nvSpPr>
          <p:cNvPr id="5" name="Rounded Rectangle 4"/>
          <p:cNvSpPr/>
          <p:nvPr/>
        </p:nvSpPr>
        <p:spPr>
          <a:xfrm>
            <a:off x="685800" y="1234440"/>
            <a:ext cx="5303520" cy="4937760"/>
          </a:xfrm>
          <a:prstGeom prst="roundRect">
            <a:avLst/>
          </a:prstGeom>
          <a:solidFill>
            <a:srgbClr val="FFFFFF"/>
          </a:solidFill>
          <a:ln w="15240">
            <a:solidFill>
              <a:srgbClr val="C8D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234440"/>
            <a:ext cx="5303520" cy="5029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Kaufmännische Vorwärtskalkulation (IHK-Schema)</a:t>
            </a:r>
          </a:p>
        </p:txBody>
      </p:sp>
      <p:graphicFrame>
        <p:nvGraphicFramePr>
          <p:cNvPr id="7" name="Table 6"/>
          <p:cNvGraphicFramePr>
            <a:graphicFrameLocks noGrp="1"/>
          </p:cNvGraphicFramePr>
          <p:nvPr/>
        </p:nvGraphicFramePr>
        <p:xfrm>
          <a:off x="777240" y="1874519"/>
          <a:ext cx="5120640" cy="4114800"/>
        </p:xfrm>
        <a:graphic>
          <a:graphicData uri="http://schemas.openxmlformats.org/drawingml/2006/table">
            <a:tbl>
              <a:tblPr firstRow="1" bandRow="1">
                <a:tableStyleId>{5C22544A-7EE6-4342-B048-85BDC9FD1C3A}</a:tableStyleId>
              </a:tblPr>
              <a:tblGrid>
                <a:gridCol w="1783080"/>
                <a:gridCol w="2011680"/>
                <a:gridCol w="1325880"/>
              </a:tblGrid>
              <a:tr h="411480">
                <a:tc>
                  <a:txBody>
                    <a:bodyPr wrap="none"/>
                    <a:lstStyle/>
                    <a:p>
                      <a:pPr>
                        <a:defRPr sz="950" b="1">
                          <a:solidFill>
                            <a:srgbClr val="1F497D"/>
                          </a:solidFill>
                          <a:latin typeface="Calibri"/>
                        </a:defRPr>
                      </a:pPr>
                      <a:r>
                        <a:t>Kalkulationsschritt</a:t>
                      </a:r>
                    </a:p>
                  </a:txBody>
                  <a:tcPr marL="36576" marR="36576" marT="27432" marB="27432">
                    <a:solidFill>
                      <a:srgbClr val="F0F3F8"/>
                    </a:solidFill>
                  </a:tcPr>
                </a:tc>
                <a:tc>
                  <a:txBody>
                    <a:bodyPr wrap="none"/>
                    <a:lstStyle/>
                    <a:p>
                      <a:pPr>
                        <a:defRPr sz="950" b="1">
                          <a:solidFill>
                            <a:srgbClr val="1F497D"/>
                          </a:solidFill>
                          <a:latin typeface="Calibri"/>
                        </a:defRPr>
                      </a:pPr>
                      <a:r>
                        <a:t>Bedeutung / Zuschlagssatz</a:t>
                      </a:r>
                    </a:p>
                  </a:txBody>
                  <a:tcPr marL="36576" marR="36576" marT="27432" marB="27432">
                    <a:solidFill>
                      <a:srgbClr val="F0F3F8"/>
                    </a:solidFill>
                  </a:tcPr>
                </a:tc>
                <a:tc>
                  <a:txBody>
                    <a:bodyPr wrap="none"/>
                    <a:lstStyle/>
                    <a:p>
                      <a:pPr algn="r">
                        <a:defRPr sz="950" b="1">
                          <a:solidFill>
                            <a:srgbClr val="1F497D"/>
                          </a:solidFill>
                          <a:latin typeface="Calibri"/>
                        </a:defRPr>
                      </a:pPr>
                      <a:r>
                        <a:t>Wert</a:t>
                      </a:r>
                    </a:p>
                  </a:txBody>
                  <a:tcPr marL="36576" marR="36576" marT="27432" marB="27432">
                    <a:solidFill>
                      <a:srgbClr val="F0F3F8"/>
                    </a:solidFill>
                  </a:tcPr>
                </a:tc>
              </a:tr>
              <a:tr h="411480">
                <a:tc>
                  <a:txBody>
                    <a:bodyPr/>
                    <a:lstStyle/>
                    <a:p>
                      <a:pPr>
                        <a:defRPr sz="900">
                          <a:solidFill>
                            <a:srgbClr val="262626"/>
                          </a:solidFill>
                          <a:latin typeface="Calibri"/>
                        </a:defRPr>
                      </a:pPr>
                      <a:r>
                        <a:t>Bezugspreis (BP)</a:t>
                      </a:r>
                    </a:p>
                  </a:txBody>
                  <a:tcPr marL="36576" marR="36576" marT="27432" marB="27432">
                    <a:solidFill>
                      <a:srgbClr val="F9FAFC"/>
                    </a:solidFill>
                  </a:tcPr>
                </a:tc>
                <a:tc>
                  <a:txBody>
                    <a:bodyPr/>
                    <a:lstStyle/>
                    <a:p>
                      <a:pPr>
                        <a:defRPr sz="900">
                          <a:solidFill>
                            <a:srgbClr val="262626"/>
                          </a:solidFill>
                          <a:latin typeface="Calibri"/>
                        </a:defRPr>
                      </a:pPr>
                      <a:r>
                        <a:t>Ausgangsbasis (Einkauf Fachhandel)</a:t>
                      </a:r>
                    </a:p>
                  </a:txBody>
                  <a:tcPr marL="36576" marR="36576" marT="27432" marB="27432">
                    <a:solidFill>
                      <a:srgbClr val="F9FAFC"/>
                    </a:solidFill>
                  </a:tcPr>
                </a:tc>
                <a:tc>
                  <a:txBody>
                    <a:bodyPr wrap="none"/>
                    <a:lstStyle/>
                    <a:p>
                      <a:pPr algn="r">
                        <a:defRPr sz="900">
                          <a:solidFill>
                            <a:srgbClr val="262626"/>
                          </a:solidFill>
                          <a:latin typeface="Calibri"/>
                        </a:defRPr>
                      </a:pPr>
                      <a:r>
                        <a:t>100,0 %</a:t>
                      </a:r>
                    </a:p>
                  </a:txBody>
                  <a:tcPr marL="36576" marR="36576" marT="27432" marB="27432">
                    <a:solidFill>
                      <a:srgbClr val="F9FAFC"/>
                    </a:solidFill>
                  </a:tcPr>
                </a:tc>
              </a:tr>
              <a:tr h="411480">
                <a:tc>
                  <a:txBody>
                    <a:bodyPr/>
                    <a:lstStyle/>
                    <a:p>
                      <a:pPr>
                        <a:defRPr sz="900">
                          <a:solidFill>
                            <a:srgbClr val="262626"/>
                          </a:solidFill>
                          <a:latin typeface="Calibri"/>
                        </a:defRPr>
                      </a:pPr>
                      <a:r>
                        <a:t>+ Handlungskostenzuschlag</a:t>
                      </a:r>
                    </a:p>
                  </a:txBody>
                  <a:tcPr marL="36576" marR="36576" marT="27432" marB="27432">
                    <a:solidFill>
                      <a:srgbClr val="FFFFFF"/>
                    </a:solidFill>
                  </a:tcPr>
                </a:tc>
                <a:tc>
                  <a:txBody>
                    <a:bodyPr/>
                    <a:lstStyle/>
                    <a:p>
                      <a:pPr>
                        <a:defRPr sz="900">
                          <a:solidFill>
                            <a:srgbClr val="262626"/>
                          </a:solidFill>
                          <a:latin typeface="Calibri"/>
                        </a:defRPr>
                      </a:pPr>
                      <a:r>
                        <a:t>25,0 % auf Bezugspreis</a:t>
                      </a:r>
                    </a:p>
                  </a:txBody>
                  <a:tcPr marL="36576" marR="36576" marT="27432" marB="27432">
                    <a:solidFill>
                      <a:srgbClr val="FFFFFF"/>
                    </a:solidFill>
                  </a:tcPr>
                </a:tc>
                <a:tc>
                  <a:txBody>
                    <a:bodyPr wrap="none"/>
                    <a:lstStyle/>
                    <a:p>
                      <a:pPr algn="r">
                        <a:defRPr sz="900">
                          <a:solidFill>
                            <a:srgbClr val="262626"/>
                          </a:solidFill>
                          <a:latin typeface="Calibri"/>
                        </a:defRPr>
                      </a:pPr>
                      <a:r>
                        <a:t>+ 25,0 %</a:t>
                      </a:r>
                    </a:p>
                  </a:txBody>
                  <a:tcPr marL="36576" marR="36576" marT="27432" marB="27432">
                    <a:solidFill>
                      <a:srgbClr val="FFFFFF"/>
                    </a:solidFill>
                  </a:tcPr>
                </a:tc>
              </a:tr>
              <a:tr h="411480">
                <a:tc>
                  <a:txBody>
                    <a:bodyPr/>
                    <a:lstStyle/>
                    <a:p>
                      <a:pPr>
                        <a:defRPr sz="900">
                          <a:solidFill>
                            <a:srgbClr val="262626"/>
                          </a:solidFill>
                          <a:latin typeface="Calibri"/>
                        </a:defRPr>
                      </a:pPr>
                      <a:r>
                        <a:t>= Selbstkostenpreis (SKP)</a:t>
                      </a:r>
                    </a:p>
                  </a:txBody>
                  <a:tcPr marL="36576" marR="36576" marT="27432" marB="27432">
                    <a:solidFill>
                      <a:srgbClr val="F9FAFC"/>
                    </a:solidFill>
                  </a:tcPr>
                </a:tc>
                <a:tc>
                  <a:txBody>
                    <a:bodyPr/>
                    <a:lstStyle/>
                    <a:p>
                      <a:pPr>
                        <a:defRPr sz="900">
                          <a:solidFill>
                            <a:srgbClr val="262626"/>
                          </a:solidFill>
                          <a:latin typeface="Calibri"/>
                        </a:defRPr>
                      </a:pPr>
                      <a:r>
                        <a:t>Kostendeckender Mindestpreis</a:t>
                      </a:r>
                    </a:p>
                  </a:txBody>
                  <a:tcPr marL="36576" marR="36576" marT="27432" marB="27432">
                    <a:solidFill>
                      <a:srgbClr val="F9FAFC"/>
                    </a:solidFill>
                  </a:tcPr>
                </a:tc>
                <a:tc>
                  <a:txBody>
                    <a:bodyPr wrap="none"/>
                    <a:lstStyle/>
                    <a:p>
                      <a:pPr algn="r">
                        <a:defRPr sz="900">
                          <a:solidFill>
                            <a:srgbClr val="262626"/>
                          </a:solidFill>
                          <a:latin typeface="Calibri"/>
                        </a:defRPr>
                      </a:pPr>
                      <a:r>
                        <a:t>= 125,0 %</a:t>
                      </a:r>
                    </a:p>
                  </a:txBody>
                  <a:tcPr marL="36576" marR="36576" marT="27432" marB="27432">
                    <a:solidFill>
                      <a:srgbClr val="F9FAFC"/>
                    </a:solidFill>
                  </a:tcPr>
                </a:tc>
              </a:tr>
              <a:tr h="411480">
                <a:tc>
                  <a:txBody>
                    <a:bodyPr/>
                    <a:lstStyle/>
                    <a:p>
                      <a:pPr>
                        <a:defRPr sz="900">
                          <a:solidFill>
                            <a:srgbClr val="262626"/>
                          </a:solidFill>
                          <a:latin typeface="Calibri"/>
                        </a:defRPr>
                      </a:pPr>
                      <a:r>
                        <a:t>+ Gewinnzuschlag</a:t>
                      </a:r>
                    </a:p>
                  </a:txBody>
                  <a:tcPr marL="36576" marR="36576" marT="27432" marB="27432">
                    <a:solidFill>
                      <a:srgbClr val="FFFFFF"/>
                    </a:solidFill>
                  </a:tcPr>
                </a:tc>
                <a:tc>
                  <a:txBody>
                    <a:bodyPr/>
                    <a:lstStyle/>
                    <a:p>
                      <a:pPr>
                        <a:defRPr sz="900">
                          <a:solidFill>
                            <a:srgbClr val="262626"/>
                          </a:solidFill>
                          <a:latin typeface="Calibri"/>
                        </a:defRPr>
                      </a:pPr>
                      <a:r>
                        <a:t>12,0 % auf Selbstkosten</a:t>
                      </a:r>
                    </a:p>
                  </a:txBody>
                  <a:tcPr marL="36576" marR="36576" marT="27432" marB="27432">
                    <a:solidFill>
                      <a:srgbClr val="FFFFFF"/>
                    </a:solidFill>
                  </a:tcPr>
                </a:tc>
                <a:tc>
                  <a:txBody>
                    <a:bodyPr wrap="none"/>
                    <a:lstStyle/>
                    <a:p>
                      <a:pPr algn="r">
                        <a:defRPr sz="900">
                          <a:solidFill>
                            <a:srgbClr val="262626"/>
                          </a:solidFill>
                          <a:latin typeface="Calibri"/>
                        </a:defRPr>
                      </a:pPr>
                      <a:r>
                        <a:t>+ 15,0 %</a:t>
                      </a:r>
                    </a:p>
                  </a:txBody>
                  <a:tcPr marL="36576" marR="36576" marT="27432" marB="27432">
                    <a:solidFill>
                      <a:srgbClr val="FFFFFF"/>
                    </a:solidFill>
                  </a:tcPr>
                </a:tc>
              </a:tr>
              <a:tr h="411480">
                <a:tc>
                  <a:txBody>
                    <a:bodyPr/>
                    <a:lstStyle/>
                    <a:p>
                      <a:pPr>
                        <a:defRPr sz="900">
                          <a:solidFill>
                            <a:srgbClr val="262626"/>
                          </a:solidFill>
                          <a:latin typeface="Calibri"/>
                        </a:defRPr>
                      </a:pPr>
                      <a:r>
                        <a:t>= Barverkaufspreis (BVP)</a:t>
                      </a:r>
                    </a:p>
                  </a:txBody>
                  <a:tcPr marL="36576" marR="36576" marT="27432" marB="27432">
                    <a:solidFill>
                      <a:srgbClr val="F9FAFC"/>
                    </a:solidFill>
                  </a:tcPr>
                </a:tc>
                <a:tc>
                  <a:txBody>
                    <a:bodyPr/>
                    <a:lstStyle/>
                    <a:p>
                      <a:pPr>
                        <a:defRPr sz="900">
                          <a:solidFill>
                            <a:srgbClr val="262626"/>
                          </a:solidFill>
                          <a:latin typeface="Calibri"/>
                        </a:defRPr>
                      </a:pPr>
                      <a:r>
                        <a:t>Preis bei Sofortzahlung</a:t>
                      </a:r>
                    </a:p>
                  </a:txBody>
                  <a:tcPr marL="36576" marR="36576" marT="27432" marB="27432">
                    <a:solidFill>
                      <a:srgbClr val="F9FAFC"/>
                    </a:solidFill>
                  </a:tcPr>
                </a:tc>
                <a:tc>
                  <a:txBody>
                    <a:bodyPr wrap="none"/>
                    <a:lstStyle/>
                    <a:p>
                      <a:pPr algn="r">
                        <a:defRPr sz="900">
                          <a:solidFill>
                            <a:srgbClr val="262626"/>
                          </a:solidFill>
                          <a:latin typeface="Calibri"/>
                        </a:defRPr>
                      </a:pPr>
                      <a:r>
                        <a:t>= 140,0 %</a:t>
                      </a:r>
                    </a:p>
                  </a:txBody>
                  <a:tcPr marL="36576" marR="36576" marT="27432" marB="27432">
                    <a:solidFill>
                      <a:srgbClr val="F9FAFC"/>
                    </a:solidFill>
                  </a:tcPr>
                </a:tc>
              </a:tr>
              <a:tr h="411480">
                <a:tc>
                  <a:txBody>
                    <a:bodyPr/>
                    <a:lstStyle/>
                    <a:p>
                      <a:pPr>
                        <a:defRPr sz="900">
                          <a:solidFill>
                            <a:srgbClr val="262626"/>
                          </a:solidFill>
                          <a:latin typeface="Calibri"/>
                        </a:defRPr>
                      </a:pPr>
                      <a:r>
                        <a:t>+ Kundenskonto</a:t>
                      </a:r>
                    </a:p>
                  </a:txBody>
                  <a:tcPr marL="36576" marR="36576" marT="27432" marB="27432">
                    <a:solidFill>
                      <a:srgbClr val="FFFFFF"/>
                    </a:solidFill>
                  </a:tcPr>
                </a:tc>
                <a:tc>
                  <a:txBody>
                    <a:bodyPr/>
                    <a:lstStyle/>
                    <a:p>
                      <a:pPr>
                        <a:defRPr sz="900">
                          <a:solidFill>
                            <a:srgbClr val="262626"/>
                          </a:solidFill>
                          <a:latin typeface="Calibri"/>
                        </a:defRPr>
                      </a:pPr>
                      <a:r>
                        <a:t>3,0 % im Hundert (ZVP = BVP ÷ 0,97)</a:t>
                      </a:r>
                    </a:p>
                  </a:txBody>
                  <a:tcPr marL="36576" marR="36576" marT="27432" marB="27432">
                    <a:solidFill>
                      <a:srgbClr val="FFFFFF"/>
                    </a:solidFill>
                  </a:tcPr>
                </a:tc>
                <a:tc>
                  <a:txBody>
                    <a:bodyPr wrap="none"/>
                    <a:lstStyle/>
                    <a:p>
                      <a:pPr algn="r">
                        <a:defRPr sz="900">
                          <a:solidFill>
                            <a:srgbClr val="262626"/>
                          </a:solidFill>
                          <a:latin typeface="Calibri"/>
                        </a:defRPr>
                      </a:pPr>
                      <a:r>
                        <a:t>+ 4,33 %</a:t>
                      </a:r>
                    </a:p>
                  </a:txBody>
                  <a:tcPr marL="36576" marR="36576" marT="27432" marB="27432">
                    <a:solidFill>
                      <a:srgbClr val="FFFFFF"/>
                    </a:solidFill>
                  </a:tcPr>
                </a:tc>
              </a:tr>
              <a:tr h="411480">
                <a:tc>
                  <a:txBody>
                    <a:bodyPr/>
                    <a:lstStyle/>
                    <a:p>
                      <a:pPr>
                        <a:defRPr sz="900" b="1">
                          <a:solidFill>
                            <a:srgbClr val="1F497D"/>
                          </a:solidFill>
                          <a:latin typeface="Calibri"/>
                        </a:defRPr>
                      </a:pPr>
                      <a:r>
                        <a:t>= Angebotspreis netto</a:t>
                      </a:r>
                    </a:p>
                  </a:txBody>
                  <a:tcPr marL="36576" marR="36576" marT="27432" marB="27432">
                    <a:solidFill>
                      <a:srgbClr val="FFFDF5"/>
                    </a:solidFill>
                  </a:tcPr>
                </a:tc>
                <a:tc>
                  <a:txBody>
                    <a:bodyPr/>
                    <a:lstStyle/>
                    <a:p>
                      <a:pPr>
                        <a:defRPr sz="900" b="1">
                          <a:solidFill>
                            <a:srgbClr val="1F497D"/>
                          </a:solidFill>
                          <a:latin typeface="Calibri"/>
                        </a:defRPr>
                      </a:pPr>
                      <a:r>
                        <a:t>Listenverkaufspreis an Kunden</a:t>
                      </a:r>
                    </a:p>
                  </a:txBody>
                  <a:tcPr marL="36576" marR="36576" marT="27432" marB="27432">
                    <a:solidFill>
                      <a:srgbClr val="FFFDF5"/>
                    </a:solidFill>
                  </a:tcPr>
                </a:tc>
                <a:tc>
                  <a:txBody>
                    <a:bodyPr wrap="none"/>
                    <a:lstStyle/>
                    <a:p>
                      <a:pPr algn="r">
                        <a:defRPr sz="900" b="1">
                          <a:solidFill>
                            <a:srgbClr val="1F497D"/>
                          </a:solidFill>
                          <a:latin typeface="Calibri"/>
                        </a:defRPr>
                      </a:pPr>
                      <a:r>
                        <a:t>= 67.179,32 €</a:t>
                      </a:r>
                    </a:p>
                  </a:txBody>
                  <a:tcPr marL="36576" marR="36576" marT="27432" marB="27432">
                    <a:solidFill>
                      <a:srgbClr val="FFFDF5"/>
                    </a:solidFill>
                  </a:tcPr>
                </a:tc>
              </a:tr>
              <a:tr h="411480">
                <a:tc>
                  <a:txBody>
                    <a:bodyPr/>
                    <a:lstStyle/>
                    <a:p>
                      <a:pPr>
                        <a:defRPr sz="900">
                          <a:solidFill>
                            <a:srgbClr val="262626"/>
                          </a:solidFill>
                          <a:latin typeface="Calibri"/>
                        </a:defRPr>
                      </a:pPr>
                      <a:r>
                        <a:t>+ 19% Gesetzliche USt.</a:t>
                      </a:r>
                    </a:p>
                  </a:txBody>
                  <a:tcPr marL="36576" marR="36576" marT="27432" marB="27432">
                    <a:solidFill>
                      <a:srgbClr val="FFFFFF"/>
                    </a:solidFill>
                  </a:tcPr>
                </a:tc>
                <a:tc>
                  <a:txBody>
                    <a:bodyPr/>
                    <a:lstStyle/>
                    <a:p>
                      <a:pPr>
                        <a:defRPr sz="900">
                          <a:solidFill>
                            <a:srgbClr val="262626"/>
                          </a:solidFill>
                          <a:latin typeface="Calibri"/>
                        </a:defRPr>
                      </a:pPr>
                      <a:r>
                        <a:t>Umsatzsteuer auf Gesamtangebot</a:t>
                      </a:r>
                    </a:p>
                  </a:txBody>
                  <a:tcPr marL="36576" marR="36576" marT="27432" marB="27432">
                    <a:solidFill>
                      <a:srgbClr val="FFFFFF"/>
                    </a:solidFill>
                  </a:tcPr>
                </a:tc>
                <a:tc>
                  <a:txBody>
                    <a:bodyPr wrap="none"/>
                    <a:lstStyle/>
                    <a:p>
                      <a:pPr algn="r">
                        <a:defRPr sz="900">
                          <a:solidFill>
                            <a:srgbClr val="262626"/>
                          </a:solidFill>
                          <a:latin typeface="Calibri"/>
                        </a:defRPr>
                      </a:pPr>
                      <a:r>
                        <a:t>+ 12.764,07 €</a:t>
                      </a:r>
                    </a:p>
                  </a:txBody>
                  <a:tcPr marL="36576" marR="36576" marT="27432" marB="27432">
                    <a:solidFill>
                      <a:srgbClr val="FFFFFF"/>
                    </a:solidFill>
                  </a:tcPr>
                </a:tc>
              </a:tr>
              <a:tr h="411480">
                <a:tc>
                  <a:txBody>
                    <a:bodyPr/>
                    <a:lstStyle/>
                    <a:p>
                      <a:pPr>
                        <a:defRPr sz="900" b="1">
                          <a:solidFill>
                            <a:srgbClr val="C00000"/>
                          </a:solidFill>
                          <a:latin typeface="Calibri"/>
                        </a:defRPr>
                      </a:pPr>
                      <a:r>
                        <a:t>= Gesamtangebot brutto</a:t>
                      </a:r>
                    </a:p>
                  </a:txBody>
                  <a:tcPr marL="36576" marR="36576" marT="27432" marB="27432">
                    <a:solidFill>
                      <a:srgbClr val="FFFDF5"/>
                    </a:solidFill>
                  </a:tcPr>
                </a:tc>
                <a:tc>
                  <a:txBody>
                    <a:bodyPr/>
                    <a:lstStyle/>
                    <a:p>
                      <a:pPr>
                        <a:defRPr sz="900" b="1">
                          <a:solidFill>
                            <a:srgbClr val="C00000"/>
                          </a:solidFill>
                          <a:latin typeface="Calibri"/>
                        </a:defRPr>
                      </a:pPr>
                      <a:r>
                        <a:t>Endbetrag für VektorPlan GmbH</a:t>
                      </a:r>
                    </a:p>
                  </a:txBody>
                  <a:tcPr marL="36576" marR="36576" marT="27432" marB="27432">
                    <a:solidFill>
                      <a:srgbClr val="FFFDF5"/>
                    </a:solidFill>
                  </a:tcPr>
                </a:tc>
                <a:tc>
                  <a:txBody>
                    <a:bodyPr wrap="none"/>
                    <a:lstStyle/>
                    <a:p>
                      <a:pPr algn="r">
                        <a:defRPr sz="900" b="1">
                          <a:solidFill>
                            <a:srgbClr val="C00000"/>
                          </a:solidFill>
                          <a:latin typeface="Calibri"/>
                        </a:defRPr>
                      </a:pPr>
                      <a:r>
                        <a:t>= 79.943,39 €</a:t>
                      </a:r>
                    </a:p>
                  </a:txBody>
                  <a:tcPr marL="36576" marR="36576" marT="27432" marB="27432">
                    <a:solidFill>
                      <a:srgbClr val="FFFDF5"/>
                    </a:solidFill>
                  </a:tcPr>
                </a:tc>
              </a:tr>
            </a:tbl>
          </a:graphicData>
        </a:graphic>
      </p:graphicFrame>
      <p:sp>
        <p:nvSpPr>
          <p:cNvPr id="8" name="Rounded Rectangle 7"/>
          <p:cNvSpPr/>
          <p:nvPr/>
        </p:nvSpPr>
        <p:spPr>
          <a:xfrm>
            <a:off x="6172200" y="1234440"/>
            <a:ext cx="5303520" cy="4937760"/>
          </a:xfrm>
          <a:prstGeom prst="roundRect">
            <a:avLst/>
          </a:prstGeom>
          <a:solidFill>
            <a:srgbClr val="FFFFFF"/>
          </a:solidFill>
          <a:ln w="15240">
            <a:solidFill>
              <a:srgbClr val="C8D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234440"/>
            <a:ext cx="5303520" cy="5029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Kaufmännisches Angebot (Nr. NL-2026-VP-001)</a:t>
            </a:r>
          </a:p>
        </p:txBody>
      </p:sp>
      <p:graphicFrame>
        <p:nvGraphicFramePr>
          <p:cNvPr id="10" name="Table 9"/>
          <p:cNvGraphicFramePr>
            <a:graphicFrameLocks noGrp="1"/>
          </p:cNvGraphicFramePr>
          <p:nvPr/>
        </p:nvGraphicFramePr>
        <p:xfrm>
          <a:off x="6263640" y="1874519"/>
          <a:ext cx="5120639" cy="2194560"/>
        </p:xfrm>
        <a:graphic>
          <a:graphicData uri="http://schemas.openxmlformats.org/drawingml/2006/table">
            <a:tbl>
              <a:tblPr firstRow="1" bandRow="1">
                <a:tableStyleId>{5C22544A-7EE6-4342-B048-85BDC9FD1C3A}</a:tableStyleId>
              </a:tblPr>
              <a:tblGrid>
                <a:gridCol w="3749039"/>
                <a:gridCol w="1371600"/>
              </a:tblGrid>
              <a:tr h="313508">
                <a:tc>
                  <a:txBody>
                    <a:bodyPr wrap="none"/>
                    <a:lstStyle/>
                    <a:p>
                      <a:pPr>
                        <a:defRPr sz="950" b="1">
                          <a:solidFill>
                            <a:srgbClr val="1F497D"/>
                          </a:solidFill>
                          <a:latin typeface="Calibri"/>
                        </a:defRPr>
                      </a:pPr>
                      <a:r>
                        <a:t>Position / Leistungsbereich</a:t>
                      </a:r>
                    </a:p>
                  </a:txBody>
                  <a:tcPr marL="36576" marR="36576" marT="27432" marB="27432">
                    <a:solidFill>
                      <a:srgbClr val="F0F3F8"/>
                    </a:solidFill>
                  </a:tcPr>
                </a:tc>
                <a:tc>
                  <a:txBody>
                    <a:bodyPr wrap="none"/>
                    <a:lstStyle/>
                    <a:p>
                      <a:pPr algn="r">
                        <a:defRPr sz="950" b="1">
                          <a:solidFill>
                            <a:srgbClr val="1F497D"/>
                          </a:solidFill>
                          <a:latin typeface="Calibri"/>
                        </a:defRPr>
                      </a:pPr>
                      <a:r>
                        <a:t>Betrag Netto</a:t>
                      </a:r>
                    </a:p>
                  </a:txBody>
                  <a:tcPr marL="36576" marR="36576" marT="27432" marB="27432">
                    <a:solidFill>
                      <a:srgbClr val="F0F3F8"/>
                    </a:solidFill>
                  </a:tcPr>
                </a:tc>
              </a:tr>
              <a:tr h="313508">
                <a:tc>
                  <a:txBody>
                    <a:bodyPr/>
                    <a:lstStyle/>
                    <a:p>
                      <a:pPr>
                        <a:defRPr sz="950">
                          <a:latin typeface="Calibri"/>
                        </a:defRPr>
                      </a:pPr>
                      <a:r>
                        <a:t>1. Hardware (16 PCs, 32 Monitore, MFP, SSDs)</a:t>
                      </a:r>
                    </a:p>
                  </a:txBody>
                  <a:tcPr marL="36576" marR="36576" marT="27432" marB="27432">
                    <a:solidFill>
                      <a:srgbClr val="F9FAFC"/>
                    </a:solidFill>
                  </a:tcPr>
                </a:tc>
                <a:tc>
                  <a:txBody>
                    <a:bodyPr wrap="none"/>
                    <a:lstStyle/>
                    <a:p>
                      <a:pPr algn="r">
                        <a:defRPr sz="950">
                          <a:latin typeface="Calibri"/>
                        </a:defRPr>
                      </a:pPr>
                      <a:r>
                        <a:t>51.108,12 €</a:t>
                      </a:r>
                    </a:p>
                  </a:txBody>
                  <a:tcPr marL="36576" marR="36576" marT="27432" marB="27432">
                    <a:solidFill>
                      <a:srgbClr val="F9FAFC"/>
                    </a:solidFill>
                  </a:tcPr>
                </a:tc>
              </a:tr>
              <a:tr h="313508">
                <a:tc>
                  <a:txBody>
                    <a:bodyPr/>
                    <a:lstStyle/>
                    <a:p>
                      <a:pPr>
                        <a:defRPr sz="950">
                          <a:latin typeface="Calibri"/>
                        </a:defRPr>
                      </a:pPr>
                      <a:r>
                        <a:t>2. Software &amp; Lizenzen (1. Jahr: M365, Adobe, ESET)</a:t>
                      </a:r>
                    </a:p>
                  </a:txBody>
                  <a:tcPr marL="36576" marR="36576" marT="27432" marB="27432">
                    <a:solidFill>
                      <a:srgbClr val="FFFFFF"/>
                    </a:solidFill>
                  </a:tcPr>
                </a:tc>
                <a:tc>
                  <a:txBody>
                    <a:bodyPr wrap="none"/>
                    <a:lstStyle/>
                    <a:p>
                      <a:pPr algn="r">
                        <a:defRPr sz="950">
                          <a:latin typeface="Calibri"/>
                        </a:defRPr>
                      </a:pPr>
                      <a:r>
                        <a:t>10.021,20 €</a:t>
                      </a:r>
                    </a:p>
                  </a:txBody>
                  <a:tcPr marL="36576" marR="36576" marT="27432" marB="27432">
                    <a:solidFill>
                      <a:srgbClr val="FFFFFF"/>
                    </a:solidFill>
                  </a:tcPr>
                </a:tc>
              </a:tr>
              <a:tr h="313508">
                <a:tc>
                  <a:txBody>
                    <a:bodyPr/>
                    <a:lstStyle/>
                    <a:p>
                      <a:pPr>
                        <a:defRPr sz="950">
                          <a:latin typeface="Calibri"/>
                        </a:defRPr>
                      </a:pPr>
                      <a:r>
                        <a:t>3. Dienstleistungen (Staging, Montage, Abnahme)</a:t>
                      </a:r>
                    </a:p>
                  </a:txBody>
                  <a:tcPr marL="36576" marR="36576" marT="27432" marB="27432">
                    <a:solidFill>
                      <a:srgbClr val="F9FAFC"/>
                    </a:solidFill>
                  </a:tcPr>
                </a:tc>
                <a:tc>
                  <a:txBody>
                    <a:bodyPr wrap="none"/>
                    <a:lstStyle/>
                    <a:p>
                      <a:pPr algn="r">
                        <a:defRPr sz="950">
                          <a:latin typeface="Calibri"/>
                        </a:defRPr>
                      </a:pPr>
                      <a:r>
                        <a:t>6.050,00 €</a:t>
                      </a:r>
                    </a:p>
                  </a:txBody>
                  <a:tcPr marL="36576" marR="36576" marT="27432" marB="27432">
                    <a:solidFill>
                      <a:srgbClr val="F9FAFC"/>
                    </a:solidFill>
                  </a:tcPr>
                </a:tc>
              </a:tr>
              <a:tr h="313508">
                <a:tc>
                  <a:txBody>
                    <a:bodyPr/>
                    <a:lstStyle/>
                    <a:p>
                      <a:pPr>
                        <a:defRPr sz="950" b="1">
                          <a:solidFill>
                            <a:srgbClr val="1F497D"/>
                          </a:solidFill>
                          <a:latin typeface="Calibri"/>
                        </a:defRPr>
                      </a:pPr>
                      <a:r>
                        <a:t>Gesamtangebot Netto</a:t>
                      </a:r>
                    </a:p>
                  </a:txBody>
                  <a:tcPr marL="36576" marR="36576" marT="27432" marB="27432">
                    <a:solidFill>
                      <a:srgbClr val="FFFDF5"/>
                    </a:solidFill>
                  </a:tcPr>
                </a:tc>
                <a:tc>
                  <a:txBody>
                    <a:bodyPr wrap="none"/>
                    <a:lstStyle/>
                    <a:p>
                      <a:pPr algn="r">
                        <a:defRPr sz="950" b="1">
                          <a:solidFill>
                            <a:srgbClr val="1F497D"/>
                          </a:solidFill>
                          <a:latin typeface="Calibri"/>
                        </a:defRPr>
                      </a:pPr>
                      <a:r>
                        <a:t>67.179,32 €</a:t>
                      </a:r>
                    </a:p>
                  </a:txBody>
                  <a:tcPr marL="36576" marR="36576" marT="27432" marB="27432">
                    <a:solidFill>
                      <a:srgbClr val="FFFDF5"/>
                    </a:solidFill>
                  </a:tcPr>
                </a:tc>
              </a:tr>
              <a:tr h="313508">
                <a:tc>
                  <a:txBody>
                    <a:bodyPr/>
                    <a:lstStyle/>
                    <a:p>
                      <a:pPr>
                        <a:defRPr sz="950">
                          <a:latin typeface="Calibri"/>
                        </a:defRPr>
                      </a:pPr>
                      <a:r>
                        <a:t>+ 19% Gesetzliche Umsatzsteuer</a:t>
                      </a:r>
                    </a:p>
                  </a:txBody>
                  <a:tcPr marL="36576" marR="36576" marT="27432" marB="27432">
                    <a:solidFill>
                      <a:srgbClr val="F9FAFC"/>
                    </a:solidFill>
                  </a:tcPr>
                </a:tc>
                <a:tc>
                  <a:txBody>
                    <a:bodyPr wrap="none"/>
                    <a:lstStyle/>
                    <a:p>
                      <a:pPr algn="r">
                        <a:defRPr sz="950">
                          <a:latin typeface="Calibri"/>
                        </a:defRPr>
                      </a:pPr>
                      <a:r>
                        <a:t>12.764,07 €</a:t>
                      </a:r>
                    </a:p>
                  </a:txBody>
                  <a:tcPr marL="36576" marR="36576" marT="27432" marB="27432">
                    <a:solidFill>
                      <a:srgbClr val="F9FAFC"/>
                    </a:solidFill>
                  </a:tcPr>
                </a:tc>
              </a:tr>
              <a:tr h="313512">
                <a:tc>
                  <a:txBody>
                    <a:bodyPr/>
                    <a:lstStyle/>
                    <a:p>
                      <a:pPr>
                        <a:defRPr sz="950" b="1">
                          <a:solidFill>
                            <a:srgbClr val="C00000"/>
                          </a:solidFill>
                          <a:latin typeface="Calibri"/>
                        </a:defRPr>
                      </a:pPr>
                      <a:r>
                        <a:t>Gesamtangebot Brutto</a:t>
                      </a:r>
                    </a:p>
                  </a:txBody>
                  <a:tcPr marL="36576" marR="36576" marT="27432" marB="27432">
                    <a:solidFill>
                      <a:srgbClr val="FFFDF5"/>
                    </a:solidFill>
                  </a:tcPr>
                </a:tc>
                <a:tc>
                  <a:txBody>
                    <a:bodyPr wrap="none"/>
                    <a:lstStyle/>
                    <a:p>
                      <a:pPr algn="r">
                        <a:defRPr sz="950" b="1">
                          <a:solidFill>
                            <a:srgbClr val="C00000"/>
                          </a:solidFill>
                          <a:latin typeface="Calibri"/>
                        </a:defRPr>
                      </a:pPr>
                      <a:r>
                        <a:t>79.943,39 €</a:t>
                      </a:r>
                    </a:p>
                  </a:txBody>
                  <a:tcPr marL="36576" marR="36576" marT="27432" marB="27432">
                    <a:solidFill>
                      <a:srgbClr val="FFFDF5"/>
                    </a:solidFill>
                  </a:tcPr>
                </a:tc>
              </a:tr>
            </a:tbl>
          </a:graphicData>
        </a:graphic>
      </p:graphicFrame>
      <p:sp>
        <p:nvSpPr>
          <p:cNvPr id="11" name="Rounded Rectangle 10"/>
          <p:cNvSpPr/>
          <p:nvPr/>
        </p:nvSpPr>
        <p:spPr>
          <a:xfrm>
            <a:off x="6263640" y="4297680"/>
            <a:ext cx="5120640" cy="1737360"/>
          </a:xfrm>
          <a:prstGeom prst="roundRect">
            <a:avLst/>
          </a:prstGeom>
          <a:solidFill>
            <a:srgbClr val="F5F8FC"/>
          </a:solidFill>
          <a:ln w="12700">
            <a:solidFill>
              <a:srgbClr val="D2E1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389120"/>
            <a:ext cx="4846320" cy="1554480"/>
          </a:xfrm>
          <a:prstGeom prst="rect">
            <a:avLst/>
          </a:prstGeom>
          <a:noFill/>
        </p:spPr>
        <p:txBody>
          <a:bodyPr wrap="square">
            <a:spAutoFit/>
          </a:bodyPr>
          <a:lstStyle/>
          <a:p>
            <a:pPr>
              <a:defRPr sz="1000" b="1">
                <a:solidFill>
                  <a:srgbClr val="1F497D"/>
                </a:solidFill>
                <a:latin typeface="Calibri"/>
              </a:defRPr>
            </a:pPr>
            <a:r>
              <a:t>Zahlungs- &amp; Lieferkonditionen:</a:t>
            </a:r>
          </a:p>
          <a:p>
            <a:pPr>
              <a:spcBef>
                <a:spcPts val="300"/>
              </a:spcBef>
              <a:defRPr sz="900">
                <a:solidFill>
                  <a:srgbClr val="262626"/>
                </a:solidFill>
                <a:latin typeface="Calibri"/>
              </a:defRPr>
            </a:pPr>
            <a:r>
              <a:t>• Zahlungsziel: 14 Tage mit 3 % Skonto (2.015,38 € Ersparnis) oder 30 Tage rein netto</a:t>
            </a:r>
          </a:p>
          <a:p>
            <a:pPr>
              <a:spcBef>
                <a:spcPts val="300"/>
              </a:spcBef>
              <a:defRPr sz="900">
                <a:solidFill>
                  <a:srgbClr val="262626"/>
                </a:solidFill>
                <a:latin typeface="Calibri"/>
              </a:defRPr>
            </a:pPr>
            <a:r>
              <a:t>• Garantie: 36 Monate Vor-Ort-Herstellerservice auf alle Arbeitsplätze</a:t>
            </a:r>
          </a:p>
          <a:p>
            <a:pPr>
              <a:spcBef>
                <a:spcPts val="300"/>
              </a:spcBef>
              <a:defRPr sz="900">
                <a:solidFill>
                  <a:srgbClr val="262626"/>
                </a:solidFill>
                <a:latin typeface="Calibri"/>
              </a:defRPr>
            </a:pPr>
            <a:r>
              <a:t>• Option IT-Leasing: Ab ca. 1.580 € monatlich (Voll amortisierbare Betriebsausgabe / OPEX)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KUNDENBERECHNUNGEN</a:t>
            </a:r>
          </a:p>
          <a:p>
            <a:pPr>
              <a:defRPr sz="2000" b="1">
                <a:solidFill>
                  <a:srgbClr val="FFFFFF"/>
                </a:solidFill>
                <a:latin typeface="Calibri"/>
              </a:defRPr>
            </a:pPr>
            <a:r>
              <a:t>Spezifische Berechnungen für den Kunden (Aufgabe B)</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11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ounded Rectangle 5"/>
          <p:cNvSpPr/>
          <p:nvPr/>
        </p:nvSpPr>
        <p:spPr>
          <a:xfrm>
            <a:off x="1097280" y="1645920"/>
            <a:ext cx="4526280" cy="1005840"/>
          </a:xfrm>
          <a:prstGeom prst="roundRect">
            <a:avLst/>
          </a:prstGeom>
          <a:solidFill>
            <a:srgbClr val="DEEBF7"/>
          </a:solidFill>
          <a:ln>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200" b="1">
                <a:solidFill>
                  <a:srgbClr val="1F497D"/>
                </a:solidFill>
                <a:latin typeface="Calibri"/>
              </a:defRPr>
            </a:pPr>
            <a:r>
              <a:t>445 GiB</a:t>
            </a:r>
          </a:p>
          <a:p>
            <a:pPr algn="ctr">
              <a:defRPr sz="1050">
                <a:solidFill>
                  <a:srgbClr val="262626"/>
                </a:solidFill>
              </a:defRPr>
            </a:pPr>
            <a:r>
              <a:t>Benötigter Fileserver-Speicherplatz für 1 Quartal</a:t>
            </a:r>
          </a:p>
        </p:txBody>
      </p:sp>
      <p:sp>
        <p:nvSpPr>
          <p:cNvPr id="7" name="TextBox 6"/>
          <p:cNvSpPr txBox="1"/>
          <p:nvPr/>
        </p:nvSpPr>
        <p:spPr>
          <a:xfrm>
            <a:off x="1005840" y="2834640"/>
            <a:ext cx="4663440" cy="3200400"/>
          </a:xfrm>
          <a:prstGeom prst="rect">
            <a:avLst/>
          </a:prstGeom>
          <a:noFill/>
        </p:spPr>
        <p:txBody>
          <a:bodyPr wrap="square">
            <a:spAutoFit/>
          </a:bodyPr>
          <a:lstStyle/>
          <a:p>
            <a:pPr>
              <a:defRPr b="1" sz="1100">
                <a:solidFill>
                  <a:srgbClr val="1F497D"/>
                </a:solidFill>
              </a:defRPr>
            </a:pPr>
            <a:r>
              <a:t>Rechnenweg Schritt für Schritt:</a:t>
            </a:r>
          </a:p>
          <a:p>
            <a:pPr>
              <a:spcAft>
                <a:spcPts val="300"/>
              </a:spcAft>
              <a:defRPr sz="950">
                <a:solidFill>
                  <a:srgbClr val="262626"/>
                </a:solidFill>
              </a:defRPr>
            </a:pPr>
            <a:r>
              <a:t>• 16 Arbeitsplätze × 350 MiB/Tag = 5.600 MiB tägliche Daten</a:t>
            </a:r>
          </a:p>
          <a:p>
            <a:pPr>
              <a:spcAft>
                <a:spcPts val="300"/>
              </a:spcAft>
              <a:defRPr sz="950">
                <a:solidFill>
                  <a:srgbClr val="262626"/>
                </a:solidFill>
              </a:defRPr>
            </a:pPr>
            <a:r>
              <a:t>• 5.600 MiB × 65 Arbeitstage = 364.000 MiB Daten pro Quartal</a:t>
            </a:r>
          </a:p>
          <a:p>
            <a:pPr>
              <a:spcAft>
                <a:spcPts val="300"/>
              </a:spcAft>
              <a:defRPr sz="950">
                <a:solidFill>
                  <a:srgbClr val="262626"/>
                </a:solidFill>
              </a:defRPr>
            </a:pPr>
            <a:r>
              <a:t>• Umrechnung in GiB (Binärfaktor 1.024):</a:t>
            </a:r>
          </a:p>
          <a:p>
            <a:pPr>
              <a:spcAft>
                <a:spcPts val="300"/>
              </a:spcAft>
              <a:defRPr sz="950">
                <a:solidFill>
                  <a:srgbClr val="262626"/>
                </a:solidFill>
              </a:defRPr>
            </a:pPr>
            <a:r>
              <a:t>•   364.000 MiB ÷ 1.024 = 355,47 GiB</a:t>
            </a:r>
          </a:p>
          <a:p>
            <a:pPr>
              <a:spcAft>
                <a:spcPts val="300"/>
              </a:spcAft>
              <a:defRPr sz="950">
                <a:solidFill>
                  <a:srgbClr val="262626"/>
                </a:solidFill>
              </a:defRPr>
            </a:pPr>
            <a:r>
              <a:t>• Aufrunden auf volle GiB: 356 GiB netto</a:t>
            </a:r>
          </a:p>
          <a:p>
            <a:pPr>
              <a:spcAft>
                <a:spcPts val="300"/>
              </a:spcAft>
              <a:defRPr sz="950">
                <a:solidFill>
                  <a:srgbClr val="262626"/>
                </a:solidFill>
              </a:defRPr>
            </a:pPr>
            <a:r>
              <a:t>• + 25 % Sicherheits- und Pufferzuschlag:</a:t>
            </a:r>
          </a:p>
          <a:p>
            <a:pPr>
              <a:spcAft>
                <a:spcPts val="300"/>
              </a:spcAft>
              <a:defRPr sz="950">
                <a:solidFill>
                  <a:srgbClr val="262626"/>
                </a:solidFill>
              </a:defRPr>
            </a:pPr>
            <a:r>
              <a:t>•   356 GiB × 1,25 = 445 GiB Gesamtkapazität</a:t>
            </a:r>
          </a:p>
        </p:txBody>
      </p:sp>
      <p:sp>
        <p:nvSpPr>
          <p:cNvPr id="8" name="Rounded Rectangle 7"/>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Rounded Rectangle 8"/>
          <p:cNvSpPr/>
          <p:nvPr/>
        </p:nvSpPr>
        <p:spPr>
          <a:xfrm>
            <a:off x="6583680" y="1645920"/>
            <a:ext cx="4526280" cy="1005840"/>
          </a:xfrm>
          <a:prstGeom prst="roundRect">
            <a:avLst/>
          </a:prstGeom>
          <a:solidFill>
            <a:srgbClr val="FCE4D6"/>
          </a:solidFill>
          <a:ln>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200" b="1">
                <a:solidFill>
                  <a:srgbClr val="C55A11"/>
                </a:solidFill>
                <a:latin typeface="Calibri"/>
              </a:defRPr>
            </a:pPr>
            <a:r>
              <a:t>1.771,26 €</a:t>
            </a:r>
          </a:p>
          <a:p>
            <a:pPr algn="ctr">
              <a:defRPr sz="1050">
                <a:solidFill>
                  <a:srgbClr val="262626"/>
                </a:solidFill>
              </a:defRPr>
            </a:pPr>
            <a:r>
              <a:t>Jährliche Stromkosten für alle 16 Arbeitsplätze</a:t>
            </a:r>
          </a:p>
        </p:txBody>
      </p:sp>
      <p:sp>
        <p:nvSpPr>
          <p:cNvPr id="10" name="TextBox 9"/>
          <p:cNvSpPr txBox="1"/>
          <p:nvPr/>
        </p:nvSpPr>
        <p:spPr>
          <a:xfrm>
            <a:off x="6492240" y="2834640"/>
            <a:ext cx="4663440" cy="3200400"/>
          </a:xfrm>
          <a:prstGeom prst="rect">
            <a:avLst/>
          </a:prstGeom>
          <a:noFill/>
        </p:spPr>
        <p:txBody>
          <a:bodyPr wrap="square">
            <a:spAutoFit/>
          </a:bodyPr>
          <a:lstStyle/>
          <a:p>
            <a:pPr>
              <a:defRPr b="1" sz="1100">
                <a:solidFill>
                  <a:srgbClr val="1F497D"/>
                </a:solidFill>
              </a:defRPr>
            </a:pPr>
            <a:r>
              <a:t>Rechnenweg Schritt für Schritt:</a:t>
            </a:r>
          </a:p>
          <a:p>
            <a:pPr>
              <a:spcAft>
                <a:spcPts val="300"/>
              </a:spcAft>
              <a:defRPr sz="950">
                <a:solidFill>
                  <a:srgbClr val="262626"/>
                </a:solidFill>
              </a:defRPr>
            </a:pPr>
            <a:r>
              <a:t>• 12 Standard-PCs à 140 W = 1.680 W</a:t>
            </a:r>
          </a:p>
          <a:p>
            <a:pPr>
              <a:spcAft>
                <a:spcPts val="300"/>
              </a:spcAft>
              <a:defRPr sz="950">
                <a:solidFill>
                  <a:srgbClr val="262626"/>
                </a:solidFill>
              </a:defRPr>
            </a:pPr>
            <a:r>
              <a:t>• 4 CAD-Workstations à 320 W = 1.280 W</a:t>
            </a:r>
          </a:p>
          <a:p>
            <a:pPr>
              <a:spcAft>
                <a:spcPts val="300"/>
              </a:spcAft>
              <a:defRPr sz="950">
                <a:solidFill>
                  <a:srgbClr val="262626"/>
                </a:solidFill>
              </a:defRPr>
            </a:pPr>
            <a:r>
              <a:t>• Gesamtleistung: 1.680 W + 1.280 W = 2.960 W (2,96 kW)</a:t>
            </a:r>
          </a:p>
          <a:p>
            <a:pPr>
              <a:spcAft>
                <a:spcPts val="300"/>
              </a:spcAft>
              <a:defRPr sz="950">
                <a:solidFill>
                  <a:srgbClr val="262626"/>
                </a:solidFill>
              </a:defRPr>
            </a:pPr>
            <a:r>
              <a:t>• Jahresbetriebszeit: 220 Tage × 8,5 h/Tag = 1.870 Stunden</a:t>
            </a:r>
          </a:p>
          <a:p>
            <a:pPr>
              <a:spcAft>
                <a:spcPts val="300"/>
              </a:spcAft>
              <a:defRPr sz="950">
                <a:solidFill>
                  <a:srgbClr val="262626"/>
                </a:solidFill>
              </a:defRPr>
            </a:pPr>
            <a:r>
              <a:t>• Jahresstromverbrauch:</a:t>
            </a:r>
          </a:p>
          <a:p>
            <a:pPr>
              <a:spcAft>
                <a:spcPts val="300"/>
              </a:spcAft>
              <a:defRPr sz="950">
                <a:solidFill>
                  <a:srgbClr val="262626"/>
                </a:solidFill>
              </a:defRPr>
            </a:pPr>
            <a:r>
              <a:t>•   2,96 kW × 1.870 h = 5.535,2 kWh</a:t>
            </a:r>
          </a:p>
          <a:p>
            <a:pPr>
              <a:spcAft>
                <a:spcPts val="300"/>
              </a:spcAft>
              <a:defRPr sz="950">
                <a:solidFill>
                  <a:srgbClr val="262626"/>
                </a:solidFill>
              </a:defRPr>
            </a:pPr>
            <a:r>
              <a:t>• Stromkosten bei 0,32 €/kWh:</a:t>
            </a:r>
          </a:p>
          <a:p>
            <a:pPr>
              <a:spcAft>
                <a:spcPts val="300"/>
              </a:spcAft>
              <a:defRPr sz="950">
                <a:solidFill>
                  <a:srgbClr val="262626"/>
                </a:solidFill>
              </a:defRPr>
            </a:pPr>
            <a:r>
              <a:t>•   5.535,2 kWh × 0,32 € = 1.771,26 € pro Jahr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QUALITÄT &amp; UMWELT</a:t>
            </a:r>
          </a:p>
          <a:p>
            <a:pPr>
              <a:defRPr sz="2000" b="1">
                <a:solidFill>
                  <a:srgbClr val="FFFFFF"/>
                </a:solidFill>
                <a:latin typeface="Calibri"/>
              </a:defRPr>
            </a:pPr>
            <a:r>
              <a:t>Qualitätssicherung: Wareneingang und Entsorgung</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12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3474720" cy="6400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731520" y="1481328"/>
            <a:ext cx="3474720" cy="411480"/>
          </a:xfrm>
          <a:prstGeom prst="rect">
            <a:avLst/>
          </a:prstGeom>
          <a:noFill/>
        </p:spPr>
        <p:txBody>
          <a:bodyPr wrap="none">
            <a:spAutoFit/>
          </a:bodyPr>
          <a:lstStyle/>
          <a:p>
            <a:pPr algn="ctr">
              <a:defRPr sz="1200" b="1">
                <a:solidFill>
                  <a:srgbClr val="FFFFFF"/>
                </a:solidFill>
                <a:latin typeface="Calibri"/>
              </a:defRPr>
            </a:pPr>
            <a:r>
              <a:t>Wareneingang § 377 HGB</a:t>
            </a:r>
          </a:p>
        </p:txBody>
      </p:sp>
      <p:sp>
        <p:nvSpPr>
          <p:cNvPr id="8" name="TextBox 7"/>
          <p:cNvSpPr txBox="1"/>
          <p:nvPr/>
        </p:nvSpPr>
        <p:spPr>
          <a:xfrm>
            <a:off x="868680"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Unverzügliche Prüfung: </a:t>
            </a:r>
            <a:r>
              <a:rPr b="0">
                <a:solidFill>
                  <a:srgbClr val="262626"/>
                </a:solidFill>
              </a:rPr>
              <a:t>Im kaufmännischen Geschäftsverkehr muss gelieferte Ware unverzüglich geprüft werden.</a:t>
            </a:r>
          </a:p>
          <a:p>
            <a:pPr>
              <a:spcAft>
                <a:spcPts val="800"/>
              </a:spcAft>
              <a:defRPr sz="1000" b="1">
                <a:solidFill>
                  <a:srgbClr val="1F497D"/>
                </a:solidFill>
                <a:latin typeface="Calibri"/>
              </a:defRPr>
            </a:pPr>
            <a:r>
              <a:t>Offene Mängel: </a:t>
            </a:r>
            <a:r>
              <a:rPr b="0">
                <a:solidFill>
                  <a:srgbClr val="262626"/>
                </a:solidFill>
              </a:rPr>
              <a:t>Sichtbare Schäden (z.B. beschädigter Karton) müssen sofort auf dem Frachtbrief vermerkt und gerügt werden.</a:t>
            </a:r>
          </a:p>
          <a:p>
            <a:pPr>
              <a:spcAft>
                <a:spcPts val="800"/>
              </a:spcAft>
              <a:defRPr sz="1000" b="1">
                <a:solidFill>
                  <a:srgbClr val="1F497D"/>
                </a:solidFill>
                <a:latin typeface="Calibri"/>
              </a:defRPr>
            </a:pPr>
            <a:r>
              <a:t>Verdeckte Mängel: </a:t>
            </a:r>
            <a:r>
              <a:rPr b="0">
                <a:solidFill>
                  <a:srgbClr val="262626"/>
                </a:solidFill>
              </a:rPr>
              <a:t>Schäden im Inneren müssen unverzüglich nach Entdeckung angezeigt werden.</a:t>
            </a:r>
          </a:p>
          <a:p>
            <a:pPr>
              <a:spcAft>
                <a:spcPts val="800"/>
              </a:spcAft>
              <a:defRPr sz="1000" b="1">
                <a:solidFill>
                  <a:srgbClr val="1F497D"/>
                </a:solidFill>
                <a:latin typeface="Calibri"/>
              </a:defRPr>
            </a:pPr>
            <a:r>
              <a:t>Rechtsfolge: </a:t>
            </a:r>
            <a:r>
              <a:rPr b="0">
                <a:solidFill>
                  <a:srgbClr val="262626"/>
                </a:solidFill>
              </a:rPr>
              <a:t>Ohne rechtzeitige Rüge gilt die Ware als genehmigt (§ 377 Abs. 2 HGB) – Verlust von Rechten!</a:t>
            </a:r>
          </a:p>
        </p:txBody>
      </p:sp>
      <p:sp>
        <p:nvSpPr>
          <p:cNvPr id="9" name="Rounded Rectangle 8"/>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Rectangle 9"/>
          <p:cNvSpPr/>
          <p:nvPr/>
        </p:nvSpPr>
        <p:spPr>
          <a:xfrm>
            <a:off x="4370832" y="1371600"/>
            <a:ext cx="3474720" cy="640080"/>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TextBox 10"/>
          <p:cNvSpPr txBox="1"/>
          <p:nvPr/>
        </p:nvSpPr>
        <p:spPr>
          <a:xfrm>
            <a:off x="4370832" y="1481328"/>
            <a:ext cx="3474720" cy="411480"/>
          </a:xfrm>
          <a:prstGeom prst="rect">
            <a:avLst/>
          </a:prstGeom>
          <a:noFill/>
        </p:spPr>
        <p:txBody>
          <a:bodyPr wrap="none">
            <a:spAutoFit/>
          </a:bodyPr>
          <a:lstStyle/>
          <a:p>
            <a:pPr algn="ctr">
              <a:defRPr sz="1200" b="1">
                <a:solidFill>
                  <a:srgbClr val="FFFFFF"/>
                </a:solidFill>
                <a:latin typeface="Calibri"/>
              </a:defRPr>
            </a:pPr>
            <a:r>
              <a:t>Praxisfall: Mängelrüge</a:t>
            </a:r>
          </a:p>
        </p:txBody>
      </p:sp>
      <p:sp>
        <p:nvSpPr>
          <p:cNvPr id="12" name="TextBox 11"/>
          <p:cNvSpPr txBox="1"/>
          <p:nvPr/>
        </p:nvSpPr>
        <p:spPr>
          <a:xfrm>
            <a:off x="4507992"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Mangel 1: </a:t>
            </a:r>
            <a:r>
              <a:rPr b="0">
                <a:solidFill>
                  <a:srgbClr val="262626"/>
                </a:solidFill>
              </a:rPr>
              <a:t>Gehäuseschaden an einer Lenovo ThinkStation P3 (Transportschaden/Delle).</a:t>
            </a:r>
          </a:p>
          <a:p>
            <a:pPr>
              <a:spcAft>
                <a:spcPts val="800"/>
              </a:spcAft>
              <a:defRPr sz="1000" b="1">
                <a:solidFill>
                  <a:srgbClr val="1F497D"/>
                </a:solidFill>
                <a:latin typeface="Calibri"/>
              </a:defRPr>
            </a:pPr>
            <a:r>
              <a:t>Mangel 2: </a:t>
            </a:r>
            <a:r>
              <a:rPr b="0">
                <a:solidFill>
                  <a:srgbClr val="262626"/>
                </a:solidFill>
              </a:rPr>
              <a:t>Fehllieferung eines Monitors (Full-HD statt bestelltem WQHD-Display).</a:t>
            </a:r>
          </a:p>
          <a:p>
            <a:pPr>
              <a:spcAft>
                <a:spcPts val="800"/>
              </a:spcAft>
              <a:defRPr sz="1000" b="1">
                <a:solidFill>
                  <a:srgbClr val="1F497D"/>
                </a:solidFill>
                <a:latin typeface="Calibri"/>
              </a:defRPr>
            </a:pPr>
            <a:r>
              <a:t>Schriftliche Rüge: </a:t>
            </a:r>
            <a:r>
              <a:rPr b="0">
                <a:solidFill>
                  <a:srgbClr val="262626"/>
                </a:solidFill>
              </a:rPr>
              <a:t>Kaufmännisches Rüge-Schreiben nach DIN 5008 an den Distributor.</a:t>
            </a:r>
          </a:p>
          <a:p>
            <a:pPr>
              <a:spcAft>
                <a:spcPts val="800"/>
              </a:spcAft>
              <a:defRPr sz="1000" b="1">
                <a:solidFill>
                  <a:srgbClr val="1F497D"/>
                </a:solidFill>
                <a:latin typeface="Calibri"/>
              </a:defRPr>
            </a:pPr>
            <a:r>
              <a:t>Fristsetzung: </a:t>
            </a:r>
            <a:r>
              <a:rPr b="0">
                <a:solidFill>
                  <a:srgbClr val="262626"/>
                </a:solidFill>
              </a:rPr>
              <a:t>Konkrete Frist zur kostenfreien Nachlieferung einwandfreier Ware binnen 14 Tagen.</a:t>
            </a:r>
          </a:p>
        </p:txBody>
      </p:sp>
      <p:sp>
        <p:nvSpPr>
          <p:cNvPr id="13" name="Rounded Rectangle 12"/>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Rectangle 13"/>
          <p:cNvSpPr/>
          <p:nvPr/>
        </p:nvSpPr>
        <p:spPr>
          <a:xfrm>
            <a:off x="8010144" y="1371600"/>
            <a:ext cx="3474720" cy="64008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5" name="TextBox 14"/>
          <p:cNvSpPr txBox="1"/>
          <p:nvPr/>
        </p:nvSpPr>
        <p:spPr>
          <a:xfrm>
            <a:off x="8010144" y="1481328"/>
            <a:ext cx="3474720" cy="411480"/>
          </a:xfrm>
          <a:prstGeom prst="rect">
            <a:avLst/>
          </a:prstGeom>
          <a:noFill/>
        </p:spPr>
        <p:txBody>
          <a:bodyPr wrap="none">
            <a:spAutoFit/>
          </a:bodyPr>
          <a:lstStyle/>
          <a:p>
            <a:pPr algn="ctr">
              <a:defRPr sz="1200" b="1">
                <a:solidFill>
                  <a:srgbClr val="FFFFFF"/>
                </a:solidFill>
                <a:latin typeface="Calibri"/>
              </a:defRPr>
            </a:pPr>
            <a:r>
              <a:t>Altdrucker-Entsorgung</a:t>
            </a:r>
          </a:p>
        </p:txBody>
      </p:sp>
      <p:sp>
        <p:nvSpPr>
          <p:cNvPr id="16" name="TextBox 15"/>
          <p:cNvSpPr txBox="1"/>
          <p:nvPr/>
        </p:nvSpPr>
        <p:spPr>
          <a:xfrm>
            <a:off x="8147304"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ElektroG / WEEE: </a:t>
            </a:r>
            <a:r>
              <a:rPr b="0">
                <a:solidFill>
                  <a:srgbClr val="262626"/>
                </a:solidFill>
              </a:rPr>
              <a:t>Fachgerechte Entsorgung als B2B-Altgerät bei einem zertifizierten Entsorgungsfachbetrieb.</a:t>
            </a:r>
          </a:p>
          <a:p>
            <a:pPr>
              <a:spcAft>
                <a:spcPts val="800"/>
              </a:spcAft>
              <a:defRPr sz="1000" b="1">
                <a:solidFill>
                  <a:srgbClr val="1F497D"/>
                </a:solidFill>
                <a:latin typeface="Calibri"/>
              </a:defRPr>
            </a:pPr>
            <a:r>
              <a:t>Toner-Kassetten: </a:t>
            </a:r>
            <a:r>
              <a:rPr b="0">
                <a:solidFill>
                  <a:srgbClr val="262626"/>
                </a:solidFill>
              </a:rPr>
              <a:t>Resttoner und Kassetten separat über geschlossene Recyclingprogramme entsorgen.</a:t>
            </a:r>
          </a:p>
          <a:p>
            <a:pPr>
              <a:spcAft>
                <a:spcPts val="800"/>
              </a:spcAft>
              <a:defRPr sz="1000" b="1">
                <a:solidFill>
                  <a:srgbClr val="1F497D"/>
                </a:solidFill>
                <a:latin typeface="Calibri"/>
              </a:defRPr>
            </a:pPr>
            <a:r>
              <a:t>Feinstaubschutz: </a:t>
            </a:r>
            <a:r>
              <a:rPr b="0">
                <a:solidFill>
                  <a:srgbClr val="262626"/>
                </a:solidFill>
              </a:rPr>
              <a:t>Sicherheitshandschuhe und Maske beim Ausbau verwenden.</a:t>
            </a:r>
          </a:p>
          <a:p>
            <a:pPr>
              <a:spcAft>
                <a:spcPts val="800"/>
              </a:spcAft>
              <a:defRPr sz="1000" b="1">
                <a:solidFill>
                  <a:srgbClr val="1F497D"/>
                </a:solidFill>
                <a:latin typeface="Calibri"/>
              </a:defRPr>
            </a:pPr>
            <a:r>
              <a:t>Datenlöschung (BSI): </a:t>
            </a:r>
            <a:r>
              <a:rPr b="0">
                <a:solidFill>
                  <a:srgbClr val="262626"/>
                </a:solidFill>
              </a:rPr>
              <a:t>Interne Speicher/Festplatten vor der Entsorgung 3-fach sicher überschreiben.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ROLLOUT</a:t>
            </a:r>
          </a:p>
          <a:p>
            <a:pPr>
              <a:defRPr sz="2000" b="1">
                <a:solidFill>
                  <a:srgbClr val="FFFFFF"/>
                </a:solidFill>
                <a:latin typeface="Calibri"/>
              </a:defRPr>
            </a:pPr>
            <a:r>
              <a:t>Rollout-Phasen und Übergabe vor Ort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13 von 16</a:t>
            </a:r>
          </a:p>
        </p:txBody>
      </p:sp>
      <p:sp>
        <p:nvSpPr>
          <p:cNvPr id="5" name="Rounded Rectangle 4"/>
          <p:cNvSpPr/>
          <p:nvPr/>
        </p:nvSpPr>
        <p:spPr>
          <a:xfrm>
            <a:off x="731520"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Oval 5"/>
          <p:cNvSpPr/>
          <p:nvPr/>
        </p:nvSpPr>
        <p:spPr>
          <a:xfrm>
            <a:off x="1600200"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01</a:t>
            </a:r>
          </a:p>
        </p:txBody>
      </p:sp>
      <p:sp>
        <p:nvSpPr>
          <p:cNvPr id="7" name="TextBox 6"/>
          <p:cNvSpPr txBox="1"/>
          <p:nvPr/>
        </p:nvSpPr>
        <p:spPr>
          <a:xfrm>
            <a:off x="822960" y="2468880"/>
            <a:ext cx="2377440" cy="640080"/>
          </a:xfrm>
          <a:prstGeom prst="rect">
            <a:avLst/>
          </a:prstGeom>
          <a:noFill/>
        </p:spPr>
        <p:txBody>
          <a:bodyPr wrap="none">
            <a:spAutoFit/>
          </a:bodyPr>
          <a:lstStyle/>
          <a:p>
            <a:pPr algn="ctr">
              <a:defRPr sz="1150" b="1">
                <a:solidFill>
                  <a:srgbClr val="1F497D"/>
                </a:solidFill>
                <a:latin typeface="Calibri"/>
              </a:defRPr>
            </a:pPr>
            <a:r>
              <a:t>Phase 1: Vorinstallation</a:t>
            </a:r>
          </a:p>
          <a:p>
            <a:pPr algn="ctr">
              <a:defRPr sz="950">
                <a:solidFill>
                  <a:srgbClr val="595959"/>
                </a:solidFill>
              </a:defRPr>
            </a:pPr>
            <a:r>
              <a:t>Im Systemhaus-Labor</a:t>
            </a:r>
          </a:p>
        </p:txBody>
      </p:sp>
      <p:sp>
        <p:nvSpPr>
          <p:cNvPr id="8" name="TextBox 7"/>
          <p:cNvSpPr txBox="1"/>
          <p:nvPr/>
        </p:nvSpPr>
        <p:spPr>
          <a:xfrm>
            <a:off x="868680"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Betriebssystem-Betankung über Standard-Image</a:t>
            </a:r>
          </a:p>
          <a:p>
            <a:pPr>
              <a:spcAft>
                <a:spcPts val="600"/>
              </a:spcAft>
              <a:defRPr sz="950">
                <a:solidFill>
                  <a:srgbClr val="262626"/>
                </a:solidFill>
                <a:latin typeface="Calibri"/>
              </a:defRPr>
            </a:pPr>
            <a:r>
              <a:t>• Installation M365, Adobe Acrobat &amp; ESET EDR</a:t>
            </a:r>
          </a:p>
          <a:p>
            <a:pPr>
              <a:spcAft>
                <a:spcPts val="600"/>
              </a:spcAft>
              <a:defRPr sz="950">
                <a:solidFill>
                  <a:srgbClr val="262626"/>
                </a:solidFill>
                <a:latin typeface="Calibri"/>
              </a:defRPr>
            </a:pPr>
            <a:r>
              <a:t>• Einspielen aller Windows- &amp; Treiber-Updates</a:t>
            </a:r>
          </a:p>
          <a:p>
            <a:pPr>
              <a:spcAft>
                <a:spcPts val="600"/>
              </a:spcAft>
              <a:defRPr sz="950">
                <a:solidFill>
                  <a:srgbClr val="262626"/>
                </a:solidFill>
                <a:latin typeface="Calibri"/>
              </a:defRPr>
            </a:pPr>
            <a:r>
              <a:t>• 24h-Dauertest der CAD-Workstations</a:t>
            </a:r>
          </a:p>
        </p:txBody>
      </p:sp>
      <p:sp>
        <p:nvSpPr>
          <p:cNvPr id="9" name="Rounded Rectangle 8"/>
          <p:cNvSpPr/>
          <p:nvPr/>
        </p:nvSpPr>
        <p:spPr>
          <a:xfrm>
            <a:off x="3456432"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Oval 9"/>
          <p:cNvSpPr/>
          <p:nvPr/>
        </p:nvSpPr>
        <p:spPr>
          <a:xfrm>
            <a:off x="4325112"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02</a:t>
            </a:r>
          </a:p>
        </p:txBody>
      </p:sp>
      <p:sp>
        <p:nvSpPr>
          <p:cNvPr id="11" name="TextBox 10"/>
          <p:cNvSpPr txBox="1"/>
          <p:nvPr/>
        </p:nvSpPr>
        <p:spPr>
          <a:xfrm>
            <a:off x="3547872" y="2468880"/>
            <a:ext cx="2377440" cy="640080"/>
          </a:xfrm>
          <a:prstGeom prst="rect">
            <a:avLst/>
          </a:prstGeom>
          <a:noFill/>
        </p:spPr>
        <p:txBody>
          <a:bodyPr wrap="none">
            <a:spAutoFit/>
          </a:bodyPr>
          <a:lstStyle/>
          <a:p>
            <a:pPr algn="ctr">
              <a:defRPr sz="1150" b="1">
                <a:solidFill>
                  <a:srgbClr val="1F497D"/>
                </a:solidFill>
                <a:latin typeface="Calibri"/>
              </a:defRPr>
            </a:pPr>
            <a:r>
              <a:t>Phase 2: Logistik</a:t>
            </a:r>
          </a:p>
          <a:p>
            <a:pPr algn="ctr">
              <a:defRPr sz="950">
                <a:solidFill>
                  <a:srgbClr val="595959"/>
                </a:solidFill>
              </a:defRPr>
            </a:pPr>
            <a:r>
              <a:t>Sicherer Transport</a:t>
            </a:r>
          </a:p>
        </p:txBody>
      </p:sp>
      <p:sp>
        <p:nvSpPr>
          <p:cNvPr id="12" name="TextBox 11"/>
          <p:cNvSpPr txBox="1"/>
          <p:nvPr/>
        </p:nvSpPr>
        <p:spPr>
          <a:xfrm>
            <a:off x="3593592"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ESD- und stoßsichere Verpackung</a:t>
            </a:r>
          </a:p>
          <a:p>
            <a:pPr>
              <a:spcAft>
                <a:spcPts val="600"/>
              </a:spcAft>
              <a:defRPr sz="950">
                <a:solidFill>
                  <a:srgbClr val="262626"/>
                </a:solidFill>
                <a:latin typeface="Calibri"/>
              </a:defRPr>
            </a:pPr>
            <a:r>
              <a:t>• Terminierte Anlieferung bei VektorPlan</a:t>
            </a:r>
          </a:p>
          <a:p>
            <a:pPr>
              <a:spcAft>
                <a:spcPts val="600"/>
              </a:spcAft>
              <a:defRPr sz="950">
                <a:solidFill>
                  <a:srgbClr val="262626"/>
                </a:solidFill>
                <a:latin typeface="Calibri"/>
              </a:defRPr>
            </a:pPr>
            <a:r>
              <a:t>• Verteilung auf die 2 Großraumbüros</a:t>
            </a:r>
          </a:p>
          <a:p>
            <a:pPr>
              <a:spcAft>
                <a:spcPts val="600"/>
              </a:spcAft>
              <a:defRPr sz="950">
                <a:solidFill>
                  <a:srgbClr val="262626"/>
                </a:solidFill>
                <a:latin typeface="Calibri"/>
              </a:defRPr>
            </a:pPr>
            <a:r>
              <a:t>• Umweltgerechte Entsorgung von Kartonagen</a:t>
            </a:r>
          </a:p>
        </p:txBody>
      </p:sp>
      <p:sp>
        <p:nvSpPr>
          <p:cNvPr id="13" name="Rounded Rectangle 12"/>
          <p:cNvSpPr/>
          <p:nvPr/>
        </p:nvSpPr>
        <p:spPr>
          <a:xfrm>
            <a:off x="6181344"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Oval 13"/>
          <p:cNvSpPr/>
          <p:nvPr/>
        </p:nvSpPr>
        <p:spPr>
          <a:xfrm>
            <a:off x="7050024"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03</a:t>
            </a:r>
          </a:p>
        </p:txBody>
      </p:sp>
      <p:sp>
        <p:nvSpPr>
          <p:cNvPr id="15" name="TextBox 14"/>
          <p:cNvSpPr txBox="1"/>
          <p:nvPr/>
        </p:nvSpPr>
        <p:spPr>
          <a:xfrm>
            <a:off x="6272784" y="2468880"/>
            <a:ext cx="2377440" cy="640080"/>
          </a:xfrm>
          <a:prstGeom prst="rect">
            <a:avLst/>
          </a:prstGeom>
          <a:noFill/>
        </p:spPr>
        <p:txBody>
          <a:bodyPr wrap="none">
            <a:spAutoFit/>
          </a:bodyPr>
          <a:lstStyle/>
          <a:p>
            <a:pPr algn="ctr">
              <a:defRPr sz="1150" b="1">
                <a:solidFill>
                  <a:srgbClr val="1F497D"/>
                </a:solidFill>
                <a:latin typeface="Calibri"/>
              </a:defRPr>
            </a:pPr>
            <a:r>
              <a:t>Phase 3: Montage</a:t>
            </a:r>
          </a:p>
          <a:p>
            <a:pPr algn="ctr">
              <a:defRPr sz="950">
                <a:solidFill>
                  <a:srgbClr val="595959"/>
                </a:solidFill>
              </a:defRPr>
            </a:pPr>
            <a:r>
              <a:t>ArbStättV-Ergonomie</a:t>
            </a:r>
          </a:p>
        </p:txBody>
      </p:sp>
      <p:sp>
        <p:nvSpPr>
          <p:cNvPr id="16" name="TextBox 15"/>
          <p:cNvSpPr txBox="1"/>
          <p:nvPr/>
        </p:nvSpPr>
        <p:spPr>
          <a:xfrm>
            <a:off x="6318504"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Aufbau der 32 höhenverstellbaren Monitore</a:t>
            </a:r>
          </a:p>
          <a:p>
            <a:pPr>
              <a:spcAft>
                <a:spcPts val="600"/>
              </a:spcAft>
              <a:defRPr sz="950">
                <a:solidFill>
                  <a:srgbClr val="262626"/>
                </a:solidFill>
                <a:latin typeface="Calibri"/>
              </a:defRPr>
            </a:pPr>
            <a:r>
              <a:t>• Ausrichtung: Oberkante auf Augenhöhe (50-70 cm)</a:t>
            </a:r>
          </a:p>
          <a:p>
            <a:pPr>
              <a:spcAft>
                <a:spcPts val="600"/>
              </a:spcAft>
              <a:defRPr sz="950">
                <a:solidFill>
                  <a:srgbClr val="262626"/>
                </a:solidFill>
                <a:latin typeface="Calibri"/>
              </a:defRPr>
            </a:pPr>
            <a:r>
              <a:t>• Saubere Bündelung aller Kabel unter Tischen</a:t>
            </a:r>
          </a:p>
          <a:p>
            <a:pPr>
              <a:spcAft>
                <a:spcPts val="600"/>
              </a:spcAft>
              <a:defRPr sz="950">
                <a:solidFill>
                  <a:srgbClr val="262626"/>
                </a:solidFill>
                <a:latin typeface="Calibri"/>
              </a:defRPr>
            </a:pPr>
            <a:r>
              <a:t>• Patchkabel an Switchports anschließen</a:t>
            </a:r>
          </a:p>
        </p:txBody>
      </p:sp>
      <p:sp>
        <p:nvSpPr>
          <p:cNvPr id="17" name="Rounded Rectangle 16"/>
          <p:cNvSpPr/>
          <p:nvPr/>
        </p:nvSpPr>
        <p:spPr>
          <a:xfrm>
            <a:off x="8906256"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8" name="Oval 17"/>
          <p:cNvSpPr/>
          <p:nvPr/>
        </p:nvSpPr>
        <p:spPr>
          <a:xfrm>
            <a:off x="9774936"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04</a:t>
            </a:r>
          </a:p>
        </p:txBody>
      </p:sp>
      <p:sp>
        <p:nvSpPr>
          <p:cNvPr id="19" name="TextBox 18"/>
          <p:cNvSpPr txBox="1"/>
          <p:nvPr/>
        </p:nvSpPr>
        <p:spPr>
          <a:xfrm>
            <a:off x="8997696" y="2468880"/>
            <a:ext cx="2377440" cy="640080"/>
          </a:xfrm>
          <a:prstGeom prst="rect">
            <a:avLst/>
          </a:prstGeom>
          <a:noFill/>
        </p:spPr>
        <p:txBody>
          <a:bodyPr wrap="none">
            <a:spAutoFit/>
          </a:bodyPr>
          <a:lstStyle/>
          <a:p>
            <a:pPr algn="ctr">
              <a:defRPr sz="1150" b="1">
                <a:solidFill>
                  <a:srgbClr val="1F497D"/>
                </a:solidFill>
                <a:latin typeface="Calibri"/>
              </a:defRPr>
            </a:pPr>
            <a:r>
              <a:t>Phase 4: Abnahme</a:t>
            </a:r>
          </a:p>
          <a:p>
            <a:pPr algn="ctr">
              <a:defRPr sz="950">
                <a:solidFill>
                  <a:srgbClr val="595959"/>
                </a:solidFill>
              </a:defRPr>
            </a:pPr>
            <a:r>
              <a:t>Funktion &amp; Unterschrift</a:t>
            </a:r>
          </a:p>
        </p:txBody>
      </p:sp>
      <p:sp>
        <p:nvSpPr>
          <p:cNvPr id="20" name="TextBox 19"/>
          <p:cNvSpPr txBox="1"/>
          <p:nvPr/>
        </p:nvSpPr>
        <p:spPr>
          <a:xfrm>
            <a:off x="9043416"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Prüfung Netzwerkzugriff &amp; Server-Freigaben</a:t>
            </a:r>
          </a:p>
          <a:p>
            <a:pPr>
              <a:spcAft>
                <a:spcPts val="600"/>
              </a:spcAft>
              <a:defRPr sz="950">
                <a:solidFill>
                  <a:srgbClr val="262626"/>
                </a:solidFill>
                <a:latin typeface="Calibri"/>
              </a:defRPr>
            </a:pPr>
            <a:r>
              <a:t>• CAD-Testrendering &amp; A3-Druckertest</a:t>
            </a:r>
          </a:p>
          <a:p>
            <a:pPr>
              <a:spcAft>
                <a:spcPts val="600"/>
              </a:spcAft>
              <a:defRPr sz="950">
                <a:solidFill>
                  <a:srgbClr val="262626"/>
                </a:solidFill>
                <a:latin typeface="Calibri"/>
              </a:defRPr>
            </a:pPr>
            <a:r>
              <a:t>• Gemeinsame Begehung mit Kundenleitung</a:t>
            </a:r>
          </a:p>
          <a:p>
            <a:pPr>
              <a:spcAft>
                <a:spcPts val="600"/>
              </a:spcAft>
              <a:defRPr sz="950">
                <a:solidFill>
                  <a:srgbClr val="262626"/>
                </a:solidFill>
                <a:latin typeface="Calibri"/>
              </a:defRPr>
            </a:pPr>
            <a:r>
              <a:t>• Vorbehaltlose Unterzeichnung des Protokolls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PROJEKTERGEBNIS</a:t>
            </a:r>
          </a:p>
          <a:p>
            <a:pPr>
              <a:defRPr sz="2000" b="1">
                <a:solidFill>
                  <a:srgbClr val="FFFFFF"/>
                </a:solidFill>
                <a:latin typeface="Calibri"/>
              </a:defRPr>
            </a:pPr>
            <a:r>
              <a:t>Soll-Ist-Vergleich: Termin, Kosten und Qualität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14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ounded Rectangle 5"/>
          <p:cNvSpPr/>
          <p:nvPr/>
        </p:nvSpPr>
        <p:spPr>
          <a:xfrm>
            <a:off x="914400" y="1554480"/>
            <a:ext cx="3108960" cy="1097280"/>
          </a:xfrm>
          <a:prstGeom prst="roundRect">
            <a:avLst/>
          </a:prstGeom>
          <a:solidFill>
            <a:srgbClr val="DEEBF7"/>
          </a:solidFill>
          <a:ln w="19050">
            <a:solidFill>
              <a:srgbClr val="38572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914400" y="1600200"/>
            <a:ext cx="3108960" cy="1005840"/>
          </a:xfrm>
          <a:prstGeom prst="rect">
            <a:avLst/>
          </a:prstGeom>
          <a:noFill/>
        </p:spPr>
        <p:txBody>
          <a:bodyPr wrap="none">
            <a:spAutoFit/>
          </a:bodyPr>
          <a:lstStyle/>
          <a:p>
            <a:pPr algn="ctr">
              <a:defRPr sz="2400" b="1">
                <a:solidFill>
                  <a:srgbClr val="385723"/>
                </a:solidFill>
                <a:latin typeface="Calibri"/>
              </a:defRPr>
            </a:pPr>
            <a:r>
              <a:t>46 / 48 Tage</a:t>
            </a:r>
          </a:p>
          <a:p>
            <a:pPr algn="ctr">
              <a:defRPr sz="1000" b="1">
                <a:solidFill>
                  <a:srgbClr val="1F497D"/>
                </a:solidFill>
                <a:latin typeface="Calibri"/>
              </a:defRPr>
            </a:pPr>
            <a:r>
              <a:t>- 2 Tage Vorsprung</a:t>
            </a:r>
          </a:p>
        </p:txBody>
      </p:sp>
      <p:sp>
        <p:nvSpPr>
          <p:cNvPr id="8" name="TextBox 7"/>
          <p:cNvSpPr txBox="1"/>
          <p:nvPr/>
        </p:nvSpPr>
        <p:spPr>
          <a:xfrm>
            <a:off x="914400" y="2743200"/>
            <a:ext cx="3108960" cy="365760"/>
          </a:xfrm>
          <a:prstGeom prst="rect">
            <a:avLst/>
          </a:prstGeom>
          <a:noFill/>
        </p:spPr>
        <p:txBody>
          <a:bodyPr wrap="none">
            <a:spAutoFit/>
          </a:bodyPr>
          <a:lstStyle/>
          <a:p>
            <a:pPr>
              <a:defRPr sz="1200" b="1">
                <a:solidFill>
                  <a:srgbClr val="1F497D"/>
                </a:solidFill>
                <a:latin typeface="Calibri"/>
              </a:defRPr>
            </a:pPr>
            <a:r>
              <a:t>Zeitplanung (Termintreue)</a:t>
            </a:r>
          </a:p>
        </p:txBody>
      </p:sp>
      <p:sp>
        <p:nvSpPr>
          <p:cNvPr id="9" name="TextBox 8"/>
          <p:cNvSpPr txBox="1"/>
          <p:nvPr/>
        </p:nvSpPr>
        <p:spPr>
          <a:xfrm>
            <a:off x="914400"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Geplante Projektdauer: </a:t>
            </a:r>
            <a:r>
              <a:rPr b="0">
                <a:solidFill>
                  <a:srgbClr val="262626"/>
                </a:solidFill>
              </a:rPr>
              <a:t>48 Arbeitstage laut Meilensteinplan</a:t>
            </a:r>
          </a:p>
          <a:p>
            <a:pPr>
              <a:spcAft>
                <a:spcPts val="600"/>
              </a:spcAft>
              <a:defRPr sz="950" b="1">
                <a:solidFill>
                  <a:srgbClr val="1F497D"/>
                </a:solidFill>
                <a:latin typeface="Calibri"/>
              </a:defRPr>
            </a:pPr>
            <a:r>
              <a:t>Tatsächliche Dauer: </a:t>
            </a:r>
            <a:r>
              <a:rPr b="0">
                <a:solidFill>
                  <a:srgbClr val="262626"/>
                </a:solidFill>
              </a:rPr>
              <a:t>Erfolgreicher Abschluss in 46 Arbeitstagen</a:t>
            </a:r>
          </a:p>
          <a:p>
            <a:pPr>
              <a:spcAft>
                <a:spcPts val="600"/>
              </a:spcAft>
              <a:defRPr sz="950" b="1">
                <a:solidFill>
                  <a:srgbClr val="1F497D"/>
                </a:solidFill>
                <a:latin typeface="Calibri"/>
              </a:defRPr>
            </a:pPr>
            <a:r>
              <a:t>Erfolgsfaktor: </a:t>
            </a:r>
            <a:r>
              <a:rPr b="0">
                <a:solidFill>
                  <a:srgbClr val="262626"/>
                </a:solidFill>
              </a:rPr>
              <a:t>Vorab-Staging im Labor sparte Montagezeit</a:t>
            </a:r>
          </a:p>
          <a:p>
            <a:pPr>
              <a:spcAft>
                <a:spcPts val="600"/>
              </a:spcAft>
              <a:defRPr sz="950" b="1">
                <a:solidFill>
                  <a:srgbClr val="1F497D"/>
                </a:solidFill>
                <a:latin typeface="Calibri"/>
              </a:defRPr>
            </a:pPr>
            <a:r>
              <a:t>Ergebnis: </a:t>
            </a:r>
            <a:r>
              <a:rPr b="0">
                <a:solidFill>
                  <a:srgbClr val="262626"/>
                </a:solidFill>
              </a:rPr>
              <a:t>Alle Meilensteine wurden pünktlich erreicht</a:t>
            </a:r>
          </a:p>
        </p:txBody>
      </p:sp>
      <p:sp>
        <p:nvSpPr>
          <p:cNvPr id="10" name="Rounded Rectangle 9"/>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Rounded Rectangle 10"/>
          <p:cNvSpPr/>
          <p:nvPr/>
        </p:nvSpPr>
        <p:spPr>
          <a:xfrm>
            <a:off x="4553712" y="1554480"/>
            <a:ext cx="3108960" cy="1097280"/>
          </a:xfrm>
          <a:prstGeom prst="roundRect">
            <a:avLst/>
          </a:prstGeom>
          <a:solidFill>
            <a:srgbClr val="DEEBF7"/>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4553712" y="1600200"/>
            <a:ext cx="3108960" cy="1005840"/>
          </a:xfrm>
          <a:prstGeom prst="rect">
            <a:avLst/>
          </a:prstGeom>
          <a:noFill/>
        </p:spPr>
        <p:txBody>
          <a:bodyPr wrap="none">
            <a:spAutoFit/>
          </a:bodyPr>
          <a:lstStyle/>
          <a:p>
            <a:pPr algn="ctr">
              <a:defRPr sz="2400" b="1">
                <a:solidFill>
                  <a:srgbClr val="1F497D"/>
                </a:solidFill>
                <a:latin typeface="Calibri"/>
              </a:defRPr>
            </a:pPr>
            <a:r>
              <a:t>67.179 €</a:t>
            </a:r>
          </a:p>
          <a:p>
            <a:pPr algn="ctr">
              <a:defRPr sz="1000" b="1">
                <a:solidFill>
                  <a:srgbClr val="1F497D"/>
                </a:solidFill>
                <a:latin typeface="Calibri"/>
              </a:defRPr>
            </a:pPr>
            <a:r>
              <a:t>Im Budgetrahmen</a:t>
            </a:r>
          </a:p>
        </p:txBody>
      </p:sp>
      <p:sp>
        <p:nvSpPr>
          <p:cNvPr id="13" name="TextBox 12"/>
          <p:cNvSpPr txBox="1"/>
          <p:nvPr/>
        </p:nvSpPr>
        <p:spPr>
          <a:xfrm>
            <a:off x="4553712" y="2743200"/>
            <a:ext cx="3108960" cy="365760"/>
          </a:xfrm>
          <a:prstGeom prst="rect">
            <a:avLst/>
          </a:prstGeom>
          <a:noFill/>
        </p:spPr>
        <p:txBody>
          <a:bodyPr wrap="none">
            <a:spAutoFit/>
          </a:bodyPr>
          <a:lstStyle/>
          <a:p>
            <a:pPr>
              <a:defRPr sz="1200" b="1">
                <a:solidFill>
                  <a:srgbClr val="1F497D"/>
                </a:solidFill>
                <a:latin typeface="Calibri"/>
              </a:defRPr>
            </a:pPr>
            <a:r>
              <a:t>Kostenbudget (Finanzen)</a:t>
            </a:r>
          </a:p>
        </p:txBody>
      </p:sp>
      <p:sp>
        <p:nvSpPr>
          <p:cNvPr id="14" name="TextBox 13"/>
          <p:cNvSpPr txBox="1"/>
          <p:nvPr/>
        </p:nvSpPr>
        <p:spPr>
          <a:xfrm>
            <a:off x="4553712"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Kundenbudget (Obergrenze): </a:t>
            </a:r>
            <a:r>
              <a:rPr b="0">
                <a:solidFill>
                  <a:srgbClr val="262626"/>
                </a:solidFill>
              </a:rPr>
              <a:t>Maximal 70.000,00 € Netto</a:t>
            </a:r>
          </a:p>
          <a:p>
            <a:pPr>
              <a:spcAft>
                <a:spcPts val="600"/>
              </a:spcAft>
              <a:defRPr sz="950" b="1">
                <a:solidFill>
                  <a:srgbClr val="1F497D"/>
                </a:solidFill>
                <a:latin typeface="Calibri"/>
              </a:defRPr>
            </a:pPr>
            <a:r>
              <a:t>Tatsächliche Angebotssumme: </a:t>
            </a:r>
            <a:r>
              <a:rPr b="0">
                <a:solidFill>
                  <a:srgbClr val="262626"/>
                </a:solidFill>
              </a:rPr>
              <a:t>67.179,32 € Netto (inkl. Services)</a:t>
            </a:r>
          </a:p>
          <a:p>
            <a:pPr>
              <a:spcAft>
                <a:spcPts val="600"/>
              </a:spcAft>
              <a:defRPr sz="950" b="1">
                <a:solidFill>
                  <a:srgbClr val="1F497D"/>
                </a:solidFill>
                <a:latin typeface="Calibri"/>
              </a:defRPr>
            </a:pPr>
            <a:r>
              <a:t>Kostenvorteil für Kunden: </a:t>
            </a:r>
            <a:r>
              <a:rPr b="0">
                <a:solidFill>
                  <a:srgbClr val="262626"/>
                </a:solidFill>
              </a:rPr>
              <a:t>Ca. 2.820 € Ersparnis gegenüber Limit</a:t>
            </a:r>
          </a:p>
          <a:p>
            <a:pPr>
              <a:spcAft>
                <a:spcPts val="600"/>
              </a:spcAft>
              <a:defRPr sz="950" b="1">
                <a:solidFill>
                  <a:srgbClr val="1F497D"/>
                </a:solidFill>
                <a:latin typeface="Calibri"/>
              </a:defRPr>
            </a:pPr>
            <a:r>
              <a:t>Transparenz: </a:t>
            </a:r>
            <a:r>
              <a:rPr b="0">
                <a:solidFill>
                  <a:srgbClr val="262626"/>
                </a:solidFill>
              </a:rPr>
              <a:t>Vollständige Vorwärtskalkulation vorgelegt</a:t>
            </a:r>
          </a:p>
        </p:txBody>
      </p:sp>
      <p:sp>
        <p:nvSpPr>
          <p:cNvPr id="15" name="Rounded Rectangle 14"/>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Rounded Rectangle 15"/>
          <p:cNvSpPr/>
          <p:nvPr/>
        </p:nvSpPr>
        <p:spPr>
          <a:xfrm>
            <a:off x="8193024" y="1554480"/>
            <a:ext cx="3108960" cy="1097280"/>
          </a:xfrm>
          <a:prstGeom prst="roundRect">
            <a:avLst/>
          </a:prstGeom>
          <a:solidFill>
            <a:srgbClr val="DEEBF7"/>
          </a:solidFill>
          <a:ln w="19050">
            <a:solidFill>
              <a:srgbClr val="2F559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7" name="TextBox 16"/>
          <p:cNvSpPr txBox="1"/>
          <p:nvPr/>
        </p:nvSpPr>
        <p:spPr>
          <a:xfrm>
            <a:off x="8193024" y="1600200"/>
            <a:ext cx="3108960" cy="1005840"/>
          </a:xfrm>
          <a:prstGeom prst="rect">
            <a:avLst/>
          </a:prstGeom>
          <a:noFill/>
        </p:spPr>
        <p:txBody>
          <a:bodyPr wrap="none">
            <a:spAutoFit/>
          </a:bodyPr>
          <a:lstStyle/>
          <a:p>
            <a:pPr algn="ctr">
              <a:defRPr sz="2400" b="1">
                <a:solidFill>
                  <a:srgbClr val="2F5597"/>
                </a:solidFill>
                <a:latin typeface="Calibri"/>
              </a:defRPr>
            </a:pPr>
            <a:r>
              <a:t>100%</a:t>
            </a:r>
          </a:p>
          <a:p>
            <a:pPr algn="ctr">
              <a:defRPr sz="1000" b="1">
                <a:solidFill>
                  <a:srgbClr val="1F497D"/>
                </a:solidFill>
                <a:latin typeface="Calibri"/>
              </a:defRPr>
            </a:pPr>
            <a:r>
              <a:t>Vorbehaltlos abgenommen</a:t>
            </a:r>
          </a:p>
        </p:txBody>
      </p:sp>
      <p:sp>
        <p:nvSpPr>
          <p:cNvPr id="18" name="TextBox 17"/>
          <p:cNvSpPr txBox="1"/>
          <p:nvPr/>
        </p:nvSpPr>
        <p:spPr>
          <a:xfrm>
            <a:off x="8193024" y="2743200"/>
            <a:ext cx="3108960" cy="365760"/>
          </a:xfrm>
          <a:prstGeom prst="rect">
            <a:avLst/>
          </a:prstGeom>
          <a:noFill/>
        </p:spPr>
        <p:txBody>
          <a:bodyPr wrap="none">
            <a:spAutoFit/>
          </a:bodyPr>
          <a:lstStyle/>
          <a:p>
            <a:pPr>
              <a:defRPr sz="1200" b="1">
                <a:solidFill>
                  <a:srgbClr val="1F497D"/>
                </a:solidFill>
                <a:latin typeface="Calibri"/>
              </a:defRPr>
            </a:pPr>
            <a:r>
              <a:t>Qualität &amp; Kundenzufriedenheit</a:t>
            </a:r>
          </a:p>
        </p:txBody>
      </p:sp>
      <p:sp>
        <p:nvSpPr>
          <p:cNvPr id="19" name="TextBox 18"/>
          <p:cNvSpPr txBox="1"/>
          <p:nvPr/>
        </p:nvSpPr>
        <p:spPr>
          <a:xfrm>
            <a:off x="8193024"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Lieferumfang: </a:t>
            </a:r>
            <a:r>
              <a:rPr b="0">
                <a:solidFill>
                  <a:srgbClr val="262626"/>
                </a:solidFill>
              </a:rPr>
              <a:t>16 von 16 Arbeitsplätzen voll funktionsfähig</a:t>
            </a:r>
          </a:p>
          <a:p>
            <a:pPr>
              <a:spcAft>
                <a:spcPts val="600"/>
              </a:spcAft>
              <a:defRPr sz="950" b="1">
                <a:solidFill>
                  <a:srgbClr val="1F497D"/>
                </a:solidFill>
                <a:latin typeface="Calibri"/>
              </a:defRPr>
            </a:pPr>
            <a:r>
              <a:t>Mängelmanagement: </a:t>
            </a:r>
            <a:r>
              <a:rPr b="0">
                <a:solidFill>
                  <a:srgbClr val="262626"/>
                </a:solidFill>
              </a:rPr>
              <a:t>Transportschäden fristgerecht getauscht</a:t>
            </a:r>
          </a:p>
          <a:p>
            <a:pPr>
              <a:spcAft>
                <a:spcPts val="600"/>
              </a:spcAft>
              <a:defRPr sz="950" b="1">
                <a:solidFill>
                  <a:srgbClr val="1F497D"/>
                </a:solidFill>
                <a:latin typeface="Calibri"/>
              </a:defRPr>
            </a:pPr>
            <a:r>
              <a:t>Ergonomie: </a:t>
            </a:r>
            <a:r>
              <a:rPr b="0">
                <a:solidFill>
                  <a:srgbClr val="262626"/>
                </a:solidFill>
              </a:rPr>
              <a:t>ArbStättV-konforme Arbeitsplatzgestaltung</a:t>
            </a:r>
          </a:p>
          <a:p>
            <a:pPr>
              <a:spcAft>
                <a:spcPts val="600"/>
              </a:spcAft>
              <a:defRPr sz="950" b="1">
                <a:solidFill>
                  <a:srgbClr val="1F497D"/>
                </a:solidFill>
                <a:latin typeface="Calibri"/>
              </a:defRPr>
            </a:pPr>
            <a:r>
              <a:t>Abnahmeprotokoll: </a:t>
            </a:r>
            <a:r>
              <a:rPr b="0">
                <a:solidFill>
                  <a:srgbClr val="262626"/>
                </a:solidFill>
              </a:rPr>
              <a:t>Durch VektorPlan GmbH ohne Mängel rügellos gezeichnet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REFLEXION</a:t>
            </a:r>
          </a:p>
          <a:p>
            <a:pPr>
              <a:defRPr sz="2000" b="1">
                <a:solidFill>
                  <a:srgbClr val="FFFFFF"/>
                </a:solidFill>
                <a:latin typeface="Calibri"/>
              </a:defRPr>
            </a:pPr>
            <a:r>
              <a:t>Lessons Learned &amp; Fazit unseres Teams</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15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5257800" cy="5486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Was lief besonders gut im Projekt?</a:t>
            </a:r>
          </a:p>
        </p:txBody>
      </p:sp>
      <p:sp>
        <p:nvSpPr>
          <p:cNvPr id="7" name="TextBox 6"/>
          <p:cNvSpPr txBox="1"/>
          <p:nvPr/>
        </p:nvSpPr>
        <p:spPr>
          <a:xfrm>
            <a:off x="960120" y="2103120"/>
            <a:ext cx="4800600" cy="3840480"/>
          </a:xfrm>
          <a:prstGeom prst="rect">
            <a:avLst/>
          </a:prstGeom>
          <a:noFill/>
        </p:spPr>
        <p:txBody>
          <a:bodyPr wrap="square" lIns="0" rIns="0" tIns="0" bIns="0">
            <a:spAutoFit/>
          </a:bodyPr>
          <a:lstStyle/>
          <a:p>
            <a:pPr>
              <a:spcAft>
                <a:spcPts val="1000"/>
              </a:spcAft>
              <a:defRPr sz="1050" b="1">
                <a:solidFill>
                  <a:srgbClr val="385723"/>
                </a:solidFill>
                <a:latin typeface="Calibri"/>
              </a:defRPr>
            </a:pPr>
            <a:r>
              <a:t>✔ Nutzwertanalyse als Entscheidungshilfe: </a:t>
            </a:r>
            <a:r>
              <a:rPr b="0">
                <a:solidFill>
                  <a:srgbClr val="262626"/>
                </a:solidFill>
              </a:rPr>
              <a:t>Die mathematische Bewertung sicherte die optimale CAD-Grafikkarte (RTX 4000 Ada) und den besten Monitor.</a:t>
            </a:r>
          </a:p>
          <a:p>
            <a:pPr>
              <a:spcAft>
                <a:spcPts val="1000"/>
              </a:spcAft>
              <a:defRPr sz="1050" b="1">
                <a:solidFill>
                  <a:srgbClr val="385723"/>
                </a:solidFill>
                <a:latin typeface="Calibri"/>
              </a:defRPr>
            </a:pPr>
            <a:r>
              <a:t>✔ Strikte Wareneingangsprüfung (§ 377 HGB): </a:t>
            </a:r>
            <a:r>
              <a:rPr b="0">
                <a:solidFill>
                  <a:srgbClr val="262626"/>
                </a:solidFill>
              </a:rPr>
              <a:t>Weil wir die Pakete sofort kontrolliert haben, konnten wir den Gehäuseschaden und Falschlieferung rügen, ohne Gewährleistung zu verlieren.</a:t>
            </a:r>
          </a:p>
          <a:p>
            <a:pPr>
              <a:spcAft>
                <a:spcPts val="1000"/>
              </a:spcAft>
              <a:defRPr sz="1050" b="1">
                <a:solidFill>
                  <a:srgbClr val="385723"/>
                </a:solidFill>
                <a:latin typeface="Calibri"/>
              </a:defRPr>
            </a:pPr>
            <a:r>
              <a:t>✔ Gute Teamarbeit &amp; klare Rollen: </a:t>
            </a:r>
            <a:r>
              <a:rPr b="0">
                <a:solidFill>
                  <a:srgbClr val="262626"/>
                </a:solidFill>
              </a:rPr>
              <a:t>Die klare Aufteilung auf Jan, Mathias, Marian, Marco und Siyar verhinderte Doppelarbeit.</a:t>
            </a:r>
          </a:p>
          <a:p>
            <a:pPr>
              <a:spcAft>
                <a:spcPts val="1000"/>
              </a:spcAft>
              <a:defRPr sz="1050" b="1">
                <a:solidFill>
                  <a:srgbClr val="385723"/>
                </a:solidFill>
                <a:latin typeface="Calibri"/>
              </a:defRPr>
            </a:pPr>
            <a:r>
              <a:t>✔ Vorab-Installation im Systemhaus: </a:t>
            </a:r>
            <a:r>
              <a:rPr b="0">
                <a:solidFill>
                  <a:srgbClr val="262626"/>
                </a:solidFill>
              </a:rPr>
              <a:t>Weil alle Rechner im Labor vorgeflasht wurden, dauerte der Aufbau beim Kunden nur 3 statt 5 Tage.</a:t>
            </a:r>
          </a:p>
        </p:txBody>
      </p:sp>
      <p:sp>
        <p:nvSpPr>
          <p:cNvPr id="8" name="Rounded Rectangle 7"/>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Rectangle 8"/>
          <p:cNvSpPr/>
          <p:nvPr/>
        </p:nvSpPr>
        <p:spPr>
          <a:xfrm>
            <a:off x="62179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Was nehmen wir für nächste Projekte mit?</a:t>
            </a:r>
          </a:p>
        </p:txBody>
      </p:sp>
      <p:sp>
        <p:nvSpPr>
          <p:cNvPr id="10" name="TextBox 9"/>
          <p:cNvSpPr txBox="1"/>
          <p:nvPr/>
        </p:nvSpPr>
        <p:spPr>
          <a:xfrm>
            <a:off x="6446520" y="2103120"/>
            <a:ext cx="4800600" cy="3840480"/>
          </a:xfrm>
          <a:prstGeom prst="rect">
            <a:avLst/>
          </a:prstGeom>
          <a:noFill/>
        </p:spPr>
        <p:txBody>
          <a:bodyPr wrap="square" lIns="0" rIns="0" tIns="0" bIns="0">
            <a:spAutoFit/>
          </a:bodyPr>
          <a:lstStyle/>
          <a:p>
            <a:pPr>
              <a:spcAft>
                <a:spcPts val="1000"/>
              </a:spcAft>
              <a:defRPr sz="1050" b="1">
                <a:solidFill>
                  <a:srgbClr val="1F497D"/>
                </a:solidFill>
                <a:latin typeface="Calibri"/>
              </a:defRPr>
            </a:pPr>
            <a:r>
              <a:t>➔ Netzwerk-Check noch früher machen: </a:t>
            </a:r>
            <a:r>
              <a:rPr b="0">
                <a:solidFill>
                  <a:srgbClr val="262626"/>
                </a:solidFill>
              </a:rPr>
              <a:t>Die Switch-Ports und Dosen vor Ort sollten wir künftig schon vor der Bestellung gemeinsam mit dem Kunden begehen.</a:t>
            </a:r>
          </a:p>
          <a:p>
            <a:pPr>
              <a:spcAft>
                <a:spcPts val="1000"/>
              </a:spcAft>
              <a:defRPr sz="1050" b="1">
                <a:solidFill>
                  <a:srgbClr val="1F497D"/>
                </a:solidFill>
                <a:latin typeface="Calibri"/>
              </a:defRPr>
            </a:pPr>
            <a:r>
              <a:t>➔ Pufferzeiten für Retouren einplanen: </a:t>
            </a:r>
            <a:r>
              <a:rPr b="0">
                <a:solidFill>
                  <a:srgbClr val="262626"/>
                </a:solidFill>
              </a:rPr>
              <a:t>Für RMA-Austauschprozesse sollte im Netzplan immer ein festes Zeitfenster von 3-5 Tagen reserviert sein.</a:t>
            </a:r>
          </a:p>
          <a:p>
            <a:pPr>
              <a:spcAft>
                <a:spcPts val="1000"/>
              </a:spcAft>
              <a:defRPr sz="1050" b="1">
                <a:solidFill>
                  <a:srgbClr val="1F497D"/>
                </a:solidFill>
                <a:latin typeface="Calibri"/>
              </a:defRPr>
            </a:pPr>
            <a:r>
              <a:t>➔ Inbetriebnahme-Checkliste beibehalten: </a:t>
            </a:r>
            <a:r>
              <a:rPr b="0">
                <a:solidFill>
                  <a:srgbClr val="262626"/>
                </a:solidFill>
              </a:rPr>
              <a:t>Unsere erstellte Checkliste nach ArbStättV war Gold wert und wird als Standardvorlage übernommen.</a:t>
            </a:r>
          </a:p>
          <a:p>
            <a:pPr>
              <a:spcAft>
                <a:spcPts val="1000"/>
              </a:spcAft>
              <a:defRPr sz="1050" b="1">
                <a:solidFill>
                  <a:srgbClr val="1F497D"/>
                </a:solidFill>
                <a:latin typeface="Calibri"/>
              </a:defRPr>
            </a:pPr>
            <a:r>
              <a:t>➔ Mitarbeiter-Einweisung standardisieren: </a:t>
            </a:r>
            <a:r>
              <a:rPr b="0">
                <a:solidFill>
                  <a:srgbClr val="262626"/>
                </a:solidFill>
              </a:rPr>
              <a:t>Kurze Bedienungsanleitungen für den A3-Drucker direkt als PDF auf allen Desktops hinterlegen.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Rounded Rectangle 2"/>
          <p:cNvSpPr/>
          <p:nvPr/>
        </p:nvSpPr>
        <p:spPr>
          <a:xfrm>
            <a:off x="1645920" y="822960"/>
            <a:ext cx="8899855" cy="5212080"/>
          </a:xfrm>
          <a:prstGeom prst="roundRect">
            <a:avLst/>
          </a:prstGeom>
          <a:solidFill>
            <a:srgbClr val="2F5597"/>
          </a:solidFill>
          <a:ln w="254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1828800" y="1097280"/>
            <a:ext cx="8534095" cy="1280160"/>
          </a:xfrm>
          <a:prstGeom prst="rect">
            <a:avLst/>
          </a:prstGeom>
          <a:noFill/>
        </p:spPr>
        <p:txBody>
          <a:bodyPr wrap="square">
            <a:spAutoFit/>
          </a:bodyPr>
          <a:lstStyle/>
          <a:p>
            <a:pPr algn="ctr">
              <a:defRPr sz="3200" b="1">
                <a:solidFill>
                  <a:srgbClr val="FFFFFF"/>
                </a:solidFill>
                <a:latin typeface="Calibri"/>
              </a:defRPr>
            </a:pPr>
            <a:r>
              <a:t>Vielen Dank für Ihre Aufmerksamkeit!</a:t>
            </a:r>
          </a:p>
          <a:p>
            <a:pPr algn="ctr">
              <a:defRPr sz="1500">
                <a:solidFill>
                  <a:srgbClr val="DEEBF7"/>
                </a:solidFill>
              </a:defRPr>
            </a:pPr>
            <a:r>
              <a:t>Wir freuen uns auf Ihre Fragen und die anschließende Diskussion.</a:t>
            </a:r>
          </a:p>
        </p:txBody>
      </p:sp>
      <p:sp>
        <p:nvSpPr>
          <p:cNvPr id="5" name="Rectangle 4"/>
          <p:cNvSpPr/>
          <p:nvPr/>
        </p:nvSpPr>
        <p:spPr>
          <a:xfrm>
            <a:off x="3352190" y="2560320"/>
            <a:ext cx="5486400" cy="18288"/>
          </a:xfrm>
          <a:prstGeom prst="rect">
            <a:avLst/>
          </a:prstGeom>
          <a:solidFill>
            <a:srgbClr val="B4C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1828800" y="2743200"/>
            <a:ext cx="8534095" cy="1188720"/>
          </a:xfrm>
          <a:prstGeom prst="rect">
            <a:avLst/>
          </a:prstGeom>
          <a:noFill/>
        </p:spPr>
        <p:txBody>
          <a:bodyPr wrap="square">
            <a:spAutoFit/>
          </a:bodyPr>
          <a:lstStyle/>
          <a:p>
            <a:pPr algn="ctr">
              <a:defRPr sz="1600" b="1">
                <a:solidFill>
                  <a:srgbClr val="FFFFFF"/>
                </a:solidFill>
                <a:latin typeface="Calibri"/>
              </a:defRPr>
            </a:pPr>
            <a:r>
              <a:t>NextLevel IT Solutions GmbH</a:t>
            </a:r>
          </a:p>
          <a:p>
            <a:pPr algn="ctr">
              <a:defRPr sz="1100">
                <a:solidFill>
                  <a:srgbClr val="DEEBF7"/>
                </a:solidFill>
              </a:defRPr>
            </a:pPr>
            <a:r>
              <a:t>Technikstraße 42  •  50667 Köln  •  Tel: 0221 / 123 456-0  •  E-Mail: info@nextlevel-it.de</a:t>
            </a:r>
          </a:p>
        </p:txBody>
      </p:sp>
      <p:sp>
        <p:nvSpPr>
          <p:cNvPr id="7" name="Rounded Rectangle 6"/>
          <p:cNvSpPr/>
          <p:nvPr/>
        </p:nvSpPr>
        <p:spPr>
          <a:xfrm>
            <a:off x="2011680" y="4114800"/>
            <a:ext cx="8168335" cy="1645920"/>
          </a:xfrm>
          <a:prstGeom prst="roundRect">
            <a:avLst/>
          </a:prstGeom>
          <a:solidFill>
            <a:srgbClr val="1F497D"/>
          </a:solidFill>
          <a:ln w="12700">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2103120" y="4206240"/>
            <a:ext cx="7985455" cy="1463040"/>
          </a:xfrm>
          <a:prstGeom prst="rect">
            <a:avLst/>
          </a:prstGeom>
          <a:noFill/>
        </p:spPr>
        <p:txBody>
          <a:bodyPr wrap="square">
            <a:spAutoFit/>
          </a:bodyPr>
          <a:lstStyle/>
          <a:p>
            <a:pPr algn="ctr">
              <a:defRPr sz="1100" b="1">
                <a:solidFill>
                  <a:srgbClr val="DEEBF7"/>
                </a:solidFill>
                <a:latin typeface="Calibri"/>
              </a:defRPr>
            </a:pPr>
            <a:r>
              <a:t>PROJEKTTEAM (HANDLUNGSAUFGABE 2026):</a:t>
            </a:r>
          </a:p>
          <a:p>
            <a:pPr algn="ctr">
              <a:defRPr sz="1150">
                <a:solidFill>
                  <a:srgbClr val="FFFFFF"/>
                </a:solidFill>
              </a:defRPr>
            </a:pPr>
            <a:r>
              <a:t>Jan Kluth (Projektleiter)  •  Mathias Vonau (Techn. Planer)  •  Marian Bolecke (Kalkulation)</a:t>
            </a:r>
          </a:p>
          <a:p>
            <a:pPr algn="ctr">
              <a:defRPr sz="1150">
                <a:solidFill>
                  <a:srgbClr val="FFFFFF"/>
                </a:solidFill>
              </a:defRPr>
            </a:pPr>
            <a:r>
              <a:t>Marco Schmidt (Qualitätsmanagement)  •  Siyar (Berechnungen &amp; Dokumentation)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